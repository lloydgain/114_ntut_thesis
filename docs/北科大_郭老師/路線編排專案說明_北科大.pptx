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72" r:id="rId2"/>
    <p:sldMasterId id="2147483721" r:id="rId3"/>
  </p:sldMasterIdLst>
  <p:notesMasterIdLst>
    <p:notesMasterId r:id="rId12"/>
  </p:notesMasterIdLst>
  <p:sldIdLst>
    <p:sldId id="360" r:id="rId4"/>
    <p:sldId id="382" r:id="rId5"/>
    <p:sldId id="1518" r:id="rId6"/>
    <p:sldId id="1519" r:id="rId7"/>
    <p:sldId id="383" r:id="rId8"/>
    <p:sldId id="384" r:id="rId9"/>
    <p:sldId id="1516" r:id="rId10"/>
    <p:sldId id="1517" r:id="rId11"/>
  </p:sldIdLst>
  <p:sldSz cx="9144000" cy="6858000" type="screen4x3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2525"/>
    <a:srgbClr val="003B51"/>
    <a:srgbClr val="9900CC"/>
    <a:srgbClr val="FFB850"/>
    <a:srgbClr val="FEF9B7"/>
    <a:srgbClr val="2392CF"/>
    <a:srgbClr val="21AB82"/>
    <a:srgbClr val="FEB822"/>
    <a:srgbClr val="8B5F3C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89647" autoAdjust="0"/>
  </p:normalViewPr>
  <p:slideViewPr>
    <p:cSldViewPr>
      <p:cViewPr varScale="1">
        <p:scale>
          <a:sx n="102" d="100"/>
          <a:sy n="102" d="100"/>
        </p:scale>
        <p:origin x="192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7A021-58FD-4527-AD12-90C9E987E512}" type="datetimeFigureOut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B2F0E1-0D6C-48B9-9A78-2E6D6A0EA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428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B2F0E1-0D6C-48B9-9A78-2E6D6A0EA14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625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預測爆量路線編成</a:t>
            </a:r>
            <a:r>
              <a:rPr kumimoji="1" lang="en-US" altLang="zh-TW" dirty="0"/>
              <a:t>-&gt; </a:t>
            </a:r>
            <a:r>
              <a:rPr kumimoji="1" lang="zh-TW" altLang="en-US" dirty="0"/>
              <a:t>實現做法除自主研究外，會同時調研委外資源運用。需說明有關依需求車趟數編成爆量路線所需的欄位我們正在整理中</a:t>
            </a:r>
            <a:endParaRPr kumimoji="1" lang="en-US" altLang="zh-TW" dirty="0"/>
          </a:p>
          <a:p>
            <a:r>
              <a:rPr kumimoji="1" lang="zh-TW" altLang="en-US" dirty="0"/>
              <a:t>預測主線背載這個就真的得需要想下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2F0E1-0D6C-48B9-9A78-2E6D6A0EA1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965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2F0E1-0D6C-48B9-9A78-2E6D6A0EA14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041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2F0E1-0D6C-48B9-9A78-2E6D6A0EA14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9654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2F0E1-0D6C-48B9-9A78-2E6D6A0EA1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780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B2F0E1-0D6C-48B9-9A78-2E6D6A0EA14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317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2F0E1-0D6C-48B9-9A78-2E6D6A0EA1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997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99592" y="188640"/>
            <a:ext cx="7272808" cy="468000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600" y="1628800"/>
            <a:ext cx="7272808" cy="41764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271EFE6D-907D-44DA-A9DF-81762B457FC1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922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C3B86405-DE23-4363-8419-57A906DF8BBD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494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90DD69E4-B64A-45D6-863B-A3AD4AC3083D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4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AD6A0AC-DA88-42F2-8A14-663277B50626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515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272F34F3-FBFE-4562-AA23-F587CF9AC579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44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EE483679-8CB1-4CDF-B71F-F590A64191AD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27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2B05F4F-B18D-4DF7-ABE6-8AE531F6ABFE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317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7EBE56E8-FB6C-4B8A-9EA9-6E80A20E2A11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327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E689C80D-F9B7-445F-BF4A-DFAAB79CED12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730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C80E44-9867-4676-958E-5A2D8A44AE80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9594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BF24453-88C7-436B-9BAE-30064F15A7E5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04448" y="6492875"/>
            <a:ext cx="534048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EC533A1-1383-4C0E-A5F4-F4CCEE4F09E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8681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7544" y="3212976"/>
            <a:ext cx="5256584" cy="100811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5DB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464045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8B7C4C4-5D01-4C51-8E5C-9E5A1D451EB0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315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77A6235A-2AAF-4AB1-A511-0D5C6421A09B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0721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3373FC43-22BF-4CF5-8222-02305BD83181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3882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0A9C1B2-6ADF-4C32-B771-9C268C2F1F4F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1754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61EE853-7833-4EAC-ABEF-0C735B984DB0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5383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2E96CE62-940D-4E16-84EB-554B227C554D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793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0BED6B7-49F9-47C2-A3C3-112E03804258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3096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6DB8748-E5C7-4989-80D3-E06F206357BB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7867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8B37A43-ACAF-42BA-80D7-4912CDF77CE5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1707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509CEB4-862A-43C2-92D3-5248A06D5C93}" type="datetime1">
              <a:rPr lang="zh-TW" altLang="en-US" smtClean="0"/>
              <a:pPr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C498C8-761C-4A74-B11D-A944D552EE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0827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25A9B57-E8FA-492C-90C4-344B72AD2EBB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26E8839-8753-4225-9F24-A747ABCB8341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3134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9CCD2B-9C71-41BD-AD62-3AFB3882D7D1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26E8839-8753-4225-9F24-A747ABCB8341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561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5A30C61-8F73-4C32-BFBD-DFC480E3621D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26E8839-8753-4225-9F24-A747ABCB8341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648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5D5907A-6CE2-413C-91D4-D20255BBD0CA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26E8839-8753-4225-9F24-A747ABCB8341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3677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2213E70-D840-4C3D-8783-77489A7370EF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26E8839-8753-4225-9F24-A747ABCB8341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93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1B01F28-223F-4D18-9168-912F6453F051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26E8839-8753-4225-9F24-A747ABCB8341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826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4BB8DC5-5B78-41B3-A7C3-7E6B6A5EA1C5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231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4A4F486-3B4A-4B14-A2B6-70D4F3266B5D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5721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47FEFE7-585B-4ECC-977B-EEE70E9B719C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6650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6343A8-F56F-4C5A-BF61-AA0F2D671D05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0767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DDD17AC-268A-4186-83E4-5E218D436E1C}" type="datetime1">
              <a:rPr lang="zh-TW" altLang="en-US" smtClean="0">
                <a:solidFill>
                  <a:prstClr val="black"/>
                </a:solidFill>
              </a:rPr>
              <a:pPr/>
              <a:t>2023/6/1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4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91083"/>
            <a:ext cx="9144000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 descr="C:\Users\105080029\Desktop\PPT公版_final\ai\new_3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9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67609" y="6574156"/>
            <a:ext cx="28087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9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本機密文件為全台物流股份有限公司所有</a:t>
            </a:r>
            <a:r>
              <a:rPr lang="en-US" altLang="zh-TW" sz="9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9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請勿轉載</a:t>
            </a:r>
          </a:p>
        </p:txBody>
      </p:sp>
    </p:spTree>
    <p:extLst>
      <p:ext uri="{BB962C8B-B14F-4D97-AF65-F5344CB8AC3E}">
        <p14:creationId xmlns:p14="http://schemas.microsoft.com/office/powerpoint/2010/main" val="2248703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105080029\Desktop\PPT公版_final\ai\6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5" y="-12526"/>
            <a:ext cx="5570995" cy="68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:\Users\105080029\Desktop\PPT公版_final\ai\5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" y="-3001"/>
            <a:ext cx="3554412" cy="271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0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Z:\一般人員\TDC_CI圖檔&amp;使用手冊\03.LOGO+公司名(全)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4" y="154732"/>
            <a:ext cx="2654487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C:\Users\105080292\Desktop\Slogan_B+YG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095" y="436369"/>
            <a:ext cx="1738905" cy="20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0" y="6597352"/>
            <a:ext cx="9144000" cy="209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本機密文件為「全台物流股份有限公司」所有，請勿外洩</a:t>
            </a: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0" y="772635"/>
            <a:ext cx="9132782" cy="126000"/>
            <a:chOff x="0" y="772635"/>
            <a:chExt cx="9132782" cy="126000"/>
          </a:xfrm>
        </p:grpSpPr>
        <p:pic>
          <p:nvPicPr>
            <p:cNvPr id="13" name="Picture 2" descr="Y:\部內資料區\A專案執行\AF品牌專案\02.CIS\輔助圖騰\輔助圖形_pantone.png"/>
            <p:cNvPicPr>
              <a:picLocks noChangeAspect="1" noChangeArrowheads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47" t="1" b="-1"/>
            <a:stretch/>
          </p:blipFill>
          <p:spPr bwMode="auto">
            <a:xfrm>
              <a:off x="7315762" y="772635"/>
              <a:ext cx="1817020" cy="12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Y:\部內資料區\A專案執行\AF品牌專案\02.CIS\輔助圖騰\輔助圖形_pantone.png"/>
            <p:cNvPicPr preferRelativeResize="0">
              <a:picLocks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46" t="3" r="65414" b="-3"/>
            <a:stretch/>
          </p:blipFill>
          <p:spPr bwMode="auto">
            <a:xfrm>
              <a:off x="0" y="772635"/>
              <a:ext cx="7318250" cy="12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" name="Picture 2"/>
          <p:cNvPicPr preferRelativeResize="0">
            <a:picLocks noChangeArrowheads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89"/>
          <a:stretch/>
        </p:blipFill>
        <p:spPr bwMode="auto">
          <a:xfrm>
            <a:off x="0" y="6525344"/>
            <a:ext cx="9144000" cy="6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70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266546"/>
              </p:ext>
            </p:extLst>
          </p:nvPr>
        </p:nvGraphicFramePr>
        <p:xfrm>
          <a:off x="121708" y="2132857"/>
          <a:ext cx="8886825" cy="397957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90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大綱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重點摘要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頁次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6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現行方法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TW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9" marB="4572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77385"/>
                  </a:ext>
                </a:extLst>
              </a:tr>
              <a:tr h="9096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配送課同仁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–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訪談記錄</a:t>
                      </a:r>
                    </a:p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circleNumWdWhitePlain"/>
                        <a:tabLst/>
                        <a:defRPr/>
                      </a:pPr>
                      <a:endParaRPr lang="en-US" altLang="zh-TW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9" marB="4572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6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必要的限制條件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circleNumWdWhitePlain"/>
                        <a:tabLst/>
                        <a:defRPr/>
                      </a:pPr>
                      <a:endParaRPr lang="en-US" altLang="zh-TW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9" marB="4572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756091"/>
                  </a:ext>
                </a:extLst>
              </a:tr>
              <a:tr h="9096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預期目標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circleNumWdWhitePlain"/>
                        <a:tabLst/>
                        <a:defRPr/>
                      </a:pPr>
                      <a:endParaRPr lang="en-US" altLang="zh-TW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9" marB="4572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T="45728" marB="45728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963116"/>
                  </a:ext>
                </a:extLst>
              </a:tr>
            </a:tbl>
          </a:graphicData>
        </a:graphic>
      </p:graphicFrame>
      <p:graphicFrame>
        <p:nvGraphicFramePr>
          <p:cNvPr id="12" name="Group 2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107730"/>
              </p:ext>
            </p:extLst>
          </p:nvPr>
        </p:nvGraphicFramePr>
        <p:xfrm>
          <a:off x="135466" y="980728"/>
          <a:ext cx="8873067" cy="1006014"/>
        </p:xfrm>
        <a:graphic>
          <a:graphicData uri="http://schemas.openxmlformats.org/drawingml/2006/table">
            <a:tbl>
              <a:tblPr/>
              <a:tblGrid>
                <a:gridCol w="3920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560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路線編排專案內容說明</a:t>
                      </a:r>
                      <a:endParaRPr kumimoji="1" lang="en-US" altLang="zh-TW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49" marB="4574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案別</a:t>
                      </a:r>
                    </a:p>
                  </a:txBody>
                  <a:tcPr marT="45749" marB="45749" vert="eaVert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報告案</a:t>
                      </a:r>
                    </a:p>
                  </a:txBody>
                  <a:tcPr marT="45749" marB="4574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會議名稱</a:t>
                      </a:r>
                    </a:p>
                  </a:txBody>
                  <a:tcPr marT="45749" marB="4574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49" marB="4574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6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會議日期</a:t>
                      </a:r>
                    </a:p>
                  </a:txBody>
                  <a:tcPr marT="45749" marB="4574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2023.06.01</a:t>
                      </a:r>
                    </a:p>
                  </a:txBody>
                  <a:tcPr marT="45749" marB="4574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56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報告人</a:t>
                      </a:r>
                    </a:p>
                  </a:txBody>
                  <a:tcPr marT="45749" marB="4574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吳欽誠</a:t>
                      </a:r>
                    </a:p>
                  </a:txBody>
                  <a:tcPr marT="45749" marB="45749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42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2" descr="Who is on the Team?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778" b="80952" l="4750" r="96500">
                        <a14:foregroundMark x1="10250" y1="25714" x2="13167" y2="77619"/>
                        <a14:foregroundMark x1="8000" y1="36190" x2="5667" y2="43968"/>
                        <a14:foregroundMark x1="12083" y1="34127" x2="14750" y2="36508"/>
                        <a14:foregroundMark x1="19500" y1="37143" x2="14000" y2="55079"/>
                        <a14:foregroundMark x1="32750" y1="26508" x2="29750" y2="40635"/>
                        <a14:foregroundMark x1="40083" y1="45556" x2="42833" y2="46667"/>
                        <a14:foregroundMark x1="43333" y1="47460" x2="42833" y2="46667"/>
                        <a14:foregroundMark x1="38167" y1="78730" x2="36083" y2="79048"/>
                        <a14:foregroundMark x1="36500" y1="78413" x2="35667" y2="72857"/>
                        <a14:foregroundMark x1="31417" y1="78730" x2="31583" y2="73968"/>
                        <a14:foregroundMark x1="65417" y1="29206" x2="67583" y2="36032"/>
                        <a14:foregroundMark x1="90250" y1="26349" x2="81333" y2="54286"/>
                        <a14:foregroundMark x1="81167" y1="20000" x2="86333" y2="40000"/>
                        <a14:foregroundMark x1="92917" y1="44762" x2="90667" y2="50952"/>
                        <a14:foregroundMark x1="19417" y1="46667" x2="15333" y2="62857"/>
                        <a14:foregroundMark x1="16083" y1="78889" x2="14667" y2="78730"/>
                        <a14:foregroundMark x1="34417" y1="36508" x2="34417" y2="40159"/>
                        <a14:foregroundMark x1="38000" y1="78413" x2="36750" y2="77778"/>
                        <a14:foregroundMark x1="64833" y1="78571" x2="66833" y2="78571"/>
                        <a14:foregroundMark x1="66500" y1="76190" x2="66250" y2="78095"/>
                        <a14:foregroundMark x1="72000" y1="76667" x2="72333" y2="77619"/>
                        <a14:foregroundMark x1="90083" y1="35556" x2="91917" y2="44127"/>
                        <a14:backgroundMark x1="87917" y1="55556" x2="87750" y2="56984"/>
                        <a14:backgroundMark x1="68583" y1="27460" x2="69250" y2="29048"/>
                        <a14:backgroundMark x1="65417" y1="43333" x2="65583" y2="43810"/>
                        <a14:backgroundMark x1="13917" y1="57619" x2="14000" y2="603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938" b="16956"/>
          <a:stretch/>
        </p:blipFill>
        <p:spPr bwMode="auto">
          <a:xfrm>
            <a:off x="6255802" y="160338"/>
            <a:ext cx="2512450" cy="8587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A91657E-75ED-4E82-9076-304B06205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現行方法</a:t>
            </a:r>
            <a:endParaRPr lang="zh-TW" altLang="en-US" sz="2000" dirty="0"/>
          </a:p>
        </p:txBody>
      </p:sp>
      <p:sp>
        <p:nvSpPr>
          <p:cNvPr id="49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460432" y="6492875"/>
            <a:ext cx="534048" cy="365125"/>
          </a:xfrm>
        </p:spPr>
        <p:txBody>
          <a:bodyPr/>
          <a:lstStyle/>
          <a:p>
            <a:fld id="{6EC533A1-1383-4C0E-A5F4-F4CCEE4F09EF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9" name="AutoShape 2" descr="https://edm.managertoday.com.tw/lead2/assets/images/lead-info3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DE0257CD-07F7-4C9D-83EF-57A77C84A8A4}"/>
              </a:ext>
            </a:extLst>
          </p:cNvPr>
          <p:cNvSpPr/>
          <p:nvPr/>
        </p:nvSpPr>
        <p:spPr>
          <a:xfrm>
            <a:off x="443060" y="1468781"/>
            <a:ext cx="1659117" cy="82955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新平台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2559F88-9AEF-43D2-A6AC-D4DA637C2CF7}"/>
              </a:ext>
            </a:extLst>
          </p:cNvPr>
          <p:cNvSpPr/>
          <p:nvPr/>
        </p:nvSpPr>
        <p:spPr>
          <a:xfrm>
            <a:off x="443059" y="3124986"/>
            <a:ext cx="1659117" cy="68636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原始資料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CCF8E6F-5A4D-451F-8C16-232782AC24DB}"/>
              </a:ext>
            </a:extLst>
          </p:cNvPr>
          <p:cNvSpPr/>
          <p:nvPr/>
        </p:nvSpPr>
        <p:spPr>
          <a:xfrm>
            <a:off x="2820970" y="3124986"/>
            <a:ext cx="2055044" cy="68636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主線揹載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475D92E-64B5-4724-ABF5-50548ABE0D2D}"/>
              </a:ext>
            </a:extLst>
          </p:cNvPr>
          <p:cNvSpPr/>
          <p:nvPr/>
        </p:nvSpPr>
        <p:spPr>
          <a:xfrm>
            <a:off x="5775965" y="3124986"/>
            <a:ext cx="2055044" cy="68636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爆量車編排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7F2ED15-ADB5-4768-8CA3-3530198E6576}"/>
              </a:ext>
            </a:extLst>
          </p:cNvPr>
          <p:cNvSpPr txBox="1"/>
          <p:nvPr/>
        </p:nvSpPr>
        <p:spPr>
          <a:xfrm>
            <a:off x="2461573" y="4077072"/>
            <a:ext cx="30354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拉出的店鋪最少且最接近上限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材積接近每條主線的材積上限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依地區、時間等因素將拉出的店鋪分配給主線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主線揹載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58AA387-8578-4EA4-8A60-E23B1EDFADE8}"/>
              </a:ext>
            </a:extLst>
          </p:cNvPr>
          <p:cNvSpPr txBox="1"/>
          <p:nvPr/>
        </p:nvSpPr>
        <p:spPr>
          <a:xfrm>
            <a:off x="5894960" y="4405044"/>
            <a:ext cx="3035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區域</a:t>
            </a:r>
            <a:endParaRPr lang="en-US" altLang="zh-TW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路順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司機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28E1C9C-C376-4C0C-8CAB-89B43B069894}"/>
              </a:ext>
            </a:extLst>
          </p:cNvPr>
          <p:cNvSpPr txBox="1"/>
          <p:nvPr/>
        </p:nvSpPr>
        <p:spPr>
          <a:xfrm>
            <a:off x="5724128" y="3986336"/>
            <a:ext cx="352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拉出的材積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車子容量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爆量車次</a:t>
            </a: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A06A58E-CE48-4C22-9F81-C289C12E929B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2102176" y="3468166"/>
            <a:ext cx="7187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67A20A9B-6632-4317-9CFD-5970DB0E2F85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4876014" y="3468166"/>
            <a:ext cx="8999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26F83FF1-0325-49E4-8A90-1CB5C6C811B9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 flipH="1">
            <a:off x="1272618" y="2298339"/>
            <a:ext cx="1" cy="826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352607C5-93B1-4F86-B75C-87B00212B563}"/>
              </a:ext>
            </a:extLst>
          </p:cNvPr>
          <p:cNvSpPr txBox="1"/>
          <p:nvPr/>
        </p:nvSpPr>
        <p:spPr>
          <a:xfrm>
            <a:off x="3020401" y="2711662"/>
            <a:ext cx="1656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、紙本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B4B2EA0-1E60-4416-A878-D6C9DCAB6D2E}"/>
              </a:ext>
            </a:extLst>
          </p:cNvPr>
          <p:cNvSpPr txBox="1"/>
          <p:nvPr/>
        </p:nvSpPr>
        <p:spPr>
          <a:xfrm>
            <a:off x="5975396" y="2711662"/>
            <a:ext cx="1656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、紙本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CD2DE2E-2D57-40EE-81A4-F1110D909666}"/>
              </a:ext>
            </a:extLst>
          </p:cNvPr>
          <p:cNvSpPr txBox="1"/>
          <p:nvPr/>
        </p:nvSpPr>
        <p:spPr>
          <a:xfrm>
            <a:off x="460375" y="3892406"/>
            <a:ext cx="1656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D539DCAC-3FEE-450B-8446-E88CA8C4D6B9}"/>
              </a:ext>
            </a:extLst>
          </p:cNvPr>
          <p:cNvSpPr/>
          <p:nvPr/>
        </p:nvSpPr>
        <p:spPr>
          <a:xfrm>
            <a:off x="7342841" y="1328974"/>
            <a:ext cx="1659117" cy="82955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TMS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DC4776DE-530C-4E26-8C1C-705E661DF034}"/>
              </a:ext>
            </a:extLst>
          </p:cNvPr>
          <p:cNvCxnSpPr>
            <a:stCxn id="26" idx="3"/>
            <a:endCxn id="20" idx="2"/>
          </p:cNvCxnSpPr>
          <p:nvPr/>
        </p:nvCxnSpPr>
        <p:spPr>
          <a:xfrm flipV="1">
            <a:off x="7831009" y="2158532"/>
            <a:ext cx="341391" cy="13096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1E65891-BA45-4716-BDEA-CA72C813384B}"/>
              </a:ext>
            </a:extLst>
          </p:cNvPr>
          <p:cNvSpPr txBox="1"/>
          <p:nvPr/>
        </p:nvSpPr>
        <p:spPr>
          <a:xfrm>
            <a:off x="8102300" y="2601341"/>
            <a:ext cx="828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810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2" descr="Who is on the Team?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778" b="80952" l="4750" r="96500">
                        <a14:foregroundMark x1="10250" y1="25714" x2="13167" y2="77619"/>
                        <a14:foregroundMark x1="8000" y1="36190" x2="5667" y2="43968"/>
                        <a14:foregroundMark x1="12083" y1="34127" x2="14750" y2="36508"/>
                        <a14:foregroundMark x1="19500" y1="37143" x2="14000" y2="55079"/>
                        <a14:foregroundMark x1="32750" y1="26508" x2="29750" y2="40635"/>
                        <a14:foregroundMark x1="40083" y1="45556" x2="42833" y2="46667"/>
                        <a14:foregroundMark x1="43333" y1="47460" x2="42833" y2="46667"/>
                        <a14:foregroundMark x1="38167" y1="78730" x2="36083" y2="79048"/>
                        <a14:foregroundMark x1="36500" y1="78413" x2="35667" y2="72857"/>
                        <a14:foregroundMark x1="31417" y1="78730" x2="31583" y2="73968"/>
                        <a14:foregroundMark x1="65417" y1="29206" x2="67583" y2="36032"/>
                        <a14:foregroundMark x1="90250" y1="26349" x2="81333" y2="54286"/>
                        <a14:foregroundMark x1="81167" y1="20000" x2="86333" y2="40000"/>
                        <a14:foregroundMark x1="92917" y1="44762" x2="90667" y2="50952"/>
                        <a14:foregroundMark x1="19417" y1="46667" x2="15333" y2="62857"/>
                        <a14:foregroundMark x1="16083" y1="78889" x2="14667" y2="78730"/>
                        <a14:foregroundMark x1="34417" y1="36508" x2="34417" y2="40159"/>
                        <a14:foregroundMark x1="38000" y1="78413" x2="36750" y2="77778"/>
                        <a14:foregroundMark x1="64833" y1="78571" x2="66833" y2="78571"/>
                        <a14:foregroundMark x1="66500" y1="76190" x2="66250" y2="78095"/>
                        <a14:foregroundMark x1="72000" y1="76667" x2="72333" y2="77619"/>
                        <a14:foregroundMark x1="90083" y1="35556" x2="91917" y2="44127"/>
                        <a14:backgroundMark x1="87917" y1="55556" x2="87750" y2="56984"/>
                        <a14:backgroundMark x1="68583" y1="27460" x2="69250" y2="29048"/>
                        <a14:backgroundMark x1="65417" y1="43333" x2="65583" y2="43810"/>
                        <a14:backgroundMark x1="13917" y1="57619" x2="14000" y2="603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938" b="16956"/>
          <a:stretch/>
        </p:blipFill>
        <p:spPr bwMode="auto">
          <a:xfrm>
            <a:off x="6255802" y="160338"/>
            <a:ext cx="2512450" cy="8587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A91657E-75ED-4E82-9076-304B06205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示意圖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如何挑出爆量店鋪</a:t>
            </a:r>
            <a:endParaRPr lang="zh-TW" altLang="en-US" sz="2000" dirty="0"/>
          </a:p>
        </p:txBody>
      </p:sp>
      <p:sp>
        <p:nvSpPr>
          <p:cNvPr id="49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460432" y="6492875"/>
            <a:ext cx="534048" cy="365125"/>
          </a:xfrm>
        </p:spPr>
        <p:txBody>
          <a:bodyPr/>
          <a:lstStyle/>
          <a:p>
            <a:fld id="{6EC533A1-1383-4C0E-A5F4-F4CCEE4F09EF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9" name="AutoShape 2" descr="https://edm.managertoday.com.tw/lead2/assets/images/lead-info3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E59CC414-DB33-435D-963A-8AACE352C5A7}"/>
              </a:ext>
            </a:extLst>
          </p:cNvPr>
          <p:cNvSpPr/>
          <p:nvPr/>
        </p:nvSpPr>
        <p:spPr>
          <a:xfrm>
            <a:off x="2361965" y="263691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E66B53FD-8FC0-4391-B63B-FA40108B0183}"/>
              </a:ext>
            </a:extLst>
          </p:cNvPr>
          <p:cNvSpPr/>
          <p:nvPr/>
        </p:nvSpPr>
        <p:spPr>
          <a:xfrm>
            <a:off x="1331640" y="4437112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005FC25E-239D-432B-AA9D-AA48BAEC59D9}"/>
              </a:ext>
            </a:extLst>
          </p:cNvPr>
          <p:cNvSpPr/>
          <p:nvPr/>
        </p:nvSpPr>
        <p:spPr>
          <a:xfrm>
            <a:off x="4522205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11A1A47A-AC87-41FD-9671-0BCB5801E160}"/>
              </a:ext>
            </a:extLst>
          </p:cNvPr>
          <p:cNvSpPr/>
          <p:nvPr/>
        </p:nvSpPr>
        <p:spPr>
          <a:xfrm>
            <a:off x="3957709" y="5229200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3304E7DE-5827-4888-85C2-5B497B078BBA}"/>
              </a:ext>
            </a:extLst>
          </p:cNvPr>
          <p:cNvSpPr/>
          <p:nvPr/>
        </p:nvSpPr>
        <p:spPr>
          <a:xfrm>
            <a:off x="7334526" y="5085184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FA4676E-6C65-4B4C-9A98-5D4AF2DB60AB}"/>
              </a:ext>
            </a:extLst>
          </p:cNvPr>
          <p:cNvSpPr/>
          <p:nvPr/>
        </p:nvSpPr>
        <p:spPr>
          <a:xfrm>
            <a:off x="7524328" y="4437112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BEC05B31-199C-43C1-B9E4-DDB3A3838F09}"/>
              </a:ext>
            </a:extLst>
          </p:cNvPr>
          <p:cNvSpPr/>
          <p:nvPr/>
        </p:nvSpPr>
        <p:spPr>
          <a:xfrm>
            <a:off x="4666221" y="4196471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38E5194C-3D65-49AD-BE41-ADA75B597580}"/>
              </a:ext>
            </a:extLst>
          </p:cNvPr>
          <p:cNvSpPr/>
          <p:nvPr/>
        </p:nvSpPr>
        <p:spPr>
          <a:xfrm>
            <a:off x="6624064" y="298214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1195625B-ED01-49E2-A815-19320405EB3A}"/>
              </a:ext>
            </a:extLst>
          </p:cNvPr>
          <p:cNvSpPr/>
          <p:nvPr/>
        </p:nvSpPr>
        <p:spPr>
          <a:xfrm>
            <a:off x="4954253" y="1482545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9D12638C-EC4E-4039-BEE8-16BE923FBD1A}"/>
              </a:ext>
            </a:extLst>
          </p:cNvPr>
          <p:cNvSpPr/>
          <p:nvPr/>
        </p:nvSpPr>
        <p:spPr>
          <a:xfrm>
            <a:off x="6594755" y="12487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63014607-DC61-4A49-99ED-69A6D7298DD4}"/>
              </a:ext>
            </a:extLst>
          </p:cNvPr>
          <p:cNvSpPr/>
          <p:nvPr/>
        </p:nvSpPr>
        <p:spPr>
          <a:xfrm>
            <a:off x="5962365" y="5661248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55966CC6-36D6-4085-84BE-F6AC63964770}"/>
              </a:ext>
            </a:extLst>
          </p:cNvPr>
          <p:cNvSpPr/>
          <p:nvPr/>
        </p:nvSpPr>
        <p:spPr>
          <a:xfrm>
            <a:off x="3082045" y="1641163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0D4FA10-7317-4E83-A55F-0B2E13413C64}"/>
              </a:ext>
            </a:extLst>
          </p:cNvPr>
          <p:cNvCxnSpPr>
            <a:cxnSpLocks/>
          </p:cNvCxnSpPr>
          <p:nvPr/>
        </p:nvCxnSpPr>
        <p:spPr>
          <a:xfrm>
            <a:off x="1593450" y="4581128"/>
            <a:ext cx="2280683" cy="64807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742B251-557D-4C6C-9E42-4AD5ED3F451B}"/>
              </a:ext>
            </a:extLst>
          </p:cNvPr>
          <p:cNvCxnSpPr/>
          <p:nvPr/>
        </p:nvCxnSpPr>
        <p:spPr>
          <a:xfrm>
            <a:off x="4234173" y="5373216"/>
            <a:ext cx="1656184" cy="36004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6B0646F-4C98-489B-A58E-0C76AD27C02F}"/>
              </a:ext>
            </a:extLst>
          </p:cNvPr>
          <p:cNvCxnSpPr/>
          <p:nvPr/>
        </p:nvCxnSpPr>
        <p:spPr>
          <a:xfrm flipV="1">
            <a:off x="6250397" y="5229200"/>
            <a:ext cx="1008112" cy="43204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23DB085-8957-40EA-91B5-76121ADB568F}"/>
              </a:ext>
            </a:extLst>
          </p:cNvPr>
          <p:cNvCxnSpPr>
            <a:cxnSpLocks/>
          </p:cNvCxnSpPr>
          <p:nvPr/>
        </p:nvCxnSpPr>
        <p:spPr>
          <a:xfrm flipV="1">
            <a:off x="7478542" y="4715588"/>
            <a:ext cx="83576" cy="297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69724BA-7BB1-469B-B7FB-EA8511B00CBB}"/>
              </a:ext>
            </a:extLst>
          </p:cNvPr>
          <p:cNvCxnSpPr/>
          <p:nvPr/>
        </p:nvCxnSpPr>
        <p:spPr>
          <a:xfrm flipH="1" flipV="1">
            <a:off x="5020477" y="4293096"/>
            <a:ext cx="2386057" cy="21602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6B5A03A7-51B6-4795-BD74-BF6652F3D95A}"/>
              </a:ext>
            </a:extLst>
          </p:cNvPr>
          <p:cNvCxnSpPr>
            <a:cxnSpLocks/>
          </p:cNvCxnSpPr>
          <p:nvPr/>
        </p:nvCxnSpPr>
        <p:spPr>
          <a:xfrm flipH="1" flipV="1">
            <a:off x="2577989" y="3920693"/>
            <a:ext cx="1958008" cy="24069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135ED155-8DDD-4492-B6D3-C4E20BD8CDFD}"/>
              </a:ext>
            </a:extLst>
          </p:cNvPr>
          <p:cNvCxnSpPr/>
          <p:nvPr/>
        </p:nvCxnSpPr>
        <p:spPr>
          <a:xfrm>
            <a:off x="2577989" y="2780928"/>
            <a:ext cx="1800200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C8B27131-FAB8-4EF5-9A92-FD7F5CB3E8A7}"/>
              </a:ext>
            </a:extLst>
          </p:cNvPr>
          <p:cNvCxnSpPr/>
          <p:nvPr/>
        </p:nvCxnSpPr>
        <p:spPr>
          <a:xfrm>
            <a:off x="4810237" y="2889916"/>
            <a:ext cx="1728192" cy="164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973C477F-38C1-4555-B051-629899D054A9}"/>
              </a:ext>
            </a:extLst>
          </p:cNvPr>
          <p:cNvCxnSpPr>
            <a:cxnSpLocks/>
          </p:cNvCxnSpPr>
          <p:nvPr/>
        </p:nvCxnSpPr>
        <p:spPr>
          <a:xfrm flipV="1">
            <a:off x="6809868" y="2345566"/>
            <a:ext cx="710462" cy="636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F5CA649F-D232-4AA8-BEA3-EA81E1BF996D}"/>
              </a:ext>
            </a:extLst>
          </p:cNvPr>
          <p:cNvCxnSpPr/>
          <p:nvPr/>
        </p:nvCxnSpPr>
        <p:spPr>
          <a:xfrm flipH="1">
            <a:off x="5242285" y="1320716"/>
            <a:ext cx="1224136" cy="169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F59D06BE-8391-4BD8-BC4E-4743145B30B5}"/>
              </a:ext>
            </a:extLst>
          </p:cNvPr>
          <p:cNvCxnSpPr/>
          <p:nvPr/>
        </p:nvCxnSpPr>
        <p:spPr>
          <a:xfrm flipH="1">
            <a:off x="3478089" y="1626561"/>
            <a:ext cx="1260140" cy="86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>
            <a:extLst>
              <a:ext uri="{FF2B5EF4-FFF2-40B4-BE49-F238E27FC236}">
                <a16:creationId xmlns:a16="http://schemas.microsoft.com/office/drawing/2014/main" id="{B0EC692C-549D-4807-B6E4-00D7EC2A90AA}"/>
              </a:ext>
            </a:extLst>
          </p:cNvPr>
          <p:cNvSpPr/>
          <p:nvPr/>
        </p:nvSpPr>
        <p:spPr>
          <a:xfrm>
            <a:off x="965650" y="2547385"/>
            <a:ext cx="144016" cy="144016"/>
          </a:xfrm>
          <a:prstGeom prst="ellipse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FFB0D1F5-CE32-47A1-B730-CD572A9687A0}"/>
              </a:ext>
            </a:extLst>
          </p:cNvPr>
          <p:cNvCxnSpPr>
            <a:cxnSpLocks/>
          </p:cNvCxnSpPr>
          <p:nvPr/>
        </p:nvCxnSpPr>
        <p:spPr>
          <a:xfrm>
            <a:off x="1109666" y="2816932"/>
            <a:ext cx="221974" cy="1548173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CB42C02F-F9C9-413C-8C71-15CDB68ECA4B}"/>
              </a:ext>
            </a:extLst>
          </p:cNvPr>
          <p:cNvCxnSpPr/>
          <p:nvPr/>
        </p:nvCxnSpPr>
        <p:spPr>
          <a:xfrm>
            <a:off x="1259632" y="2636912"/>
            <a:ext cx="958317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24392CB5-0D41-4566-81C0-F43E7A50E35B}"/>
              </a:ext>
            </a:extLst>
          </p:cNvPr>
          <p:cNvCxnSpPr/>
          <p:nvPr/>
        </p:nvCxnSpPr>
        <p:spPr>
          <a:xfrm flipH="1">
            <a:off x="1256657" y="1785179"/>
            <a:ext cx="1659159" cy="707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橢圓 67">
            <a:extLst>
              <a:ext uri="{FF2B5EF4-FFF2-40B4-BE49-F238E27FC236}">
                <a16:creationId xmlns:a16="http://schemas.microsoft.com/office/drawing/2014/main" id="{30D13755-4545-4785-850C-292DCB9379CD}"/>
              </a:ext>
            </a:extLst>
          </p:cNvPr>
          <p:cNvSpPr/>
          <p:nvPr/>
        </p:nvSpPr>
        <p:spPr>
          <a:xfrm>
            <a:off x="2289957" y="3789040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86C880A7-91F8-421A-8E08-42E99294E169}"/>
              </a:ext>
            </a:extLst>
          </p:cNvPr>
          <p:cNvCxnSpPr/>
          <p:nvPr/>
        </p:nvCxnSpPr>
        <p:spPr>
          <a:xfrm flipH="1" flipV="1">
            <a:off x="1220653" y="2744872"/>
            <a:ext cx="976401" cy="104416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B978C018-305D-4443-BF2C-10623A14E136}"/>
              </a:ext>
            </a:extLst>
          </p:cNvPr>
          <p:cNvSpPr txBox="1"/>
          <p:nvPr/>
        </p:nvSpPr>
        <p:spPr>
          <a:xfrm>
            <a:off x="338356" y="2386045"/>
            <a:ext cx="5881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100" dirty="0"/>
              <a:t>林口</a:t>
            </a:r>
            <a:r>
              <a:rPr lang="en-US" altLang="zh-TW" sz="1100" dirty="0"/>
              <a:t>DC</a:t>
            </a: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053342FD-8198-4378-883F-1D2C7DF35F42}"/>
              </a:ext>
            </a:extLst>
          </p:cNvPr>
          <p:cNvSpPr txBox="1"/>
          <p:nvPr/>
        </p:nvSpPr>
        <p:spPr>
          <a:xfrm>
            <a:off x="1046060" y="4594967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1.1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AC33879C-5E08-40F6-8375-EF4B4D2AD332}"/>
              </a:ext>
            </a:extLst>
          </p:cNvPr>
          <p:cNvSpPr txBox="1"/>
          <p:nvPr/>
        </p:nvSpPr>
        <p:spPr>
          <a:xfrm>
            <a:off x="3556993" y="5301208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0.9</a:t>
            </a:r>
            <a:endParaRPr lang="zh-TW" altLang="en-US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68F04C26-B1BF-47FF-B584-AB9F3B7595FE}"/>
              </a:ext>
            </a:extLst>
          </p:cNvPr>
          <p:cNvSpPr txBox="1"/>
          <p:nvPr/>
        </p:nvSpPr>
        <p:spPr>
          <a:xfrm>
            <a:off x="5674333" y="5805264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1.3</a:t>
            </a:r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6C847993-ACCA-47B2-BF2A-1CF95546F6A3}"/>
              </a:ext>
            </a:extLst>
          </p:cNvPr>
          <p:cNvSpPr txBox="1"/>
          <p:nvPr/>
        </p:nvSpPr>
        <p:spPr>
          <a:xfrm>
            <a:off x="7362369" y="5229200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0.8</a:t>
            </a:r>
            <a:endParaRPr lang="zh-TW" altLang="en-US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CBD0DF7C-C06B-4994-A65E-2A6D7BAAF366}"/>
              </a:ext>
            </a:extLst>
          </p:cNvPr>
          <p:cNvSpPr txBox="1"/>
          <p:nvPr/>
        </p:nvSpPr>
        <p:spPr>
          <a:xfrm>
            <a:off x="7725384" y="4252446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2.0</a:t>
            </a:r>
            <a:endParaRPr lang="zh-TW" altLang="en-US" dirty="0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26A14D4C-A4C4-4514-96D0-A1DB9ACB454A}"/>
              </a:ext>
            </a:extLst>
          </p:cNvPr>
          <p:cNvSpPr txBox="1"/>
          <p:nvPr/>
        </p:nvSpPr>
        <p:spPr>
          <a:xfrm>
            <a:off x="4799787" y="3818324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0.5</a:t>
            </a:r>
            <a:endParaRPr lang="zh-TW" altLang="en-US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548EAF6-7D06-4895-BBA9-CCC78DD67AF8}"/>
              </a:ext>
            </a:extLst>
          </p:cNvPr>
          <p:cNvSpPr txBox="1"/>
          <p:nvPr/>
        </p:nvSpPr>
        <p:spPr>
          <a:xfrm>
            <a:off x="2275216" y="3453535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0.8</a:t>
            </a:r>
            <a:endParaRPr lang="zh-TW" altLang="en-US" dirty="0"/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56292A65-F268-41B5-8CE8-1495EDC12711}"/>
              </a:ext>
            </a:extLst>
          </p:cNvPr>
          <p:cNvSpPr/>
          <p:nvPr/>
        </p:nvSpPr>
        <p:spPr>
          <a:xfrm>
            <a:off x="7596336" y="202145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8" name="直線單箭頭接點 137">
            <a:extLst>
              <a:ext uri="{FF2B5EF4-FFF2-40B4-BE49-F238E27FC236}">
                <a16:creationId xmlns:a16="http://schemas.microsoft.com/office/drawing/2014/main" id="{84A79A23-2524-470B-B4C8-881A40DCEAF1}"/>
              </a:ext>
            </a:extLst>
          </p:cNvPr>
          <p:cNvCxnSpPr/>
          <p:nvPr/>
        </p:nvCxnSpPr>
        <p:spPr>
          <a:xfrm flipH="1" flipV="1">
            <a:off x="6768080" y="1428580"/>
            <a:ext cx="710462" cy="536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4E60C3F3-03AA-45DB-9347-72785AB9DD7E}"/>
              </a:ext>
            </a:extLst>
          </p:cNvPr>
          <p:cNvSpPr txBox="1"/>
          <p:nvPr/>
        </p:nvSpPr>
        <p:spPr>
          <a:xfrm>
            <a:off x="2528037" y="2380238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0.8</a:t>
            </a:r>
            <a:endParaRPr lang="zh-TW" altLang="en-US" dirty="0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F98CB1D-3455-43BA-81BC-3BAA94ECD5EF}"/>
              </a:ext>
            </a:extLst>
          </p:cNvPr>
          <p:cNvSpPr txBox="1"/>
          <p:nvPr/>
        </p:nvSpPr>
        <p:spPr>
          <a:xfrm>
            <a:off x="4618492" y="2496169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0.8</a:t>
            </a:r>
            <a:endParaRPr lang="zh-TW" altLang="en-US" dirty="0"/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D77FD31A-B832-4B77-AC59-04D1C915C700}"/>
              </a:ext>
            </a:extLst>
          </p:cNvPr>
          <p:cNvSpPr txBox="1"/>
          <p:nvPr/>
        </p:nvSpPr>
        <p:spPr>
          <a:xfrm>
            <a:off x="6836088" y="2931961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0.6</a:t>
            </a:r>
            <a:endParaRPr lang="zh-TW" altLang="en-US" dirty="0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5892DE89-2C4A-404F-8F42-E4399D26D309}"/>
              </a:ext>
            </a:extLst>
          </p:cNvPr>
          <p:cNvSpPr txBox="1"/>
          <p:nvPr/>
        </p:nvSpPr>
        <p:spPr>
          <a:xfrm>
            <a:off x="7809385" y="1878573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1.8</a:t>
            </a:r>
            <a:endParaRPr lang="zh-TW" altLang="en-US" dirty="0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9B1718BD-2C6A-4DA2-BA04-5FA48C677D25}"/>
              </a:ext>
            </a:extLst>
          </p:cNvPr>
          <p:cNvSpPr txBox="1"/>
          <p:nvPr/>
        </p:nvSpPr>
        <p:spPr>
          <a:xfrm>
            <a:off x="6250397" y="1314399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1.3</a:t>
            </a:r>
            <a:endParaRPr lang="zh-TW" altLang="en-US" dirty="0"/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6A6FEB06-56E4-48F1-9E39-D780EBB96D1E}"/>
              </a:ext>
            </a:extLst>
          </p:cNvPr>
          <p:cNvSpPr txBox="1"/>
          <p:nvPr/>
        </p:nvSpPr>
        <p:spPr>
          <a:xfrm>
            <a:off x="4572000" y="1165199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1.2</a:t>
            </a:r>
            <a:endParaRPr lang="zh-TW" altLang="en-US" dirty="0"/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B868B006-E0FC-4ACF-A4EB-7B8D16A5E7FC}"/>
              </a:ext>
            </a:extLst>
          </p:cNvPr>
          <p:cNvSpPr txBox="1"/>
          <p:nvPr/>
        </p:nvSpPr>
        <p:spPr>
          <a:xfrm>
            <a:off x="2726871" y="1280094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0.9</a:t>
            </a:r>
            <a:endParaRPr lang="zh-TW" altLang="en-US" dirty="0"/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A20AD7EB-FCFF-47D2-9CE6-1B9EA1EAF907}"/>
              </a:ext>
            </a:extLst>
          </p:cNvPr>
          <p:cNvSpPr/>
          <p:nvPr/>
        </p:nvSpPr>
        <p:spPr>
          <a:xfrm rot="19747566">
            <a:off x="4195476" y="3354184"/>
            <a:ext cx="3020402" cy="648072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CC792A-8C2B-4697-87AC-4803BE1DFDE4}"/>
              </a:ext>
            </a:extLst>
          </p:cNvPr>
          <p:cNvSpPr/>
          <p:nvPr/>
        </p:nvSpPr>
        <p:spPr>
          <a:xfrm>
            <a:off x="338356" y="5661248"/>
            <a:ext cx="273204" cy="216024"/>
          </a:xfrm>
          <a:prstGeom prst="rect">
            <a:avLst/>
          </a:prstGeom>
          <a:solidFill>
            <a:srgbClr val="ED2525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2259E2B-3424-4968-B021-AD3F597594ED}"/>
              </a:ext>
            </a:extLst>
          </p:cNvPr>
          <p:cNvSpPr txBox="1"/>
          <p:nvPr/>
        </p:nvSpPr>
        <p:spPr>
          <a:xfrm>
            <a:off x="611559" y="5598532"/>
            <a:ext cx="129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:7.4</a:t>
            </a:r>
            <a:r>
              <a:rPr lang="zh-TW" altLang="en-US" sz="1400" dirty="0"/>
              <a:t>材 </a:t>
            </a:r>
            <a:r>
              <a:rPr lang="en-US" altLang="zh-TW" sz="1400" dirty="0"/>
              <a:t>-&gt; 6.9</a:t>
            </a:r>
            <a:r>
              <a:rPr lang="zh-TW" altLang="en-US" sz="1400" dirty="0"/>
              <a:t>材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527E570-28F1-4FBB-B50F-3956733DA9FA}"/>
              </a:ext>
            </a:extLst>
          </p:cNvPr>
          <p:cNvSpPr/>
          <p:nvPr/>
        </p:nvSpPr>
        <p:spPr>
          <a:xfrm>
            <a:off x="443393" y="910856"/>
            <a:ext cx="27320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B49FC894-185B-4351-A2C9-99620F0E0296}"/>
              </a:ext>
            </a:extLst>
          </p:cNvPr>
          <p:cNvSpPr txBox="1"/>
          <p:nvPr/>
        </p:nvSpPr>
        <p:spPr>
          <a:xfrm>
            <a:off x="716596" y="848140"/>
            <a:ext cx="129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:7.4</a:t>
            </a:r>
            <a:r>
              <a:rPr lang="zh-TW" altLang="en-US" sz="1400" dirty="0"/>
              <a:t>材 </a:t>
            </a:r>
            <a:r>
              <a:rPr lang="en-US" altLang="zh-TW" sz="1400" dirty="0"/>
              <a:t>-&gt; 6.8</a:t>
            </a:r>
            <a:r>
              <a:rPr lang="zh-TW" altLang="en-US" sz="1400" dirty="0"/>
              <a:t>材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05E5C0D-5728-415F-B89E-3357928A1D2D}"/>
              </a:ext>
            </a:extLst>
          </p:cNvPr>
          <p:cNvSpPr txBox="1"/>
          <p:nvPr/>
        </p:nvSpPr>
        <p:spPr>
          <a:xfrm>
            <a:off x="4738229" y="3429000"/>
            <a:ext cx="213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挑出的爆量店鋪</a:t>
            </a:r>
          </a:p>
        </p:txBody>
      </p:sp>
    </p:spTree>
    <p:extLst>
      <p:ext uri="{BB962C8B-B14F-4D97-AF65-F5344CB8AC3E}">
        <p14:creationId xmlns:p14="http://schemas.microsoft.com/office/powerpoint/2010/main" val="198809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2" descr="Who is on the Team?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778" b="80952" l="4750" r="96500">
                        <a14:foregroundMark x1="10250" y1="25714" x2="13167" y2="77619"/>
                        <a14:foregroundMark x1="8000" y1="36190" x2="5667" y2="43968"/>
                        <a14:foregroundMark x1="12083" y1="34127" x2="14750" y2="36508"/>
                        <a14:foregroundMark x1="19500" y1="37143" x2="14000" y2="55079"/>
                        <a14:foregroundMark x1="32750" y1="26508" x2="29750" y2="40635"/>
                        <a14:foregroundMark x1="40083" y1="45556" x2="42833" y2="46667"/>
                        <a14:foregroundMark x1="43333" y1="47460" x2="42833" y2="46667"/>
                        <a14:foregroundMark x1="38167" y1="78730" x2="36083" y2="79048"/>
                        <a14:foregroundMark x1="36500" y1="78413" x2="35667" y2="72857"/>
                        <a14:foregroundMark x1="31417" y1="78730" x2="31583" y2="73968"/>
                        <a14:foregroundMark x1="65417" y1="29206" x2="67583" y2="36032"/>
                        <a14:foregroundMark x1="90250" y1="26349" x2="81333" y2="54286"/>
                        <a14:foregroundMark x1="81167" y1="20000" x2="86333" y2="40000"/>
                        <a14:foregroundMark x1="92917" y1="44762" x2="90667" y2="50952"/>
                        <a14:foregroundMark x1="19417" y1="46667" x2="15333" y2="62857"/>
                        <a14:foregroundMark x1="16083" y1="78889" x2="14667" y2="78730"/>
                        <a14:foregroundMark x1="34417" y1="36508" x2="34417" y2="40159"/>
                        <a14:foregroundMark x1="38000" y1="78413" x2="36750" y2="77778"/>
                        <a14:foregroundMark x1="64833" y1="78571" x2="66833" y2="78571"/>
                        <a14:foregroundMark x1="66500" y1="76190" x2="66250" y2="78095"/>
                        <a14:foregroundMark x1="72000" y1="76667" x2="72333" y2="77619"/>
                        <a14:foregroundMark x1="90083" y1="35556" x2="91917" y2="44127"/>
                        <a14:backgroundMark x1="87917" y1="55556" x2="87750" y2="56984"/>
                        <a14:backgroundMark x1="68583" y1="27460" x2="69250" y2="29048"/>
                        <a14:backgroundMark x1="65417" y1="43333" x2="65583" y2="43810"/>
                        <a14:backgroundMark x1="13917" y1="57619" x2="14000" y2="603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938" b="16956"/>
          <a:stretch/>
        </p:blipFill>
        <p:spPr bwMode="auto">
          <a:xfrm>
            <a:off x="6255802" y="160338"/>
            <a:ext cx="2512450" cy="8587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A91657E-75ED-4E82-9076-304B06205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示意圖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主線揹載</a:t>
            </a:r>
            <a:endParaRPr lang="zh-TW" altLang="en-US" sz="2000" dirty="0"/>
          </a:p>
        </p:txBody>
      </p:sp>
      <p:sp>
        <p:nvSpPr>
          <p:cNvPr id="49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460432" y="6492875"/>
            <a:ext cx="534048" cy="365125"/>
          </a:xfrm>
        </p:spPr>
        <p:txBody>
          <a:bodyPr/>
          <a:lstStyle/>
          <a:p>
            <a:fld id="{6EC533A1-1383-4C0E-A5F4-F4CCEE4F09EF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9" name="AutoShape 2" descr="https://edm.managertoday.com.tw/lead2/assets/images/lead-info3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E59CC414-DB33-435D-963A-8AACE352C5A7}"/>
              </a:ext>
            </a:extLst>
          </p:cNvPr>
          <p:cNvSpPr/>
          <p:nvPr/>
        </p:nvSpPr>
        <p:spPr>
          <a:xfrm>
            <a:off x="2361965" y="263691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E66B53FD-8FC0-4391-B63B-FA40108B0183}"/>
              </a:ext>
            </a:extLst>
          </p:cNvPr>
          <p:cNvSpPr/>
          <p:nvPr/>
        </p:nvSpPr>
        <p:spPr>
          <a:xfrm>
            <a:off x="1331640" y="4437112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005FC25E-239D-432B-AA9D-AA48BAEC59D9}"/>
              </a:ext>
            </a:extLst>
          </p:cNvPr>
          <p:cNvSpPr/>
          <p:nvPr/>
        </p:nvSpPr>
        <p:spPr>
          <a:xfrm>
            <a:off x="4522205" y="27809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11A1A47A-AC87-41FD-9671-0BCB5801E160}"/>
              </a:ext>
            </a:extLst>
          </p:cNvPr>
          <p:cNvSpPr/>
          <p:nvPr/>
        </p:nvSpPr>
        <p:spPr>
          <a:xfrm>
            <a:off x="3957709" y="5229200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3304E7DE-5827-4888-85C2-5B497B078BBA}"/>
              </a:ext>
            </a:extLst>
          </p:cNvPr>
          <p:cNvSpPr/>
          <p:nvPr/>
        </p:nvSpPr>
        <p:spPr>
          <a:xfrm>
            <a:off x="7334526" y="5085184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FA4676E-6C65-4B4C-9A98-5D4AF2DB60AB}"/>
              </a:ext>
            </a:extLst>
          </p:cNvPr>
          <p:cNvSpPr/>
          <p:nvPr/>
        </p:nvSpPr>
        <p:spPr>
          <a:xfrm>
            <a:off x="7524328" y="4437112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BEC05B31-199C-43C1-B9E4-DDB3A3838F09}"/>
              </a:ext>
            </a:extLst>
          </p:cNvPr>
          <p:cNvSpPr/>
          <p:nvPr/>
        </p:nvSpPr>
        <p:spPr>
          <a:xfrm>
            <a:off x="4666221" y="4196471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38E5194C-3D65-49AD-BE41-ADA75B597580}"/>
              </a:ext>
            </a:extLst>
          </p:cNvPr>
          <p:cNvSpPr/>
          <p:nvPr/>
        </p:nvSpPr>
        <p:spPr>
          <a:xfrm>
            <a:off x="6624064" y="298214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1195625B-ED01-49E2-A815-19320405EB3A}"/>
              </a:ext>
            </a:extLst>
          </p:cNvPr>
          <p:cNvSpPr/>
          <p:nvPr/>
        </p:nvSpPr>
        <p:spPr>
          <a:xfrm>
            <a:off x="4954253" y="1482545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9D12638C-EC4E-4039-BEE8-16BE923FBD1A}"/>
              </a:ext>
            </a:extLst>
          </p:cNvPr>
          <p:cNvSpPr/>
          <p:nvPr/>
        </p:nvSpPr>
        <p:spPr>
          <a:xfrm>
            <a:off x="6594755" y="12487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63014607-DC61-4A49-99ED-69A6D7298DD4}"/>
              </a:ext>
            </a:extLst>
          </p:cNvPr>
          <p:cNvSpPr/>
          <p:nvPr/>
        </p:nvSpPr>
        <p:spPr>
          <a:xfrm>
            <a:off x="5962365" y="5661248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55966CC6-36D6-4085-84BE-F6AC63964770}"/>
              </a:ext>
            </a:extLst>
          </p:cNvPr>
          <p:cNvSpPr/>
          <p:nvPr/>
        </p:nvSpPr>
        <p:spPr>
          <a:xfrm>
            <a:off x="3082045" y="1641163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0D4FA10-7317-4E83-A55F-0B2E13413C64}"/>
              </a:ext>
            </a:extLst>
          </p:cNvPr>
          <p:cNvCxnSpPr>
            <a:cxnSpLocks/>
          </p:cNvCxnSpPr>
          <p:nvPr/>
        </p:nvCxnSpPr>
        <p:spPr>
          <a:xfrm>
            <a:off x="1593450" y="4581128"/>
            <a:ext cx="2280683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742B251-557D-4C6C-9E42-4AD5ED3F451B}"/>
              </a:ext>
            </a:extLst>
          </p:cNvPr>
          <p:cNvCxnSpPr/>
          <p:nvPr/>
        </p:nvCxnSpPr>
        <p:spPr>
          <a:xfrm>
            <a:off x="4234173" y="5373216"/>
            <a:ext cx="1656184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6B0646F-4C98-489B-A58E-0C76AD27C02F}"/>
              </a:ext>
            </a:extLst>
          </p:cNvPr>
          <p:cNvCxnSpPr/>
          <p:nvPr/>
        </p:nvCxnSpPr>
        <p:spPr>
          <a:xfrm flipV="1">
            <a:off x="6250397" y="5229200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23DB085-8957-40EA-91B5-76121ADB568F}"/>
              </a:ext>
            </a:extLst>
          </p:cNvPr>
          <p:cNvCxnSpPr>
            <a:cxnSpLocks/>
          </p:cNvCxnSpPr>
          <p:nvPr/>
        </p:nvCxnSpPr>
        <p:spPr>
          <a:xfrm flipV="1">
            <a:off x="7478542" y="4715588"/>
            <a:ext cx="83576" cy="297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135ED155-8DDD-4492-B6D3-C4E20BD8CDFD}"/>
              </a:ext>
            </a:extLst>
          </p:cNvPr>
          <p:cNvCxnSpPr/>
          <p:nvPr/>
        </p:nvCxnSpPr>
        <p:spPr>
          <a:xfrm>
            <a:off x="2577989" y="2780928"/>
            <a:ext cx="1800200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C8B27131-FAB8-4EF5-9A92-FD7F5CB3E8A7}"/>
              </a:ext>
            </a:extLst>
          </p:cNvPr>
          <p:cNvCxnSpPr>
            <a:cxnSpLocks/>
          </p:cNvCxnSpPr>
          <p:nvPr/>
        </p:nvCxnSpPr>
        <p:spPr>
          <a:xfrm>
            <a:off x="4627018" y="3033932"/>
            <a:ext cx="80991" cy="1090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973C477F-38C1-4555-B051-629899D054A9}"/>
              </a:ext>
            </a:extLst>
          </p:cNvPr>
          <p:cNvCxnSpPr>
            <a:cxnSpLocks/>
          </p:cNvCxnSpPr>
          <p:nvPr/>
        </p:nvCxnSpPr>
        <p:spPr>
          <a:xfrm flipV="1">
            <a:off x="6809868" y="2345566"/>
            <a:ext cx="710462" cy="636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F5CA649F-D232-4AA8-BEA3-EA81E1BF996D}"/>
              </a:ext>
            </a:extLst>
          </p:cNvPr>
          <p:cNvCxnSpPr/>
          <p:nvPr/>
        </p:nvCxnSpPr>
        <p:spPr>
          <a:xfrm flipH="1">
            <a:off x="5242285" y="1320716"/>
            <a:ext cx="1224136" cy="169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F59D06BE-8391-4BD8-BC4E-4743145B30B5}"/>
              </a:ext>
            </a:extLst>
          </p:cNvPr>
          <p:cNvCxnSpPr/>
          <p:nvPr/>
        </p:nvCxnSpPr>
        <p:spPr>
          <a:xfrm flipH="1">
            <a:off x="3478089" y="1626561"/>
            <a:ext cx="1260140" cy="86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>
            <a:extLst>
              <a:ext uri="{FF2B5EF4-FFF2-40B4-BE49-F238E27FC236}">
                <a16:creationId xmlns:a16="http://schemas.microsoft.com/office/drawing/2014/main" id="{B0EC692C-549D-4807-B6E4-00D7EC2A90AA}"/>
              </a:ext>
            </a:extLst>
          </p:cNvPr>
          <p:cNvSpPr/>
          <p:nvPr/>
        </p:nvSpPr>
        <p:spPr>
          <a:xfrm>
            <a:off x="965650" y="2547385"/>
            <a:ext cx="144016" cy="144016"/>
          </a:xfrm>
          <a:prstGeom prst="ellipse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FFB0D1F5-CE32-47A1-B730-CD572A9687A0}"/>
              </a:ext>
            </a:extLst>
          </p:cNvPr>
          <p:cNvCxnSpPr>
            <a:cxnSpLocks/>
          </p:cNvCxnSpPr>
          <p:nvPr/>
        </p:nvCxnSpPr>
        <p:spPr>
          <a:xfrm>
            <a:off x="1109666" y="2816932"/>
            <a:ext cx="221974" cy="1548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CB42C02F-F9C9-413C-8C71-15CDB68ECA4B}"/>
              </a:ext>
            </a:extLst>
          </p:cNvPr>
          <p:cNvCxnSpPr/>
          <p:nvPr/>
        </p:nvCxnSpPr>
        <p:spPr>
          <a:xfrm>
            <a:off x="1259632" y="2636912"/>
            <a:ext cx="958317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24392CB5-0D41-4566-81C0-F43E7A50E35B}"/>
              </a:ext>
            </a:extLst>
          </p:cNvPr>
          <p:cNvCxnSpPr/>
          <p:nvPr/>
        </p:nvCxnSpPr>
        <p:spPr>
          <a:xfrm flipH="1">
            <a:off x="1256657" y="1785179"/>
            <a:ext cx="1659159" cy="707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橢圓 67">
            <a:extLst>
              <a:ext uri="{FF2B5EF4-FFF2-40B4-BE49-F238E27FC236}">
                <a16:creationId xmlns:a16="http://schemas.microsoft.com/office/drawing/2014/main" id="{30D13755-4545-4785-850C-292DCB9379CD}"/>
              </a:ext>
            </a:extLst>
          </p:cNvPr>
          <p:cNvSpPr/>
          <p:nvPr/>
        </p:nvSpPr>
        <p:spPr>
          <a:xfrm>
            <a:off x="2289957" y="3789040"/>
            <a:ext cx="144016" cy="14401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ED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86C880A7-91F8-421A-8E08-42E99294E169}"/>
              </a:ext>
            </a:extLst>
          </p:cNvPr>
          <p:cNvCxnSpPr/>
          <p:nvPr/>
        </p:nvCxnSpPr>
        <p:spPr>
          <a:xfrm flipH="1" flipV="1">
            <a:off x="1220653" y="2744872"/>
            <a:ext cx="976401" cy="1044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B978C018-305D-4443-BF2C-10623A14E136}"/>
              </a:ext>
            </a:extLst>
          </p:cNvPr>
          <p:cNvSpPr txBox="1"/>
          <p:nvPr/>
        </p:nvSpPr>
        <p:spPr>
          <a:xfrm>
            <a:off x="338356" y="2386045"/>
            <a:ext cx="5881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100" dirty="0"/>
              <a:t>林口</a:t>
            </a:r>
            <a:r>
              <a:rPr lang="en-US" altLang="zh-TW" sz="1100" dirty="0"/>
              <a:t>DC</a:t>
            </a: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053342FD-8198-4378-883F-1D2C7DF35F42}"/>
              </a:ext>
            </a:extLst>
          </p:cNvPr>
          <p:cNvSpPr txBox="1"/>
          <p:nvPr/>
        </p:nvSpPr>
        <p:spPr>
          <a:xfrm>
            <a:off x="1037658" y="4581128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1.3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AC33879C-5E08-40F6-8375-EF4B4D2AD332}"/>
              </a:ext>
            </a:extLst>
          </p:cNvPr>
          <p:cNvSpPr txBox="1"/>
          <p:nvPr/>
        </p:nvSpPr>
        <p:spPr>
          <a:xfrm>
            <a:off x="3556993" y="5301208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0.9</a:t>
            </a:r>
            <a:endParaRPr lang="zh-TW" altLang="en-US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68F04C26-B1BF-47FF-B584-AB9F3B7595FE}"/>
              </a:ext>
            </a:extLst>
          </p:cNvPr>
          <p:cNvSpPr txBox="1"/>
          <p:nvPr/>
        </p:nvSpPr>
        <p:spPr>
          <a:xfrm>
            <a:off x="5674333" y="5805264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1.3</a:t>
            </a:r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6C847993-ACCA-47B2-BF2A-1CF95546F6A3}"/>
              </a:ext>
            </a:extLst>
          </p:cNvPr>
          <p:cNvSpPr txBox="1"/>
          <p:nvPr/>
        </p:nvSpPr>
        <p:spPr>
          <a:xfrm>
            <a:off x="7362369" y="5229200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0.8</a:t>
            </a:r>
            <a:endParaRPr lang="zh-TW" altLang="en-US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CBD0DF7C-C06B-4994-A65E-2A6D7BAAF366}"/>
              </a:ext>
            </a:extLst>
          </p:cNvPr>
          <p:cNvSpPr txBox="1"/>
          <p:nvPr/>
        </p:nvSpPr>
        <p:spPr>
          <a:xfrm>
            <a:off x="7725384" y="4252446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2.0</a:t>
            </a:r>
            <a:endParaRPr lang="zh-TW" altLang="en-US" dirty="0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26A14D4C-A4C4-4514-96D0-A1DB9ACB454A}"/>
              </a:ext>
            </a:extLst>
          </p:cNvPr>
          <p:cNvSpPr txBox="1"/>
          <p:nvPr/>
        </p:nvSpPr>
        <p:spPr>
          <a:xfrm>
            <a:off x="4887189" y="4155821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0.4</a:t>
            </a:r>
            <a:endParaRPr lang="zh-TW" altLang="en-US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548EAF6-7D06-4895-BBA9-CCC78DD67AF8}"/>
              </a:ext>
            </a:extLst>
          </p:cNvPr>
          <p:cNvSpPr txBox="1"/>
          <p:nvPr/>
        </p:nvSpPr>
        <p:spPr>
          <a:xfrm>
            <a:off x="2275216" y="3453535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0.8</a:t>
            </a:r>
            <a:endParaRPr lang="zh-TW" altLang="en-US" dirty="0"/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56292A65-F268-41B5-8CE8-1495EDC12711}"/>
              </a:ext>
            </a:extLst>
          </p:cNvPr>
          <p:cNvSpPr/>
          <p:nvPr/>
        </p:nvSpPr>
        <p:spPr>
          <a:xfrm>
            <a:off x="7596336" y="202145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8" name="直線單箭頭接點 137">
            <a:extLst>
              <a:ext uri="{FF2B5EF4-FFF2-40B4-BE49-F238E27FC236}">
                <a16:creationId xmlns:a16="http://schemas.microsoft.com/office/drawing/2014/main" id="{84A79A23-2524-470B-B4C8-881A40DCEAF1}"/>
              </a:ext>
            </a:extLst>
          </p:cNvPr>
          <p:cNvCxnSpPr/>
          <p:nvPr/>
        </p:nvCxnSpPr>
        <p:spPr>
          <a:xfrm flipH="1" flipV="1">
            <a:off x="6768080" y="1428580"/>
            <a:ext cx="710462" cy="536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4E60C3F3-03AA-45DB-9347-72785AB9DD7E}"/>
              </a:ext>
            </a:extLst>
          </p:cNvPr>
          <p:cNvSpPr txBox="1"/>
          <p:nvPr/>
        </p:nvSpPr>
        <p:spPr>
          <a:xfrm>
            <a:off x="2528037" y="2380238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0.7</a:t>
            </a:r>
            <a:endParaRPr lang="zh-TW" altLang="en-US" dirty="0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F98CB1D-3455-43BA-81BC-3BAA94ECD5EF}"/>
              </a:ext>
            </a:extLst>
          </p:cNvPr>
          <p:cNvSpPr txBox="1"/>
          <p:nvPr/>
        </p:nvSpPr>
        <p:spPr>
          <a:xfrm>
            <a:off x="4618492" y="2496169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0.2</a:t>
            </a:r>
            <a:endParaRPr lang="zh-TW" altLang="en-US" dirty="0"/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D77FD31A-B832-4B77-AC59-04D1C915C700}"/>
              </a:ext>
            </a:extLst>
          </p:cNvPr>
          <p:cNvSpPr txBox="1"/>
          <p:nvPr/>
        </p:nvSpPr>
        <p:spPr>
          <a:xfrm>
            <a:off x="6836088" y="2931961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0.6</a:t>
            </a:r>
            <a:endParaRPr lang="zh-TW" altLang="en-US" dirty="0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5892DE89-2C4A-404F-8F42-E4399D26D309}"/>
              </a:ext>
            </a:extLst>
          </p:cNvPr>
          <p:cNvSpPr txBox="1"/>
          <p:nvPr/>
        </p:nvSpPr>
        <p:spPr>
          <a:xfrm>
            <a:off x="7809385" y="1878573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1.7</a:t>
            </a:r>
            <a:endParaRPr lang="zh-TW" altLang="en-US" dirty="0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9B1718BD-2C6A-4DA2-BA04-5FA48C677D25}"/>
              </a:ext>
            </a:extLst>
          </p:cNvPr>
          <p:cNvSpPr txBox="1"/>
          <p:nvPr/>
        </p:nvSpPr>
        <p:spPr>
          <a:xfrm>
            <a:off x="6250397" y="1314399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1.3</a:t>
            </a:r>
            <a:endParaRPr lang="zh-TW" altLang="en-US" dirty="0"/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6A6FEB06-56E4-48F1-9E39-D780EBB96D1E}"/>
              </a:ext>
            </a:extLst>
          </p:cNvPr>
          <p:cNvSpPr txBox="1"/>
          <p:nvPr/>
        </p:nvSpPr>
        <p:spPr>
          <a:xfrm>
            <a:off x="4572000" y="1165199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1.2</a:t>
            </a:r>
            <a:endParaRPr lang="zh-TW" altLang="en-US" dirty="0"/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B868B006-E0FC-4ACF-A4EB-7B8D16A5E7FC}"/>
              </a:ext>
            </a:extLst>
          </p:cNvPr>
          <p:cNvSpPr txBox="1"/>
          <p:nvPr/>
        </p:nvSpPr>
        <p:spPr>
          <a:xfrm>
            <a:off x="2726871" y="1280094"/>
            <a:ext cx="7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0.9</a:t>
            </a:r>
            <a:endParaRPr lang="zh-TW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44ED990-C88F-4C1D-A3BE-0D60A3BBBE0B}"/>
              </a:ext>
            </a:extLst>
          </p:cNvPr>
          <p:cNvSpPr/>
          <p:nvPr/>
        </p:nvSpPr>
        <p:spPr>
          <a:xfrm>
            <a:off x="443393" y="910856"/>
            <a:ext cx="27320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7ECE88E-A4ED-4012-9C56-7E154E38EC4C}"/>
              </a:ext>
            </a:extLst>
          </p:cNvPr>
          <p:cNvSpPr txBox="1"/>
          <p:nvPr/>
        </p:nvSpPr>
        <p:spPr>
          <a:xfrm>
            <a:off x="716596" y="848140"/>
            <a:ext cx="1407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:6.6</a:t>
            </a:r>
            <a:r>
              <a:rPr lang="zh-TW" altLang="en-US" sz="1400" dirty="0"/>
              <a:t>材 </a:t>
            </a:r>
            <a:r>
              <a:rPr lang="en-US" altLang="zh-TW" sz="1400" dirty="0"/>
              <a:t>-&gt; 7.0</a:t>
            </a:r>
            <a:r>
              <a:rPr lang="zh-TW" altLang="en-US" sz="1400" dirty="0"/>
              <a:t>材</a:t>
            </a:r>
            <a:r>
              <a:rPr lang="en-US" altLang="zh-TW" sz="1400" dirty="0"/>
              <a:t> </a:t>
            </a:r>
            <a:endParaRPr lang="zh-TW" altLang="en-US" sz="14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87EA0F4-4A6B-4836-8C9F-B6B0850BD147}"/>
              </a:ext>
            </a:extLst>
          </p:cNvPr>
          <p:cNvSpPr/>
          <p:nvPr/>
        </p:nvSpPr>
        <p:spPr>
          <a:xfrm>
            <a:off x="338356" y="5661248"/>
            <a:ext cx="273204" cy="216024"/>
          </a:xfrm>
          <a:prstGeom prst="rect">
            <a:avLst/>
          </a:prstGeom>
          <a:solidFill>
            <a:srgbClr val="ED2525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6AA24DA-06A3-4D81-8914-88F42B693076}"/>
              </a:ext>
            </a:extLst>
          </p:cNvPr>
          <p:cNvSpPr txBox="1"/>
          <p:nvPr/>
        </p:nvSpPr>
        <p:spPr>
          <a:xfrm>
            <a:off x="611559" y="5598532"/>
            <a:ext cx="1273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:7.5</a:t>
            </a:r>
            <a:r>
              <a:rPr lang="zh-TW" altLang="en-US" sz="1400" dirty="0"/>
              <a:t>材 </a:t>
            </a:r>
            <a:r>
              <a:rPr lang="en-US" altLang="zh-TW" sz="1400" dirty="0"/>
              <a:t>-&gt; 7.1</a:t>
            </a:r>
            <a:r>
              <a:rPr lang="zh-TW" altLang="en-US" sz="1400" dirty="0"/>
              <a:t>材</a:t>
            </a:r>
          </a:p>
        </p:txBody>
      </p:sp>
      <p:sp>
        <p:nvSpPr>
          <p:cNvPr id="6" name="手繪多邊形: 圖案 5">
            <a:extLst>
              <a:ext uri="{FF2B5EF4-FFF2-40B4-BE49-F238E27FC236}">
                <a16:creationId xmlns:a16="http://schemas.microsoft.com/office/drawing/2014/main" id="{18A4BB83-EBD0-4B72-A4F6-B9E6AD9D142A}"/>
              </a:ext>
            </a:extLst>
          </p:cNvPr>
          <p:cNvSpPr/>
          <p:nvPr/>
        </p:nvSpPr>
        <p:spPr>
          <a:xfrm>
            <a:off x="2505981" y="4025690"/>
            <a:ext cx="4799792" cy="693546"/>
          </a:xfrm>
          <a:custGeom>
            <a:avLst/>
            <a:gdLst>
              <a:gd name="connsiteX0" fmla="*/ 4845377 w 4845377"/>
              <a:gd name="connsiteY0" fmla="*/ 622169 h 731698"/>
              <a:gd name="connsiteX1" fmla="*/ 2535810 w 4845377"/>
              <a:gd name="connsiteY1" fmla="*/ 716437 h 731698"/>
              <a:gd name="connsiteX2" fmla="*/ 603315 w 4845377"/>
              <a:gd name="connsiteY2" fmla="*/ 339365 h 731698"/>
              <a:gd name="connsiteX3" fmla="*/ 0 w 4845377"/>
              <a:gd name="connsiteY3" fmla="*/ 0 h 731698"/>
              <a:gd name="connsiteX4" fmla="*/ 0 w 4845377"/>
              <a:gd name="connsiteY4" fmla="*/ 0 h 731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5377" h="731698">
                <a:moveTo>
                  <a:pt x="4845377" y="622169"/>
                </a:moveTo>
                <a:cubicBezTo>
                  <a:pt x="4044098" y="692870"/>
                  <a:pt x="3242820" y="763571"/>
                  <a:pt x="2535810" y="716437"/>
                </a:cubicBezTo>
                <a:cubicBezTo>
                  <a:pt x="1828800" y="669303"/>
                  <a:pt x="1025950" y="458771"/>
                  <a:pt x="603315" y="339365"/>
                </a:cubicBezTo>
                <a:cubicBezTo>
                  <a:pt x="180680" y="219959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2CCFF84D-F3A4-48AA-ACCF-139798FD6342}"/>
              </a:ext>
            </a:extLst>
          </p:cNvPr>
          <p:cNvCxnSpPr>
            <a:cxnSpLocks/>
          </p:cNvCxnSpPr>
          <p:nvPr/>
        </p:nvCxnSpPr>
        <p:spPr>
          <a:xfrm flipV="1">
            <a:off x="4887189" y="3126165"/>
            <a:ext cx="1668953" cy="1070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526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495DE-2DFE-4BCC-91F3-72993DAC9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592" y="188640"/>
            <a:ext cx="7272808" cy="468000"/>
          </a:xfrm>
        </p:spPr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配送課同仁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–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訪談記錄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53BECA-C9B9-4D79-B0E2-262DB902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A1-1383-4C0E-A5F4-F4CCEE4F09EF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0C2CA1-4122-46D1-8620-7D4641B33308}"/>
              </a:ext>
            </a:extLst>
          </p:cNvPr>
          <p:cNvSpPr txBox="1"/>
          <p:nvPr/>
        </p:nvSpPr>
        <p:spPr>
          <a:xfrm>
            <a:off x="395537" y="1052736"/>
            <a:ext cx="84969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從主線中挑出爆量的路線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再從會爆量的路線中看有沒有其他主線可以揹載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剩餘的店鋪開始連連看組成爆量路線</a:t>
            </a:r>
            <a:r>
              <a:rPr lang="en-US" altLang="zh-TW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依區域先分群</a:t>
            </a:r>
            <a:r>
              <a:rPr lang="en-US" altLang="zh-TW" sz="2400" dirty="0"/>
              <a:t>(</a:t>
            </a:r>
            <a:r>
              <a:rPr lang="zh-TW" altLang="en-US" sz="2400" dirty="0"/>
              <a:t>這個區域不是行政區</a:t>
            </a:r>
            <a:r>
              <a:rPr lang="en-US" altLang="zh-TW" sz="2400" dirty="0"/>
              <a:t>, </a:t>
            </a:r>
            <a:r>
              <a:rPr lang="zh-TW" altLang="en-US" sz="2400" dirty="0"/>
              <a:t>沒有固定的區域</a:t>
            </a:r>
            <a:r>
              <a:rPr lang="en-US" altLang="zh-TW" sz="2400" dirty="0"/>
              <a:t>, </a:t>
            </a:r>
            <a:r>
              <a:rPr lang="zh-TW" altLang="en-US" sz="2400" dirty="0"/>
              <a:t>要看當天的狀況</a:t>
            </a:r>
            <a:r>
              <a:rPr lang="en-US" altLang="zh-TW" sz="2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從最遠的店鋪開始排</a:t>
            </a:r>
            <a:r>
              <a:rPr lang="en-US" altLang="zh-TW" sz="2400" dirty="0"/>
              <a:t>, </a:t>
            </a:r>
            <a:r>
              <a:rPr lang="zh-TW" altLang="en-US" sz="2400" dirty="0"/>
              <a:t>往中間集中</a:t>
            </a:r>
            <a:r>
              <a:rPr lang="en-US" altLang="zh-TW" sz="2400" dirty="0"/>
              <a:t>. </a:t>
            </a:r>
            <a:r>
              <a:rPr lang="zh-TW" altLang="en-US" sz="2400" dirty="0"/>
              <a:t>如果最後有排不下的</a:t>
            </a:r>
            <a:r>
              <a:rPr lang="en-US" altLang="zh-TW" sz="2400" dirty="0"/>
              <a:t>, </a:t>
            </a:r>
            <a:r>
              <a:rPr lang="zh-TW" altLang="en-US" sz="2400" dirty="0"/>
              <a:t>因為都集中在中間會比較好相互調整</a:t>
            </a: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同一個區域</a:t>
            </a:r>
            <a:r>
              <a:rPr lang="en-US" altLang="zh-TW" sz="2400" dirty="0"/>
              <a:t>, </a:t>
            </a:r>
            <a:r>
              <a:rPr lang="zh-TW" altLang="en-US" sz="2400" dirty="0"/>
              <a:t>依地理區從左邊挑到右邊</a:t>
            </a:r>
            <a:r>
              <a:rPr lang="en-US" altLang="zh-TW" sz="2400" dirty="0"/>
              <a:t>, </a:t>
            </a:r>
            <a:r>
              <a:rPr lang="zh-TW" altLang="en-US" sz="2400" dirty="0"/>
              <a:t>考量時間才會是階梯狀</a:t>
            </a:r>
            <a:r>
              <a:rPr lang="en-US" altLang="zh-TW" sz="2400" dirty="0"/>
              <a:t>, </a:t>
            </a:r>
            <a:r>
              <a:rPr lang="zh-TW" altLang="en-US" sz="2400" dirty="0"/>
              <a:t>同時也會考量到路順</a:t>
            </a:r>
            <a:r>
              <a:rPr lang="en-US" altLang="zh-TW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或是</a:t>
            </a:r>
            <a:r>
              <a:rPr lang="en-US" altLang="zh-TW" sz="2400" dirty="0"/>
              <a:t>, </a:t>
            </a:r>
            <a:r>
              <a:rPr lang="zh-TW" altLang="en-US" sz="2400" dirty="0"/>
              <a:t>從大店開始挑</a:t>
            </a:r>
            <a:r>
              <a:rPr lang="en-US" altLang="zh-TW" sz="2400" dirty="0"/>
              <a:t>(</a:t>
            </a:r>
            <a:r>
              <a:rPr lang="zh-TW" altLang="en-US" sz="2400" dirty="0"/>
              <a:t>因為挑大店可以減少爆量車的店鋪數</a:t>
            </a:r>
            <a:r>
              <a:rPr lang="en-US" altLang="zh-TW" sz="2400" dirty="0"/>
              <a:t>), </a:t>
            </a:r>
            <a:r>
              <a:rPr lang="zh-TW" altLang="en-US" sz="2400" dirty="0"/>
              <a:t>再挑左右兩邊的店鋪來配合</a:t>
            </a:r>
            <a:r>
              <a:rPr lang="en-US" altLang="zh-TW" sz="2400" dirty="0"/>
              <a:t>, </a:t>
            </a:r>
            <a:r>
              <a:rPr lang="zh-TW" altLang="en-US" sz="2400" dirty="0"/>
              <a:t>最後組成爆量路線</a:t>
            </a:r>
            <a:r>
              <a:rPr lang="en-US" altLang="zh-TW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會有幾台爆量車的計算方式</a:t>
            </a:r>
            <a:r>
              <a:rPr lang="en-US" altLang="zh-TW" sz="2400" dirty="0"/>
              <a:t>: </a:t>
            </a:r>
            <a:r>
              <a:rPr lang="zh-TW" altLang="en-US" sz="2400" dirty="0"/>
              <a:t>算出超過的材積數</a:t>
            </a:r>
            <a:r>
              <a:rPr lang="en-US" altLang="zh-TW" sz="2400" dirty="0"/>
              <a:t>, </a:t>
            </a:r>
            <a:r>
              <a:rPr lang="zh-TW" altLang="en-US" sz="2400" dirty="0"/>
              <a:t>再除以車輛空間上限</a:t>
            </a:r>
            <a:r>
              <a:rPr lang="en-US" altLang="zh-TW" sz="2400" dirty="0"/>
              <a:t>, </a:t>
            </a:r>
            <a:r>
              <a:rPr lang="zh-TW" altLang="en-US" sz="2400" dirty="0"/>
              <a:t>就會是爆量車的趟次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在安排路線時</a:t>
            </a:r>
            <a:r>
              <a:rPr lang="en-US" altLang="zh-TW" sz="2400" dirty="0"/>
              <a:t>, </a:t>
            </a:r>
            <a:r>
              <a:rPr lang="zh-TW" altLang="en-US" sz="2400" dirty="0">
                <a:highlight>
                  <a:srgbClr val="FFFF00"/>
                </a:highlight>
              </a:rPr>
              <a:t>區域</a:t>
            </a:r>
            <a:r>
              <a:rPr lang="zh-TW" altLang="en-US" sz="2400" dirty="0"/>
              <a:t>與</a:t>
            </a:r>
            <a:r>
              <a:rPr lang="zh-TW" altLang="en-US" sz="2400" dirty="0">
                <a:highlight>
                  <a:srgbClr val="FFFF00"/>
                </a:highlight>
              </a:rPr>
              <a:t>時間</a:t>
            </a:r>
            <a:r>
              <a:rPr lang="zh-TW" altLang="en-US" sz="2400" dirty="0"/>
              <a:t>是重要的考量</a:t>
            </a:r>
          </a:p>
        </p:txBody>
      </p:sp>
    </p:spTree>
    <p:extLst>
      <p:ext uri="{BB962C8B-B14F-4D97-AF65-F5344CB8AC3E}">
        <p14:creationId xmlns:p14="http://schemas.microsoft.com/office/powerpoint/2010/main" val="10043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495DE-2DFE-4BCC-91F3-72993DAC9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必要的限制條件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53BECA-C9B9-4D79-B0E2-262DB902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A1-1383-4C0E-A5F4-F4CCEE4F09EF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0C2CA1-4122-46D1-8620-7D4641B33308}"/>
              </a:ext>
            </a:extLst>
          </p:cNvPr>
          <p:cNvSpPr txBox="1"/>
          <p:nvPr/>
        </p:nvSpPr>
        <p:spPr>
          <a:xfrm>
            <a:off x="395537" y="1052736"/>
            <a:ext cx="84969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符合到店時間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每條路線工時不能超過</a:t>
            </a:r>
            <a:r>
              <a:rPr lang="en-US" altLang="zh-TW" sz="2400" dirty="0"/>
              <a:t>5</a:t>
            </a:r>
            <a:r>
              <a:rPr lang="zh-TW" altLang="en-US" sz="2400" dirty="0"/>
              <a:t>小時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主線可以揹載</a:t>
            </a:r>
            <a:r>
              <a:rPr lang="en-US" altLang="zh-TW" sz="2400" dirty="0"/>
              <a:t>, </a:t>
            </a:r>
            <a:r>
              <a:rPr lang="zh-TW" altLang="en-US" sz="2400" dirty="0"/>
              <a:t>但不要調整主線原本的順序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貨量裝載率上限為</a:t>
            </a:r>
            <a:r>
              <a:rPr lang="en-US" altLang="zh-TW" sz="2400" dirty="0"/>
              <a:t>100%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但人工編排時有少數會超過</a:t>
            </a:r>
            <a:r>
              <a:rPr lang="en-US" altLang="zh-TW" sz="2400" dirty="0"/>
              <a:t>100%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3377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C533A1-1383-4C0E-A5F4-F4CCEE4F09EF}" type="slidenum">
              <a:rPr kumimoji="0" lang="zh-TW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標題 4">
            <a:extLst>
              <a:ext uri="{FF2B5EF4-FFF2-40B4-BE49-F238E27FC236}">
                <a16:creationId xmlns:a16="http://schemas.microsoft.com/office/drawing/2014/main" id="{14F2484A-8BDF-47BE-BFCB-C68A19F1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584" y="116632"/>
            <a:ext cx="7272808" cy="468000"/>
          </a:xfrm>
        </p:spPr>
        <p:txBody>
          <a:bodyPr/>
          <a:lstStyle/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zh-TW" altLang="en-US" dirty="0"/>
              <a:t>路線編排</a:t>
            </a:r>
            <a:r>
              <a:rPr lang="en-US" altLang="zh-TW" dirty="0"/>
              <a:t>-</a:t>
            </a:r>
            <a:r>
              <a:rPr lang="zh-TW" altLang="en-US" dirty="0"/>
              <a:t>指標統計</a:t>
            </a:r>
            <a:r>
              <a:rPr lang="en-US" altLang="zh-TW" dirty="0"/>
              <a:t>(</a:t>
            </a:r>
            <a:r>
              <a:rPr lang="zh-TW" altLang="en-US" dirty="0"/>
              <a:t>常溫</a:t>
            </a:r>
            <a:r>
              <a:rPr lang="en-US" altLang="zh-TW" dirty="0"/>
              <a:t>, </a:t>
            </a:r>
            <a:r>
              <a:rPr lang="zh-TW" altLang="en-US" dirty="0"/>
              <a:t>林口</a:t>
            </a:r>
            <a:r>
              <a:rPr lang="en-US" altLang="zh-TW" dirty="0"/>
              <a:t>DC)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51B2F68-8885-4DDE-A591-2F951F23A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05516"/>
              </p:ext>
            </p:extLst>
          </p:nvPr>
        </p:nvGraphicFramePr>
        <p:xfrm>
          <a:off x="467544" y="692696"/>
          <a:ext cx="832522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112">
                  <a:extLst>
                    <a:ext uri="{9D8B030D-6E8A-4147-A177-3AD203B41FA5}">
                      <a16:colId xmlns:a16="http://schemas.microsoft.com/office/drawing/2014/main" val="1694363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14138587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11377587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990533884"/>
                    </a:ext>
                  </a:extLst>
                </a:gridCol>
                <a:gridCol w="1160643">
                  <a:extLst>
                    <a:ext uri="{9D8B030D-6E8A-4147-A177-3AD203B41FA5}">
                      <a16:colId xmlns:a16="http://schemas.microsoft.com/office/drawing/2014/main" val="3729224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爆量車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幹部編排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(12/3)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北科大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(12/3)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幹部編排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(12/7)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北科大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(12/7)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810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平均店鋪數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88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平均每趟里程數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公里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043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遵守預定到店時間的比例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56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平均工時數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分鐘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zh-TW" altLang="zh-TW" sz="18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62527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1E72D3B-56F2-44F2-9B73-4DAB65338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208057"/>
              </p:ext>
            </p:extLst>
          </p:nvPr>
        </p:nvGraphicFramePr>
        <p:xfrm>
          <a:off x="472879" y="4810434"/>
          <a:ext cx="8325227" cy="1858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78">
                  <a:extLst>
                    <a:ext uri="{9D8B030D-6E8A-4147-A177-3AD203B41FA5}">
                      <a16:colId xmlns:a16="http://schemas.microsoft.com/office/drawing/2014/main" val="1694363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141385879"/>
                    </a:ext>
                  </a:extLst>
                </a:gridCol>
                <a:gridCol w="1232651">
                  <a:extLst>
                    <a:ext uri="{9D8B030D-6E8A-4147-A177-3AD203B41FA5}">
                      <a16:colId xmlns:a16="http://schemas.microsoft.com/office/drawing/2014/main" val="154405185"/>
                    </a:ext>
                  </a:extLst>
                </a:gridCol>
                <a:gridCol w="1359637">
                  <a:extLst>
                    <a:ext uri="{9D8B030D-6E8A-4147-A177-3AD203B41FA5}">
                      <a16:colId xmlns:a16="http://schemas.microsoft.com/office/drawing/2014/main" val="2990533884"/>
                    </a:ext>
                  </a:extLst>
                </a:gridCol>
                <a:gridCol w="1210285">
                  <a:extLst>
                    <a:ext uri="{9D8B030D-6E8A-4147-A177-3AD203B41FA5}">
                      <a16:colId xmlns:a16="http://schemas.microsoft.com/office/drawing/2014/main" val="57356229"/>
                    </a:ext>
                  </a:extLst>
                </a:gridCol>
              </a:tblGrid>
              <a:tr h="375566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全部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主線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+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爆量車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810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平均店鋪數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916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平均每趟里程數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公里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zh-TW" sz="18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915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遵守預定到店時間的比例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854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平均工時數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分鐘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zh-TW" altLang="zh-TW" sz="18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9213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E41386C-49CC-45C3-A705-9CC7D2A83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04071"/>
              </p:ext>
            </p:extLst>
          </p:nvPr>
        </p:nvGraphicFramePr>
        <p:xfrm>
          <a:off x="459559" y="2874467"/>
          <a:ext cx="832522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1798">
                  <a:extLst>
                    <a:ext uri="{9D8B030D-6E8A-4147-A177-3AD203B41FA5}">
                      <a16:colId xmlns:a16="http://schemas.microsoft.com/office/drawing/2014/main" val="1694363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14138587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2180492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990533884"/>
                    </a:ext>
                  </a:extLst>
                </a:gridCol>
                <a:gridCol w="1196965">
                  <a:extLst>
                    <a:ext uri="{9D8B030D-6E8A-4147-A177-3AD203B41FA5}">
                      <a16:colId xmlns:a16="http://schemas.microsoft.com/office/drawing/2014/main" val="2077250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主線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810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平均店鋪數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88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平均每趟里程數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公里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043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遵守預定到店時間的比例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56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平均工時數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分鐘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zh-TW" altLang="zh-TW" sz="18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625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20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495DE-2DFE-4BCC-91F3-72993DAC9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補充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53BECA-C9B9-4D79-B0E2-262DB902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A1-1383-4C0E-A5F4-F4CCEE4F09EF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0C2CA1-4122-46D1-8620-7D4641B33308}"/>
              </a:ext>
            </a:extLst>
          </p:cNvPr>
          <p:cNvSpPr txBox="1"/>
          <p:nvPr/>
        </p:nvSpPr>
        <p:spPr>
          <a:xfrm>
            <a:off x="323528" y="1052736"/>
            <a:ext cx="84969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車型</a:t>
            </a: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請以 </a:t>
            </a:r>
            <a:r>
              <a:rPr lang="en-US" altLang="zh-TW" sz="2400" dirty="0"/>
              <a:t>7.2</a:t>
            </a:r>
            <a:r>
              <a:rPr lang="zh-TW" altLang="en-US" sz="2400" dirty="0"/>
              <a:t>材計算</a:t>
            </a: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除了下列車次</a:t>
            </a: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到店停留上下貨時間</a:t>
            </a:r>
            <a:r>
              <a:rPr lang="en-US" altLang="zh-TW" sz="2400" dirty="0"/>
              <a:t>: 10</a:t>
            </a:r>
            <a:r>
              <a:rPr lang="zh-TW" altLang="en-US" sz="2400" dirty="0"/>
              <a:t>分鐘</a:t>
            </a: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7C7351A-1AF9-464E-A39B-5CC6E650F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3" y="2276872"/>
            <a:ext cx="1728192" cy="124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809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全家">
      <a:dk1>
        <a:sysClr val="windowText" lastClr="000000"/>
      </a:dk1>
      <a:lt1>
        <a:sysClr val="window" lastClr="FFFFFF"/>
      </a:lt1>
      <a:dk2>
        <a:srgbClr val="44546A"/>
      </a:dk2>
      <a:lt2>
        <a:srgbClr val="E66C7D"/>
      </a:lt2>
      <a:accent1>
        <a:srgbClr val="0095D9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00B050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42295</TotalTime>
  <Words>644</Words>
  <Application>Microsoft Office PowerPoint</Application>
  <PresentationFormat>如螢幕大小 (4:3)</PresentationFormat>
  <Paragraphs>140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Microsoft JhengHei</vt:lpstr>
      <vt:lpstr>Microsoft JhengHei</vt:lpstr>
      <vt:lpstr>新細明體</vt:lpstr>
      <vt:lpstr>Arial</vt:lpstr>
      <vt:lpstr>Calibri</vt:lpstr>
      <vt:lpstr>Wingdings</vt:lpstr>
      <vt:lpstr>Office 佈景主題</vt:lpstr>
      <vt:lpstr>1_自訂設計</vt:lpstr>
      <vt:lpstr>4_自訂設計</vt:lpstr>
      <vt:lpstr>PowerPoint 簡報</vt:lpstr>
      <vt:lpstr>現行方法</vt:lpstr>
      <vt:lpstr>示意圖-如何挑出爆量店鋪</vt:lpstr>
      <vt:lpstr>示意圖-主線揹載</vt:lpstr>
      <vt:lpstr>配送課同仁 –訪談記錄</vt:lpstr>
      <vt:lpstr>必要的限制條件</vt:lpstr>
      <vt:lpstr>路線編排-指標統計(常溫, 林口DC)</vt:lpstr>
      <vt:lpstr>補充</vt:lpstr>
    </vt:vector>
  </TitlesOfParts>
  <Company>SYNNEX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吳欽誠</cp:lastModifiedBy>
  <cp:revision>1597</cp:revision>
  <cp:lastPrinted>2022-07-26T05:12:51Z</cp:lastPrinted>
  <dcterms:created xsi:type="dcterms:W3CDTF">2017-12-01T15:13:50Z</dcterms:created>
  <dcterms:modified xsi:type="dcterms:W3CDTF">2023-06-01T01:32:47Z</dcterms:modified>
</cp:coreProperties>
</file>