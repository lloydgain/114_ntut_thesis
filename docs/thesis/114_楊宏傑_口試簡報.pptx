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5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36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8"/>
  </p:notesMasterIdLst>
  <p:sldIdLst>
    <p:sldId id="260" r:id="rId2"/>
    <p:sldId id="272" r:id="rId3"/>
    <p:sldId id="319" r:id="rId4"/>
    <p:sldId id="264" r:id="rId5"/>
    <p:sldId id="320" r:id="rId6"/>
    <p:sldId id="323" r:id="rId7"/>
    <p:sldId id="322" r:id="rId8"/>
    <p:sldId id="378" r:id="rId9"/>
    <p:sldId id="385" r:id="rId10"/>
    <p:sldId id="380" r:id="rId11"/>
    <p:sldId id="396" r:id="rId12"/>
    <p:sldId id="379" r:id="rId13"/>
    <p:sldId id="386" r:id="rId14"/>
    <p:sldId id="381" r:id="rId15"/>
    <p:sldId id="387" r:id="rId16"/>
    <p:sldId id="410" r:id="rId17"/>
    <p:sldId id="401" r:id="rId18"/>
    <p:sldId id="409" r:id="rId19"/>
    <p:sldId id="408" r:id="rId20"/>
    <p:sldId id="426" r:id="rId21"/>
    <p:sldId id="389" r:id="rId22"/>
    <p:sldId id="399" r:id="rId23"/>
    <p:sldId id="383" r:id="rId24"/>
    <p:sldId id="400" r:id="rId25"/>
    <p:sldId id="402" r:id="rId26"/>
    <p:sldId id="382" r:id="rId27"/>
    <p:sldId id="397" r:id="rId28"/>
    <p:sldId id="390" r:id="rId29"/>
    <p:sldId id="398" r:id="rId30"/>
    <p:sldId id="403" r:id="rId31"/>
    <p:sldId id="404" r:id="rId32"/>
    <p:sldId id="405" r:id="rId33"/>
    <p:sldId id="406" r:id="rId34"/>
    <p:sldId id="407" r:id="rId35"/>
    <p:sldId id="412" r:id="rId36"/>
    <p:sldId id="414" r:id="rId37"/>
    <p:sldId id="422" r:id="rId38"/>
    <p:sldId id="429" r:id="rId39"/>
    <p:sldId id="421" r:id="rId40"/>
    <p:sldId id="427" r:id="rId41"/>
    <p:sldId id="391" r:id="rId42"/>
    <p:sldId id="428" r:id="rId43"/>
    <p:sldId id="395" r:id="rId44"/>
    <p:sldId id="392" r:id="rId45"/>
    <p:sldId id="393" r:id="rId46"/>
    <p:sldId id="394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7939" autoAdjust="0"/>
  </p:normalViewPr>
  <p:slideViewPr>
    <p:cSldViewPr snapToGrid="0">
      <p:cViewPr varScale="1">
        <p:scale>
          <a:sx n="117" d="100"/>
          <a:sy n="117" d="100"/>
        </p:scale>
        <p:origin x="19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eff0\OneDrive\&#26700;&#38754;\115_NTUT_Thesis\100\&#36335;&#32218;&#26368;&#20339;&#21270;&#27604;&#36611;&#32080;&#26524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eff0\OneDrive\&#26700;&#38754;\115_NTUT_Thesis\100\&#36335;&#32218;&#26368;&#20339;&#21270;&#27604;&#36611;&#32080;&#26524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eff0\OneDrive\&#26700;&#38754;\115_NTUT_Thesis\100\&#36335;&#32218;&#26368;&#20339;&#21270;&#27604;&#36611;&#32080;&#26524;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eff0\OneDrive\&#26700;&#38754;\115_NTUT_Thesis\100\&#36335;&#32218;&#26368;&#20339;&#21270;&#27604;&#36611;&#32080;&#26524;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eff0\OneDrive\&#26700;&#38754;\115_NTUT_Thesis\100\&#36335;&#32218;&#26368;&#20339;&#21270;&#27604;&#36611;&#32080;&#26524;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eff0\OneDrive\&#26700;&#38754;\115_NTUT_Thesis\docs\Baseline&#27604;&#36611;&#32080;&#26524;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eff0\OneDrive\&#26700;&#38754;\115_NTUT_Thesis\docs\Baseline&#27604;&#36611;&#32080;&#26524;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zh-TW"/>
              <a:t>Number of Vehicles</a:t>
            </a:r>
            <a:endParaRPr lang="zh-TW" alt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 alt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Manually Planned</c:v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核心指標比較!$A$2:$A$27</c:f>
              <c:strCache>
                <c:ptCount val="26"/>
                <c:pt idx="0">
                  <c:v>20221203</c:v>
                </c:pt>
                <c:pt idx="1">
                  <c:v>20221205</c:v>
                </c:pt>
                <c:pt idx="2">
                  <c:v>20221207</c:v>
                </c:pt>
                <c:pt idx="3">
                  <c:v>20221208</c:v>
                </c:pt>
                <c:pt idx="4">
                  <c:v>20221209</c:v>
                </c:pt>
                <c:pt idx="5">
                  <c:v>20221210</c:v>
                </c:pt>
                <c:pt idx="6">
                  <c:v>20221212</c:v>
                </c:pt>
                <c:pt idx="7">
                  <c:v>20221213</c:v>
                </c:pt>
                <c:pt idx="8">
                  <c:v>20221214</c:v>
                </c:pt>
                <c:pt idx="9">
                  <c:v>20221215</c:v>
                </c:pt>
                <c:pt idx="10">
                  <c:v>20221216</c:v>
                </c:pt>
                <c:pt idx="11">
                  <c:v>20221217</c:v>
                </c:pt>
                <c:pt idx="12">
                  <c:v>20221219</c:v>
                </c:pt>
                <c:pt idx="13">
                  <c:v>20221220</c:v>
                </c:pt>
                <c:pt idx="14">
                  <c:v>20221221</c:v>
                </c:pt>
                <c:pt idx="15">
                  <c:v>20221222</c:v>
                </c:pt>
                <c:pt idx="16">
                  <c:v>20221223</c:v>
                </c:pt>
                <c:pt idx="17">
                  <c:v>20221227</c:v>
                </c:pt>
                <c:pt idx="18">
                  <c:v>20221230</c:v>
                </c:pt>
                <c:pt idx="19">
                  <c:v>20221231</c:v>
                </c:pt>
                <c:pt idx="20">
                  <c:v>20230102</c:v>
                </c:pt>
                <c:pt idx="21">
                  <c:v>20230107</c:v>
                </c:pt>
                <c:pt idx="22">
                  <c:v>20230113</c:v>
                </c:pt>
                <c:pt idx="23">
                  <c:v>20260102</c:v>
                </c:pt>
                <c:pt idx="24">
                  <c:v>20260106</c:v>
                </c:pt>
                <c:pt idx="25">
                  <c:v>20260109</c:v>
                </c:pt>
              </c:strCache>
            </c:strRef>
          </c:cat>
          <c:val>
            <c:numRef>
              <c:f>核心指標比較!$B$2:$B$27</c:f>
              <c:numCache>
                <c:formatCode>General</c:formatCode>
                <c:ptCount val="26"/>
                <c:pt idx="0">
                  <c:v>102</c:v>
                </c:pt>
                <c:pt idx="1">
                  <c:v>90</c:v>
                </c:pt>
                <c:pt idx="2">
                  <c:v>89</c:v>
                </c:pt>
                <c:pt idx="3">
                  <c:v>83</c:v>
                </c:pt>
                <c:pt idx="4">
                  <c:v>89</c:v>
                </c:pt>
                <c:pt idx="5">
                  <c:v>94</c:v>
                </c:pt>
                <c:pt idx="6">
                  <c:v>91</c:v>
                </c:pt>
                <c:pt idx="7">
                  <c:v>108</c:v>
                </c:pt>
                <c:pt idx="8">
                  <c:v>85</c:v>
                </c:pt>
                <c:pt idx="9">
                  <c:v>81</c:v>
                </c:pt>
                <c:pt idx="10">
                  <c:v>83</c:v>
                </c:pt>
                <c:pt idx="11">
                  <c:v>83</c:v>
                </c:pt>
                <c:pt idx="12">
                  <c:v>82</c:v>
                </c:pt>
                <c:pt idx="13">
                  <c:v>100</c:v>
                </c:pt>
                <c:pt idx="14">
                  <c:v>90</c:v>
                </c:pt>
                <c:pt idx="15">
                  <c:v>84</c:v>
                </c:pt>
                <c:pt idx="16">
                  <c:v>129</c:v>
                </c:pt>
                <c:pt idx="17">
                  <c:v>134</c:v>
                </c:pt>
                <c:pt idx="18">
                  <c:v>105</c:v>
                </c:pt>
                <c:pt idx="19">
                  <c:v>111</c:v>
                </c:pt>
                <c:pt idx="20">
                  <c:v>110</c:v>
                </c:pt>
                <c:pt idx="21">
                  <c:v>120</c:v>
                </c:pt>
                <c:pt idx="22">
                  <c:v>91</c:v>
                </c:pt>
                <c:pt idx="23">
                  <c:v>136</c:v>
                </c:pt>
                <c:pt idx="24">
                  <c:v>159</c:v>
                </c:pt>
                <c:pt idx="25">
                  <c:v>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663-4955-8F64-ADE502E9B99B}"/>
            </c:ext>
          </c:extLst>
        </c:ser>
        <c:ser>
          <c:idx val="1"/>
          <c:order val="1"/>
          <c:tx>
            <c:v>Proposed Method</c:v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核心指標比較!$A$2:$A$27</c:f>
              <c:strCache>
                <c:ptCount val="26"/>
                <c:pt idx="0">
                  <c:v>20221203</c:v>
                </c:pt>
                <c:pt idx="1">
                  <c:v>20221205</c:v>
                </c:pt>
                <c:pt idx="2">
                  <c:v>20221207</c:v>
                </c:pt>
                <c:pt idx="3">
                  <c:v>20221208</c:v>
                </c:pt>
                <c:pt idx="4">
                  <c:v>20221209</c:v>
                </c:pt>
                <c:pt idx="5">
                  <c:v>20221210</c:v>
                </c:pt>
                <c:pt idx="6">
                  <c:v>20221212</c:v>
                </c:pt>
                <c:pt idx="7">
                  <c:v>20221213</c:v>
                </c:pt>
                <c:pt idx="8">
                  <c:v>20221214</c:v>
                </c:pt>
                <c:pt idx="9">
                  <c:v>20221215</c:v>
                </c:pt>
                <c:pt idx="10">
                  <c:v>20221216</c:v>
                </c:pt>
                <c:pt idx="11">
                  <c:v>20221217</c:v>
                </c:pt>
                <c:pt idx="12">
                  <c:v>20221219</c:v>
                </c:pt>
                <c:pt idx="13">
                  <c:v>20221220</c:v>
                </c:pt>
                <c:pt idx="14">
                  <c:v>20221221</c:v>
                </c:pt>
                <c:pt idx="15">
                  <c:v>20221222</c:v>
                </c:pt>
                <c:pt idx="16">
                  <c:v>20221223</c:v>
                </c:pt>
                <c:pt idx="17">
                  <c:v>20221227</c:v>
                </c:pt>
                <c:pt idx="18">
                  <c:v>20221230</c:v>
                </c:pt>
                <c:pt idx="19">
                  <c:v>20221231</c:v>
                </c:pt>
                <c:pt idx="20">
                  <c:v>20230102</c:v>
                </c:pt>
                <c:pt idx="21">
                  <c:v>20230107</c:v>
                </c:pt>
                <c:pt idx="22">
                  <c:v>20230113</c:v>
                </c:pt>
                <c:pt idx="23">
                  <c:v>20260102</c:v>
                </c:pt>
                <c:pt idx="24">
                  <c:v>20260106</c:v>
                </c:pt>
                <c:pt idx="25">
                  <c:v>20260109</c:v>
                </c:pt>
              </c:strCache>
            </c:strRef>
          </c:cat>
          <c:val>
            <c:numRef>
              <c:f>核心指標比較!$C$2:$C$27</c:f>
              <c:numCache>
                <c:formatCode>General</c:formatCode>
                <c:ptCount val="26"/>
                <c:pt idx="0">
                  <c:v>93.6</c:v>
                </c:pt>
                <c:pt idx="1">
                  <c:v>83.2</c:v>
                </c:pt>
                <c:pt idx="2">
                  <c:v>86</c:v>
                </c:pt>
                <c:pt idx="3">
                  <c:v>82</c:v>
                </c:pt>
                <c:pt idx="4">
                  <c:v>84.4</c:v>
                </c:pt>
                <c:pt idx="5">
                  <c:v>85</c:v>
                </c:pt>
                <c:pt idx="6">
                  <c:v>83.6</c:v>
                </c:pt>
                <c:pt idx="7">
                  <c:v>99</c:v>
                </c:pt>
                <c:pt idx="8">
                  <c:v>82.8</c:v>
                </c:pt>
                <c:pt idx="9">
                  <c:v>81</c:v>
                </c:pt>
                <c:pt idx="10">
                  <c:v>81</c:v>
                </c:pt>
                <c:pt idx="11">
                  <c:v>81</c:v>
                </c:pt>
                <c:pt idx="12">
                  <c:v>81</c:v>
                </c:pt>
                <c:pt idx="13">
                  <c:v>93.2</c:v>
                </c:pt>
                <c:pt idx="14">
                  <c:v>85.4</c:v>
                </c:pt>
                <c:pt idx="15">
                  <c:v>81.2</c:v>
                </c:pt>
                <c:pt idx="16">
                  <c:v>122</c:v>
                </c:pt>
                <c:pt idx="17">
                  <c:v>123</c:v>
                </c:pt>
                <c:pt idx="18">
                  <c:v>101.2</c:v>
                </c:pt>
                <c:pt idx="19">
                  <c:v>103.6</c:v>
                </c:pt>
                <c:pt idx="20">
                  <c:v>103.6</c:v>
                </c:pt>
                <c:pt idx="21">
                  <c:v>98.4</c:v>
                </c:pt>
                <c:pt idx="22">
                  <c:v>83.4</c:v>
                </c:pt>
                <c:pt idx="23">
                  <c:v>99.8</c:v>
                </c:pt>
                <c:pt idx="24">
                  <c:v>128.19999999999999</c:v>
                </c:pt>
                <c:pt idx="25">
                  <c:v>88.8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663-4955-8F64-ADE502E9B9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998890640"/>
        <c:axId val="998891120"/>
      </c:lineChart>
      <c:catAx>
        <c:axId val="9988906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998891120"/>
        <c:crosses val="autoZero"/>
        <c:auto val="1"/>
        <c:lblAlgn val="ctr"/>
        <c:lblOffset val="100"/>
        <c:noMultiLvlLbl val="0"/>
      </c:catAx>
      <c:valAx>
        <c:axId val="998891120"/>
        <c:scaling>
          <c:orientation val="minMax"/>
          <c:min val="6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9988906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zh-TW"/>
              <a:t>Number of</a:t>
            </a:r>
            <a:r>
              <a:rPr lang="en-US" altLang="zh-TW" baseline="0"/>
              <a:t> Support Vehicles</a:t>
            </a:r>
            <a:endParaRPr lang="zh-TW" alt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 alt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Manually Planned</c:v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核心指標比較!$A$2:$A$27</c:f>
              <c:strCache>
                <c:ptCount val="26"/>
                <c:pt idx="0">
                  <c:v>20221203</c:v>
                </c:pt>
                <c:pt idx="1">
                  <c:v>20221205</c:v>
                </c:pt>
                <c:pt idx="2">
                  <c:v>20221207</c:v>
                </c:pt>
                <c:pt idx="3">
                  <c:v>20221208</c:v>
                </c:pt>
                <c:pt idx="4">
                  <c:v>20221209</c:v>
                </c:pt>
                <c:pt idx="5">
                  <c:v>20221210</c:v>
                </c:pt>
                <c:pt idx="6">
                  <c:v>20221212</c:v>
                </c:pt>
                <c:pt idx="7">
                  <c:v>20221213</c:v>
                </c:pt>
                <c:pt idx="8">
                  <c:v>20221214</c:v>
                </c:pt>
                <c:pt idx="9">
                  <c:v>20221215</c:v>
                </c:pt>
                <c:pt idx="10">
                  <c:v>20221216</c:v>
                </c:pt>
                <c:pt idx="11">
                  <c:v>20221217</c:v>
                </c:pt>
                <c:pt idx="12">
                  <c:v>20221219</c:v>
                </c:pt>
                <c:pt idx="13">
                  <c:v>20221220</c:v>
                </c:pt>
                <c:pt idx="14">
                  <c:v>20221221</c:v>
                </c:pt>
                <c:pt idx="15">
                  <c:v>20221222</c:v>
                </c:pt>
                <c:pt idx="16">
                  <c:v>20221223</c:v>
                </c:pt>
                <c:pt idx="17">
                  <c:v>20221227</c:v>
                </c:pt>
                <c:pt idx="18">
                  <c:v>20221230</c:v>
                </c:pt>
                <c:pt idx="19">
                  <c:v>20221231</c:v>
                </c:pt>
                <c:pt idx="20">
                  <c:v>20230102</c:v>
                </c:pt>
                <c:pt idx="21">
                  <c:v>20230107</c:v>
                </c:pt>
                <c:pt idx="22">
                  <c:v>20230113</c:v>
                </c:pt>
                <c:pt idx="23">
                  <c:v>20260102</c:v>
                </c:pt>
                <c:pt idx="24">
                  <c:v>20260106</c:v>
                </c:pt>
                <c:pt idx="25">
                  <c:v>20260109</c:v>
                </c:pt>
              </c:strCache>
            </c:strRef>
          </c:cat>
          <c:val>
            <c:numRef>
              <c:f>核心指標比較!$E$2:$E$27</c:f>
              <c:numCache>
                <c:formatCode>General</c:formatCode>
                <c:ptCount val="26"/>
                <c:pt idx="0">
                  <c:v>21</c:v>
                </c:pt>
                <c:pt idx="1">
                  <c:v>10</c:v>
                </c:pt>
                <c:pt idx="2">
                  <c:v>9</c:v>
                </c:pt>
                <c:pt idx="3">
                  <c:v>3</c:v>
                </c:pt>
                <c:pt idx="4">
                  <c:v>9</c:v>
                </c:pt>
                <c:pt idx="5">
                  <c:v>14</c:v>
                </c:pt>
                <c:pt idx="6">
                  <c:v>12</c:v>
                </c:pt>
                <c:pt idx="7">
                  <c:v>27</c:v>
                </c:pt>
                <c:pt idx="8">
                  <c:v>4</c:v>
                </c:pt>
                <c:pt idx="9">
                  <c:v>0</c:v>
                </c:pt>
                <c:pt idx="10">
                  <c:v>3</c:v>
                </c:pt>
                <c:pt idx="11">
                  <c:v>3</c:v>
                </c:pt>
                <c:pt idx="12">
                  <c:v>2</c:v>
                </c:pt>
                <c:pt idx="13">
                  <c:v>19</c:v>
                </c:pt>
                <c:pt idx="14">
                  <c:v>9</c:v>
                </c:pt>
                <c:pt idx="15">
                  <c:v>4</c:v>
                </c:pt>
                <c:pt idx="16">
                  <c:v>48</c:v>
                </c:pt>
                <c:pt idx="17">
                  <c:v>53</c:v>
                </c:pt>
                <c:pt idx="18">
                  <c:v>24</c:v>
                </c:pt>
                <c:pt idx="19">
                  <c:v>30</c:v>
                </c:pt>
                <c:pt idx="20">
                  <c:v>30</c:v>
                </c:pt>
                <c:pt idx="21">
                  <c:v>39</c:v>
                </c:pt>
                <c:pt idx="22">
                  <c:v>10</c:v>
                </c:pt>
                <c:pt idx="23">
                  <c:v>50</c:v>
                </c:pt>
                <c:pt idx="24">
                  <c:v>73</c:v>
                </c:pt>
                <c:pt idx="25">
                  <c:v>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A7E-4DD7-9B9F-00876EAF4406}"/>
            </c:ext>
          </c:extLst>
        </c:ser>
        <c:ser>
          <c:idx val="1"/>
          <c:order val="1"/>
          <c:tx>
            <c:v>Proposed Method</c:v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核心指標比較!$A$2:$A$27</c:f>
              <c:strCache>
                <c:ptCount val="26"/>
                <c:pt idx="0">
                  <c:v>20221203</c:v>
                </c:pt>
                <c:pt idx="1">
                  <c:v>20221205</c:v>
                </c:pt>
                <c:pt idx="2">
                  <c:v>20221207</c:v>
                </c:pt>
                <c:pt idx="3">
                  <c:v>20221208</c:v>
                </c:pt>
                <c:pt idx="4">
                  <c:v>20221209</c:v>
                </c:pt>
                <c:pt idx="5">
                  <c:v>20221210</c:v>
                </c:pt>
                <c:pt idx="6">
                  <c:v>20221212</c:v>
                </c:pt>
                <c:pt idx="7">
                  <c:v>20221213</c:v>
                </c:pt>
                <c:pt idx="8">
                  <c:v>20221214</c:v>
                </c:pt>
                <c:pt idx="9">
                  <c:v>20221215</c:v>
                </c:pt>
                <c:pt idx="10">
                  <c:v>20221216</c:v>
                </c:pt>
                <c:pt idx="11">
                  <c:v>20221217</c:v>
                </c:pt>
                <c:pt idx="12">
                  <c:v>20221219</c:v>
                </c:pt>
                <c:pt idx="13">
                  <c:v>20221220</c:v>
                </c:pt>
                <c:pt idx="14">
                  <c:v>20221221</c:v>
                </c:pt>
                <c:pt idx="15">
                  <c:v>20221222</c:v>
                </c:pt>
                <c:pt idx="16">
                  <c:v>20221223</c:v>
                </c:pt>
                <c:pt idx="17">
                  <c:v>20221227</c:v>
                </c:pt>
                <c:pt idx="18">
                  <c:v>20221230</c:v>
                </c:pt>
                <c:pt idx="19">
                  <c:v>20221231</c:v>
                </c:pt>
                <c:pt idx="20">
                  <c:v>20230102</c:v>
                </c:pt>
                <c:pt idx="21">
                  <c:v>20230107</c:v>
                </c:pt>
                <c:pt idx="22">
                  <c:v>20230113</c:v>
                </c:pt>
                <c:pt idx="23">
                  <c:v>20260102</c:v>
                </c:pt>
                <c:pt idx="24">
                  <c:v>20260106</c:v>
                </c:pt>
                <c:pt idx="25">
                  <c:v>20260109</c:v>
                </c:pt>
              </c:strCache>
            </c:strRef>
          </c:cat>
          <c:val>
            <c:numRef>
              <c:f>核心指標比較!$F$2:$F$27</c:f>
              <c:numCache>
                <c:formatCode>General</c:formatCode>
                <c:ptCount val="26"/>
                <c:pt idx="0">
                  <c:v>12.6</c:v>
                </c:pt>
                <c:pt idx="1">
                  <c:v>2.2000000000000002</c:v>
                </c:pt>
                <c:pt idx="2">
                  <c:v>5</c:v>
                </c:pt>
                <c:pt idx="3">
                  <c:v>1</c:v>
                </c:pt>
                <c:pt idx="4">
                  <c:v>3.4</c:v>
                </c:pt>
                <c:pt idx="5">
                  <c:v>4</c:v>
                </c:pt>
                <c:pt idx="6">
                  <c:v>2.6</c:v>
                </c:pt>
                <c:pt idx="7">
                  <c:v>18</c:v>
                </c:pt>
                <c:pt idx="8">
                  <c:v>1.8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12.2</c:v>
                </c:pt>
                <c:pt idx="14">
                  <c:v>4.4000000000000004</c:v>
                </c:pt>
                <c:pt idx="15">
                  <c:v>0.2</c:v>
                </c:pt>
                <c:pt idx="16">
                  <c:v>41</c:v>
                </c:pt>
                <c:pt idx="17">
                  <c:v>42</c:v>
                </c:pt>
                <c:pt idx="18">
                  <c:v>20.2</c:v>
                </c:pt>
                <c:pt idx="19">
                  <c:v>22.6</c:v>
                </c:pt>
                <c:pt idx="20">
                  <c:v>22.6</c:v>
                </c:pt>
                <c:pt idx="21">
                  <c:v>17.399999999999999</c:v>
                </c:pt>
                <c:pt idx="22">
                  <c:v>2.4</c:v>
                </c:pt>
                <c:pt idx="23">
                  <c:v>11.8</c:v>
                </c:pt>
                <c:pt idx="24">
                  <c:v>40.200000000000003</c:v>
                </c:pt>
                <c:pt idx="25">
                  <c:v>0.8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A7E-4DD7-9B9F-00876EAF44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47267615"/>
        <c:axId val="2047268575"/>
      </c:lineChart>
      <c:catAx>
        <c:axId val="20472676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2047268575"/>
        <c:crosses val="autoZero"/>
        <c:auto val="1"/>
        <c:lblAlgn val="ctr"/>
        <c:lblOffset val="100"/>
        <c:noMultiLvlLbl val="0"/>
      </c:catAx>
      <c:valAx>
        <c:axId val="20472685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20472676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zh-TW"/>
              <a:t>Total Distance (km)</a:t>
            </a:r>
            <a:endParaRPr lang="zh-TW" alt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 alt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Manually Planned</c:v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核心指標比較!$A$2:$A$27</c:f>
              <c:strCache>
                <c:ptCount val="26"/>
                <c:pt idx="0">
                  <c:v>20221203</c:v>
                </c:pt>
                <c:pt idx="1">
                  <c:v>20221205</c:v>
                </c:pt>
                <c:pt idx="2">
                  <c:v>20221207</c:v>
                </c:pt>
                <c:pt idx="3">
                  <c:v>20221208</c:v>
                </c:pt>
                <c:pt idx="4">
                  <c:v>20221209</c:v>
                </c:pt>
                <c:pt idx="5">
                  <c:v>20221210</c:v>
                </c:pt>
                <c:pt idx="6">
                  <c:v>20221212</c:v>
                </c:pt>
                <c:pt idx="7">
                  <c:v>20221213</c:v>
                </c:pt>
                <c:pt idx="8">
                  <c:v>20221214</c:v>
                </c:pt>
                <c:pt idx="9">
                  <c:v>20221215</c:v>
                </c:pt>
                <c:pt idx="10">
                  <c:v>20221216</c:v>
                </c:pt>
                <c:pt idx="11">
                  <c:v>20221217</c:v>
                </c:pt>
                <c:pt idx="12">
                  <c:v>20221219</c:v>
                </c:pt>
                <c:pt idx="13">
                  <c:v>20221220</c:v>
                </c:pt>
                <c:pt idx="14">
                  <c:v>20221221</c:v>
                </c:pt>
                <c:pt idx="15">
                  <c:v>20221222</c:v>
                </c:pt>
                <c:pt idx="16">
                  <c:v>20221223</c:v>
                </c:pt>
                <c:pt idx="17">
                  <c:v>20221227</c:v>
                </c:pt>
                <c:pt idx="18">
                  <c:v>20221230</c:v>
                </c:pt>
                <c:pt idx="19">
                  <c:v>20221231</c:v>
                </c:pt>
                <c:pt idx="20">
                  <c:v>20230102</c:v>
                </c:pt>
                <c:pt idx="21">
                  <c:v>20230107</c:v>
                </c:pt>
                <c:pt idx="22">
                  <c:v>20230113</c:v>
                </c:pt>
                <c:pt idx="23">
                  <c:v>20260102</c:v>
                </c:pt>
                <c:pt idx="24">
                  <c:v>20260106</c:v>
                </c:pt>
                <c:pt idx="25">
                  <c:v>20260109</c:v>
                </c:pt>
              </c:strCache>
            </c:strRef>
          </c:cat>
          <c:val>
            <c:numRef>
              <c:f>核心指標比較!$H$2:$H$27</c:f>
              <c:numCache>
                <c:formatCode>General</c:formatCode>
                <c:ptCount val="26"/>
                <c:pt idx="0">
                  <c:v>4623.34</c:v>
                </c:pt>
                <c:pt idx="1">
                  <c:v>4069.95</c:v>
                </c:pt>
                <c:pt idx="2">
                  <c:v>4134.37</c:v>
                </c:pt>
                <c:pt idx="3">
                  <c:v>3826.14</c:v>
                </c:pt>
                <c:pt idx="4">
                  <c:v>4042.17</c:v>
                </c:pt>
                <c:pt idx="5">
                  <c:v>4264.0600000000004</c:v>
                </c:pt>
                <c:pt idx="6">
                  <c:v>4169.74</c:v>
                </c:pt>
                <c:pt idx="7">
                  <c:v>4835.7</c:v>
                </c:pt>
                <c:pt idx="8">
                  <c:v>3915.92</c:v>
                </c:pt>
                <c:pt idx="9">
                  <c:v>3807.76</c:v>
                </c:pt>
                <c:pt idx="10">
                  <c:v>3859.83</c:v>
                </c:pt>
                <c:pt idx="11">
                  <c:v>3855.24</c:v>
                </c:pt>
                <c:pt idx="12">
                  <c:v>3812.78</c:v>
                </c:pt>
                <c:pt idx="13">
                  <c:v>4542.96</c:v>
                </c:pt>
                <c:pt idx="14">
                  <c:v>4172.2299999999996</c:v>
                </c:pt>
                <c:pt idx="15">
                  <c:v>3882.31</c:v>
                </c:pt>
                <c:pt idx="16">
                  <c:v>5567.91</c:v>
                </c:pt>
                <c:pt idx="17">
                  <c:v>5726.8</c:v>
                </c:pt>
                <c:pt idx="18">
                  <c:v>4701.75</c:v>
                </c:pt>
                <c:pt idx="19">
                  <c:v>4946.66</c:v>
                </c:pt>
                <c:pt idx="20">
                  <c:v>4883.74</c:v>
                </c:pt>
                <c:pt idx="21">
                  <c:v>5373.11</c:v>
                </c:pt>
                <c:pt idx="22">
                  <c:v>4168</c:v>
                </c:pt>
                <c:pt idx="23">
                  <c:v>5553.82</c:v>
                </c:pt>
                <c:pt idx="24">
                  <c:v>6891.41</c:v>
                </c:pt>
                <c:pt idx="25">
                  <c:v>4191.59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34F-4FB8-97BB-782E192AFF84}"/>
            </c:ext>
          </c:extLst>
        </c:ser>
        <c:ser>
          <c:idx val="1"/>
          <c:order val="1"/>
          <c:tx>
            <c:v>Proposed Method</c:v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核心指標比較!$A$2:$A$27</c:f>
              <c:strCache>
                <c:ptCount val="26"/>
                <c:pt idx="0">
                  <c:v>20221203</c:v>
                </c:pt>
                <c:pt idx="1">
                  <c:v>20221205</c:v>
                </c:pt>
                <c:pt idx="2">
                  <c:v>20221207</c:v>
                </c:pt>
                <c:pt idx="3">
                  <c:v>20221208</c:v>
                </c:pt>
                <c:pt idx="4">
                  <c:v>20221209</c:v>
                </c:pt>
                <c:pt idx="5">
                  <c:v>20221210</c:v>
                </c:pt>
                <c:pt idx="6">
                  <c:v>20221212</c:v>
                </c:pt>
                <c:pt idx="7">
                  <c:v>20221213</c:v>
                </c:pt>
                <c:pt idx="8">
                  <c:v>20221214</c:v>
                </c:pt>
                <c:pt idx="9">
                  <c:v>20221215</c:v>
                </c:pt>
                <c:pt idx="10">
                  <c:v>20221216</c:v>
                </c:pt>
                <c:pt idx="11">
                  <c:v>20221217</c:v>
                </c:pt>
                <c:pt idx="12">
                  <c:v>20221219</c:v>
                </c:pt>
                <c:pt idx="13">
                  <c:v>20221220</c:v>
                </c:pt>
                <c:pt idx="14">
                  <c:v>20221221</c:v>
                </c:pt>
                <c:pt idx="15">
                  <c:v>20221222</c:v>
                </c:pt>
                <c:pt idx="16">
                  <c:v>20221223</c:v>
                </c:pt>
                <c:pt idx="17">
                  <c:v>20221227</c:v>
                </c:pt>
                <c:pt idx="18">
                  <c:v>20221230</c:v>
                </c:pt>
                <c:pt idx="19">
                  <c:v>20221231</c:v>
                </c:pt>
                <c:pt idx="20">
                  <c:v>20230102</c:v>
                </c:pt>
                <c:pt idx="21">
                  <c:v>20230107</c:v>
                </c:pt>
                <c:pt idx="22">
                  <c:v>20230113</c:v>
                </c:pt>
                <c:pt idx="23">
                  <c:v>20260102</c:v>
                </c:pt>
                <c:pt idx="24">
                  <c:v>20260106</c:v>
                </c:pt>
                <c:pt idx="25">
                  <c:v>20260109</c:v>
                </c:pt>
              </c:strCache>
            </c:strRef>
          </c:cat>
          <c:val>
            <c:numRef>
              <c:f>核心指標比較!$I$2:$I$27</c:f>
              <c:numCache>
                <c:formatCode>General</c:formatCode>
                <c:ptCount val="26"/>
                <c:pt idx="0">
                  <c:v>4517.2700000000004</c:v>
                </c:pt>
                <c:pt idx="1">
                  <c:v>3954.13</c:v>
                </c:pt>
                <c:pt idx="2">
                  <c:v>4094.73</c:v>
                </c:pt>
                <c:pt idx="3">
                  <c:v>3802.25</c:v>
                </c:pt>
                <c:pt idx="4">
                  <c:v>3951.56</c:v>
                </c:pt>
                <c:pt idx="5">
                  <c:v>4102.1099999999997</c:v>
                </c:pt>
                <c:pt idx="6">
                  <c:v>3992.15</c:v>
                </c:pt>
                <c:pt idx="7">
                  <c:v>4683.42</c:v>
                </c:pt>
                <c:pt idx="8">
                  <c:v>3918.2</c:v>
                </c:pt>
                <c:pt idx="9">
                  <c:v>3796.46</c:v>
                </c:pt>
                <c:pt idx="10">
                  <c:v>3803.06</c:v>
                </c:pt>
                <c:pt idx="11">
                  <c:v>3792.05</c:v>
                </c:pt>
                <c:pt idx="12">
                  <c:v>3806.05</c:v>
                </c:pt>
                <c:pt idx="13">
                  <c:v>4416.13</c:v>
                </c:pt>
                <c:pt idx="14">
                  <c:v>4101.51</c:v>
                </c:pt>
                <c:pt idx="15">
                  <c:v>3819.98</c:v>
                </c:pt>
                <c:pt idx="16">
                  <c:v>5596.55</c:v>
                </c:pt>
                <c:pt idx="17">
                  <c:v>5654.47</c:v>
                </c:pt>
                <c:pt idx="18">
                  <c:v>4766.66</c:v>
                </c:pt>
                <c:pt idx="19">
                  <c:v>4918.38</c:v>
                </c:pt>
                <c:pt idx="20">
                  <c:v>4968.2</c:v>
                </c:pt>
                <c:pt idx="21">
                  <c:v>4714.5600000000004</c:v>
                </c:pt>
                <c:pt idx="22">
                  <c:v>3918.45</c:v>
                </c:pt>
                <c:pt idx="23">
                  <c:v>4628.5600000000004</c:v>
                </c:pt>
                <c:pt idx="24">
                  <c:v>6020.64</c:v>
                </c:pt>
                <c:pt idx="25">
                  <c:v>4046.22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34F-4FB8-97BB-782E192AFF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998895920"/>
        <c:axId val="998893040"/>
      </c:lineChart>
      <c:catAx>
        <c:axId val="998895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998893040"/>
        <c:crosses val="autoZero"/>
        <c:auto val="1"/>
        <c:lblAlgn val="ctr"/>
        <c:lblOffset val="100"/>
        <c:noMultiLvlLbl val="0"/>
      </c:catAx>
      <c:valAx>
        <c:axId val="998893040"/>
        <c:scaling>
          <c:orientation val="minMax"/>
          <c:min val="30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9988959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zh-TW"/>
              <a:t>Average Load Rate</a:t>
            </a:r>
            <a:endParaRPr lang="zh-TW" alt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 alt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Manually Planned</c:v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核心指標比較!$A$2:$A$27</c:f>
              <c:strCache>
                <c:ptCount val="26"/>
                <c:pt idx="0">
                  <c:v>20221203</c:v>
                </c:pt>
                <c:pt idx="1">
                  <c:v>20221205</c:v>
                </c:pt>
                <c:pt idx="2">
                  <c:v>20221207</c:v>
                </c:pt>
                <c:pt idx="3">
                  <c:v>20221208</c:v>
                </c:pt>
                <c:pt idx="4">
                  <c:v>20221209</c:v>
                </c:pt>
                <c:pt idx="5">
                  <c:v>20221210</c:v>
                </c:pt>
                <c:pt idx="6">
                  <c:v>20221212</c:v>
                </c:pt>
                <c:pt idx="7">
                  <c:v>20221213</c:v>
                </c:pt>
                <c:pt idx="8">
                  <c:v>20221214</c:v>
                </c:pt>
                <c:pt idx="9">
                  <c:v>20221215</c:v>
                </c:pt>
                <c:pt idx="10">
                  <c:v>20221216</c:v>
                </c:pt>
                <c:pt idx="11">
                  <c:v>20221217</c:v>
                </c:pt>
                <c:pt idx="12">
                  <c:v>20221219</c:v>
                </c:pt>
                <c:pt idx="13">
                  <c:v>20221220</c:v>
                </c:pt>
                <c:pt idx="14">
                  <c:v>20221221</c:v>
                </c:pt>
                <c:pt idx="15">
                  <c:v>20221222</c:v>
                </c:pt>
                <c:pt idx="16">
                  <c:v>20221223</c:v>
                </c:pt>
                <c:pt idx="17">
                  <c:v>20221227</c:v>
                </c:pt>
                <c:pt idx="18">
                  <c:v>20221230</c:v>
                </c:pt>
                <c:pt idx="19">
                  <c:v>20221231</c:v>
                </c:pt>
                <c:pt idx="20">
                  <c:v>20230102</c:v>
                </c:pt>
                <c:pt idx="21">
                  <c:v>20230107</c:v>
                </c:pt>
                <c:pt idx="22">
                  <c:v>20230113</c:v>
                </c:pt>
                <c:pt idx="23">
                  <c:v>20260102</c:v>
                </c:pt>
                <c:pt idx="24">
                  <c:v>20260106</c:v>
                </c:pt>
                <c:pt idx="25">
                  <c:v>20260109</c:v>
                </c:pt>
              </c:strCache>
            </c:strRef>
          </c:cat>
          <c:val>
            <c:numRef>
              <c:f>核心指標比較!$K$2:$K$27</c:f>
              <c:numCache>
                <c:formatCode>General</c:formatCode>
                <c:ptCount val="26"/>
                <c:pt idx="0">
                  <c:v>0.85</c:v>
                </c:pt>
                <c:pt idx="1">
                  <c:v>0.84</c:v>
                </c:pt>
                <c:pt idx="2">
                  <c:v>0.87</c:v>
                </c:pt>
                <c:pt idx="3">
                  <c:v>0.79</c:v>
                </c:pt>
                <c:pt idx="4">
                  <c:v>0.83</c:v>
                </c:pt>
                <c:pt idx="5">
                  <c:v>0.85</c:v>
                </c:pt>
                <c:pt idx="6">
                  <c:v>0.86</c:v>
                </c:pt>
                <c:pt idx="7">
                  <c:v>0.85</c:v>
                </c:pt>
                <c:pt idx="8">
                  <c:v>0.84</c:v>
                </c:pt>
                <c:pt idx="9">
                  <c:v>0.8</c:v>
                </c:pt>
                <c:pt idx="10">
                  <c:v>0.8</c:v>
                </c:pt>
                <c:pt idx="11">
                  <c:v>0.84</c:v>
                </c:pt>
                <c:pt idx="12">
                  <c:v>0.84</c:v>
                </c:pt>
                <c:pt idx="13">
                  <c:v>0.87</c:v>
                </c:pt>
                <c:pt idx="14">
                  <c:v>0.86</c:v>
                </c:pt>
                <c:pt idx="15">
                  <c:v>0.84</c:v>
                </c:pt>
                <c:pt idx="16">
                  <c:v>0.87</c:v>
                </c:pt>
                <c:pt idx="17">
                  <c:v>0.85</c:v>
                </c:pt>
                <c:pt idx="18">
                  <c:v>0.9</c:v>
                </c:pt>
                <c:pt idx="19">
                  <c:v>0.87</c:v>
                </c:pt>
                <c:pt idx="20">
                  <c:v>0.87</c:v>
                </c:pt>
                <c:pt idx="21">
                  <c:v>0.77</c:v>
                </c:pt>
                <c:pt idx="22">
                  <c:v>0.81</c:v>
                </c:pt>
                <c:pt idx="23">
                  <c:v>0.68</c:v>
                </c:pt>
                <c:pt idx="24">
                  <c:v>0.75</c:v>
                </c:pt>
                <c:pt idx="25">
                  <c:v>0.79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014-4DF8-AE16-AC53D29D5181}"/>
            </c:ext>
          </c:extLst>
        </c:ser>
        <c:ser>
          <c:idx val="1"/>
          <c:order val="1"/>
          <c:tx>
            <c:v>Proposed Method</c:v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核心指標比較!$A$2:$A$27</c:f>
              <c:strCache>
                <c:ptCount val="26"/>
                <c:pt idx="0">
                  <c:v>20221203</c:v>
                </c:pt>
                <c:pt idx="1">
                  <c:v>20221205</c:v>
                </c:pt>
                <c:pt idx="2">
                  <c:v>20221207</c:v>
                </c:pt>
                <c:pt idx="3">
                  <c:v>20221208</c:v>
                </c:pt>
                <c:pt idx="4">
                  <c:v>20221209</c:v>
                </c:pt>
                <c:pt idx="5">
                  <c:v>20221210</c:v>
                </c:pt>
                <c:pt idx="6">
                  <c:v>20221212</c:v>
                </c:pt>
                <c:pt idx="7">
                  <c:v>20221213</c:v>
                </c:pt>
                <c:pt idx="8">
                  <c:v>20221214</c:v>
                </c:pt>
                <c:pt idx="9">
                  <c:v>20221215</c:v>
                </c:pt>
                <c:pt idx="10">
                  <c:v>20221216</c:v>
                </c:pt>
                <c:pt idx="11">
                  <c:v>20221217</c:v>
                </c:pt>
                <c:pt idx="12">
                  <c:v>20221219</c:v>
                </c:pt>
                <c:pt idx="13">
                  <c:v>20221220</c:v>
                </c:pt>
                <c:pt idx="14">
                  <c:v>20221221</c:v>
                </c:pt>
                <c:pt idx="15">
                  <c:v>20221222</c:v>
                </c:pt>
                <c:pt idx="16">
                  <c:v>20221223</c:v>
                </c:pt>
                <c:pt idx="17">
                  <c:v>20221227</c:v>
                </c:pt>
                <c:pt idx="18">
                  <c:v>20221230</c:v>
                </c:pt>
                <c:pt idx="19">
                  <c:v>20221231</c:v>
                </c:pt>
                <c:pt idx="20">
                  <c:v>20230102</c:v>
                </c:pt>
                <c:pt idx="21">
                  <c:v>20230107</c:v>
                </c:pt>
                <c:pt idx="22">
                  <c:v>20230113</c:v>
                </c:pt>
                <c:pt idx="23">
                  <c:v>20260102</c:v>
                </c:pt>
                <c:pt idx="24">
                  <c:v>20260106</c:v>
                </c:pt>
                <c:pt idx="25">
                  <c:v>20260109</c:v>
                </c:pt>
              </c:strCache>
            </c:strRef>
          </c:cat>
          <c:val>
            <c:numRef>
              <c:f>核心指標比較!$L$2:$L$27</c:f>
              <c:numCache>
                <c:formatCode>General</c:formatCode>
                <c:ptCount val="26"/>
                <c:pt idx="0">
                  <c:v>0.92</c:v>
                </c:pt>
                <c:pt idx="1">
                  <c:v>0.9</c:v>
                </c:pt>
                <c:pt idx="2">
                  <c:v>0.9</c:v>
                </c:pt>
                <c:pt idx="3">
                  <c:v>0.8</c:v>
                </c:pt>
                <c:pt idx="4">
                  <c:v>0.88</c:v>
                </c:pt>
                <c:pt idx="5">
                  <c:v>0.93</c:v>
                </c:pt>
                <c:pt idx="6">
                  <c:v>0.92</c:v>
                </c:pt>
                <c:pt idx="7">
                  <c:v>0.93</c:v>
                </c:pt>
                <c:pt idx="8">
                  <c:v>0.86</c:v>
                </c:pt>
                <c:pt idx="9">
                  <c:v>0.8</c:v>
                </c:pt>
                <c:pt idx="10">
                  <c:v>0.82</c:v>
                </c:pt>
                <c:pt idx="11">
                  <c:v>0.86</c:v>
                </c:pt>
                <c:pt idx="12">
                  <c:v>0.85</c:v>
                </c:pt>
                <c:pt idx="13">
                  <c:v>0.93</c:v>
                </c:pt>
                <c:pt idx="14">
                  <c:v>0.91</c:v>
                </c:pt>
                <c:pt idx="15">
                  <c:v>0.87</c:v>
                </c:pt>
                <c:pt idx="16">
                  <c:v>0.92</c:v>
                </c:pt>
                <c:pt idx="17">
                  <c:v>0.93</c:v>
                </c:pt>
                <c:pt idx="18">
                  <c:v>0.93</c:v>
                </c:pt>
                <c:pt idx="19">
                  <c:v>0.93</c:v>
                </c:pt>
                <c:pt idx="20">
                  <c:v>0.92</c:v>
                </c:pt>
                <c:pt idx="21">
                  <c:v>0.94</c:v>
                </c:pt>
                <c:pt idx="22">
                  <c:v>0.88</c:v>
                </c:pt>
                <c:pt idx="23">
                  <c:v>0.92</c:v>
                </c:pt>
                <c:pt idx="24">
                  <c:v>0.92</c:v>
                </c:pt>
                <c:pt idx="25">
                  <c:v>0.84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014-4DF8-AE16-AC53D29D51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905194480"/>
        <c:axId val="905191120"/>
      </c:lineChart>
      <c:catAx>
        <c:axId val="9051944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905191120"/>
        <c:crosses val="autoZero"/>
        <c:auto val="1"/>
        <c:lblAlgn val="ctr"/>
        <c:lblOffset val="100"/>
        <c:noMultiLvlLbl val="0"/>
      </c:catAx>
      <c:valAx>
        <c:axId val="905191120"/>
        <c:scaling>
          <c:orientation val="minMax"/>
          <c:max val="1"/>
          <c:min val="0.60000000000000009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9051944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zh-TW"/>
              <a:t>On Time Rate</a:t>
            </a:r>
            <a:endParaRPr lang="zh-TW" alt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 alt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Manually Planned</c:v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核心指標比較!$A$2:$A$27</c:f>
              <c:strCache>
                <c:ptCount val="26"/>
                <c:pt idx="0">
                  <c:v>20221203</c:v>
                </c:pt>
                <c:pt idx="1">
                  <c:v>20221205</c:v>
                </c:pt>
                <c:pt idx="2">
                  <c:v>20221207</c:v>
                </c:pt>
                <c:pt idx="3">
                  <c:v>20221208</c:v>
                </c:pt>
                <c:pt idx="4">
                  <c:v>20221209</c:v>
                </c:pt>
                <c:pt idx="5">
                  <c:v>20221210</c:v>
                </c:pt>
                <c:pt idx="6">
                  <c:v>20221212</c:v>
                </c:pt>
                <c:pt idx="7">
                  <c:v>20221213</c:v>
                </c:pt>
                <c:pt idx="8">
                  <c:v>20221214</c:v>
                </c:pt>
                <c:pt idx="9">
                  <c:v>20221215</c:v>
                </c:pt>
                <c:pt idx="10">
                  <c:v>20221216</c:v>
                </c:pt>
                <c:pt idx="11">
                  <c:v>20221217</c:v>
                </c:pt>
                <c:pt idx="12">
                  <c:v>20221219</c:v>
                </c:pt>
                <c:pt idx="13">
                  <c:v>20221220</c:v>
                </c:pt>
                <c:pt idx="14">
                  <c:v>20221221</c:v>
                </c:pt>
                <c:pt idx="15">
                  <c:v>20221222</c:v>
                </c:pt>
                <c:pt idx="16">
                  <c:v>20221223</c:v>
                </c:pt>
                <c:pt idx="17">
                  <c:v>20221227</c:v>
                </c:pt>
                <c:pt idx="18">
                  <c:v>20221230</c:v>
                </c:pt>
                <c:pt idx="19">
                  <c:v>20221231</c:v>
                </c:pt>
                <c:pt idx="20">
                  <c:v>20230102</c:v>
                </c:pt>
                <c:pt idx="21">
                  <c:v>20230107</c:v>
                </c:pt>
                <c:pt idx="22">
                  <c:v>20230113</c:v>
                </c:pt>
                <c:pt idx="23">
                  <c:v>20260102</c:v>
                </c:pt>
                <c:pt idx="24">
                  <c:v>20260106</c:v>
                </c:pt>
                <c:pt idx="25">
                  <c:v>20260109</c:v>
                </c:pt>
              </c:strCache>
            </c:strRef>
          </c:cat>
          <c:val>
            <c:numRef>
              <c:f>核心指標比較!$N$2:$N$27</c:f>
              <c:numCache>
                <c:formatCode>General</c:formatCode>
                <c:ptCount val="26"/>
                <c:pt idx="0">
                  <c:v>0.96</c:v>
                </c:pt>
                <c:pt idx="1">
                  <c:v>0.96</c:v>
                </c:pt>
                <c:pt idx="2">
                  <c:v>0.92</c:v>
                </c:pt>
                <c:pt idx="3">
                  <c:v>0.93</c:v>
                </c:pt>
                <c:pt idx="4">
                  <c:v>0.92</c:v>
                </c:pt>
                <c:pt idx="5">
                  <c:v>0.94</c:v>
                </c:pt>
                <c:pt idx="6">
                  <c:v>0.95</c:v>
                </c:pt>
                <c:pt idx="7">
                  <c:v>0.97</c:v>
                </c:pt>
                <c:pt idx="8">
                  <c:v>0.95</c:v>
                </c:pt>
                <c:pt idx="9">
                  <c:v>0.92</c:v>
                </c:pt>
                <c:pt idx="10">
                  <c:v>0.9</c:v>
                </c:pt>
                <c:pt idx="11">
                  <c:v>0.93</c:v>
                </c:pt>
                <c:pt idx="12">
                  <c:v>0.91</c:v>
                </c:pt>
                <c:pt idx="13">
                  <c:v>0.95</c:v>
                </c:pt>
                <c:pt idx="14">
                  <c:v>0.94</c:v>
                </c:pt>
                <c:pt idx="15">
                  <c:v>0.92</c:v>
                </c:pt>
                <c:pt idx="16">
                  <c:v>0.95</c:v>
                </c:pt>
                <c:pt idx="17">
                  <c:v>0.95</c:v>
                </c:pt>
                <c:pt idx="18">
                  <c:v>0.96</c:v>
                </c:pt>
                <c:pt idx="19">
                  <c:v>0.94</c:v>
                </c:pt>
                <c:pt idx="20">
                  <c:v>0.97</c:v>
                </c:pt>
                <c:pt idx="21">
                  <c:v>0.93</c:v>
                </c:pt>
                <c:pt idx="22">
                  <c:v>0.96</c:v>
                </c:pt>
                <c:pt idx="23">
                  <c:v>0.95</c:v>
                </c:pt>
                <c:pt idx="24">
                  <c:v>0.94</c:v>
                </c:pt>
                <c:pt idx="25">
                  <c:v>0.96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4F6-4534-91B2-8AE1DD92E4BF}"/>
            </c:ext>
          </c:extLst>
        </c:ser>
        <c:ser>
          <c:idx val="1"/>
          <c:order val="1"/>
          <c:tx>
            <c:v>Proposed Method</c:v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核心指標比較!$A$2:$A$27</c:f>
              <c:strCache>
                <c:ptCount val="26"/>
                <c:pt idx="0">
                  <c:v>20221203</c:v>
                </c:pt>
                <c:pt idx="1">
                  <c:v>20221205</c:v>
                </c:pt>
                <c:pt idx="2">
                  <c:v>20221207</c:v>
                </c:pt>
                <c:pt idx="3">
                  <c:v>20221208</c:v>
                </c:pt>
                <c:pt idx="4">
                  <c:v>20221209</c:v>
                </c:pt>
                <c:pt idx="5">
                  <c:v>20221210</c:v>
                </c:pt>
                <c:pt idx="6">
                  <c:v>20221212</c:v>
                </c:pt>
                <c:pt idx="7">
                  <c:v>20221213</c:v>
                </c:pt>
                <c:pt idx="8">
                  <c:v>20221214</c:v>
                </c:pt>
                <c:pt idx="9">
                  <c:v>20221215</c:v>
                </c:pt>
                <c:pt idx="10">
                  <c:v>20221216</c:v>
                </c:pt>
                <c:pt idx="11">
                  <c:v>20221217</c:v>
                </c:pt>
                <c:pt idx="12">
                  <c:v>20221219</c:v>
                </c:pt>
                <c:pt idx="13">
                  <c:v>20221220</c:v>
                </c:pt>
                <c:pt idx="14">
                  <c:v>20221221</c:v>
                </c:pt>
                <c:pt idx="15">
                  <c:v>20221222</c:v>
                </c:pt>
                <c:pt idx="16">
                  <c:v>20221223</c:v>
                </c:pt>
                <c:pt idx="17">
                  <c:v>20221227</c:v>
                </c:pt>
                <c:pt idx="18">
                  <c:v>20221230</c:v>
                </c:pt>
                <c:pt idx="19">
                  <c:v>20221231</c:v>
                </c:pt>
                <c:pt idx="20">
                  <c:v>20230102</c:v>
                </c:pt>
                <c:pt idx="21">
                  <c:v>20230107</c:v>
                </c:pt>
                <c:pt idx="22">
                  <c:v>20230113</c:v>
                </c:pt>
                <c:pt idx="23">
                  <c:v>20260102</c:v>
                </c:pt>
                <c:pt idx="24">
                  <c:v>20260106</c:v>
                </c:pt>
                <c:pt idx="25">
                  <c:v>20260109</c:v>
                </c:pt>
              </c:strCache>
            </c:strRef>
          </c:cat>
          <c:val>
            <c:numRef>
              <c:f>核心指標比較!$O$2:$O$27</c:f>
              <c:numCache>
                <c:formatCode>General</c:formatCode>
                <c:ptCount val="26"/>
                <c:pt idx="0">
                  <c:v>1</c:v>
                </c:pt>
                <c:pt idx="1">
                  <c:v>0.99</c:v>
                </c:pt>
                <c:pt idx="2">
                  <c:v>1</c:v>
                </c:pt>
                <c:pt idx="3">
                  <c:v>0.99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0.99</c:v>
                </c:pt>
                <c:pt idx="9">
                  <c:v>0.98</c:v>
                </c:pt>
                <c:pt idx="10">
                  <c:v>0.98</c:v>
                </c:pt>
                <c:pt idx="11">
                  <c:v>0.99</c:v>
                </c:pt>
                <c:pt idx="12">
                  <c:v>0.97</c:v>
                </c:pt>
                <c:pt idx="13">
                  <c:v>1</c:v>
                </c:pt>
                <c:pt idx="14">
                  <c:v>0.99</c:v>
                </c:pt>
                <c:pt idx="15">
                  <c:v>0.99</c:v>
                </c:pt>
                <c:pt idx="16">
                  <c:v>1</c:v>
                </c:pt>
                <c:pt idx="17">
                  <c:v>1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0.99</c:v>
                </c:pt>
                <c:pt idx="23">
                  <c:v>0.98</c:v>
                </c:pt>
                <c:pt idx="24">
                  <c:v>1</c:v>
                </c:pt>
                <c:pt idx="25">
                  <c:v>0.96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4F6-4534-91B2-8AE1DD92E4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905186320"/>
        <c:axId val="905207920"/>
      </c:lineChart>
      <c:catAx>
        <c:axId val="9051863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905207920"/>
        <c:crosses val="autoZero"/>
        <c:auto val="1"/>
        <c:lblAlgn val="ctr"/>
        <c:lblOffset val="100"/>
        <c:noMultiLvlLbl val="0"/>
      </c:catAx>
      <c:valAx>
        <c:axId val="905207920"/>
        <c:scaling>
          <c:orientation val="minMax"/>
          <c:max val="1"/>
          <c:min val="0.8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9051863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zh-TW" sz="1400" b="0" i="0" u="none" strike="noStrike" baseline="0" dirty="0"/>
              <a:t>Number of Vehicles</a:t>
            </a:r>
            <a:endParaRPr lang="zh-TW" altLang="en-US" sz="1400" b="0" i="0" u="none" strike="noStrike" kern="1200" spc="0" baseline="0" dirty="0">
              <a:solidFill>
                <a:sysClr val="windowText" lastClr="000000">
                  <a:lumMod val="65000"/>
                  <a:lumOff val="35000"/>
                </a:sys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 alt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Proposed Method</c:v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工作表2!$A$81:$A$86</c:f>
              <c:strCache>
                <c:ptCount val="6"/>
                <c:pt idx="0">
                  <c:v>R1</c:v>
                </c:pt>
                <c:pt idx="1">
                  <c:v>R2</c:v>
                </c:pt>
                <c:pt idx="2">
                  <c:v>C1</c:v>
                </c:pt>
                <c:pt idx="3">
                  <c:v>C2</c:v>
                </c:pt>
                <c:pt idx="4">
                  <c:v>RC1</c:v>
                </c:pt>
                <c:pt idx="5">
                  <c:v>RC2</c:v>
                </c:pt>
              </c:strCache>
            </c:strRef>
          </c:cat>
          <c:val>
            <c:numRef>
              <c:f>工作表2!$B$81:$B$86</c:f>
              <c:numCache>
                <c:formatCode>General</c:formatCode>
                <c:ptCount val="6"/>
                <c:pt idx="0">
                  <c:v>12.79</c:v>
                </c:pt>
                <c:pt idx="1">
                  <c:v>3.15</c:v>
                </c:pt>
                <c:pt idx="2">
                  <c:v>10</c:v>
                </c:pt>
                <c:pt idx="3">
                  <c:v>3.01</c:v>
                </c:pt>
                <c:pt idx="4">
                  <c:v>12.44</c:v>
                </c:pt>
                <c:pt idx="5">
                  <c:v>3.46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25-49C4-8A0B-69FD25029507}"/>
            </c:ext>
          </c:extLst>
        </c:ser>
        <c:ser>
          <c:idx val="1"/>
          <c:order val="1"/>
          <c:tx>
            <c:strRef>
              <c:f>工作表2!$D$80</c:f>
              <c:strCache>
                <c:ptCount val="1"/>
                <c:pt idx="0">
                  <c:v>Baseline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工作表2!$A$81:$A$86</c:f>
              <c:strCache>
                <c:ptCount val="6"/>
                <c:pt idx="0">
                  <c:v>R1</c:v>
                </c:pt>
                <c:pt idx="1">
                  <c:v>R2</c:v>
                </c:pt>
                <c:pt idx="2">
                  <c:v>C1</c:v>
                </c:pt>
                <c:pt idx="3">
                  <c:v>C2</c:v>
                </c:pt>
                <c:pt idx="4">
                  <c:v>RC1</c:v>
                </c:pt>
                <c:pt idx="5">
                  <c:v>RC2</c:v>
                </c:pt>
              </c:strCache>
            </c:strRef>
          </c:cat>
          <c:val>
            <c:numRef>
              <c:f>工作表2!$D$81:$D$86</c:f>
              <c:numCache>
                <c:formatCode>General</c:formatCode>
                <c:ptCount val="6"/>
                <c:pt idx="0">
                  <c:v>12.83</c:v>
                </c:pt>
                <c:pt idx="1">
                  <c:v>4.72</c:v>
                </c:pt>
                <c:pt idx="2">
                  <c:v>10</c:v>
                </c:pt>
                <c:pt idx="3">
                  <c:v>3</c:v>
                </c:pt>
                <c:pt idx="4">
                  <c:v>12.26</c:v>
                </c:pt>
                <c:pt idx="5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25-49C4-8A0B-69FD250295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42555375"/>
        <c:axId val="799262831"/>
      </c:lineChart>
      <c:catAx>
        <c:axId val="12425553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799262831"/>
        <c:crosses val="autoZero"/>
        <c:auto val="1"/>
        <c:lblAlgn val="ctr"/>
        <c:lblOffset val="100"/>
        <c:noMultiLvlLbl val="0"/>
      </c:catAx>
      <c:valAx>
        <c:axId val="7992628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zh-TW"/>
                  <a:t>Number</a:t>
                </a:r>
                <a:r>
                  <a:rPr lang="en-US" altLang="zh-TW" baseline="0"/>
                  <a:t> of Vehicles</a:t>
                </a:r>
                <a:endParaRPr lang="zh-TW" alt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TW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1242555375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</c:dTable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TW" altLang="zh-TW" sz="1400" b="0" i="0" u="none" strike="noStrike" baseline="0" dirty="0"/>
              <a:t>Travel Distance</a:t>
            </a:r>
            <a:endParaRPr lang="zh-TW" alt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 alt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Proposed Method</c:v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工作表2!$A$81:$A$86</c:f>
              <c:strCache>
                <c:ptCount val="6"/>
                <c:pt idx="0">
                  <c:v>R1</c:v>
                </c:pt>
                <c:pt idx="1">
                  <c:v>R2</c:v>
                </c:pt>
                <c:pt idx="2">
                  <c:v>C1</c:v>
                </c:pt>
                <c:pt idx="3">
                  <c:v>C2</c:v>
                </c:pt>
                <c:pt idx="4">
                  <c:v>RC1</c:v>
                </c:pt>
                <c:pt idx="5">
                  <c:v>RC2</c:v>
                </c:pt>
              </c:strCache>
            </c:strRef>
          </c:cat>
          <c:val>
            <c:numRef>
              <c:f>工作表2!$C$81:$C$86</c:f>
              <c:numCache>
                <c:formatCode>General</c:formatCode>
                <c:ptCount val="6"/>
                <c:pt idx="0">
                  <c:v>1234.93</c:v>
                </c:pt>
                <c:pt idx="1">
                  <c:v>995.42</c:v>
                </c:pt>
                <c:pt idx="2">
                  <c:v>828.38</c:v>
                </c:pt>
                <c:pt idx="3">
                  <c:v>592.58000000000004</c:v>
                </c:pt>
                <c:pt idx="4">
                  <c:v>1381.75</c:v>
                </c:pt>
                <c:pt idx="5">
                  <c:v>1167.7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836-4027-8E72-972338ED69AD}"/>
            </c:ext>
          </c:extLst>
        </c:ser>
        <c:ser>
          <c:idx val="1"/>
          <c:order val="1"/>
          <c:tx>
            <c:strRef>
              <c:f>工作表2!$E$80</c:f>
              <c:strCache>
                <c:ptCount val="1"/>
                <c:pt idx="0">
                  <c:v>Baseline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工作表2!$A$81:$A$86</c:f>
              <c:strCache>
                <c:ptCount val="6"/>
                <c:pt idx="0">
                  <c:v>R1</c:v>
                </c:pt>
                <c:pt idx="1">
                  <c:v>R2</c:v>
                </c:pt>
                <c:pt idx="2">
                  <c:v>C1</c:v>
                </c:pt>
                <c:pt idx="3">
                  <c:v>C2</c:v>
                </c:pt>
                <c:pt idx="4">
                  <c:v>RC1</c:v>
                </c:pt>
                <c:pt idx="5">
                  <c:v>RC2</c:v>
                </c:pt>
              </c:strCache>
            </c:strRef>
          </c:cat>
          <c:val>
            <c:numRef>
              <c:f>工作表2!$E$81:$E$86</c:f>
              <c:numCache>
                <c:formatCode>General</c:formatCode>
                <c:ptCount val="6"/>
                <c:pt idx="0">
                  <c:v>1209.0999999999999</c:v>
                </c:pt>
                <c:pt idx="1">
                  <c:v>1087.5999999999999</c:v>
                </c:pt>
                <c:pt idx="2">
                  <c:v>838.75</c:v>
                </c:pt>
                <c:pt idx="3">
                  <c:v>590.35</c:v>
                </c:pt>
                <c:pt idx="4">
                  <c:v>1391.4</c:v>
                </c:pt>
                <c:pt idx="5">
                  <c:v>1134.43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836-4027-8E72-972338ED69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90149007"/>
        <c:axId val="1249616111"/>
      </c:lineChart>
      <c:catAx>
        <c:axId val="79014900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1249616111"/>
        <c:crosses val="autoZero"/>
        <c:auto val="1"/>
        <c:lblAlgn val="ctr"/>
        <c:lblOffset val="100"/>
        <c:noMultiLvlLbl val="0"/>
      </c:catAx>
      <c:valAx>
        <c:axId val="124961611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zh-TW"/>
                  <a:t>Travel Distance</a:t>
                </a:r>
                <a:endParaRPr lang="zh-TW" alt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TW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790149007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</c:dTable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85926D-8BBA-4C74-8368-2D9ACE9667B6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134DBE-7CC5-4F23-841F-273EC3D50B7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60016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200" b="0" dirty="0">
                <a:latin typeface="DFKai-SB"/>
                <a:ea typeface="DFKai-SB"/>
                <a:cs typeface="DFKai-SB"/>
                <a:sym typeface="DFKai-SB"/>
              </a:rPr>
              <a:t>各位口試委員好，我是學生楊宏傑，</a:t>
            </a:r>
            <a:br>
              <a:rPr lang="en-US" altLang="zh-TW" sz="1200" b="0" dirty="0">
                <a:latin typeface="DFKai-SB"/>
                <a:ea typeface="DFKai-SB"/>
                <a:cs typeface="DFKai-SB"/>
                <a:sym typeface="DFKai-SB"/>
              </a:rPr>
            </a:br>
            <a:r>
              <a:rPr lang="zh-TW" altLang="en-US" sz="1200" b="0" dirty="0">
                <a:latin typeface="DFKai-SB"/>
                <a:ea typeface="DFKai-SB"/>
                <a:cs typeface="DFKai-SB"/>
                <a:sym typeface="DFKai-SB"/>
              </a:rPr>
              <a:t>我的論文題目為 </a:t>
            </a:r>
            <a:r>
              <a:rPr lang="en-US" altLang="zh-TW" sz="1200" b="0" dirty="0">
                <a:latin typeface="DFKai-SB"/>
                <a:ea typeface="DFKai-SB"/>
                <a:cs typeface="DFKai-SB"/>
                <a:sym typeface="DFKai-SB"/>
              </a:rPr>
              <a:t>”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物流公司支援線規劃之多階段最佳化方法</a:t>
            </a:r>
            <a:r>
              <a:rPr lang="en-US" altLang="zh-TW" sz="1200" b="0" dirty="0">
                <a:latin typeface="DFKai-SB"/>
                <a:ea typeface="DFKai-SB"/>
                <a:cs typeface="DFKai-SB"/>
                <a:sym typeface="DFKai-SB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altLang="zh-TW" sz="1200" b="0" dirty="0">
                <a:latin typeface="DFKai-SB"/>
                <a:ea typeface="DFKai-SB"/>
                <a:cs typeface="DFKai-SB"/>
                <a:sym typeface="DFKai-SB"/>
              </a:rPr>
            </a:br>
            <a:r>
              <a:rPr lang="zh-TW" altLang="en-US" sz="1200" b="0" dirty="0">
                <a:latin typeface="DFKai-SB"/>
                <a:ea typeface="DFKai-SB"/>
                <a:cs typeface="DFKai-SB"/>
                <a:sym typeface="DFKai-SB"/>
              </a:rPr>
              <a:t>我的指導教授是郭忠義老師</a:t>
            </a:r>
            <a:endParaRPr lang="en-US" altLang="zh-TW" sz="1200" b="0" dirty="0">
              <a:latin typeface="DFKai-SB"/>
              <a:ea typeface="DFKai-SB"/>
              <a:cs typeface="DFKai-SB"/>
              <a:sym typeface="DFKai-SB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200" b="0" dirty="0">
                <a:latin typeface="DFKai-SB"/>
                <a:ea typeface="DFKai-SB"/>
                <a:cs typeface="DFKai-SB"/>
                <a:sym typeface="DFKai-SB"/>
              </a:rPr>
              <a:t>本研究主要是希望</a:t>
            </a:r>
            <a:r>
              <a:rPr lang="zh-TW" altLang="zh-TW" dirty="0"/>
              <a:t>協助物流公司透過自動化路線編排</a:t>
            </a:r>
            <a:r>
              <a:rPr lang="zh-TW" altLang="en-US" dirty="0"/>
              <a:t>方法，</a:t>
            </a:r>
            <a:r>
              <a:rPr lang="zh-TW" altLang="zh-TW" dirty="0"/>
              <a:t>提升配送規劃效率，並有效降低整體配送成本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6081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這是本研究的報告大綱，分為五個章節</a:t>
            </a:r>
            <a:endParaRPr lang="en-US" altLang="zh-TW" dirty="0"/>
          </a:p>
          <a:p>
            <a:r>
              <a:rPr lang="zh-TW" altLang="en-US" dirty="0"/>
              <a:t>將依序介紹研究動機、研究方法、實驗結果、討論、結論與未來研究方向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1625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首先介紹本研究的研究動機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05817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隨著電子商務與物流產業的快速發展，物流配送需求持續增加。因此，如何透過有效的路線規劃來降低配送成本並提升配送效率，已成為物流業者的重要課題。</a:t>
            </a:r>
          </a:p>
          <a:p>
            <a:r>
              <a:rPr lang="zh-TW" altLang="zh-TW" dirty="0"/>
              <a:t>雖然車輛路</a:t>
            </a:r>
            <a:r>
              <a:rPr lang="zh-TW" altLang="en-US" dirty="0"/>
              <a:t>徑</a:t>
            </a:r>
            <a:r>
              <a:rPr lang="zh-TW" altLang="zh-TW" dirty="0"/>
              <a:t>問題（Vehicle Routing Problem, VRP）已被廣泛研究，但實際物流配送問題往往包含更多現實限制，無法完全由</a:t>
            </a:r>
            <a:r>
              <a:rPr lang="zh-TW" altLang="en-US" dirty="0"/>
              <a:t>一般</a:t>
            </a:r>
            <a:r>
              <a:rPr lang="zh-TW" altLang="zh-TW" dirty="0"/>
              <a:t>VRP模型描述。</a:t>
            </a:r>
            <a:endParaRPr lang="en-US" altLang="zh-TW" dirty="0"/>
          </a:p>
          <a:p>
            <a:r>
              <a:rPr lang="zh-TW" altLang="zh-TW" dirty="0"/>
              <a:t>例如，物流公司採用固定路線架構進行配送，並受到各種作業限制與服務規範的影響，而這些實務因素在許多VRP研究中較少被考量。</a:t>
            </a:r>
          </a:p>
          <a:p>
            <a:r>
              <a:rPr lang="zh-TW" altLang="zh-TW" dirty="0"/>
              <a:t>此外，目前物流公司的路線規劃仍以人工編排為主。整體規劃不僅需要投入大量時間</a:t>
            </a:r>
            <a:r>
              <a:rPr lang="zh-TW" altLang="en-US" dirty="0"/>
              <a:t>，</a:t>
            </a:r>
            <a:r>
              <a:rPr lang="zh-TW" altLang="zh-TW" dirty="0"/>
              <a:t>過程高度依賴調度人員的經驗與專業判斷，也容易受到個人經驗差異影響，進而造成路線規劃品質不一致的問題。</a:t>
            </a:r>
            <a:endParaRPr lang="en-US" altLang="zh-TW" dirty="0"/>
          </a:p>
          <a:p>
            <a:r>
              <a:rPr lang="zh-TW" altLang="zh-TW" dirty="0"/>
              <a:t>因此，本研究提出一套多階段最佳化方法，在既有路線架構下有效處理超載路線問題，並兼顧配送效率與服務品質。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15910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首先介紹本研究的研究方法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009962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多階段</a:t>
            </a:r>
            <a:r>
              <a:rPr lang="zh-TW" altLang="zh-TW" dirty="0"/>
              <a:t>考量實務作業限制之車輛路線規劃問題</a:t>
            </a:r>
            <a:r>
              <a:rPr lang="zh-TW" altLang="en-US" dirty="0"/>
              <a:t>主要由下列四個模組組成</a:t>
            </a:r>
            <a:endParaRPr lang="en-US" altLang="zh-TW" dirty="0"/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zh-TW" dirty="0"/>
              <a:t>API</a:t>
            </a:r>
            <a:r>
              <a:rPr lang="zh-TW" altLang="en-US" dirty="0"/>
              <a:t>模組：</a:t>
            </a:r>
            <a:r>
              <a:rPr lang="zh-TW" altLang="zh-TW" dirty="0"/>
              <a:t>透過 OSRM 與 Google Maps Routes API 提供</a:t>
            </a:r>
            <a:r>
              <a:rPr lang="zh-TW" altLang="en-US" dirty="0"/>
              <a:t>相關</a:t>
            </a:r>
            <a:r>
              <a:rPr lang="zh-TW" altLang="zh-TW" dirty="0"/>
              <a:t>距離</a:t>
            </a:r>
            <a:r>
              <a:rPr lang="zh-TW" altLang="en-US" dirty="0"/>
              <a:t>及</a:t>
            </a:r>
            <a:r>
              <a:rPr lang="zh-TW" altLang="zh-TW" dirty="0"/>
              <a:t>行車時間資訊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zh-TW" altLang="en-US" dirty="0"/>
              <a:t>資料模組：</a:t>
            </a:r>
            <a:r>
              <a:rPr lang="zh-TW" altLang="zh-TW" dirty="0"/>
              <a:t>負責對</a:t>
            </a:r>
            <a:r>
              <a:rPr lang="zh-TW" altLang="en-US" dirty="0"/>
              <a:t>物流公司所提供</a:t>
            </a:r>
            <a:r>
              <a:rPr lang="zh-TW" altLang="zh-TW" dirty="0"/>
              <a:t>路線資料進行前處理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zh-TW" altLang="en-US" dirty="0"/>
              <a:t>路由模組：</a:t>
            </a:r>
            <a:r>
              <a:rPr lang="zh-TW" altLang="zh-TW" dirty="0"/>
              <a:t>負責執行</a:t>
            </a:r>
            <a:r>
              <a:rPr lang="zh-TW" altLang="en-US" dirty="0"/>
              <a:t>路線</a:t>
            </a:r>
            <a:r>
              <a:rPr lang="zh-TW" altLang="zh-TW" dirty="0"/>
              <a:t>最佳化</a:t>
            </a:r>
            <a:r>
              <a:rPr lang="zh-TW" altLang="en-US" dirty="0"/>
              <a:t>方法</a:t>
            </a:r>
            <a:r>
              <a:rPr lang="zh-TW" altLang="zh-TW" dirty="0"/>
              <a:t>產生符合實務作業限制</a:t>
            </a:r>
            <a:r>
              <a:rPr lang="zh-TW" altLang="en-US" dirty="0"/>
              <a:t>的</a:t>
            </a:r>
            <a:r>
              <a:rPr lang="zh-TW" altLang="zh-TW" dirty="0"/>
              <a:t>配送路線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zh-TW" altLang="en-US" dirty="0"/>
              <a:t>評估模組：提供</a:t>
            </a:r>
            <a:r>
              <a:rPr lang="en-US" altLang="zh-TW" dirty="0"/>
              <a:t>2D</a:t>
            </a:r>
            <a:r>
              <a:rPr lang="zh-TW" altLang="en-US" dirty="0"/>
              <a:t>可視化並根據各項指標進行評估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73107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接下來介紹本研究的架構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從物流公司所取得之原始路線資料</a:t>
            </a:r>
            <a:endParaRPr lang="en-US" altLang="zh-TW" dirty="0"/>
          </a:p>
          <a:p>
            <a:r>
              <a:rPr lang="zh-TW" altLang="en-US" dirty="0"/>
              <a:t>對人工規劃進行前處理同時取得</a:t>
            </a:r>
            <a:r>
              <a:rPr lang="en-US" altLang="zh-TW" dirty="0"/>
              <a:t>OSRM</a:t>
            </a:r>
            <a:r>
              <a:rPr lang="zh-TW" altLang="en-US" dirty="0"/>
              <a:t>資料</a:t>
            </a:r>
            <a:endParaRPr lang="en-US" altLang="zh-TW" dirty="0"/>
          </a:p>
          <a:p>
            <a:r>
              <a:rPr lang="zh-TW" altLang="en-US" dirty="0"/>
              <a:t>接著進入路由模組，對主線架構中超載的店舖進行店舖抽取</a:t>
            </a:r>
            <a:endParaRPr lang="en-US" altLang="zh-TW" dirty="0"/>
          </a:p>
          <a:p>
            <a:r>
              <a:rPr lang="zh-TW" altLang="en-US" dirty="0"/>
              <a:t>將抽取完的店鋪集合進行店鋪分配以最大化主線的效率</a:t>
            </a:r>
            <a:endParaRPr lang="en-US" altLang="zh-TW" dirty="0"/>
          </a:p>
          <a:p>
            <a:r>
              <a:rPr lang="zh-TW" altLang="en-US" dirty="0"/>
              <a:t>之後將剩餘的無法分配進主線中的店舖進行支援線規劃</a:t>
            </a:r>
            <a:endParaRPr lang="en-US" altLang="zh-TW" dirty="0"/>
          </a:p>
          <a:p>
            <a:r>
              <a:rPr lang="zh-TW" altLang="en-US" dirty="0"/>
              <a:t>店鋪分配和支援線規劃在規劃完成後會透過</a:t>
            </a:r>
            <a:r>
              <a:rPr lang="en-US" altLang="zh-TW" dirty="0"/>
              <a:t>google maps routes </a:t>
            </a:r>
            <a:r>
              <a:rPr lang="en-US" altLang="zh-TW" dirty="0" err="1"/>
              <a:t>api</a:t>
            </a:r>
            <a:r>
              <a:rPr lang="zh-TW" altLang="en-US" dirty="0"/>
              <a:t>進行驗證</a:t>
            </a:r>
            <a:endParaRPr lang="en-US" altLang="zh-TW" dirty="0"/>
          </a:p>
          <a:p>
            <a:r>
              <a:rPr lang="zh-TW" altLang="en-US" dirty="0"/>
              <a:t>最後再透過評估模組對編排好的路線資料進行評估及驗證</a:t>
            </a:r>
            <a:endParaRPr lang="en-US" altLang="zh-TW" dirty="0"/>
          </a:p>
          <a:p>
            <a:r>
              <a:rPr lang="zh-TW" altLang="en-US" dirty="0"/>
              <a:t>最後再將結果輸出成最佳化路線資料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82722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6759E-EEAE-B3B6-8E75-CC57FC87D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33F969-AECC-C4D8-856A-996478586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004E002-CB1A-C026-FEF8-332CF42ACF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首先介紹</a:t>
            </a:r>
            <a:r>
              <a:rPr lang="zh-TW" altLang="zh-TW" dirty="0"/>
              <a:t>物流公司提供之</a:t>
            </a:r>
            <a:r>
              <a:rPr lang="zh-TW" altLang="en-US" dirty="0"/>
              <a:t>原始</a:t>
            </a:r>
            <a:r>
              <a:rPr lang="zh-TW" altLang="zh-TW" dirty="0"/>
              <a:t>路線資料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0CEDCF3-8BF2-E47C-617B-94B948836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02226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A5872-2C6D-62DC-4463-3D1E29D06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84CFF0F-AD78-C412-D934-9A2242EF4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992C8DB-C56D-3600-E11C-6546825524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本研究資料由物流公司提供，共涵蓋 26 個工作天之</a:t>
            </a:r>
            <a:r>
              <a:rPr lang="zh-TW" altLang="en-US" dirty="0"/>
              <a:t>原始</a:t>
            </a:r>
            <a:r>
              <a:rPr lang="zh-TW" altLang="zh-TW" dirty="0"/>
              <a:t>配送資料</a:t>
            </a:r>
            <a:endParaRPr lang="en-US" altLang="zh-TW" dirty="0"/>
          </a:p>
          <a:p>
            <a:r>
              <a:rPr lang="zh-TW" altLang="en-US" dirty="0"/>
              <a:t>紅色方框為物流公司主線架構中的路線</a:t>
            </a:r>
            <a:r>
              <a:rPr lang="en-US" altLang="zh-TW" dirty="0"/>
              <a:t>2M</a:t>
            </a:r>
            <a:r>
              <a:rPr lang="zh-TW" altLang="en-US" dirty="0"/>
              <a:t>的原始規劃結果</a:t>
            </a:r>
            <a:endParaRPr lang="en-US" altLang="zh-TW" dirty="0"/>
          </a:p>
          <a:p>
            <a:r>
              <a:rPr lang="zh-TW" altLang="en-US" dirty="0"/>
              <a:t>內容涵蓋</a:t>
            </a:r>
            <a:r>
              <a:rPr lang="zh-TW" altLang="zh-TW" dirty="0"/>
              <a:t>配送路線、店舖順序以及配送</a:t>
            </a:r>
            <a:r>
              <a:rPr lang="zh-TW" altLang="en-US" dirty="0"/>
              <a:t>貨</a:t>
            </a:r>
            <a:r>
              <a:rPr lang="zh-TW" altLang="zh-TW" dirty="0"/>
              <a:t>量等資訊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1F5665-60D0-14EA-E28F-FA2A88ECCE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04997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E1F94-BD66-B03A-67B4-38CF7A029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18A1D5A-9992-3D93-56FB-410ADFDA4D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15C9F95-652E-051D-A97D-F9B1EFA748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接著介紹本研究</a:t>
            </a:r>
            <a:r>
              <a:rPr lang="en-US" altLang="zh-TW" dirty="0"/>
              <a:t>API</a:t>
            </a:r>
            <a:r>
              <a:rPr lang="zh-TW" altLang="en-US" dirty="0"/>
              <a:t>模組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B5D102B-B7E9-7E4F-BBB7-2314161140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78581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A73F1-A16B-FA43-739A-1E3B9B9B0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DE20796-1616-6940-239A-6B0A8B36B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C3A4B5D-D08E-C717-A48D-2821D9636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模組</a:t>
            </a:r>
            <a:r>
              <a:rPr lang="zh-TW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負責與外部服務進行串接</a:t>
            </a:r>
            <a:endParaRPr lang="en-US" altLang="zh-TW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dirty="0"/>
              <a:t>在路線規劃階段，本研究採用 Open Source Routing Machine</a:t>
            </a:r>
            <a:r>
              <a:rPr lang="zh-TW" altLang="en-US" dirty="0"/>
              <a:t> </a:t>
            </a:r>
            <a:r>
              <a:rPr lang="zh-TW" altLang="zh-TW" dirty="0"/>
              <a:t>來取得店舖間的距離矩陣與行駛時間矩陣</a:t>
            </a:r>
            <a:r>
              <a:rPr lang="zh-TW" altLang="en-US" dirty="0"/>
              <a:t>進行路線規劃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在驗證及評估階段，</a:t>
            </a:r>
            <a:r>
              <a:rPr lang="zh-TW" altLang="zh-TW" dirty="0"/>
              <a:t>使用 Google Maps Routes API 取得實際道路網路資訊</a:t>
            </a:r>
            <a:r>
              <a:rPr lang="zh-TW" altLang="en-US" dirty="0"/>
              <a:t>，</a:t>
            </a:r>
            <a:r>
              <a:rPr lang="zh-TW" altLang="zh-TW" dirty="0"/>
              <a:t>對規劃結果進行驗證與評估</a:t>
            </a:r>
            <a:endParaRPr lang="en-US" altLang="zh-TW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E20DF7-79BA-D7A1-E1D8-95335EA706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91268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BC1BE-993D-B181-E1EF-CCABB26AF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2D5A7ED-26C9-C8DD-B348-01849E7191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EB72154-4A0A-8AB4-C3BF-10EBC175E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接著介紹本研究資料模組部分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02100C7-912D-9101-27F4-1883BE9BA6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04918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E6F0F-F143-4905-B305-B45348B18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4ECDCF3-9001-EC2F-4521-1BD21D364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719A4C9-AE3D-10A5-5A61-6B8E097584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資料前處理主要負責對物流公司提供之資料進行清理及轉換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針對缺失或不完整之店鋪資訊進行補齊與修正</a:t>
            </a:r>
            <a:endParaRPr lang="en-US" altLang="zh-TW" dirty="0"/>
          </a:p>
          <a:p>
            <a:r>
              <a:rPr lang="zh-TW" altLang="zh-TW" dirty="0"/>
              <a:t>將資料進行結構化整理與統一，轉換</a:t>
            </a:r>
            <a:r>
              <a:rPr lang="zh-TW" altLang="en-US" dirty="0"/>
              <a:t>為後續</a:t>
            </a:r>
            <a:r>
              <a:rPr lang="zh-TW" altLang="zh-TW" dirty="0"/>
              <a:t>路線規劃</a:t>
            </a:r>
            <a:r>
              <a:rPr lang="zh-TW" altLang="en-US" dirty="0"/>
              <a:t>所需</a:t>
            </a:r>
            <a:r>
              <a:rPr lang="zh-TW" altLang="zh-TW" dirty="0"/>
              <a:t>格式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EB7897C-731B-9BF1-DA00-92097FA9C2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03025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CA88B-C458-0683-BE99-F86DE574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76D5C62-DE35-0F68-D9F3-7A51EC618B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6B133E7-A145-43B5-9C16-5737C19BF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接下來介紹本研究的路由模組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268668-ED82-A85C-113F-9C6ED9F279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187783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41A5D-EA24-6D3F-0F5D-0BA8A1BC5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2915156-FBD8-ECE3-2B85-A652598EF2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4812ED-F62A-1E83-17EF-324A825A44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本研究提出架構</a:t>
            </a:r>
            <a:r>
              <a:rPr lang="zh-TW" altLang="zh-TW" dirty="0"/>
              <a:t>主要在物流公司的營運限制下進行設計</a:t>
            </a:r>
            <a:r>
              <a:rPr lang="zh-TW" altLang="en-US" dirty="0"/>
              <a:t>，並分為三個階段，分別為店鋪抽取、店鋪分配、支援線規劃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zh-TW" altLang="zh-TW" dirty="0"/>
              <a:t>店鋪抽取階段，從超載主線中選取適當店鋪進行移除</a:t>
            </a:r>
            <a:br>
              <a:rPr lang="en-US" altLang="zh-TW" dirty="0"/>
            </a:br>
            <a:r>
              <a:rPr lang="zh-TW" altLang="zh-TW" dirty="0"/>
              <a:t>店鋪分配階段，決定被抽取店鋪應分配至哪條</a:t>
            </a:r>
            <a:r>
              <a:rPr lang="zh-TW" altLang="en-US" dirty="0"/>
              <a:t>主線以最大化主線配送效率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dirty="0"/>
              <a:t>支援線規劃階段</a:t>
            </a:r>
            <a:r>
              <a:rPr lang="zh-TW" altLang="en-US" dirty="0"/>
              <a:t>，</a:t>
            </a:r>
            <a:r>
              <a:rPr lang="zh-TW" altLang="zh-TW" dirty="0"/>
              <a:t>建構支援線配送路</a:t>
            </a:r>
            <a:r>
              <a:rPr lang="zh-TW" altLang="en-US" dirty="0"/>
              <a:t>線</a:t>
            </a:r>
            <a:r>
              <a:rPr lang="zh-TW" altLang="zh-TW" dirty="0"/>
              <a:t>，以完成整體配送規劃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因為整體配送問題本質上可以視為車輛路徑問題的延伸變體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因此</a:t>
            </a:r>
            <a:r>
              <a:rPr lang="zh-TW" altLang="zh-TW" dirty="0"/>
              <a:t>在介紹</a:t>
            </a:r>
            <a:r>
              <a:rPr lang="zh-TW" altLang="en-US" dirty="0"/>
              <a:t>路由模組各階段</a:t>
            </a:r>
            <a:r>
              <a:rPr lang="zh-TW" altLang="zh-TW" dirty="0"/>
              <a:t>之前，接下來將先說明</a:t>
            </a:r>
            <a:r>
              <a:rPr lang="zh-TW" altLang="en-US" dirty="0"/>
              <a:t>車輛路徑問題</a:t>
            </a:r>
            <a:r>
              <a:rPr lang="zh-TW" altLang="zh-TW" dirty="0"/>
              <a:t>以及相關限制條</a:t>
            </a:r>
            <a:r>
              <a:rPr lang="zh-TW" altLang="en-US" dirty="0"/>
              <a:t>件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79A534-DF38-D149-4D84-71384B761C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019160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72A19-E296-2490-FB38-65E631B10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C288A4-4ED1-2C4F-BB6F-96E923880D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8E23A75-A286-79E6-8C88-7B58897763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VRP </a:t>
            </a:r>
            <a:r>
              <a:rPr lang="zh-TW" altLang="en-US" dirty="0"/>
              <a:t>是組合最佳化與整數規劃領域中的 </a:t>
            </a:r>
            <a:r>
              <a:rPr lang="en-US" altLang="zh-TW" dirty="0"/>
              <a:t>NP-hard </a:t>
            </a:r>
            <a:r>
              <a:rPr lang="zh-TW" altLang="en-US" dirty="0"/>
              <a:t>問題。</a:t>
            </a:r>
            <a:endParaRPr lang="en-US" altLang="zh-TW" dirty="0"/>
          </a:p>
          <a:p>
            <a:r>
              <a:rPr lang="zh-TW" altLang="en-US" dirty="0"/>
              <a:t>其目標是在滿足各項配送限制的前提下，規劃出一組最佳配送路線，使車輛能夠完成所有顧客的配送需求，同時最小化配送成本。</a:t>
            </a:r>
          </a:p>
          <a:p>
            <a:endParaRPr lang="en-US" altLang="zh-TW" dirty="0"/>
          </a:p>
          <a:p>
            <a:r>
              <a:rPr lang="zh-TW" altLang="zh-TW" dirty="0"/>
              <a:t>標準 VRP 中，需要滿足以下幾項基本限制條件</a:t>
            </a:r>
            <a:endParaRPr lang="en-US" altLang="zh-TW" dirty="0"/>
          </a:p>
          <a:p>
            <a:pPr lvl="0"/>
            <a:r>
              <a:rPr lang="zh-TW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每輛車必須從配送中心出發並返回配送中心。</a:t>
            </a:r>
          </a:p>
          <a:p>
            <a:pPr lvl="0"/>
            <a:r>
              <a:rPr lang="zh-TW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每個顧客僅允許被拜訪一次且僅能由一輛車負責配送。</a:t>
            </a:r>
          </a:p>
          <a:p>
            <a:pPr lvl="0"/>
            <a:r>
              <a:rPr lang="zh-TW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每個顧客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的曲球</a:t>
            </a:r>
            <a:r>
              <a:rPr lang="zh-TW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都必須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被滿足</a:t>
            </a:r>
            <a:r>
              <a:rPr lang="zh-TW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D009CE-2EDE-722C-BF90-B33BC5FA8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30555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992-4D24-B6CF-5B08-26DE7FBFB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789354B-3A90-2123-A1DF-CA3465D19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359DD81-AADA-2CA5-6E73-4B4E64576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由於實際物流環境相當複雜，因此 VRP 衍生出許多不同的變體，以符合不同的配送需求。</a:t>
            </a:r>
            <a:endParaRPr lang="en-US" altLang="zh-TW" dirty="0"/>
          </a:p>
          <a:p>
            <a:r>
              <a:rPr lang="en-US" altLang="zh-TW" dirty="0"/>
              <a:t>CVRP</a:t>
            </a:r>
            <a:r>
              <a:rPr lang="zh-TW" altLang="en-US" dirty="0"/>
              <a:t>容量限制車輛途程問題，</a:t>
            </a:r>
            <a:r>
              <a:rPr lang="zh-TW" altLang="zh-TW" dirty="0"/>
              <a:t>除了基本 VRP 條件外，還必須考慮車輛容量限制，確保每輛車所承載的需求量不超過其載重上限</a:t>
            </a:r>
            <a:endParaRPr lang="en-US" altLang="zh-TW" dirty="0"/>
          </a:p>
          <a:p>
            <a:r>
              <a:rPr lang="zh-TW" altLang="zh-TW" dirty="0"/>
              <a:t>VRPTW具時間窗限制的車輛途程問題</a:t>
            </a:r>
            <a:r>
              <a:rPr lang="zh-TW" altLang="en-US" dirty="0"/>
              <a:t>，除了容量限制以外，還</a:t>
            </a:r>
            <a:r>
              <a:rPr lang="zh-TW" altLang="zh-TW" dirty="0"/>
              <a:t>要求車輛必須在顧客指定的時間區間內完成配送服務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本研究所探討的配送問題同時具有車輛容量限制、配送時間窗限制等特性，因此可視為結合 VRPTW </a:t>
            </a:r>
            <a:r>
              <a:rPr lang="zh-TW" altLang="en-US" dirty="0"/>
              <a:t>以及物流公司主線架構</a:t>
            </a:r>
            <a:r>
              <a:rPr lang="zh-TW" altLang="zh-TW" dirty="0"/>
              <a:t>特性</a:t>
            </a:r>
            <a:r>
              <a:rPr lang="zh-TW" altLang="en-US" dirty="0"/>
              <a:t>符合營運限制的</a:t>
            </a:r>
            <a:r>
              <a:rPr lang="zh-TW" altLang="zh-TW" dirty="0"/>
              <a:t>車輛</a:t>
            </a:r>
            <a:r>
              <a:rPr lang="zh-TW" altLang="en-US" dirty="0"/>
              <a:t>路徑</a:t>
            </a:r>
            <a:r>
              <a:rPr lang="zh-TW" altLang="zh-TW" dirty="0"/>
              <a:t>問題。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D36EC1-C688-738E-A346-0D2246E884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715524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634C7-B32B-1397-024A-AF8A75204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C431912-4DC3-B48D-03B0-167A447BB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4B5E9C-2F57-273F-C5CB-3A4D102AC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根據物流公司的營運限制，</a:t>
            </a:r>
            <a:r>
              <a:rPr lang="zh-TW" altLang="zh-TW" dirty="0"/>
              <a:t>本研究所考量之限制如下。</a:t>
            </a:r>
          </a:p>
          <a:p>
            <a:r>
              <a:rPr lang="en-US" altLang="zh-TW" dirty="0"/>
              <a:t>1.</a:t>
            </a:r>
            <a:r>
              <a:rPr lang="zh-TW" altLang="en-US" dirty="0"/>
              <a:t> </a:t>
            </a:r>
            <a:r>
              <a:rPr lang="zh-TW" altLang="zh-TW" dirty="0"/>
              <a:t>原有主線的</a:t>
            </a:r>
            <a:r>
              <a:rPr lang="zh-TW" altLang="en-US" dirty="0"/>
              <a:t>店鋪</a:t>
            </a:r>
            <a:r>
              <a:rPr lang="zh-TW" altLang="zh-TW" dirty="0"/>
              <a:t>服務順序不得變更，以維持既有路線結構的穩定性。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 </a:t>
            </a:r>
            <a:r>
              <a:rPr lang="zh-TW" altLang="zh-TW" dirty="0"/>
              <a:t>將路線調整幅度最小化，以維持原有主線架構的完整性。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3.</a:t>
            </a:r>
            <a:r>
              <a:rPr lang="zh-TW" altLang="en-US" dirty="0"/>
              <a:t> </a:t>
            </a:r>
            <a:r>
              <a:rPr lang="zh-TW" altLang="zh-TW" dirty="0"/>
              <a:t>車輛載重不得超過其容量限制，以確保配送過程中的可行性與安全性。</a:t>
            </a:r>
          </a:p>
          <a:p>
            <a:r>
              <a:rPr lang="en-US" altLang="zh-TW" dirty="0"/>
              <a:t>4.</a:t>
            </a:r>
            <a:r>
              <a:rPr lang="zh-TW" altLang="en-US" dirty="0"/>
              <a:t> </a:t>
            </a:r>
            <a:r>
              <a:rPr lang="zh-TW" altLang="zh-TW" dirty="0"/>
              <a:t>配送時間窗設定為預定時間前一小時至後三十分鐘之內，且不得發生提早或延遲服務的情況。</a:t>
            </a:r>
          </a:p>
          <a:p>
            <a:r>
              <a:rPr lang="en-US" altLang="zh-TW" dirty="0"/>
              <a:t>5.</a:t>
            </a:r>
            <a:r>
              <a:rPr lang="zh-TW" altLang="en-US" dirty="0"/>
              <a:t> </a:t>
            </a:r>
            <a:r>
              <a:rPr lang="zh-TW" altLang="zh-TW" dirty="0"/>
              <a:t>整體配送時間不得超過五小時，以符合實際營運時效需求。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D6CF6FA-E493-2D27-E637-83A74DED6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09785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1A796-99BE-69F8-0FF1-8E8AE0433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7060558-5D27-679F-0281-7FA424DA0A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513C1DB-3122-C002-21CD-F2D6A5A885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本研究的目標函數採用階層式目標的設計</a:t>
            </a:r>
          </a:p>
          <a:p>
            <a:r>
              <a:rPr lang="zh-TW" altLang="en-US" dirty="0"/>
              <a:t>主要目標是最小化支援路線的數量</a:t>
            </a:r>
          </a:p>
          <a:p>
            <a:r>
              <a:rPr lang="zh-TW" altLang="en-US" dirty="0"/>
              <a:t>次要目標是最小化總行駛距離</a:t>
            </a:r>
          </a:p>
          <a:p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734FEB2-2F62-275A-11D6-84B65C6A1F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41576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EB929-D201-1660-716F-AC3983588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4234CCB-E01C-3DD1-A764-677B1165D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A179699-E115-9B12-4521-4760523489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接著介紹路由模組的店鋪抽取階段</a:t>
            </a:r>
            <a:endParaRPr lang="en-US" altLang="zh-TW" dirty="0"/>
          </a:p>
          <a:p>
            <a:r>
              <a:rPr lang="zh-TW" altLang="en-US" dirty="0"/>
              <a:t>店鋪抽取</a:t>
            </a:r>
            <a:r>
              <a:rPr lang="zh-TW" altLang="zh-TW" dirty="0"/>
              <a:t>主要用來解決因需求波動所造成的車輛超載問題</a:t>
            </a:r>
            <a:endParaRPr lang="en-US" altLang="zh-TW" dirty="0"/>
          </a:p>
          <a:p>
            <a:r>
              <a:rPr lang="zh-TW" altLang="zh-TW" dirty="0"/>
              <a:t>透過從超載主路線中選取並移除部分店舖，使</a:t>
            </a:r>
            <a:r>
              <a:rPr lang="zh-TW" altLang="en-US" dirty="0"/>
              <a:t>主</a:t>
            </a:r>
            <a:r>
              <a:rPr lang="zh-TW" altLang="zh-TW" dirty="0"/>
              <a:t>線能符合容量與時間窗限制。</a:t>
            </a:r>
          </a:p>
          <a:p>
            <a:r>
              <a:rPr lang="zh-TW" altLang="zh-TW" dirty="0"/>
              <a:t>為解決此問題，本研究採用</a:t>
            </a:r>
            <a:r>
              <a:rPr lang="zh-TW" altLang="en-US" dirty="0"/>
              <a:t>合作式</a:t>
            </a:r>
            <a:r>
              <a:rPr lang="zh-TW" altLang="zh-TW" dirty="0"/>
              <a:t>共</a:t>
            </a:r>
            <a:r>
              <a:rPr lang="zh-TW" altLang="en-US" dirty="0"/>
              <a:t>同</a:t>
            </a:r>
            <a:r>
              <a:rPr lang="zh-TW" altLang="zh-TW" dirty="0"/>
              <a:t>演化</a:t>
            </a:r>
            <a:r>
              <a:rPr lang="zh-TW" altLang="en-US" dirty="0"/>
              <a:t>基因</a:t>
            </a:r>
            <a:r>
              <a:rPr lang="zh-TW" altLang="zh-TW" dirty="0"/>
              <a:t>演算法（CCGA）</a:t>
            </a:r>
            <a:endParaRPr lang="en-US" altLang="zh-TW" dirty="0"/>
          </a:p>
          <a:p>
            <a:r>
              <a:rPr lang="zh-TW" altLang="zh-TW" dirty="0"/>
              <a:t>其核心概念是將原始問題拆解為多個較小的子問題，並針對每個子問題分別使用</a:t>
            </a:r>
            <a:r>
              <a:rPr lang="zh-TW" altLang="en-US" dirty="0"/>
              <a:t>基因</a:t>
            </a:r>
            <a:r>
              <a:rPr lang="zh-TW" altLang="zh-TW" dirty="0"/>
              <a:t>演算法進行獨立演化搜尋。</a:t>
            </a:r>
          </a:p>
          <a:p>
            <a:r>
              <a:rPr lang="zh-TW" altLang="zh-TW" dirty="0"/>
              <a:t>最後再將各子問題的部分解進行整合，形成完整解，並以整體結果進行評估。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適應值函數分別針對</a:t>
            </a:r>
            <a:r>
              <a:rPr lang="zh-TW" altLang="zh-TW" dirty="0"/>
              <a:t>支援線車輛數量</a:t>
            </a:r>
            <a:r>
              <a:rPr lang="zh-TW" altLang="en-US" dirty="0"/>
              <a:t>及對被抽取店鋪數量</a:t>
            </a:r>
            <a:r>
              <a:rPr lang="zh-TW" altLang="zh-TW" dirty="0"/>
              <a:t>設置獨立的懲罰係數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透過此分解方式，可有效處理店舖抽取問題並提升求解效率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DF1F566-5A5B-9298-ADF7-DB1B24766C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22414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A1659-C291-A4C7-59CB-D8672C77E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19A83FC-8B05-A895-B63E-2F61130F7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F4B9F69-CA43-B58A-F7DB-4513464D18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在候選店舖分配階段，會將候選店舖重新插入至具備剩餘容量的主路線中，以提升路線利用率並減少對支援路線的需求</a:t>
            </a:r>
          </a:p>
          <a:p>
            <a:r>
              <a:rPr lang="zh-TW" altLang="zh-TW" dirty="0"/>
              <a:t>為了解決此問題，本研究採用混合式蟻群最佳化演算法</a:t>
            </a:r>
            <a:endParaRPr lang="en-US" altLang="zh-TW" dirty="0"/>
          </a:p>
          <a:p>
            <a:r>
              <a:rPr lang="zh-TW" altLang="zh-TW" dirty="0"/>
              <a:t>HACO 結合了蟻群最佳化（ACO）與變動鄰域下降法（VND）</a:t>
            </a:r>
          </a:p>
          <a:p>
            <a:r>
              <a:rPr lang="zh-TW" altLang="zh-TW" dirty="0"/>
              <a:t>其中，ACO透過模擬螞蟻之間的費洛蒙傳遞機制來引導搜尋方向建構解</a:t>
            </a:r>
            <a:endParaRPr lang="en-US" altLang="zh-TW" dirty="0"/>
          </a:p>
          <a:p>
            <a:r>
              <a:rPr lang="zh-TW" altLang="zh-TW" dirty="0"/>
              <a:t>而 VND 則透過依序探索多種鄰域結構以跳出局部最佳解提升解品質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C245F9-59BF-0C85-507A-0EA2F6DAB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47399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F9DE1-440C-7FBA-37E9-3934D47C2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200B24E-8190-1C23-0A3A-70E046FA40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B70E49E-8B91-7559-7FE4-47E56933BE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針對無法編排進主路線的店舖，會進行支援線規劃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本研究採用多蟻群系統（</a:t>
            </a:r>
            <a:r>
              <a:rPr lang="en-US" altLang="zh-TW" dirty="0"/>
              <a:t>MACS</a:t>
            </a:r>
            <a:r>
              <a:rPr lang="zh-TW" altLang="en-US" dirty="0"/>
              <a:t>），</a:t>
            </a:r>
            <a:r>
              <a:rPr lang="zh-TW" altLang="zh-TW" dirty="0"/>
              <a:t>由兩個蟻群組成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其中，</a:t>
            </a:r>
            <a:r>
              <a:rPr lang="en-US" altLang="zh-TW" dirty="0"/>
              <a:t>ACS-VEI</a:t>
            </a:r>
            <a:r>
              <a:rPr lang="zh-TW" altLang="zh-TW" dirty="0"/>
              <a:t>負責最小化車輛數量，透過在路線建構過程中提升店舖覆蓋率來減少所需車輛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而 </a:t>
            </a:r>
            <a:r>
              <a:rPr lang="en-US" altLang="zh-TW" dirty="0"/>
              <a:t>ACS-DIST </a:t>
            </a:r>
            <a:r>
              <a:rPr lang="zh-TW" altLang="en-US" dirty="0"/>
              <a:t>則負責最小化總行駛距離，並在解建構完成後結合 </a:t>
            </a:r>
            <a:r>
              <a:rPr lang="en-US" altLang="zh-TW" dirty="0"/>
              <a:t>VND </a:t>
            </a:r>
            <a:r>
              <a:rPr lang="zh-TW" altLang="en-US" dirty="0"/>
              <a:t>進行局部最佳化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3F782B-9695-7503-87B6-50FD5FEE19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51600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8D303-9C7D-E4CC-2300-2935CFB55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A0ABB58-D1DB-6C1C-EB82-E6F7595046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8A538F9-0058-51E6-0A05-959F6B2B9D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接下來介紹本研究評估模組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DF5527-E784-CDC6-BEAC-B85F416EB5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147409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5F1D4-8E75-BE13-974C-8C81B1EE0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71FA09C-E826-F1EB-1EC3-EB4F90312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067EDF0-CE2D-4823-DAE5-EB7307269F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在評估模組中，本研究將編排結果以</a:t>
            </a:r>
            <a:r>
              <a:rPr lang="zh-TW" altLang="zh-TW" dirty="0"/>
              <a:t>地圖式視覺化平台進行呈現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3367C6C-EC52-43CE-3C96-B3A9D4EBD2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930685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6D289-45F1-018B-283C-D5B8EC3AD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5AB63DB-BBBC-1A58-C1E0-788E9944D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750D86-9304-18C2-A772-0DB512DDF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eaLnBrk="1" latinLnBrk="0" hangingPunct="1"/>
            <a:r>
              <a:rPr lang="zh-TW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使用以下指標對所提出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VRP</a:t>
            </a:r>
            <a:r>
              <a:rPr lang="zh-TW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架構進行評估：</a:t>
            </a:r>
            <a:endParaRPr lang="zh-TW" altLang="zh-TW" dirty="0">
              <a:effectLst/>
            </a:endParaRPr>
          </a:p>
          <a:p>
            <a:pPr marL="228600" indent="-228600" rtl="0" eaLnBrk="1" latinLnBrk="0" hangingPunct="1">
              <a:buAutoNum type="arabicPeriod"/>
            </a:pPr>
            <a:r>
              <a:rPr lang="zh-TW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車輛數量（NV），用來表示完成所有配送任務所需的車輛總數。</a:t>
            </a:r>
            <a:endParaRPr lang="en-US" altLang="zh-TW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支援線數量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(SV)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，用來</a:t>
            </a:r>
            <a:r>
              <a:rPr lang="zh-TW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表示完成所有配送任務所需的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支援</a:t>
            </a:r>
            <a:r>
              <a:rPr lang="zh-TW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車輛總數。</a:t>
            </a:r>
            <a:endParaRPr lang="en-US" altLang="zh-TW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總行駛距離（TD），用來衡量所有車輛完成配送任務所需的總距離。</a:t>
            </a:r>
            <a:endParaRPr lang="en-US" altLang="zh-TW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平均裝載率（U），用來評估車輛的載重利用情形。</a:t>
            </a:r>
            <a:endParaRPr lang="en-US" altLang="zh-TW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準點率（O），用來衡量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店鋪</a:t>
            </a:r>
            <a:r>
              <a:rPr lang="zh-TW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配送是否能在時間限制內完成。</a:t>
            </a:r>
            <a:endParaRPr lang="en-US" altLang="zh-TW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執行時間（RT），用來評估演算法產生解的計算效率。</a:t>
            </a:r>
            <a:endParaRPr lang="zh-TW" altLang="zh-TW" dirty="0">
              <a:effectLst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A73CA3-7609-A313-1F6B-F9C694F705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562076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F5C00-B6A4-3ACF-D778-22BAF8836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303197-E67C-AA29-9C78-62D5CAE0E3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7322D6F-37F0-98AA-238C-CB97B1B9C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接著介紹最佳化路線資料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1D59EE-5777-7733-D61F-D47CC11433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117500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54A8C-4E48-6074-44BC-CDE40B3EE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D4B3B4B-2854-C5A6-1419-86DBB3F54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23F1BCE-C6D8-F8CD-1BF9-9C22E086A9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本階段 將</a:t>
            </a:r>
            <a:r>
              <a:rPr lang="zh-TW" altLang="zh-TW" dirty="0"/>
              <a:t>最佳化結果整理</a:t>
            </a:r>
            <a:r>
              <a:rPr lang="zh-TW" altLang="en-US" dirty="0"/>
              <a:t>及</a:t>
            </a:r>
            <a:r>
              <a:rPr lang="zh-TW" altLang="zh-TW" dirty="0"/>
              <a:t>彙整，轉換為</a:t>
            </a:r>
            <a:r>
              <a:rPr lang="zh-TW" altLang="en-US" dirty="0"/>
              <a:t>實際</a:t>
            </a:r>
            <a:r>
              <a:rPr lang="zh-TW" altLang="zh-TW" dirty="0"/>
              <a:t>路線</a:t>
            </a:r>
            <a:r>
              <a:rPr lang="zh-TW" altLang="en-US" dirty="0"/>
              <a:t>，以利後續物流公司來做使用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4953761-9BAB-12E7-97CC-16AC0D973C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372427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2D2E9-0823-2C28-81AD-7C33B0325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85F8B80-CC89-77C0-40E3-867BA3C9AD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7A9057-972D-1966-1710-938AADF1D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接下來介紹本研究的實作與實驗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08366BC-CEA1-A381-07DD-CE987B2A2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154962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DB317-1A8B-820B-CE24-9B9341C89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EE97C2D-D292-E0AF-D8B3-035AC3E69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313B45D-41C9-E7FC-DB40-1106B343CC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首先介紹本研究的實驗環境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23CF027-DE3A-EFFB-DC9F-2A8A27985E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303262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BD77B-7F59-8DF1-3A9F-7E60806F8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12AA378-19BB-880C-F665-60EE0FDAF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FA0D7F7-7DE9-BC18-CD36-6A285A95B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首先介紹本研究合作式共同演化基因演算法之設定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可能會問方法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(</a:t>
            </a:r>
            <a:r>
              <a:rPr lang="zh-TW" altLang="zh-TW" dirty="0"/>
              <a:t>本研究採用田口方法（Taguchi Method）進行參數設計與分析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4EDC8FD-D0DB-B4AE-5718-84C79671EE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36159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ED552-B6D7-D856-5DB3-8CFDC89CB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AB49437-483C-05CF-5605-0B444055D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739BC20-96B7-C74D-D48E-A12B8A7A3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首先介紹本研究混和式蟻群演算法之設定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E06BD06-FFE2-6945-0F65-39A57A044F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7936487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9A7A9-6D93-5F5C-8392-22DD1476A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CCBB4EB-71D8-D95B-AC12-FDDDC6DA6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BCA3F28-97C2-DA2C-B1C5-A49D4F5FE1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首先介紹本研究多蟻群系統之設定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B142502-DEEF-7018-D3C2-8699ED1FF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063576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1ACCA-4DB5-301F-9CB9-FBD4DB31D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A2B0-C747-BA7F-09F4-40AB3A7AF4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78358B0-6E3F-11BB-8BF0-8E6B5F0657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本研究比較所提出</a:t>
            </a:r>
            <a:r>
              <a:rPr lang="zh-TW" altLang="zh-TW" dirty="0"/>
              <a:t>方法</a:t>
            </a:r>
            <a:r>
              <a:rPr lang="zh-TW" altLang="zh-TW" b="1" dirty="0"/>
              <a:t>與</a:t>
            </a:r>
            <a:r>
              <a:rPr lang="zh-TW" altLang="zh-TW" dirty="0"/>
              <a:t>人工規劃的整體配送</a:t>
            </a:r>
            <a:r>
              <a:rPr lang="zh-TW" altLang="en-US" dirty="0"/>
              <a:t>結果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顯示本研究方法能夠在降低整體編排時間的同時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降低 總車輛數量 </a:t>
            </a:r>
            <a:r>
              <a:rPr lang="en-US" altLang="zh-TW" dirty="0"/>
              <a:t>&amp;</a:t>
            </a:r>
            <a:r>
              <a:rPr lang="zh-TW" altLang="en-US" dirty="0"/>
              <a:t> 支援線數量 </a:t>
            </a:r>
            <a:r>
              <a:rPr lang="en-US" altLang="zh-TW" dirty="0"/>
              <a:t>&amp;</a:t>
            </a:r>
            <a:r>
              <a:rPr lang="zh-TW" altLang="en-US" dirty="0"/>
              <a:t> 總行駛距離 </a:t>
            </a:r>
            <a:r>
              <a:rPr lang="en-US" altLang="zh-TW" dirty="0"/>
              <a:t>&amp; </a:t>
            </a:r>
            <a:r>
              <a:rPr lang="zh-TW" altLang="en-US" dirty="0"/>
              <a:t>總行駛時間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並且能夠有效提升平均裝載率及準點率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6E2863-213B-3948-069B-145407C712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483755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A14AA-850A-9997-FDF6-7428D78ED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DD6AA3A-F079-682C-12C0-08F3EA893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4512FB-1035-98C2-7C40-9B71C14A6E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dirty="0"/>
              <a:t>本頁為各測試案例</a:t>
            </a:r>
            <a:r>
              <a:rPr lang="zh-TW" altLang="en-US" dirty="0"/>
              <a:t>中</a:t>
            </a:r>
            <a:r>
              <a:rPr lang="zh-TW" altLang="zh-TW" dirty="0"/>
              <a:t>車輛使用數比較結果</a:t>
            </a:r>
            <a:br>
              <a:rPr lang="en-US" altLang="zh-TW" dirty="0"/>
            </a:br>
            <a:r>
              <a:rPr lang="en-US" altLang="zh-TW" dirty="0"/>
              <a:t>(</a:t>
            </a:r>
            <a:r>
              <a:rPr lang="zh-TW" altLang="en-US" dirty="0"/>
              <a:t>說明線的顏色代表的意義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從圖中可知本研究方法於所有案例皆能夠有效降低整體車輛的需求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38607FD-9405-0620-96E6-688D71DD0E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906030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B6B80-638A-657F-B00B-E0D336B0D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937F307-F38E-37EB-8B80-84BE82B8D4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D5D3911-4428-BF8D-2823-70BF17EAD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dirty="0"/>
              <a:t>本頁為各測試案例</a:t>
            </a:r>
            <a:r>
              <a:rPr lang="zh-TW" altLang="en-US" dirty="0"/>
              <a:t>中行駛距離</a:t>
            </a:r>
            <a:r>
              <a:rPr lang="zh-TW" altLang="zh-TW" dirty="0"/>
              <a:t>比較結果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從圖中可知本研究方法於大部分案例中皆能降低總行駛距離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其中有兩筆資料顯示略差於 物流公司編排的結果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其原因為同時考量車輛數量以及總行駛距離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3C1FC-DA6E-8E12-6850-0FEA8DE18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269986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40C61-25BD-91A1-A17B-76B2E2BCD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24834C2-B3EC-E9A2-6CF5-6E1CFE21F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23D18E-C9A0-561F-8732-B5D197A05C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dirty="0"/>
              <a:t>本頁為各測試案例</a:t>
            </a:r>
            <a:r>
              <a:rPr lang="zh-TW" altLang="en-US" dirty="0"/>
              <a:t>中平均裝載率</a:t>
            </a:r>
            <a:r>
              <a:rPr lang="zh-TW" altLang="zh-TW" dirty="0"/>
              <a:t>比較結果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EF3B2CD-D8D6-E8C9-2730-57AF5FCAFE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44726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2F04B-F934-9ED9-D2F8-8F497722A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431C448-BC01-3F12-A3ED-4C0C537F18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900D42-D3F4-22F5-A185-D8F6BD721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為分析不同方法，本研究針對所提出方法分別針對路由模組中三階段進行消融實驗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分別為將店舖抽取方法改為隨機抽取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店鋪分配中只保留</a:t>
            </a:r>
            <a:r>
              <a:rPr lang="en-US" altLang="zh-TW" dirty="0"/>
              <a:t>ACO</a:t>
            </a:r>
            <a:r>
              <a:rPr lang="zh-TW" altLang="en-US" dirty="0"/>
              <a:t>不使用</a:t>
            </a:r>
            <a:r>
              <a:rPr lang="en-US" altLang="zh-TW" dirty="0"/>
              <a:t>VND</a:t>
            </a:r>
            <a:r>
              <a:rPr lang="zh-TW" altLang="en-US" dirty="0"/>
              <a:t>局部搜尋策略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支援線規劃只保留原有</a:t>
            </a:r>
            <a:r>
              <a:rPr lang="en-US" altLang="zh-TW" dirty="0"/>
              <a:t>MACS</a:t>
            </a:r>
            <a:r>
              <a:rPr lang="zh-TW" altLang="en-US" dirty="0"/>
              <a:t>架構不使用</a:t>
            </a:r>
            <a:r>
              <a:rPr lang="en-US" altLang="zh-TW" dirty="0"/>
              <a:t>VND</a:t>
            </a:r>
            <a:r>
              <a:rPr lang="zh-TW" altLang="en-US" dirty="0"/>
              <a:t>局部搜尋策略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表中可以觀察到本研究所提之方法於各指標皆取得最佳結果。</a:t>
            </a:r>
            <a:br>
              <a:rPr lang="en-US" altLang="zh-TW" dirty="0"/>
            </a:br>
            <a:r>
              <a:rPr lang="zh-TW" altLang="en-US" dirty="0"/>
              <a:t>同時各裝載率及準點率接大致保持相同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64562B9-EB86-04A8-8F70-C8C5ED0F44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16052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03E11-61A2-6569-C728-121FB640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F9CCB07-C914-76B3-4F98-D1056CAFCC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11CFADD-2C0F-3480-AC77-7C0DB5F24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為進一步確認是否有顯著性本研究針對結果進行統計檢定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268D99-197A-298D-767F-3E181FEE19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185728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3CD96-19A2-CAE6-9E92-6C2F2F8EA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D53B305-5D05-3D9F-83D0-B7B1116F1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F651FDF-1F86-F053-1E0A-D064D28216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本研究進一步將所提出之方法與 基準方法 進行比較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以驗證其在標準測試資料上的結果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HGA-SIH</a:t>
            </a:r>
            <a:r>
              <a:rPr lang="zh-TW" altLang="en-US" dirty="0"/>
              <a:t>主要是用來解決具時間窗的車輛路徑問題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此模型結合</a:t>
            </a:r>
            <a:r>
              <a:rPr lang="zh-TW" altLang="zh-TW" dirty="0"/>
              <a:t>所羅門插入啟發式演算法</a:t>
            </a:r>
            <a:r>
              <a:rPr lang="zh-TW" altLang="en-US" dirty="0"/>
              <a:t>與 </a:t>
            </a:r>
            <a:r>
              <a:rPr lang="en-US" altLang="zh-TW" dirty="0"/>
              <a:t>Hybrid Genetic Algorithm</a:t>
            </a:r>
            <a:r>
              <a:rPr lang="zh-TW" altLang="en-US" dirty="0"/>
              <a:t>，利用 </a:t>
            </a:r>
            <a:r>
              <a:rPr lang="en-US" altLang="zh-TW" dirty="0"/>
              <a:t>SIH </a:t>
            </a:r>
            <a:r>
              <a:rPr lang="zh-TW" altLang="en-US" dirty="0"/>
              <a:t>產生高品質初始解，加速收斂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並透過 </a:t>
            </a:r>
            <a:r>
              <a:rPr lang="en-US" altLang="zh-TW" dirty="0"/>
              <a:t>PMX crossover </a:t>
            </a:r>
            <a:r>
              <a:rPr lang="zh-TW" altLang="en-US" dirty="0"/>
              <a:t>與 </a:t>
            </a:r>
            <a:r>
              <a:rPr lang="en-US" altLang="zh-TW" dirty="0"/>
              <a:t>inverse mutation </a:t>
            </a:r>
            <a:r>
              <a:rPr lang="zh-TW" altLang="en-US" dirty="0"/>
              <a:t>提升搜尋能力、避免局部最佳解，以降低整體物流成本。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3D8B48-84E3-5D9A-DF24-F21FF24E96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78933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DACC6-AC19-C30E-6820-FC1996A6E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EFDC2A4-BCAA-E095-22FF-3275CFF00A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9DD570B-2BB5-D003-BB1E-D91F51F5D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dirty="0"/>
              <a:t>本研究進一步將所提出之方法與 VRPTW 相關方法進行比較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dirty="0"/>
              <a:t>以驗證其在標準測試資料上的</a:t>
            </a:r>
            <a:r>
              <a:rPr lang="zh-TW" altLang="en-US" dirty="0"/>
              <a:t>結果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dirty="0"/>
              <a:t>比較結果顯示，本研究方法於 </a:t>
            </a:r>
            <a:r>
              <a:rPr lang="zh-TW" altLang="en-US" dirty="0"/>
              <a:t>多數</a:t>
            </a:r>
            <a:r>
              <a:rPr lang="zh-TW" altLang="zh-TW" dirty="0"/>
              <a:t>類型資料集中皆優於基準方法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F209AEC-C86B-3F52-9CDE-7631675187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761890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8DED-A852-36B9-D349-6D8C0C5D2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9AAEAF-E461-4F3C-F881-4B4B7FF9F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0D530DB-C7A1-C1D2-5865-DBA4654781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接下來是本研究討論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F16008-D0EF-03D6-A6E9-94B2165575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42753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21E34-5DD2-3ADC-1B53-AA3EE393A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8B71356-6047-FAED-7FD9-0D1B6737A3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8FF353C-8789-1D3C-4C89-FAD471FFB3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首先介紹本研究的實驗環境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577934-5507-E974-D1AD-A0DE05B750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776700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49396-5C3E-F4E3-6678-7B93124F5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A4F90EA-0F91-B118-DA16-EA258DB836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40C814E-D669-9013-6F7C-7B018634F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接下來介紹本研究的結論與未來研究方向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81F462A-71CD-8010-063E-BCB927B4C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431580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063B5-5867-FB24-7F0E-5B6A24E2F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DE6DFE-3FCA-9F2D-A6A1-2DF55B99CB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C0A78D7-20DF-63F4-8990-24B0E9778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dirty="0"/>
              <a:t>本研究針對固定主線架構下之物流配送問題，提出一個多階段</a:t>
            </a:r>
            <a:r>
              <a:rPr lang="zh-TW" altLang="en-US" dirty="0"/>
              <a:t>符合營運</a:t>
            </a:r>
            <a:r>
              <a:rPr lang="zh-TW" altLang="zh-TW" dirty="0"/>
              <a:t>限制 VRP</a:t>
            </a:r>
            <a:r>
              <a:rPr lang="zh-TW" altLang="en-US" dirty="0"/>
              <a:t> 的</a:t>
            </a:r>
            <a:r>
              <a:rPr lang="zh-TW" altLang="zh-TW" dirty="0"/>
              <a:t>模型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將問題分解成三個子問題，並且</a:t>
            </a:r>
            <a:r>
              <a:rPr lang="zh-TW" altLang="zh-TW" dirty="0"/>
              <a:t>結合 CCGA、HACO 與 MACS 的混合式最佳化架構</a:t>
            </a:r>
            <a:r>
              <a:rPr lang="zh-TW" altLang="en-US" dirty="0"/>
              <a:t>解決問題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dirty="0"/>
              <a:t>實驗結果顯示，本研究方法在實務資料中，皆能有效提升配送效率，並降低支援線使用需求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A58BFF-24F9-DE08-B11D-23A1DD6AD7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59590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FA125-3886-DA4B-61C9-E97A040C7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CFA92B6-1FEC-1ADF-4F8C-AF74F845E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BEB330C-C401-B4D8-5414-832C144C1E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在問題擴展方面</a:t>
            </a:r>
            <a:endParaRPr lang="en-US" altLang="zh-TW" dirty="0"/>
          </a:p>
          <a:p>
            <a:r>
              <a:rPr lang="zh-TW" altLang="zh-TW" dirty="0"/>
              <a:t>目前研究主要針對物流公司的支援線規劃問題進行探討</a:t>
            </a:r>
            <a:endParaRPr lang="en-US" altLang="zh-TW" dirty="0"/>
          </a:p>
          <a:p>
            <a:r>
              <a:rPr lang="zh-TW" altLang="zh-TW" dirty="0"/>
              <a:t>未來可進一步考慮更複雜的車輛途程問題</a:t>
            </a:r>
            <a:endParaRPr lang="en-US" altLang="zh-TW" dirty="0"/>
          </a:p>
          <a:p>
            <a:r>
              <a:rPr lang="zh-TW" altLang="zh-TW" dirty="0"/>
              <a:t>例如多類型異質車隊車輛途程問題，也就是不同車輛具有不同容量、成本或配送特性的情境</a:t>
            </a:r>
            <a:endParaRPr lang="en-US" altLang="zh-TW" dirty="0"/>
          </a:p>
          <a:p>
            <a:r>
              <a:rPr lang="zh-TW" altLang="zh-TW" dirty="0"/>
              <a:t>此外，也可納入綠色物流</a:t>
            </a:r>
            <a:r>
              <a:rPr lang="zh-TW" altLang="en-US" dirty="0"/>
              <a:t>相關的車輛路徑問題當中</a:t>
            </a:r>
            <a:endParaRPr lang="en-US" altLang="zh-TW" dirty="0"/>
          </a:p>
          <a:p>
            <a:r>
              <a:rPr lang="zh-TW" altLang="zh-TW" dirty="0"/>
              <a:t>例如碳排放量、能源消耗或電動車配送等因素</a:t>
            </a:r>
            <a:endParaRPr lang="en-US" altLang="zh-TW" dirty="0"/>
          </a:p>
          <a:p>
            <a:endParaRPr lang="zh-TW" altLang="zh-TW" dirty="0"/>
          </a:p>
          <a:p>
            <a:r>
              <a:rPr lang="zh-TW" altLang="zh-TW" dirty="0"/>
              <a:t>在方法強化方面</a:t>
            </a:r>
            <a:endParaRPr lang="en-US" altLang="zh-TW" dirty="0"/>
          </a:p>
          <a:p>
            <a:r>
              <a:rPr lang="zh-TW" altLang="zh-TW" dirty="0"/>
              <a:t>未來可進一步整合的人工智慧技術</a:t>
            </a:r>
            <a:endParaRPr lang="en-US" altLang="zh-TW" dirty="0"/>
          </a:p>
          <a:p>
            <a:r>
              <a:rPr lang="zh-TW" altLang="zh-TW" dirty="0"/>
              <a:t>以提升最佳化能力與求解效率</a:t>
            </a:r>
            <a:endParaRPr lang="en-US" altLang="zh-TW" dirty="0"/>
          </a:p>
          <a:p>
            <a:r>
              <a:rPr lang="zh-TW" altLang="zh-TW" dirty="0"/>
              <a:t>例如結合深度學習與強化學習方法，透過資料驅動的方式學習配送決策，進一步提升大規模物流問題的擴展能力、決策品質以及環境適應能力。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08416B-DF2A-C7A8-918B-801F135F90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34DBE-7CC5-4F23-841F-273EC3D50B7F}" type="slidenum">
              <a:rPr lang="zh-TW" altLang="en-US" smtClean="0"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3343814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C1FF8-A54F-35B6-2FCF-978AFDC5E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74FEC18D-32CB-B808-7156-9130E163D0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87E7F8D-11EB-5DE8-7669-9C2E9606BC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我的報告到此結束，謝謝各位口試委員的聆聽。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7935761-A00F-80CE-B28F-172EAB0142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04706DC-D834-4F28-8B12-F5017493D9BA}" type="slidenum">
              <a:rPr lang="zh-TW" altLang="en-US" smtClean="0"/>
              <a:t>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03281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15597C-F572-4A2F-8DB3-4E70DD865481}" type="datetime1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4041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spcBef>
                <a:spcPts val="600"/>
              </a:spcBef>
              <a:spcAft>
                <a:spcPts val="600"/>
              </a:spcAft>
              <a:buClr>
                <a:schemeClr val="accent1">
                  <a:lumMod val="50000"/>
                </a:schemeClr>
              </a:buClr>
              <a:defRPr/>
            </a:lvl3pPr>
          </a:lstStyle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0302E-DE4D-4787-9FB6-0B2A2A238E02}" type="datetime1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7954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B98BF-7504-47B1-8CFB-9D9962CBFE76}" type="datetime1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6271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>
            <a:lvl1pPr>
              <a:defRPr sz="2400"/>
            </a:lvl1pPr>
            <a:lvl2pPr marL="384048" indent="-182880">
              <a:buFont typeface="Wingdings" panose="05000000000000000000" pitchFamily="2" charset="2"/>
              <a:buChar char="Ø"/>
              <a:defRPr/>
            </a:lvl2pPr>
            <a:lvl3pPr marL="566928" indent="-182880">
              <a:buFont typeface="Wingdings" panose="05000000000000000000" pitchFamily="2" charset="2"/>
              <a:buChar char="l"/>
              <a:defRPr/>
            </a:lvl3pPr>
          </a:lstStyle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B217-F04C-499F-B3C3-2495ADA884A1}" type="datetime1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7762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589430-20CC-4CB6-8099-6D6F8AD9126B}" type="datetime1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5966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4F23A-ADA9-4B81-BA25-B90A125A7E29}" type="datetime1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3415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358DE-BAB7-43C6-B230-87048C96B64C}" type="datetime1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3399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B69258C-861B-4A67-93B0-E5B8B2157AFE}" type="datetime1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AC25633-CB68-4D6B-BEE8-1444068957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3556276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9258C-861B-4A67-93B0-E5B8B2157AFE}" type="datetime1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0032295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B4937-A29C-4193-9DD1-4AB39B0FC9A5}" type="datetime1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9823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B3EA8-8FA6-47FB-B4CB-5B3095828625}" type="datetime1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3738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6B69258C-861B-4A67-93B0-E5B8B2157AFE}" type="datetime1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AC25633-CB68-4D6B-BEE8-144406895708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3092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>
            <a:lumMod val="50000"/>
          </a:schemeClr>
        </a:buClr>
        <a:buFont typeface="Wingdings" panose="05000000000000000000" pitchFamily="2" charset="2"/>
        <a:buChar char="Ø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l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98A351-EA25-436B-B36F-4AF45C795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793" y="2008972"/>
            <a:ext cx="11221374" cy="1750588"/>
          </a:xfrm>
        </p:spPr>
        <p:txBody>
          <a:bodyPr>
            <a:noAutofit/>
          </a:bodyPr>
          <a:lstStyle/>
          <a:p>
            <a:pPr algn="ctr"/>
            <a:r>
              <a:rPr lang="en-US" altLang="zh-TW" sz="4800" b="1" dirty="0"/>
              <a:t>Multi-Stage Optimization for Supporting Lines in Logistics Companies</a:t>
            </a:r>
            <a:endParaRPr lang="zh-TW" altLang="en-US" sz="4800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65AAC20-28EE-4213-A766-FE6752F72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pPr algn="ctr"/>
            <a:r>
              <a:rPr lang="en-US" altLang="zh-TW" sz="4800" dirty="0"/>
              <a:t>Student: HONG-JIE, YANG</a:t>
            </a:r>
          </a:p>
          <a:p>
            <a:pPr algn="ctr"/>
            <a:r>
              <a:rPr lang="en-US" altLang="zh-TW" sz="4800" dirty="0"/>
              <a:t>Advisor: Jong-</a:t>
            </a:r>
            <a:r>
              <a:rPr lang="en-US" altLang="zh-TW" sz="4800" dirty="0" err="1"/>
              <a:t>Yih</a:t>
            </a:r>
            <a:r>
              <a:rPr lang="en-US" altLang="zh-TW" sz="4800" dirty="0"/>
              <a:t> </a:t>
            </a:r>
            <a:r>
              <a:rPr lang="en-US" altLang="zh-TW" sz="4800" dirty="0" err="1"/>
              <a:t>Kuo</a:t>
            </a:r>
            <a:r>
              <a:rPr lang="en-US" altLang="zh-TW" sz="4800" dirty="0"/>
              <a:t>, </a:t>
            </a:r>
            <a:r>
              <a:rPr lang="en-US" altLang="zh-TW" sz="4800" dirty="0" err="1"/>
              <a:t>Ph.D</a:t>
            </a:r>
            <a:r>
              <a:rPr lang="en-US" altLang="zh-TW" sz="4800" dirty="0"/>
              <a:t>, Shih-Hao Chang PH. D</a:t>
            </a:r>
          </a:p>
          <a:p>
            <a:pPr algn="ctr"/>
            <a:r>
              <a:rPr lang="en-US" altLang="zh-TW" sz="4800" dirty="0"/>
              <a:t>Computer Science and Information Engineering</a:t>
            </a:r>
          </a:p>
          <a:p>
            <a:pPr algn="ctr"/>
            <a:r>
              <a:rPr lang="en-US" altLang="zh-TW" sz="4800" dirty="0"/>
              <a:t>National Taipei University of Technology</a:t>
            </a:r>
          </a:p>
          <a:p>
            <a:pPr algn="ctr"/>
            <a:r>
              <a:rPr lang="en-US" altLang="zh-TW" sz="4800" dirty="0"/>
              <a:t>2026/06/14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9DE4A7-02C9-437F-8E5D-A0C80B45D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4137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6ED77C9-E9AE-4295-A29B-C5B04C6C0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3B7F4D-32A3-41E9-BD73-E34204462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/>
              <a:t>Motivation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/>
              <a:t>The proposed approach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/>
              <a:t>Experiment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/>
              <a:t>Discussion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/>
              <a:t>Conclusion &amp; Future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3E75BF-F0EA-4036-BF71-34C7F6974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86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6ED77C9-E9AE-4295-A29B-C5B04C6C0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3B7F4D-32A3-41E9-BD73-E34204462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/>
              <a:t>Motivation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The proposed approach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Experiment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Discussion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Conclusion &amp; Future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3E75BF-F0EA-4036-BF71-34C7F6974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5974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23D1BB-6D12-4C72-81FB-7062B86D2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Motivation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3F0BA10-9BD8-44CF-8049-9A706AE1D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492922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altLang="zh-TW" dirty="0"/>
              <a:t>Logistics distribution demand is continuously increasing</a:t>
            </a:r>
          </a:p>
          <a:p>
            <a:pPr marL="395478" lvl="1" indent="-285750">
              <a:buFont typeface="Arial" panose="020B0604020202020204" pitchFamily="34" charset="0"/>
              <a:buChar char="•"/>
            </a:pPr>
            <a:r>
              <a:rPr lang="zh-TW" altLang="zh-TW" dirty="0"/>
              <a:t>Growth of logistics and e-commerce increases delivery complexit</a:t>
            </a:r>
            <a:r>
              <a:rPr lang="en-US" altLang="zh-TW" dirty="0"/>
              <a:t>y</a:t>
            </a:r>
          </a:p>
          <a:p>
            <a:pPr marL="395478" lvl="1" indent="-285750">
              <a:buFont typeface="Arial" panose="020B0604020202020204" pitchFamily="34" charset="0"/>
              <a:buChar char="•"/>
            </a:pPr>
            <a:r>
              <a:rPr lang="zh-TW" altLang="zh-TW" dirty="0"/>
              <a:t>Efficient route planning is </a:t>
            </a:r>
            <a:r>
              <a:rPr lang="en-US" altLang="zh-TW" dirty="0"/>
              <a:t>critical</a:t>
            </a:r>
            <a:r>
              <a:rPr lang="zh-TW" altLang="zh-TW" dirty="0"/>
              <a:t> for reducing operational cost</a:t>
            </a:r>
            <a:r>
              <a:rPr lang="en-US" altLang="zh-TW" dirty="0"/>
              <a:t>s</a:t>
            </a:r>
          </a:p>
          <a:p>
            <a:pPr marL="109728" lvl="1" indent="0">
              <a:buNone/>
            </a:pPr>
            <a:endParaRPr lang="en-US" altLang="zh-TW" dirty="0"/>
          </a:p>
          <a:p>
            <a:pPr>
              <a:buFont typeface="Wingdings" panose="05000000000000000000" pitchFamily="2" charset="2"/>
              <a:buChar char="Ø"/>
            </a:pPr>
            <a:r>
              <a:rPr lang="zh-TW" altLang="zh-TW" dirty="0"/>
              <a:t>Real-world logistics operations differ from </a:t>
            </a:r>
            <a:r>
              <a:rPr lang="en-US" altLang="zh-TW" dirty="0"/>
              <a:t>Vehicle Routing Problem (</a:t>
            </a:r>
            <a:r>
              <a:rPr lang="zh-TW" altLang="zh-TW" dirty="0"/>
              <a:t>VRP</a:t>
            </a:r>
            <a:r>
              <a:rPr lang="en-US" altLang="zh-TW" dirty="0"/>
              <a:t>) models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zh-TW" altLang="zh-TW" dirty="0"/>
              <a:t>Fixed-route structures and service restrictions are rarely considered</a:t>
            </a:r>
            <a:r>
              <a:rPr lang="en-US" altLang="zh-TW" dirty="0"/>
              <a:t> in VRP studies</a:t>
            </a:r>
          </a:p>
          <a:p>
            <a:pPr marL="201168" lvl="1" indent="0">
              <a:buNone/>
            </a:pPr>
            <a:endParaRPr lang="en-US" altLang="zh-TW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dirty="0"/>
              <a:t>Route planning is performed manually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zh-TW" altLang="zh-TW" dirty="0"/>
              <a:t>Route planning is a time-consuming</a:t>
            </a:r>
            <a:endParaRPr lang="en-US" altLang="zh-TW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/>
              <a:t>Route planning is highly dependent on human experience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BCC8382-3E42-4175-A9E0-F9F79B835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2867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6ED77C9-E9AE-4295-A29B-C5B04C6C0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3B7F4D-32A3-41E9-BD73-E34204462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Motivation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/>
              <a:t>The proposed approach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Experiment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Discussion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Conclusion &amp; Future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3E75BF-F0EA-4036-BF71-34C7F6974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4705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25F604-5187-444F-BBAA-92953D6FC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The proposed approach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3F3023D-8FAB-45FA-9088-07342E8DD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10350533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dirty="0"/>
              <a:t>Multi-stage Operationally Constrained VRP Framework composed of four main modules</a:t>
            </a:r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en-US" altLang="zh-TW" dirty="0"/>
              <a:t>API Module</a:t>
            </a:r>
          </a:p>
          <a:p>
            <a:pPr marL="749808" lvl="1" indent="-457200"/>
            <a:r>
              <a:rPr lang="zh-TW" altLang="zh-TW" dirty="0"/>
              <a:t>Provide distance and travel-time data through </a:t>
            </a:r>
            <a:r>
              <a:rPr lang="en-US" altLang="zh-TW" dirty="0"/>
              <a:t>Open Source Routing Machine (OSRM)</a:t>
            </a:r>
            <a:r>
              <a:rPr lang="zh-TW" altLang="zh-TW" dirty="0"/>
              <a:t> and Routes API</a:t>
            </a:r>
            <a:endParaRPr lang="en-US" altLang="zh-TW" dirty="0"/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en-US" altLang="zh-TW" dirty="0"/>
              <a:t>Data Module</a:t>
            </a:r>
          </a:p>
          <a:p>
            <a:pPr marL="749808" lvl="1" indent="-457200"/>
            <a:r>
              <a:rPr lang="zh-TW" altLang="zh-TW" dirty="0"/>
              <a:t>Preprocess raw routing data for route planning</a:t>
            </a:r>
            <a:endParaRPr lang="en-US" altLang="zh-TW" dirty="0"/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en-US" altLang="zh-TW" dirty="0"/>
              <a:t>Routing Module</a:t>
            </a:r>
          </a:p>
          <a:p>
            <a:pPr marL="749808" lvl="1" indent="-457200"/>
            <a:r>
              <a:rPr lang="en-US" altLang="zh-TW" dirty="0"/>
              <a:t>Perform store extraction, assignment, and support route planning under operational constraints</a:t>
            </a:r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en-US" altLang="zh-TW" dirty="0"/>
              <a:t>Evaluation Module</a:t>
            </a:r>
          </a:p>
          <a:p>
            <a:pPr marL="749808" lvl="1" indent="-457200"/>
            <a:r>
              <a:rPr lang="en-US" altLang="zh-TW" dirty="0"/>
              <a:t>Provide route visualization and performance evaluation using multiple routing metrics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0DAC88-58ED-4794-BEB6-6B1FAFD1C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22485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23D1BB-6D12-4C72-81FB-7062B86D2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The proposed approach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4BCDA3-19D4-4822-9389-695E95BCE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172" name="矩形 171">
            <a:extLst>
              <a:ext uri="{FF2B5EF4-FFF2-40B4-BE49-F238E27FC236}">
                <a16:creationId xmlns:a16="http://schemas.microsoft.com/office/drawing/2014/main" id="{9D69D38C-44A0-14DE-E1EA-D315DBF6C776}"/>
              </a:ext>
            </a:extLst>
          </p:cNvPr>
          <p:cNvSpPr/>
          <p:nvPr/>
        </p:nvSpPr>
        <p:spPr>
          <a:xfrm>
            <a:off x="2207260" y="3713020"/>
            <a:ext cx="1372770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3" name="矩形 172">
            <a:extLst>
              <a:ext uri="{FF2B5EF4-FFF2-40B4-BE49-F238E27FC236}">
                <a16:creationId xmlns:a16="http://schemas.microsoft.com/office/drawing/2014/main" id="{8E71A7A6-572D-3CDA-988F-CE3694C9990E}"/>
              </a:ext>
            </a:extLst>
          </p:cNvPr>
          <p:cNvSpPr/>
          <p:nvPr/>
        </p:nvSpPr>
        <p:spPr>
          <a:xfrm>
            <a:off x="2416093" y="3971496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50" dirty="0">
                <a:solidFill>
                  <a:schemeClr val="tx1"/>
                </a:solidFill>
              </a:rPr>
              <a:t>Data Preprocessing</a:t>
            </a:r>
            <a:endParaRPr lang="zh-TW" altLang="en-US" sz="1050" dirty="0">
              <a:solidFill>
                <a:schemeClr val="tx1"/>
              </a:solidFill>
            </a:endParaRPr>
          </a:p>
        </p:txBody>
      </p:sp>
      <p:sp>
        <p:nvSpPr>
          <p:cNvPr id="174" name="矩形 173">
            <a:extLst>
              <a:ext uri="{FF2B5EF4-FFF2-40B4-BE49-F238E27FC236}">
                <a16:creationId xmlns:a16="http://schemas.microsoft.com/office/drawing/2014/main" id="{D69977D4-7D5B-75F1-0F12-CCDAB92D70C6}"/>
              </a:ext>
            </a:extLst>
          </p:cNvPr>
          <p:cNvSpPr/>
          <p:nvPr/>
        </p:nvSpPr>
        <p:spPr>
          <a:xfrm>
            <a:off x="4032406" y="3971495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Store Extraction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175" name="矩形 174">
            <a:extLst>
              <a:ext uri="{FF2B5EF4-FFF2-40B4-BE49-F238E27FC236}">
                <a16:creationId xmlns:a16="http://schemas.microsoft.com/office/drawing/2014/main" id="{EAFC525D-25CD-B081-3B05-E329107B02BF}"/>
              </a:ext>
            </a:extLst>
          </p:cNvPr>
          <p:cNvSpPr/>
          <p:nvPr/>
        </p:nvSpPr>
        <p:spPr>
          <a:xfrm>
            <a:off x="5416858" y="3973089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Store Assignment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66F1F7C1-F5D7-5FA0-113A-7E32F3B92E42}"/>
              </a:ext>
            </a:extLst>
          </p:cNvPr>
          <p:cNvSpPr/>
          <p:nvPr/>
        </p:nvSpPr>
        <p:spPr>
          <a:xfrm>
            <a:off x="8546197" y="3978422"/>
            <a:ext cx="971297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Performance Evaluation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177" name="矩形 176">
            <a:extLst>
              <a:ext uri="{FF2B5EF4-FFF2-40B4-BE49-F238E27FC236}">
                <a16:creationId xmlns:a16="http://schemas.microsoft.com/office/drawing/2014/main" id="{6CA444DA-B87E-929F-C983-8D83E00EA694}"/>
              </a:ext>
            </a:extLst>
          </p:cNvPr>
          <p:cNvSpPr/>
          <p:nvPr/>
        </p:nvSpPr>
        <p:spPr>
          <a:xfrm>
            <a:off x="5394947" y="2488190"/>
            <a:ext cx="971297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Google Maps Routes API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178" name="矩形 177">
            <a:extLst>
              <a:ext uri="{FF2B5EF4-FFF2-40B4-BE49-F238E27FC236}">
                <a16:creationId xmlns:a16="http://schemas.microsoft.com/office/drawing/2014/main" id="{BF6D9718-6BF4-F6A9-C9FA-C51CD2C5BC6E}"/>
              </a:ext>
            </a:extLst>
          </p:cNvPr>
          <p:cNvSpPr/>
          <p:nvPr/>
        </p:nvSpPr>
        <p:spPr>
          <a:xfrm>
            <a:off x="4029382" y="2483833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OSRM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A3C18F4-EFB4-1E80-265A-CF190E40F26C}"/>
              </a:ext>
            </a:extLst>
          </p:cNvPr>
          <p:cNvCxnSpPr>
            <a:cxnSpLocks/>
            <a:endCxn id="173" idx="1"/>
          </p:cNvCxnSpPr>
          <p:nvPr/>
        </p:nvCxnSpPr>
        <p:spPr>
          <a:xfrm flipV="1">
            <a:off x="1637714" y="4238267"/>
            <a:ext cx="77837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線單箭頭接點 179">
            <a:extLst>
              <a:ext uri="{FF2B5EF4-FFF2-40B4-BE49-F238E27FC236}">
                <a16:creationId xmlns:a16="http://schemas.microsoft.com/office/drawing/2014/main" id="{8251C3D4-530D-E3B1-48F1-1C959DC59BFB}"/>
              </a:ext>
            </a:extLst>
          </p:cNvPr>
          <p:cNvCxnSpPr>
            <a:cxnSpLocks/>
            <a:stCxn id="176" idx="3"/>
          </p:cNvCxnSpPr>
          <p:nvPr/>
        </p:nvCxnSpPr>
        <p:spPr>
          <a:xfrm flipV="1">
            <a:off x="9517494" y="4242191"/>
            <a:ext cx="754355" cy="30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文字方塊 180">
            <a:extLst>
              <a:ext uri="{FF2B5EF4-FFF2-40B4-BE49-F238E27FC236}">
                <a16:creationId xmlns:a16="http://schemas.microsoft.com/office/drawing/2014/main" id="{E8F55DD7-6C66-2FD7-7AF1-FC92EE6CB5D0}"/>
              </a:ext>
            </a:extLst>
          </p:cNvPr>
          <p:cNvSpPr txBox="1"/>
          <p:nvPr/>
        </p:nvSpPr>
        <p:spPr>
          <a:xfrm>
            <a:off x="2352890" y="4642440"/>
            <a:ext cx="11019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Data Module</a:t>
            </a:r>
            <a:endParaRPr lang="zh-TW" altLang="en-US" sz="1000" dirty="0"/>
          </a:p>
        </p:txBody>
      </p: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10930DB9-9129-F325-4DD2-092A349452E6}"/>
              </a:ext>
            </a:extLst>
          </p:cNvPr>
          <p:cNvCxnSpPr>
            <a:cxnSpLocks/>
            <a:stCxn id="173" idx="3"/>
            <a:endCxn id="174" idx="1"/>
          </p:cNvCxnSpPr>
          <p:nvPr/>
        </p:nvCxnSpPr>
        <p:spPr>
          <a:xfrm flipV="1">
            <a:off x="3389482" y="4238266"/>
            <a:ext cx="6429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直線單箭頭接點 182">
            <a:extLst>
              <a:ext uri="{FF2B5EF4-FFF2-40B4-BE49-F238E27FC236}">
                <a16:creationId xmlns:a16="http://schemas.microsoft.com/office/drawing/2014/main" id="{06538F09-9AB6-7CE9-55AA-07842A0BF988}"/>
              </a:ext>
            </a:extLst>
          </p:cNvPr>
          <p:cNvCxnSpPr>
            <a:cxnSpLocks/>
            <a:stCxn id="174" idx="3"/>
            <a:endCxn id="175" idx="1"/>
          </p:cNvCxnSpPr>
          <p:nvPr/>
        </p:nvCxnSpPr>
        <p:spPr>
          <a:xfrm>
            <a:off x="5005795" y="4238266"/>
            <a:ext cx="411063" cy="15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矩形 183">
            <a:extLst>
              <a:ext uri="{FF2B5EF4-FFF2-40B4-BE49-F238E27FC236}">
                <a16:creationId xmlns:a16="http://schemas.microsoft.com/office/drawing/2014/main" id="{6AA396CE-99DA-E3D5-0565-85AA2A15ACAF}"/>
              </a:ext>
            </a:extLst>
          </p:cNvPr>
          <p:cNvSpPr/>
          <p:nvPr/>
        </p:nvSpPr>
        <p:spPr>
          <a:xfrm>
            <a:off x="8350917" y="3727824"/>
            <a:ext cx="1372770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673AC6C1-9D38-9289-76F6-86C70A399375}"/>
              </a:ext>
            </a:extLst>
          </p:cNvPr>
          <p:cNvSpPr/>
          <p:nvPr/>
        </p:nvSpPr>
        <p:spPr>
          <a:xfrm>
            <a:off x="3814907" y="3713020"/>
            <a:ext cx="4144530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6" name="文字方塊 185">
            <a:extLst>
              <a:ext uri="{FF2B5EF4-FFF2-40B4-BE49-F238E27FC236}">
                <a16:creationId xmlns:a16="http://schemas.microsoft.com/office/drawing/2014/main" id="{5BCC180E-59BB-ED92-DDCB-599EDA1DE7C6}"/>
              </a:ext>
            </a:extLst>
          </p:cNvPr>
          <p:cNvSpPr txBox="1"/>
          <p:nvPr/>
        </p:nvSpPr>
        <p:spPr>
          <a:xfrm>
            <a:off x="3845719" y="4642440"/>
            <a:ext cx="424900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Routing Module</a:t>
            </a:r>
            <a:endParaRPr lang="zh-TW" altLang="en-US" sz="1000" dirty="0"/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3786ECA4-8B90-411B-6160-C70F7FBED422}"/>
              </a:ext>
            </a:extLst>
          </p:cNvPr>
          <p:cNvSpPr/>
          <p:nvPr/>
        </p:nvSpPr>
        <p:spPr>
          <a:xfrm>
            <a:off x="6784509" y="3977014"/>
            <a:ext cx="969210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Support Route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Planning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188" name="直線單箭頭接點 187">
            <a:extLst>
              <a:ext uri="{FF2B5EF4-FFF2-40B4-BE49-F238E27FC236}">
                <a16:creationId xmlns:a16="http://schemas.microsoft.com/office/drawing/2014/main" id="{33691792-869A-FD61-6A37-8C1D38401A2B}"/>
              </a:ext>
            </a:extLst>
          </p:cNvPr>
          <p:cNvCxnSpPr>
            <a:cxnSpLocks/>
            <a:stCxn id="175" idx="3"/>
            <a:endCxn id="187" idx="1"/>
          </p:cNvCxnSpPr>
          <p:nvPr/>
        </p:nvCxnSpPr>
        <p:spPr>
          <a:xfrm>
            <a:off x="6390247" y="4239860"/>
            <a:ext cx="394262" cy="39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文字方塊 188">
            <a:extLst>
              <a:ext uri="{FF2B5EF4-FFF2-40B4-BE49-F238E27FC236}">
                <a16:creationId xmlns:a16="http://schemas.microsoft.com/office/drawing/2014/main" id="{528B902F-5983-DAB6-8CD4-D16446BBB166}"/>
              </a:ext>
            </a:extLst>
          </p:cNvPr>
          <p:cNvSpPr txBox="1"/>
          <p:nvPr/>
        </p:nvSpPr>
        <p:spPr>
          <a:xfrm>
            <a:off x="8355648" y="4641210"/>
            <a:ext cx="136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Evaluation Module</a:t>
            </a:r>
            <a:endParaRPr lang="zh-TW" altLang="en-US" sz="1000" dirty="0"/>
          </a:p>
        </p:txBody>
      </p:sp>
      <p:sp>
        <p:nvSpPr>
          <p:cNvPr id="190" name="矩形 189">
            <a:extLst>
              <a:ext uri="{FF2B5EF4-FFF2-40B4-BE49-F238E27FC236}">
                <a16:creationId xmlns:a16="http://schemas.microsoft.com/office/drawing/2014/main" id="{48571EB6-1E29-0A1A-C34D-143A761FA26F}"/>
              </a:ext>
            </a:extLst>
          </p:cNvPr>
          <p:cNvSpPr/>
          <p:nvPr/>
        </p:nvSpPr>
        <p:spPr>
          <a:xfrm>
            <a:off x="3814907" y="2221202"/>
            <a:ext cx="2757055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DECD945B-ECFB-58B7-6987-95518587A91A}"/>
              </a:ext>
            </a:extLst>
          </p:cNvPr>
          <p:cNvSpPr txBox="1"/>
          <p:nvPr/>
        </p:nvSpPr>
        <p:spPr>
          <a:xfrm>
            <a:off x="3814907" y="3150622"/>
            <a:ext cx="27570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API Module</a:t>
            </a:r>
            <a:endParaRPr lang="zh-TW" altLang="en-US" sz="1000" dirty="0"/>
          </a:p>
        </p:txBody>
      </p:sp>
      <p:cxnSp>
        <p:nvCxnSpPr>
          <p:cNvPr id="192" name="接點: 肘形 191">
            <a:extLst>
              <a:ext uri="{FF2B5EF4-FFF2-40B4-BE49-F238E27FC236}">
                <a16:creationId xmlns:a16="http://schemas.microsoft.com/office/drawing/2014/main" id="{671B1BB2-48FF-E726-9979-A55001841824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743068" y="2690702"/>
            <a:ext cx="1342991" cy="1229635"/>
          </a:xfrm>
          <a:prstGeom prst="bentConnector3">
            <a:avLst>
              <a:gd name="adj1" fmla="val 10000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接點: 肘形 192">
            <a:extLst>
              <a:ext uri="{FF2B5EF4-FFF2-40B4-BE49-F238E27FC236}">
                <a16:creationId xmlns:a16="http://schemas.microsoft.com/office/drawing/2014/main" id="{88F97789-B714-CFA8-DF3E-556F2A297133}"/>
              </a:ext>
            </a:extLst>
          </p:cNvPr>
          <p:cNvCxnSpPr>
            <a:cxnSpLocks/>
          </p:cNvCxnSpPr>
          <p:nvPr/>
        </p:nvCxnSpPr>
        <p:spPr>
          <a:xfrm rot="5400000">
            <a:off x="2990892" y="2931332"/>
            <a:ext cx="1106015" cy="970965"/>
          </a:xfrm>
          <a:prstGeom prst="bentConnector3">
            <a:avLst>
              <a:gd name="adj1" fmla="val 26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流程圖: 磁碟 194">
            <a:extLst>
              <a:ext uri="{FF2B5EF4-FFF2-40B4-BE49-F238E27FC236}">
                <a16:creationId xmlns:a16="http://schemas.microsoft.com/office/drawing/2014/main" id="{D0B2F0AB-6326-F82A-A214-76CCC7BADA54}"/>
              </a:ext>
            </a:extLst>
          </p:cNvPr>
          <p:cNvSpPr/>
          <p:nvPr/>
        </p:nvSpPr>
        <p:spPr>
          <a:xfrm>
            <a:off x="10264923" y="3823855"/>
            <a:ext cx="792480" cy="896431"/>
          </a:xfrm>
          <a:prstGeom prst="flowChartMagneticDisk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dirty="0"/>
          </a:p>
        </p:txBody>
      </p:sp>
      <p:sp>
        <p:nvSpPr>
          <p:cNvPr id="197" name="流程圖: 磁碟 196">
            <a:extLst>
              <a:ext uri="{FF2B5EF4-FFF2-40B4-BE49-F238E27FC236}">
                <a16:creationId xmlns:a16="http://schemas.microsoft.com/office/drawing/2014/main" id="{C19FFD95-30B9-BF1D-8B12-7F1F0F0859D9}"/>
              </a:ext>
            </a:extLst>
          </p:cNvPr>
          <p:cNvSpPr/>
          <p:nvPr/>
        </p:nvSpPr>
        <p:spPr>
          <a:xfrm>
            <a:off x="901102" y="3823855"/>
            <a:ext cx="792480" cy="896431"/>
          </a:xfrm>
          <a:prstGeom prst="flowChartMagneticDisk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dirty="0"/>
          </a:p>
        </p:txBody>
      </p:sp>
      <p:sp>
        <p:nvSpPr>
          <p:cNvPr id="201" name="文字方塊 8">
            <a:extLst>
              <a:ext uri="{FF2B5EF4-FFF2-40B4-BE49-F238E27FC236}">
                <a16:creationId xmlns:a16="http://schemas.microsoft.com/office/drawing/2014/main" id="{D38F179D-C93A-F49D-80D3-D90579D0558E}"/>
              </a:ext>
            </a:extLst>
          </p:cNvPr>
          <p:cNvSpPr txBox="1"/>
          <p:nvPr/>
        </p:nvSpPr>
        <p:spPr>
          <a:xfrm>
            <a:off x="10271847" y="4115510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Optimized</a:t>
            </a:r>
            <a:endParaRPr lang="zh-TW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02" name="文字方塊 8">
            <a:extLst>
              <a:ext uri="{FF2B5EF4-FFF2-40B4-BE49-F238E27FC236}">
                <a16:creationId xmlns:a16="http://schemas.microsoft.com/office/drawing/2014/main" id="{A0444FB2-FEBE-7883-C0AA-74EA17B7BD8A}"/>
              </a:ext>
            </a:extLst>
          </p:cNvPr>
          <p:cNvSpPr txBox="1"/>
          <p:nvPr/>
        </p:nvSpPr>
        <p:spPr>
          <a:xfrm>
            <a:off x="10278774" y="4288508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Route Data</a:t>
            </a:r>
            <a:endParaRPr 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cxnSp>
        <p:nvCxnSpPr>
          <p:cNvPr id="203" name="直線單箭頭接點 202">
            <a:extLst>
              <a:ext uri="{FF2B5EF4-FFF2-40B4-BE49-F238E27FC236}">
                <a16:creationId xmlns:a16="http://schemas.microsoft.com/office/drawing/2014/main" id="{FDA3CF09-A957-D659-C7C4-AFBA9CE987E6}"/>
              </a:ext>
            </a:extLst>
          </p:cNvPr>
          <p:cNvCxnSpPr>
            <a:cxnSpLocks/>
            <a:stCxn id="187" idx="3"/>
            <a:endCxn id="176" idx="1"/>
          </p:cNvCxnSpPr>
          <p:nvPr/>
        </p:nvCxnSpPr>
        <p:spPr>
          <a:xfrm>
            <a:off x="7753719" y="4243785"/>
            <a:ext cx="792478" cy="1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接點: 肘形 204">
            <a:extLst>
              <a:ext uri="{FF2B5EF4-FFF2-40B4-BE49-F238E27FC236}">
                <a16:creationId xmlns:a16="http://schemas.microsoft.com/office/drawing/2014/main" id="{C56053C4-9DFD-1BB4-540D-3EFB513B48A4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16892" y="2796745"/>
            <a:ext cx="1339501" cy="1023856"/>
          </a:xfrm>
          <a:prstGeom prst="bentConnector3">
            <a:avLst>
              <a:gd name="adj1" fmla="val -16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接點: 肘形 205">
            <a:extLst>
              <a:ext uri="{FF2B5EF4-FFF2-40B4-BE49-F238E27FC236}">
                <a16:creationId xmlns:a16="http://schemas.microsoft.com/office/drawing/2014/main" id="{BE174483-93A4-CC5D-C1D4-EEFFA8641E2A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10910" y="3031511"/>
            <a:ext cx="1103789" cy="776180"/>
          </a:xfrm>
          <a:prstGeom prst="bentConnector3">
            <a:avLst>
              <a:gd name="adj1" fmla="val 10005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BB972648-97FF-E8C8-9E25-A7DE60B97E90}"/>
              </a:ext>
            </a:extLst>
          </p:cNvPr>
          <p:cNvCxnSpPr>
            <a:cxnSpLocks/>
          </p:cNvCxnSpPr>
          <p:nvPr/>
        </p:nvCxnSpPr>
        <p:spPr>
          <a:xfrm flipH="1" flipV="1">
            <a:off x="5780821" y="3021731"/>
            <a:ext cx="1043" cy="955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A3A2E296-B4C0-37A0-ABF4-81088E069F5F}"/>
              </a:ext>
            </a:extLst>
          </p:cNvPr>
          <p:cNvCxnSpPr>
            <a:cxnSpLocks/>
          </p:cNvCxnSpPr>
          <p:nvPr/>
        </p:nvCxnSpPr>
        <p:spPr>
          <a:xfrm>
            <a:off x="5980564" y="3024694"/>
            <a:ext cx="0" cy="952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13F30499-215B-519E-0386-4105B16A9AE7}"/>
              </a:ext>
            </a:extLst>
          </p:cNvPr>
          <p:cNvSpPr txBox="1"/>
          <p:nvPr/>
        </p:nvSpPr>
        <p:spPr>
          <a:xfrm>
            <a:off x="918200" y="4115510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Original</a:t>
            </a:r>
            <a:endParaRPr lang="zh-TW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0" name="文字方塊 8">
            <a:extLst>
              <a:ext uri="{FF2B5EF4-FFF2-40B4-BE49-F238E27FC236}">
                <a16:creationId xmlns:a16="http://schemas.microsoft.com/office/drawing/2014/main" id="{A861499A-696B-5518-FE9F-FF42C47E7ABF}"/>
              </a:ext>
            </a:extLst>
          </p:cNvPr>
          <p:cNvSpPr txBox="1"/>
          <p:nvPr/>
        </p:nvSpPr>
        <p:spPr>
          <a:xfrm>
            <a:off x="925127" y="4288508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Route Data</a:t>
            </a:r>
            <a:endParaRPr 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8246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7427FF-3E2F-DAB7-3290-3BE6F49EE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A07354-3D22-65E1-3B22-54C1F4E9B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The proposed approach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379682-85ED-E6EB-B13D-083A40FA9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3D42A98-0C85-DC6E-94F4-9C6AAC792EFF}"/>
              </a:ext>
            </a:extLst>
          </p:cNvPr>
          <p:cNvSpPr/>
          <p:nvPr/>
        </p:nvSpPr>
        <p:spPr>
          <a:xfrm>
            <a:off x="2207260" y="3713020"/>
            <a:ext cx="1372770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8C786D5-9660-B05B-EFEF-FF46CC5AE08F}"/>
              </a:ext>
            </a:extLst>
          </p:cNvPr>
          <p:cNvSpPr/>
          <p:nvPr/>
        </p:nvSpPr>
        <p:spPr>
          <a:xfrm>
            <a:off x="2416093" y="3971496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50" dirty="0">
                <a:solidFill>
                  <a:schemeClr val="tx1"/>
                </a:solidFill>
              </a:rPr>
              <a:t>Data Preprocessing</a:t>
            </a:r>
            <a:endParaRPr lang="zh-TW" altLang="en-US" sz="1050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ECF1497-4CD5-4C49-AB03-BB5A595AF5CE}"/>
              </a:ext>
            </a:extLst>
          </p:cNvPr>
          <p:cNvSpPr/>
          <p:nvPr/>
        </p:nvSpPr>
        <p:spPr>
          <a:xfrm>
            <a:off x="4032406" y="3971495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Store Extraction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D4AF265-282B-8470-39B9-97223F186D80}"/>
              </a:ext>
            </a:extLst>
          </p:cNvPr>
          <p:cNvSpPr/>
          <p:nvPr/>
        </p:nvSpPr>
        <p:spPr>
          <a:xfrm>
            <a:off x="5416858" y="3973089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Store Assignment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0F108C5-496A-A1A7-482F-9539BBDF08FF}"/>
              </a:ext>
            </a:extLst>
          </p:cNvPr>
          <p:cNvSpPr/>
          <p:nvPr/>
        </p:nvSpPr>
        <p:spPr>
          <a:xfrm>
            <a:off x="8546197" y="3978422"/>
            <a:ext cx="971297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Performance Evaluation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46D040A-9EC4-A35D-AF37-19AC795BAE91}"/>
              </a:ext>
            </a:extLst>
          </p:cNvPr>
          <p:cNvSpPr/>
          <p:nvPr/>
        </p:nvSpPr>
        <p:spPr>
          <a:xfrm>
            <a:off x="5394947" y="2488190"/>
            <a:ext cx="971297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Google Maps Routes API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A6C219F-AD48-2F4E-32E4-03B708DD2347}"/>
              </a:ext>
            </a:extLst>
          </p:cNvPr>
          <p:cNvSpPr/>
          <p:nvPr/>
        </p:nvSpPr>
        <p:spPr>
          <a:xfrm>
            <a:off x="4029382" y="2483833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OSRM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80D2F1E9-7642-A5F0-AD45-9E5854068823}"/>
              </a:ext>
            </a:extLst>
          </p:cNvPr>
          <p:cNvCxnSpPr>
            <a:cxnSpLocks/>
            <a:endCxn id="20" idx="1"/>
          </p:cNvCxnSpPr>
          <p:nvPr/>
        </p:nvCxnSpPr>
        <p:spPr>
          <a:xfrm flipV="1">
            <a:off x="1637714" y="4238267"/>
            <a:ext cx="77837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723CD18D-D78D-6F08-EC70-8E4A8F794510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9517494" y="4242191"/>
            <a:ext cx="754355" cy="30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B315D609-7A8E-6735-733C-98E020DCC39F}"/>
              </a:ext>
            </a:extLst>
          </p:cNvPr>
          <p:cNvSpPr txBox="1"/>
          <p:nvPr/>
        </p:nvSpPr>
        <p:spPr>
          <a:xfrm>
            <a:off x="2352890" y="4642440"/>
            <a:ext cx="11019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Data Module</a:t>
            </a:r>
            <a:endParaRPr lang="zh-TW" altLang="en-US" sz="1000" dirty="0"/>
          </a:p>
        </p:txBody>
      </p: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55411CC5-7666-9BAB-5111-0DFA48D8D9F4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 flipV="1">
            <a:off x="3389482" y="4238266"/>
            <a:ext cx="6429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A3C861E2-3EFC-BCB6-FF54-92DE7F9A40FB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5005795" y="4238266"/>
            <a:ext cx="411063" cy="15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 31">
            <a:extLst>
              <a:ext uri="{FF2B5EF4-FFF2-40B4-BE49-F238E27FC236}">
                <a16:creationId xmlns:a16="http://schemas.microsoft.com/office/drawing/2014/main" id="{35C36FAD-75AE-CD7F-73D5-57CB5AAA1AA2}"/>
              </a:ext>
            </a:extLst>
          </p:cNvPr>
          <p:cNvSpPr/>
          <p:nvPr/>
        </p:nvSpPr>
        <p:spPr>
          <a:xfrm>
            <a:off x="8350917" y="3727824"/>
            <a:ext cx="1372770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F7E82B5-9F85-2BF4-455B-45BE584C00FD}"/>
              </a:ext>
            </a:extLst>
          </p:cNvPr>
          <p:cNvSpPr/>
          <p:nvPr/>
        </p:nvSpPr>
        <p:spPr>
          <a:xfrm>
            <a:off x="3814907" y="3713020"/>
            <a:ext cx="4144530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1E88D47-09B5-18B1-068A-89BDBE36DF85}"/>
              </a:ext>
            </a:extLst>
          </p:cNvPr>
          <p:cNvSpPr txBox="1"/>
          <p:nvPr/>
        </p:nvSpPr>
        <p:spPr>
          <a:xfrm>
            <a:off x="3845719" y="4642440"/>
            <a:ext cx="424900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Routing Module</a:t>
            </a:r>
            <a:endParaRPr lang="zh-TW" altLang="en-US" sz="1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F5B8023-8903-2FFB-B168-2838E7A2A3F6}"/>
              </a:ext>
            </a:extLst>
          </p:cNvPr>
          <p:cNvSpPr/>
          <p:nvPr/>
        </p:nvSpPr>
        <p:spPr>
          <a:xfrm>
            <a:off x="6784509" y="3977014"/>
            <a:ext cx="969210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Support Route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Planning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38" name="直線單箭頭接點 37">
            <a:extLst>
              <a:ext uri="{FF2B5EF4-FFF2-40B4-BE49-F238E27FC236}">
                <a16:creationId xmlns:a16="http://schemas.microsoft.com/office/drawing/2014/main" id="{1FC2BD2B-53FB-4366-674C-B05A77DDCAFB}"/>
              </a:ext>
            </a:extLst>
          </p:cNvPr>
          <p:cNvCxnSpPr>
            <a:cxnSpLocks/>
            <a:stCxn id="22" idx="3"/>
            <a:endCxn id="37" idx="1"/>
          </p:cNvCxnSpPr>
          <p:nvPr/>
        </p:nvCxnSpPr>
        <p:spPr>
          <a:xfrm>
            <a:off x="6390247" y="4239860"/>
            <a:ext cx="394262" cy="39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224C6FC8-ED8B-9591-77CB-65F6E7F02FBD}"/>
              </a:ext>
            </a:extLst>
          </p:cNvPr>
          <p:cNvSpPr txBox="1"/>
          <p:nvPr/>
        </p:nvSpPr>
        <p:spPr>
          <a:xfrm>
            <a:off x="8355648" y="4641210"/>
            <a:ext cx="136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Evaluation Module</a:t>
            </a:r>
            <a:endParaRPr lang="zh-TW" altLang="en-US" sz="1000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4394D476-2795-6B86-44E7-3A9F73729294}"/>
              </a:ext>
            </a:extLst>
          </p:cNvPr>
          <p:cNvSpPr/>
          <p:nvPr/>
        </p:nvSpPr>
        <p:spPr>
          <a:xfrm>
            <a:off x="3814907" y="2221202"/>
            <a:ext cx="2757055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1CBF46A-09C4-23ED-0985-16515DB29220}"/>
              </a:ext>
            </a:extLst>
          </p:cNvPr>
          <p:cNvSpPr txBox="1"/>
          <p:nvPr/>
        </p:nvSpPr>
        <p:spPr>
          <a:xfrm>
            <a:off x="3814907" y="3150622"/>
            <a:ext cx="27570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API Module</a:t>
            </a:r>
            <a:endParaRPr lang="zh-TW" altLang="en-US" sz="1000" dirty="0"/>
          </a:p>
        </p:txBody>
      </p:sp>
      <p:cxnSp>
        <p:nvCxnSpPr>
          <p:cNvPr id="42" name="接點: 肘形 41">
            <a:extLst>
              <a:ext uri="{FF2B5EF4-FFF2-40B4-BE49-F238E27FC236}">
                <a16:creationId xmlns:a16="http://schemas.microsoft.com/office/drawing/2014/main" id="{78B63CF8-5164-598C-95BA-768B17D0D8CB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743068" y="2690702"/>
            <a:ext cx="1342991" cy="1229635"/>
          </a:xfrm>
          <a:prstGeom prst="bentConnector3">
            <a:avLst>
              <a:gd name="adj1" fmla="val 10000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接點: 肘形 42">
            <a:extLst>
              <a:ext uri="{FF2B5EF4-FFF2-40B4-BE49-F238E27FC236}">
                <a16:creationId xmlns:a16="http://schemas.microsoft.com/office/drawing/2014/main" id="{42CE0211-A15F-80E9-AC4A-113BE18DEE58}"/>
              </a:ext>
            </a:extLst>
          </p:cNvPr>
          <p:cNvCxnSpPr>
            <a:cxnSpLocks/>
          </p:cNvCxnSpPr>
          <p:nvPr/>
        </p:nvCxnSpPr>
        <p:spPr>
          <a:xfrm rot="5400000">
            <a:off x="2990892" y="2931332"/>
            <a:ext cx="1106015" cy="970965"/>
          </a:xfrm>
          <a:prstGeom prst="bentConnector3">
            <a:avLst>
              <a:gd name="adj1" fmla="val 26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流程圖: 磁碟 45">
            <a:extLst>
              <a:ext uri="{FF2B5EF4-FFF2-40B4-BE49-F238E27FC236}">
                <a16:creationId xmlns:a16="http://schemas.microsoft.com/office/drawing/2014/main" id="{7B17E985-88B2-883B-926E-E933C5B3859F}"/>
              </a:ext>
            </a:extLst>
          </p:cNvPr>
          <p:cNvSpPr/>
          <p:nvPr/>
        </p:nvSpPr>
        <p:spPr>
          <a:xfrm>
            <a:off x="10264923" y="3823855"/>
            <a:ext cx="792480" cy="896431"/>
          </a:xfrm>
          <a:prstGeom prst="flowChartMagneticDisk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dirty="0"/>
          </a:p>
        </p:txBody>
      </p:sp>
      <p:sp>
        <p:nvSpPr>
          <p:cNvPr id="53" name="文字方塊 8">
            <a:extLst>
              <a:ext uri="{FF2B5EF4-FFF2-40B4-BE49-F238E27FC236}">
                <a16:creationId xmlns:a16="http://schemas.microsoft.com/office/drawing/2014/main" id="{5A44E232-1303-A330-D292-D8B7284DCFBD}"/>
              </a:ext>
            </a:extLst>
          </p:cNvPr>
          <p:cNvSpPr txBox="1"/>
          <p:nvPr/>
        </p:nvSpPr>
        <p:spPr>
          <a:xfrm>
            <a:off x="10271847" y="4115510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Optimized</a:t>
            </a:r>
            <a:endParaRPr lang="zh-TW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4" name="文字方塊 8">
            <a:extLst>
              <a:ext uri="{FF2B5EF4-FFF2-40B4-BE49-F238E27FC236}">
                <a16:creationId xmlns:a16="http://schemas.microsoft.com/office/drawing/2014/main" id="{E6E17B25-2B07-47FF-A8BE-65FE08AFFEE7}"/>
              </a:ext>
            </a:extLst>
          </p:cNvPr>
          <p:cNvSpPr txBox="1"/>
          <p:nvPr/>
        </p:nvSpPr>
        <p:spPr>
          <a:xfrm>
            <a:off x="10278774" y="4288508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Route Data</a:t>
            </a:r>
            <a:endParaRPr 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cxnSp>
        <p:nvCxnSpPr>
          <p:cNvPr id="55" name="直線單箭頭接點 54">
            <a:extLst>
              <a:ext uri="{FF2B5EF4-FFF2-40B4-BE49-F238E27FC236}">
                <a16:creationId xmlns:a16="http://schemas.microsoft.com/office/drawing/2014/main" id="{FE9F2901-AD61-4228-AA95-ADEE0BDDD15D}"/>
              </a:ext>
            </a:extLst>
          </p:cNvPr>
          <p:cNvCxnSpPr>
            <a:cxnSpLocks/>
            <a:stCxn id="37" idx="3"/>
            <a:endCxn id="23" idx="1"/>
          </p:cNvCxnSpPr>
          <p:nvPr/>
        </p:nvCxnSpPr>
        <p:spPr>
          <a:xfrm>
            <a:off x="7753719" y="4243785"/>
            <a:ext cx="792478" cy="1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接點: 肘形 56">
            <a:extLst>
              <a:ext uri="{FF2B5EF4-FFF2-40B4-BE49-F238E27FC236}">
                <a16:creationId xmlns:a16="http://schemas.microsoft.com/office/drawing/2014/main" id="{A6CC9D86-3C6B-3D74-D06B-62CDF4D31141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16892" y="2796745"/>
            <a:ext cx="1339501" cy="1023856"/>
          </a:xfrm>
          <a:prstGeom prst="bentConnector3">
            <a:avLst>
              <a:gd name="adj1" fmla="val -16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接點: 肘形 57">
            <a:extLst>
              <a:ext uri="{FF2B5EF4-FFF2-40B4-BE49-F238E27FC236}">
                <a16:creationId xmlns:a16="http://schemas.microsoft.com/office/drawing/2014/main" id="{0EFC66F2-D0A9-CAB3-E81F-CC241CE16470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10910" y="3031511"/>
            <a:ext cx="1103789" cy="776180"/>
          </a:xfrm>
          <a:prstGeom prst="bentConnector3">
            <a:avLst>
              <a:gd name="adj1" fmla="val 10005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F03662E9-DF26-C719-6563-EA396AD07BC3}"/>
              </a:ext>
            </a:extLst>
          </p:cNvPr>
          <p:cNvCxnSpPr>
            <a:cxnSpLocks/>
          </p:cNvCxnSpPr>
          <p:nvPr/>
        </p:nvCxnSpPr>
        <p:spPr>
          <a:xfrm flipH="1" flipV="1">
            <a:off x="5780821" y="3021731"/>
            <a:ext cx="1043" cy="955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7088894B-6511-3F1B-ABEE-5C00AA1AEBA2}"/>
              </a:ext>
            </a:extLst>
          </p:cNvPr>
          <p:cNvCxnSpPr>
            <a:cxnSpLocks/>
          </p:cNvCxnSpPr>
          <p:nvPr/>
        </p:nvCxnSpPr>
        <p:spPr>
          <a:xfrm>
            <a:off x="5980564" y="3024694"/>
            <a:ext cx="0" cy="952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圖: 磁碟 8">
            <a:extLst>
              <a:ext uri="{FF2B5EF4-FFF2-40B4-BE49-F238E27FC236}">
                <a16:creationId xmlns:a16="http://schemas.microsoft.com/office/drawing/2014/main" id="{0AF766AF-1CCD-05C9-46A3-56B1998B596F}"/>
              </a:ext>
            </a:extLst>
          </p:cNvPr>
          <p:cNvSpPr/>
          <p:nvPr/>
        </p:nvSpPr>
        <p:spPr>
          <a:xfrm>
            <a:off x="901102" y="3823855"/>
            <a:ext cx="792480" cy="896431"/>
          </a:xfrm>
          <a:prstGeom prst="flowChartMagneticDisk">
            <a:avLst/>
          </a:prstGeom>
          <a:solidFill>
            <a:schemeClr val="tx2">
              <a:lumMod val="10000"/>
              <a:lumOff val="9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9EF1F1F-160C-5583-2199-686A4D8DD536}"/>
              </a:ext>
            </a:extLst>
          </p:cNvPr>
          <p:cNvSpPr txBox="1"/>
          <p:nvPr/>
        </p:nvSpPr>
        <p:spPr>
          <a:xfrm>
            <a:off x="918200" y="4115510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Original</a:t>
            </a:r>
            <a:endParaRPr lang="zh-TW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1" name="文字方塊 8">
            <a:extLst>
              <a:ext uri="{FF2B5EF4-FFF2-40B4-BE49-F238E27FC236}">
                <a16:creationId xmlns:a16="http://schemas.microsoft.com/office/drawing/2014/main" id="{140109E7-D67B-49AC-F5EC-70B8E8BDAA70}"/>
              </a:ext>
            </a:extLst>
          </p:cNvPr>
          <p:cNvSpPr txBox="1"/>
          <p:nvPr/>
        </p:nvSpPr>
        <p:spPr>
          <a:xfrm>
            <a:off x="925127" y="4288508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Route Data</a:t>
            </a:r>
            <a:endParaRPr 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44622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64F368-B436-09D1-ABB9-FF2C3801F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B1B6B781-BDFC-BFCB-0BF5-FFE5ABD536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167" y="2441879"/>
            <a:ext cx="9594394" cy="3503835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0C688DDC-89F3-45C4-956B-0800C9F47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Original Route Data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B38213A-E731-BDCE-CC60-02A95818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083" y="1922354"/>
            <a:ext cx="10058400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dirty="0"/>
              <a:t>The experimental dataset consists of 26 working days of original route data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40735A7-4670-F5BF-4AA2-CF1D474A2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9</a:t>
            </a:fld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C1C9E0A-A96B-1757-1AB9-E365A6374141}"/>
              </a:ext>
            </a:extLst>
          </p:cNvPr>
          <p:cNvSpPr/>
          <p:nvPr/>
        </p:nvSpPr>
        <p:spPr>
          <a:xfrm>
            <a:off x="2465069" y="2626995"/>
            <a:ext cx="8212491" cy="8020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5867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6E9F67-42A0-1946-C7D5-885B588B1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4DE34C45-7884-2B19-53A3-257DEDBE0F39}"/>
              </a:ext>
            </a:extLst>
          </p:cNvPr>
          <p:cNvSpPr/>
          <p:nvPr/>
        </p:nvSpPr>
        <p:spPr>
          <a:xfrm>
            <a:off x="3814907" y="2221202"/>
            <a:ext cx="2757055" cy="124690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D4A3E128-97F4-B35E-7800-22BCB28C9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The proposed approach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9CA8E0-62EE-A2B5-2A39-404CD35F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10</a:t>
            </a:fld>
            <a:endParaRPr lang="zh-TW" altLang="en-US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B1E76D2-6668-B33E-B93C-CF4187003DD9}"/>
              </a:ext>
            </a:extLst>
          </p:cNvPr>
          <p:cNvSpPr/>
          <p:nvPr/>
        </p:nvSpPr>
        <p:spPr>
          <a:xfrm>
            <a:off x="2207260" y="3713020"/>
            <a:ext cx="1372770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0A2DE06-6A4E-5621-1488-5714FF043EFB}"/>
              </a:ext>
            </a:extLst>
          </p:cNvPr>
          <p:cNvSpPr/>
          <p:nvPr/>
        </p:nvSpPr>
        <p:spPr>
          <a:xfrm>
            <a:off x="2416093" y="3971496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50" dirty="0">
                <a:solidFill>
                  <a:schemeClr val="tx1"/>
                </a:solidFill>
              </a:rPr>
              <a:t>Data Preprocessing</a:t>
            </a:r>
            <a:endParaRPr lang="zh-TW" altLang="en-US" sz="1050" dirty="0">
              <a:solidFill>
                <a:schemeClr val="tx1"/>
              </a:solidFill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632BD4B-B5AC-8302-1B37-CD92DA6DB1F2}"/>
              </a:ext>
            </a:extLst>
          </p:cNvPr>
          <p:cNvSpPr/>
          <p:nvPr/>
        </p:nvSpPr>
        <p:spPr>
          <a:xfrm>
            <a:off x="4032406" y="3971495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Store Extraction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7C3B73A-096E-B7FA-1999-1CF1326456A5}"/>
              </a:ext>
            </a:extLst>
          </p:cNvPr>
          <p:cNvSpPr/>
          <p:nvPr/>
        </p:nvSpPr>
        <p:spPr>
          <a:xfrm>
            <a:off x="5416858" y="3973089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Store Assignment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E132534-0D1D-9BA4-C526-75FF6FAC9359}"/>
              </a:ext>
            </a:extLst>
          </p:cNvPr>
          <p:cNvSpPr/>
          <p:nvPr/>
        </p:nvSpPr>
        <p:spPr>
          <a:xfrm>
            <a:off x="8546197" y="3978422"/>
            <a:ext cx="971297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Performance Evaluation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FEE3DCA-5C48-EF32-9F91-A0800284B161}"/>
              </a:ext>
            </a:extLst>
          </p:cNvPr>
          <p:cNvSpPr/>
          <p:nvPr/>
        </p:nvSpPr>
        <p:spPr>
          <a:xfrm>
            <a:off x="5394947" y="2488190"/>
            <a:ext cx="971297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Google Maps Routes API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84110D7-298C-3AEC-2A1B-58F928E58C33}"/>
              </a:ext>
            </a:extLst>
          </p:cNvPr>
          <p:cNvSpPr/>
          <p:nvPr/>
        </p:nvSpPr>
        <p:spPr>
          <a:xfrm>
            <a:off x="4029382" y="2483833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OSRM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A10F9F39-CA95-44FE-01F1-B0FE1CD124FA}"/>
              </a:ext>
            </a:extLst>
          </p:cNvPr>
          <p:cNvCxnSpPr>
            <a:cxnSpLocks/>
            <a:endCxn id="22" idx="1"/>
          </p:cNvCxnSpPr>
          <p:nvPr/>
        </p:nvCxnSpPr>
        <p:spPr>
          <a:xfrm flipV="1">
            <a:off x="1637714" y="4238267"/>
            <a:ext cx="77837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2E86EE81-8515-3E13-1410-F2F508132810}"/>
              </a:ext>
            </a:extLst>
          </p:cNvPr>
          <p:cNvCxnSpPr>
            <a:cxnSpLocks/>
            <a:stCxn id="25" idx="3"/>
          </p:cNvCxnSpPr>
          <p:nvPr/>
        </p:nvCxnSpPr>
        <p:spPr>
          <a:xfrm flipV="1">
            <a:off x="9517494" y="4242191"/>
            <a:ext cx="754355" cy="30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35D09B4E-2498-F289-0636-536DD9E45D65}"/>
              </a:ext>
            </a:extLst>
          </p:cNvPr>
          <p:cNvSpPr txBox="1"/>
          <p:nvPr/>
        </p:nvSpPr>
        <p:spPr>
          <a:xfrm>
            <a:off x="2352890" y="4642440"/>
            <a:ext cx="11019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Data Module</a:t>
            </a:r>
            <a:endParaRPr lang="zh-TW" altLang="en-US" sz="1000" dirty="0"/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70775EB4-8F87-8B95-FF86-5C8E8CB06D55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 flipV="1">
            <a:off x="3389482" y="4238266"/>
            <a:ext cx="6429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F34BCE55-C565-43A9-EFFA-33DCF9A6AD2D}"/>
              </a:ext>
            </a:extLst>
          </p:cNvPr>
          <p:cNvCxnSpPr>
            <a:cxnSpLocks/>
            <a:stCxn id="23" idx="3"/>
            <a:endCxn id="24" idx="1"/>
          </p:cNvCxnSpPr>
          <p:nvPr/>
        </p:nvCxnSpPr>
        <p:spPr>
          <a:xfrm>
            <a:off x="5005795" y="4238266"/>
            <a:ext cx="411063" cy="15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43FE14F3-E099-6C67-DE05-F06AF91D3530}"/>
              </a:ext>
            </a:extLst>
          </p:cNvPr>
          <p:cNvSpPr/>
          <p:nvPr/>
        </p:nvSpPr>
        <p:spPr>
          <a:xfrm>
            <a:off x="8350917" y="3727824"/>
            <a:ext cx="1372770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E6796C75-D59C-A16C-CF45-513289E6673E}"/>
              </a:ext>
            </a:extLst>
          </p:cNvPr>
          <p:cNvSpPr/>
          <p:nvPr/>
        </p:nvSpPr>
        <p:spPr>
          <a:xfrm>
            <a:off x="3814907" y="3713020"/>
            <a:ext cx="4144530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C8A47E66-A424-0ACB-ED09-FBC960B82122}"/>
              </a:ext>
            </a:extLst>
          </p:cNvPr>
          <p:cNvSpPr txBox="1"/>
          <p:nvPr/>
        </p:nvSpPr>
        <p:spPr>
          <a:xfrm>
            <a:off x="3845719" y="4642440"/>
            <a:ext cx="424900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Routing Module</a:t>
            </a:r>
            <a:endParaRPr lang="zh-TW" altLang="en-US" sz="1000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65DE6C4-78BE-FAD0-034B-6BD6B1EE2AD3}"/>
              </a:ext>
            </a:extLst>
          </p:cNvPr>
          <p:cNvSpPr/>
          <p:nvPr/>
        </p:nvSpPr>
        <p:spPr>
          <a:xfrm>
            <a:off x="6784509" y="3977014"/>
            <a:ext cx="969210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Support Route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Planning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40" name="直線單箭頭接點 39">
            <a:extLst>
              <a:ext uri="{FF2B5EF4-FFF2-40B4-BE49-F238E27FC236}">
                <a16:creationId xmlns:a16="http://schemas.microsoft.com/office/drawing/2014/main" id="{B422E84B-BB3C-1E6B-2CF7-FAEB820E71A3}"/>
              </a:ext>
            </a:extLst>
          </p:cNvPr>
          <p:cNvCxnSpPr>
            <a:cxnSpLocks/>
            <a:stCxn id="24" idx="3"/>
            <a:endCxn id="39" idx="1"/>
          </p:cNvCxnSpPr>
          <p:nvPr/>
        </p:nvCxnSpPr>
        <p:spPr>
          <a:xfrm>
            <a:off x="6390247" y="4239860"/>
            <a:ext cx="394262" cy="39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0F9379F-72D6-A3E9-4B91-CCD9B3C4355B}"/>
              </a:ext>
            </a:extLst>
          </p:cNvPr>
          <p:cNvSpPr txBox="1"/>
          <p:nvPr/>
        </p:nvSpPr>
        <p:spPr>
          <a:xfrm>
            <a:off x="8355648" y="4641210"/>
            <a:ext cx="136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Evaluation Module</a:t>
            </a:r>
            <a:endParaRPr lang="zh-TW" altLang="en-US" sz="1000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B36E7CF0-26B0-3F07-D95E-13FAA005737C}"/>
              </a:ext>
            </a:extLst>
          </p:cNvPr>
          <p:cNvSpPr txBox="1"/>
          <p:nvPr/>
        </p:nvSpPr>
        <p:spPr>
          <a:xfrm>
            <a:off x="3814907" y="3150622"/>
            <a:ext cx="27570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API Module</a:t>
            </a:r>
            <a:endParaRPr lang="zh-TW" altLang="en-US" sz="1000" dirty="0"/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9BBF8663-AF33-9A4F-47A0-71AD7582C4C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743068" y="2690702"/>
            <a:ext cx="1342991" cy="1229635"/>
          </a:xfrm>
          <a:prstGeom prst="bentConnector3">
            <a:avLst>
              <a:gd name="adj1" fmla="val 10000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B100FBD4-A1F6-84E9-A97E-772D765F66E9}"/>
              </a:ext>
            </a:extLst>
          </p:cNvPr>
          <p:cNvCxnSpPr>
            <a:cxnSpLocks/>
          </p:cNvCxnSpPr>
          <p:nvPr/>
        </p:nvCxnSpPr>
        <p:spPr>
          <a:xfrm rot="5400000">
            <a:off x="2990892" y="2931332"/>
            <a:ext cx="1106015" cy="970965"/>
          </a:xfrm>
          <a:prstGeom prst="bentConnector3">
            <a:avLst>
              <a:gd name="adj1" fmla="val 26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流程圖: 磁碟 48">
            <a:extLst>
              <a:ext uri="{FF2B5EF4-FFF2-40B4-BE49-F238E27FC236}">
                <a16:creationId xmlns:a16="http://schemas.microsoft.com/office/drawing/2014/main" id="{F409F682-A017-F5A7-9DAD-207C87FF5009}"/>
              </a:ext>
            </a:extLst>
          </p:cNvPr>
          <p:cNvSpPr/>
          <p:nvPr/>
        </p:nvSpPr>
        <p:spPr>
          <a:xfrm>
            <a:off x="10264923" y="3823855"/>
            <a:ext cx="792480" cy="896431"/>
          </a:xfrm>
          <a:prstGeom prst="flowChartMagneticDisk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dirty="0"/>
          </a:p>
        </p:txBody>
      </p:sp>
      <p:sp>
        <p:nvSpPr>
          <p:cNvPr id="55" name="文字方塊 8">
            <a:extLst>
              <a:ext uri="{FF2B5EF4-FFF2-40B4-BE49-F238E27FC236}">
                <a16:creationId xmlns:a16="http://schemas.microsoft.com/office/drawing/2014/main" id="{24A99D8B-E4E8-85F0-A4D2-1C39D269BDD2}"/>
              </a:ext>
            </a:extLst>
          </p:cNvPr>
          <p:cNvSpPr txBox="1"/>
          <p:nvPr/>
        </p:nvSpPr>
        <p:spPr>
          <a:xfrm>
            <a:off x="10271847" y="4115510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Optimized</a:t>
            </a:r>
            <a:endParaRPr lang="zh-TW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6" name="文字方塊 8">
            <a:extLst>
              <a:ext uri="{FF2B5EF4-FFF2-40B4-BE49-F238E27FC236}">
                <a16:creationId xmlns:a16="http://schemas.microsoft.com/office/drawing/2014/main" id="{DD335CC4-2351-F11E-C85B-A4DC04E3B78E}"/>
              </a:ext>
            </a:extLst>
          </p:cNvPr>
          <p:cNvSpPr txBox="1"/>
          <p:nvPr/>
        </p:nvSpPr>
        <p:spPr>
          <a:xfrm>
            <a:off x="10278774" y="4288508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Route Data</a:t>
            </a:r>
            <a:endParaRPr 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B0F3BBD8-FCCF-BB99-CDD4-630934B61F3B}"/>
              </a:ext>
            </a:extLst>
          </p:cNvPr>
          <p:cNvCxnSpPr>
            <a:cxnSpLocks/>
            <a:stCxn id="39" idx="3"/>
            <a:endCxn id="25" idx="1"/>
          </p:cNvCxnSpPr>
          <p:nvPr/>
        </p:nvCxnSpPr>
        <p:spPr>
          <a:xfrm>
            <a:off x="7753719" y="4243785"/>
            <a:ext cx="792478" cy="1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接點: 肘形 63">
            <a:extLst>
              <a:ext uri="{FF2B5EF4-FFF2-40B4-BE49-F238E27FC236}">
                <a16:creationId xmlns:a16="http://schemas.microsoft.com/office/drawing/2014/main" id="{E6AC299C-BE1F-5B68-B4C8-0F3250E8C572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16892" y="2796745"/>
            <a:ext cx="1339501" cy="1023856"/>
          </a:xfrm>
          <a:prstGeom prst="bentConnector3">
            <a:avLst>
              <a:gd name="adj1" fmla="val -16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92B4A75-4552-BA7B-9245-DC83F82BCB2C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10910" y="3031511"/>
            <a:ext cx="1103789" cy="776180"/>
          </a:xfrm>
          <a:prstGeom prst="bentConnector3">
            <a:avLst>
              <a:gd name="adj1" fmla="val 10005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C92114A5-D451-F032-9DAF-9C0E0C09B72E}"/>
              </a:ext>
            </a:extLst>
          </p:cNvPr>
          <p:cNvCxnSpPr>
            <a:cxnSpLocks/>
          </p:cNvCxnSpPr>
          <p:nvPr/>
        </p:nvCxnSpPr>
        <p:spPr>
          <a:xfrm flipH="1" flipV="1">
            <a:off x="5780821" y="3021731"/>
            <a:ext cx="1043" cy="955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2CCB469C-566E-E2CE-A772-F2A197EA9FB3}"/>
              </a:ext>
            </a:extLst>
          </p:cNvPr>
          <p:cNvCxnSpPr>
            <a:cxnSpLocks/>
          </p:cNvCxnSpPr>
          <p:nvPr/>
        </p:nvCxnSpPr>
        <p:spPr>
          <a:xfrm>
            <a:off x="5980564" y="3024694"/>
            <a:ext cx="0" cy="952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流程圖: 磁碟 5">
            <a:extLst>
              <a:ext uri="{FF2B5EF4-FFF2-40B4-BE49-F238E27FC236}">
                <a16:creationId xmlns:a16="http://schemas.microsoft.com/office/drawing/2014/main" id="{1C0CD1E2-CD28-636E-60EF-DE53E59F768B}"/>
              </a:ext>
            </a:extLst>
          </p:cNvPr>
          <p:cNvSpPr/>
          <p:nvPr/>
        </p:nvSpPr>
        <p:spPr>
          <a:xfrm>
            <a:off x="901102" y="3823855"/>
            <a:ext cx="792480" cy="896431"/>
          </a:xfrm>
          <a:prstGeom prst="flowChartMagneticDisk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424B553-62E2-6CA3-8214-28E89F40352E}"/>
              </a:ext>
            </a:extLst>
          </p:cNvPr>
          <p:cNvSpPr txBox="1"/>
          <p:nvPr/>
        </p:nvSpPr>
        <p:spPr>
          <a:xfrm>
            <a:off x="918200" y="4115510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Original</a:t>
            </a:r>
            <a:endParaRPr lang="zh-TW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8" name="文字方塊 8">
            <a:extLst>
              <a:ext uri="{FF2B5EF4-FFF2-40B4-BE49-F238E27FC236}">
                <a16:creationId xmlns:a16="http://schemas.microsoft.com/office/drawing/2014/main" id="{1809D396-1F58-1E48-4044-A9B39B357829}"/>
              </a:ext>
            </a:extLst>
          </p:cNvPr>
          <p:cNvSpPr txBox="1"/>
          <p:nvPr/>
        </p:nvSpPr>
        <p:spPr>
          <a:xfrm>
            <a:off x="925127" y="4288508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Route Data</a:t>
            </a:r>
            <a:endParaRPr 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27953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BF164-222A-550A-F947-B6A2F5958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BF1CB7-E22F-AC32-65B0-9C45B05EE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API Module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78BCB0-E8D5-7FCA-0A39-23E9DF9EE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11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BF2121-AB3E-BBB2-F2CF-950FCA413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023360"/>
          </a:xfrm>
        </p:spPr>
        <p:txBody>
          <a:bodyPr>
            <a:normAutofit/>
          </a:bodyPr>
          <a:lstStyle/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en-US" altLang="zh-TW" dirty="0">
                <a:solidFill>
                  <a:schemeClr val="tx1"/>
                </a:solidFill>
              </a:rPr>
              <a:t>Open Source Routing Machine (OSRM)</a:t>
            </a:r>
          </a:p>
          <a:p>
            <a:pPr marL="749808" lvl="1" indent="-457200">
              <a:lnSpc>
                <a:spcPct val="150000"/>
              </a:lnSpc>
            </a:pPr>
            <a:r>
              <a:rPr lang="en-US" altLang="zh-TW" dirty="0"/>
              <a:t>Provides distance and travel time matrices for efficient route planning and optimization</a:t>
            </a:r>
            <a:endParaRPr lang="en-US" altLang="zh-TW" dirty="0">
              <a:solidFill>
                <a:schemeClr val="tx1"/>
              </a:solidFill>
            </a:endParaRPr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en-US" altLang="zh-TW" dirty="0">
                <a:solidFill>
                  <a:schemeClr val="tx1"/>
                </a:solidFill>
              </a:rPr>
              <a:t>Google Maps Routes API</a:t>
            </a:r>
          </a:p>
          <a:p>
            <a:pPr marL="749808" lvl="1" indent="-457200">
              <a:lnSpc>
                <a:spcPct val="150000"/>
              </a:lnSpc>
            </a:pPr>
            <a:r>
              <a:rPr lang="en-US" altLang="zh-TW" dirty="0"/>
              <a:t>Validate and evaluate routing results using real-world road network data</a:t>
            </a:r>
            <a:endParaRPr lang="en-US" altLang="zh-TW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4491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39C1CA-DD24-4A12-5D5F-3A82C96C9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29A02197-68A9-A4FD-D546-DE3598D28A89}"/>
              </a:ext>
            </a:extLst>
          </p:cNvPr>
          <p:cNvSpPr/>
          <p:nvPr/>
        </p:nvSpPr>
        <p:spPr>
          <a:xfrm>
            <a:off x="2207260" y="3713020"/>
            <a:ext cx="1372770" cy="124690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F9EB62B6-C05B-B826-3AD0-8E789DB58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The proposed approach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5DF2276-5FE8-2AF5-E14A-71839C0B5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6D433C4F-C116-D753-F10C-2ACE65D08501}"/>
              </a:ext>
            </a:extLst>
          </p:cNvPr>
          <p:cNvSpPr/>
          <p:nvPr/>
        </p:nvSpPr>
        <p:spPr>
          <a:xfrm>
            <a:off x="2416093" y="3971496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50" dirty="0">
                <a:solidFill>
                  <a:schemeClr val="tx1"/>
                </a:solidFill>
              </a:rPr>
              <a:t>Data Preprocessing</a:t>
            </a:r>
            <a:endParaRPr lang="zh-TW" altLang="en-US" sz="1050" dirty="0">
              <a:solidFill>
                <a:schemeClr val="tx1"/>
              </a:solidFill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7C9FC527-0D13-C3D0-98DB-092E8E243681}"/>
              </a:ext>
            </a:extLst>
          </p:cNvPr>
          <p:cNvSpPr/>
          <p:nvPr/>
        </p:nvSpPr>
        <p:spPr>
          <a:xfrm>
            <a:off x="4032406" y="3971495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Store Extraction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2256E83E-13B4-D1C5-00C6-7E924A8F8126}"/>
              </a:ext>
            </a:extLst>
          </p:cNvPr>
          <p:cNvSpPr/>
          <p:nvPr/>
        </p:nvSpPr>
        <p:spPr>
          <a:xfrm>
            <a:off x="5416858" y="3973089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Store Assignment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44403AE3-C179-8837-098B-1CB13A284159}"/>
              </a:ext>
            </a:extLst>
          </p:cNvPr>
          <p:cNvSpPr/>
          <p:nvPr/>
        </p:nvSpPr>
        <p:spPr>
          <a:xfrm>
            <a:off x="8546197" y="3978422"/>
            <a:ext cx="971297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Performance Evaluation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05C9C2D2-4C78-41ED-22C4-1362FD0A5173}"/>
              </a:ext>
            </a:extLst>
          </p:cNvPr>
          <p:cNvSpPr/>
          <p:nvPr/>
        </p:nvSpPr>
        <p:spPr>
          <a:xfrm>
            <a:off x="5394947" y="2488190"/>
            <a:ext cx="971297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Google Maps Routes API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CD586774-D59E-E108-CC7A-DF11509C22C3}"/>
              </a:ext>
            </a:extLst>
          </p:cNvPr>
          <p:cNvSpPr/>
          <p:nvPr/>
        </p:nvSpPr>
        <p:spPr>
          <a:xfrm>
            <a:off x="4029382" y="2483833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OSRM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EADE8EE8-4BCC-DA45-8205-9238E3425C84}"/>
              </a:ext>
            </a:extLst>
          </p:cNvPr>
          <p:cNvCxnSpPr>
            <a:cxnSpLocks/>
            <a:endCxn id="70" idx="1"/>
          </p:cNvCxnSpPr>
          <p:nvPr/>
        </p:nvCxnSpPr>
        <p:spPr>
          <a:xfrm flipV="1">
            <a:off x="1637714" y="4238267"/>
            <a:ext cx="77837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8C21C82C-A38A-CF8A-22A3-3954A785B804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517494" y="4242191"/>
            <a:ext cx="754355" cy="30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D6689092-10C8-3F9A-9985-F5B8D94A3FB9}"/>
              </a:ext>
            </a:extLst>
          </p:cNvPr>
          <p:cNvSpPr txBox="1"/>
          <p:nvPr/>
        </p:nvSpPr>
        <p:spPr>
          <a:xfrm>
            <a:off x="2352890" y="4642440"/>
            <a:ext cx="11019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Data Module</a:t>
            </a:r>
            <a:endParaRPr lang="zh-TW" altLang="en-US" sz="1000" dirty="0"/>
          </a:p>
        </p:txBody>
      </p:sp>
      <p:cxnSp>
        <p:nvCxnSpPr>
          <p:cNvPr id="44" name="直線單箭頭接點 43">
            <a:extLst>
              <a:ext uri="{FF2B5EF4-FFF2-40B4-BE49-F238E27FC236}">
                <a16:creationId xmlns:a16="http://schemas.microsoft.com/office/drawing/2014/main" id="{0D406E31-B4FC-DF48-55B3-5841648A58FC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3389482" y="4238266"/>
            <a:ext cx="6429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單箭頭接點 46">
            <a:extLst>
              <a:ext uri="{FF2B5EF4-FFF2-40B4-BE49-F238E27FC236}">
                <a16:creationId xmlns:a16="http://schemas.microsoft.com/office/drawing/2014/main" id="{57F2F843-4E20-1BD7-F2FE-95BBDEE32CAC}"/>
              </a:ext>
            </a:extLst>
          </p:cNvPr>
          <p:cNvCxnSpPr>
            <a:cxnSpLocks/>
            <a:stCxn id="71" idx="3"/>
            <a:endCxn id="72" idx="1"/>
          </p:cNvCxnSpPr>
          <p:nvPr/>
        </p:nvCxnSpPr>
        <p:spPr>
          <a:xfrm>
            <a:off x="5005795" y="4238266"/>
            <a:ext cx="411063" cy="15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矩形 68">
            <a:extLst>
              <a:ext uri="{FF2B5EF4-FFF2-40B4-BE49-F238E27FC236}">
                <a16:creationId xmlns:a16="http://schemas.microsoft.com/office/drawing/2014/main" id="{138ECD51-95EE-D28D-86FC-F8D2807A2A35}"/>
              </a:ext>
            </a:extLst>
          </p:cNvPr>
          <p:cNvSpPr/>
          <p:nvPr/>
        </p:nvSpPr>
        <p:spPr>
          <a:xfrm>
            <a:off x="8350917" y="3727824"/>
            <a:ext cx="1372770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CDEF641-C9F3-0D29-D3E0-45BEC5CCA826}"/>
              </a:ext>
            </a:extLst>
          </p:cNvPr>
          <p:cNvSpPr/>
          <p:nvPr/>
        </p:nvSpPr>
        <p:spPr>
          <a:xfrm>
            <a:off x="3814907" y="3713020"/>
            <a:ext cx="4144530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290E37EA-476E-3318-71F6-66515E756E90}"/>
              </a:ext>
            </a:extLst>
          </p:cNvPr>
          <p:cNvSpPr txBox="1"/>
          <p:nvPr/>
        </p:nvSpPr>
        <p:spPr>
          <a:xfrm>
            <a:off x="3845719" y="4642440"/>
            <a:ext cx="424900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Routing Module</a:t>
            </a:r>
            <a:endParaRPr lang="zh-TW" altLang="en-US" sz="1000" dirty="0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CD84B0AC-7937-98FF-B926-0BEEB31009B9}"/>
              </a:ext>
            </a:extLst>
          </p:cNvPr>
          <p:cNvSpPr/>
          <p:nvPr/>
        </p:nvSpPr>
        <p:spPr>
          <a:xfrm>
            <a:off x="6784509" y="3977014"/>
            <a:ext cx="969210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Support Route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Planning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91" name="直線單箭頭接點 90">
            <a:extLst>
              <a:ext uri="{FF2B5EF4-FFF2-40B4-BE49-F238E27FC236}">
                <a16:creationId xmlns:a16="http://schemas.microsoft.com/office/drawing/2014/main" id="{F7003A2E-AF3B-57D3-4FD7-A007BB7CC2AF}"/>
              </a:ext>
            </a:extLst>
          </p:cNvPr>
          <p:cNvCxnSpPr>
            <a:cxnSpLocks/>
            <a:stCxn id="72" idx="3"/>
            <a:endCxn id="90" idx="1"/>
          </p:cNvCxnSpPr>
          <p:nvPr/>
        </p:nvCxnSpPr>
        <p:spPr>
          <a:xfrm>
            <a:off x="6390247" y="4239860"/>
            <a:ext cx="394262" cy="39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10E7B7B2-90FC-5EBE-E056-386470EF927C}"/>
              </a:ext>
            </a:extLst>
          </p:cNvPr>
          <p:cNvSpPr txBox="1"/>
          <p:nvPr/>
        </p:nvSpPr>
        <p:spPr>
          <a:xfrm>
            <a:off x="8355648" y="4641210"/>
            <a:ext cx="136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Evaluation Module</a:t>
            </a:r>
            <a:endParaRPr lang="zh-TW" altLang="en-US" sz="1000" dirty="0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99F50C1B-B115-4887-6882-5B6836AE2C95}"/>
              </a:ext>
            </a:extLst>
          </p:cNvPr>
          <p:cNvSpPr/>
          <p:nvPr/>
        </p:nvSpPr>
        <p:spPr>
          <a:xfrm>
            <a:off x="3814907" y="2221202"/>
            <a:ext cx="2757055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03140A68-8EED-9682-60AC-861D8A5A46A3}"/>
              </a:ext>
            </a:extLst>
          </p:cNvPr>
          <p:cNvSpPr txBox="1"/>
          <p:nvPr/>
        </p:nvSpPr>
        <p:spPr>
          <a:xfrm>
            <a:off x="3814907" y="3150622"/>
            <a:ext cx="27570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API Module</a:t>
            </a:r>
            <a:endParaRPr lang="zh-TW" altLang="en-US" sz="1000" dirty="0"/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3F899A0-D982-68B2-8632-F2417DCAEC8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743068" y="2690702"/>
            <a:ext cx="1342991" cy="1229635"/>
          </a:xfrm>
          <a:prstGeom prst="bentConnector3">
            <a:avLst>
              <a:gd name="adj1" fmla="val 10000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A425C25F-D584-4BB8-82FA-89DA25A9213B}"/>
              </a:ext>
            </a:extLst>
          </p:cNvPr>
          <p:cNvCxnSpPr>
            <a:cxnSpLocks/>
          </p:cNvCxnSpPr>
          <p:nvPr/>
        </p:nvCxnSpPr>
        <p:spPr>
          <a:xfrm rot="5400000">
            <a:off x="2990892" y="2931332"/>
            <a:ext cx="1106015" cy="970965"/>
          </a:xfrm>
          <a:prstGeom prst="bentConnector3">
            <a:avLst>
              <a:gd name="adj1" fmla="val 26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流程圖: 磁碟 12">
            <a:extLst>
              <a:ext uri="{FF2B5EF4-FFF2-40B4-BE49-F238E27FC236}">
                <a16:creationId xmlns:a16="http://schemas.microsoft.com/office/drawing/2014/main" id="{EC19F867-725C-021C-7FE6-5E45B3AAE183}"/>
              </a:ext>
            </a:extLst>
          </p:cNvPr>
          <p:cNvSpPr/>
          <p:nvPr/>
        </p:nvSpPr>
        <p:spPr>
          <a:xfrm>
            <a:off x="10264923" y="3823855"/>
            <a:ext cx="792480" cy="896431"/>
          </a:xfrm>
          <a:prstGeom prst="flowChartMagneticDisk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dirty="0"/>
          </a:p>
        </p:txBody>
      </p:sp>
      <p:sp>
        <p:nvSpPr>
          <p:cNvPr id="19" name="文字方塊 8">
            <a:extLst>
              <a:ext uri="{FF2B5EF4-FFF2-40B4-BE49-F238E27FC236}">
                <a16:creationId xmlns:a16="http://schemas.microsoft.com/office/drawing/2014/main" id="{D4930C9A-8C8F-9189-046B-C7D99C931A92}"/>
              </a:ext>
            </a:extLst>
          </p:cNvPr>
          <p:cNvSpPr txBox="1"/>
          <p:nvPr/>
        </p:nvSpPr>
        <p:spPr>
          <a:xfrm>
            <a:off x="10271847" y="4115510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Optimized</a:t>
            </a:r>
            <a:endParaRPr lang="zh-TW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0" name="文字方塊 8">
            <a:extLst>
              <a:ext uri="{FF2B5EF4-FFF2-40B4-BE49-F238E27FC236}">
                <a16:creationId xmlns:a16="http://schemas.microsoft.com/office/drawing/2014/main" id="{FEFD8DD3-0ABA-3EC3-61FD-44F2CE86ED68}"/>
              </a:ext>
            </a:extLst>
          </p:cNvPr>
          <p:cNvSpPr txBox="1"/>
          <p:nvPr/>
        </p:nvSpPr>
        <p:spPr>
          <a:xfrm>
            <a:off x="10278774" y="4288508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Route Data</a:t>
            </a:r>
            <a:endParaRPr 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97BC4CD7-1BAA-FDE9-601E-B8CCD6327E39}"/>
              </a:ext>
            </a:extLst>
          </p:cNvPr>
          <p:cNvCxnSpPr>
            <a:cxnSpLocks/>
            <a:stCxn id="90" idx="3"/>
            <a:endCxn id="74" idx="1"/>
          </p:cNvCxnSpPr>
          <p:nvPr/>
        </p:nvCxnSpPr>
        <p:spPr>
          <a:xfrm>
            <a:off x="7753719" y="4243785"/>
            <a:ext cx="792478" cy="1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接點: 肘形 39">
            <a:extLst>
              <a:ext uri="{FF2B5EF4-FFF2-40B4-BE49-F238E27FC236}">
                <a16:creationId xmlns:a16="http://schemas.microsoft.com/office/drawing/2014/main" id="{6D8C7326-BD4D-73DE-B003-F516F5FE7A42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16892" y="2796745"/>
            <a:ext cx="1339501" cy="1023856"/>
          </a:xfrm>
          <a:prstGeom prst="bentConnector3">
            <a:avLst>
              <a:gd name="adj1" fmla="val -16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792AFDE7-7349-695C-D56A-02AC8AFB9835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10910" y="3031511"/>
            <a:ext cx="1103789" cy="776180"/>
          </a:xfrm>
          <a:prstGeom prst="bentConnector3">
            <a:avLst>
              <a:gd name="adj1" fmla="val 10005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2377B2C2-A331-04B8-AEB4-ED04D4ED7B27}"/>
              </a:ext>
            </a:extLst>
          </p:cNvPr>
          <p:cNvCxnSpPr>
            <a:cxnSpLocks/>
          </p:cNvCxnSpPr>
          <p:nvPr/>
        </p:nvCxnSpPr>
        <p:spPr>
          <a:xfrm flipH="1" flipV="1">
            <a:off x="5780821" y="3021731"/>
            <a:ext cx="1043" cy="955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CF8ED433-9397-66EF-FE12-AC70FFA589A7}"/>
              </a:ext>
            </a:extLst>
          </p:cNvPr>
          <p:cNvCxnSpPr>
            <a:cxnSpLocks/>
          </p:cNvCxnSpPr>
          <p:nvPr/>
        </p:nvCxnSpPr>
        <p:spPr>
          <a:xfrm>
            <a:off x="5980564" y="3024694"/>
            <a:ext cx="0" cy="952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圖: 磁碟 8">
            <a:extLst>
              <a:ext uri="{FF2B5EF4-FFF2-40B4-BE49-F238E27FC236}">
                <a16:creationId xmlns:a16="http://schemas.microsoft.com/office/drawing/2014/main" id="{5E2181D1-8613-B60F-5F0F-B4223DABACDA}"/>
              </a:ext>
            </a:extLst>
          </p:cNvPr>
          <p:cNvSpPr/>
          <p:nvPr/>
        </p:nvSpPr>
        <p:spPr>
          <a:xfrm>
            <a:off x="901102" y="3823855"/>
            <a:ext cx="792480" cy="896431"/>
          </a:xfrm>
          <a:prstGeom prst="flowChartMagneticDisk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7D31FDA-518F-4DEE-A9AD-DB2FFC2F32B3}"/>
              </a:ext>
            </a:extLst>
          </p:cNvPr>
          <p:cNvSpPr txBox="1"/>
          <p:nvPr/>
        </p:nvSpPr>
        <p:spPr>
          <a:xfrm>
            <a:off x="918200" y="4115510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Original</a:t>
            </a:r>
            <a:endParaRPr lang="zh-TW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1" name="文字方塊 8">
            <a:extLst>
              <a:ext uri="{FF2B5EF4-FFF2-40B4-BE49-F238E27FC236}">
                <a16:creationId xmlns:a16="http://schemas.microsoft.com/office/drawing/2014/main" id="{EC415E7D-136C-E691-2683-3353E7658532}"/>
              </a:ext>
            </a:extLst>
          </p:cNvPr>
          <p:cNvSpPr txBox="1"/>
          <p:nvPr/>
        </p:nvSpPr>
        <p:spPr>
          <a:xfrm>
            <a:off x="925127" y="4288508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Route Data</a:t>
            </a:r>
            <a:endParaRPr 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2927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5D5740-47DF-0445-B214-A9CA7FC9B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586047-D1EB-B261-6175-FC49FBE48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Data Preprocessing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AA90961-2B7B-ABEF-C5B4-6C4099DD6F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083" y="1922354"/>
            <a:ext cx="10058400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zh-TW" dirty="0"/>
              <a:t>Data preprocessing consists of data cleaning and data transformation processes</a:t>
            </a:r>
            <a:endParaRPr lang="en-US" altLang="zh-TW" dirty="0"/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en-US" altLang="zh-TW" dirty="0">
                <a:solidFill>
                  <a:schemeClr val="tx1"/>
                </a:solidFill>
              </a:rPr>
              <a:t>Data Cleaning</a:t>
            </a:r>
          </a:p>
          <a:p>
            <a:pPr marL="749808" lvl="1" indent="-457200">
              <a:lnSpc>
                <a:spcPct val="150000"/>
              </a:lnSpc>
            </a:pPr>
            <a:r>
              <a:rPr lang="en-US" altLang="zh-TW" dirty="0"/>
              <a:t>Handle missing or incomplete store attributes</a:t>
            </a:r>
            <a:endParaRPr lang="en-US" altLang="zh-TW" dirty="0">
              <a:solidFill>
                <a:schemeClr val="tx1"/>
              </a:solidFill>
            </a:endParaRPr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en-US" altLang="zh-TW" dirty="0">
                <a:solidFill>
                  <a:schemeClr val="tx1"/>
                </a:solidFill>
              </a:rPr>
              <a:t>Data Transformation</a:t>
            </a:r>
          </a:p>
          <a:p>
            <a:pPr marL="749808" lvl="1" indent="-457200">
              <a:lnSpc>
                <a:spcPct val="150000"/>
              </a:lnSpc>
            </a:pPr>
            <a:r>
              <a:rPr lang="en-US" altLang="zh-TW" dirty="0"/>
              <a:t>Convert the </a:t>
            </a:r>
            <a:r>
              <a:rPr lang="zh-TW" altLang="zh-TW" dirty="0"/>
              <a:t>data</a:t>
            </a:r>
            <a:r>
              <a:rPr lang="en-US" altLang="zh-TW" dirty="0"/>
              <a:t> into a structured format for routing optimization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3F0DF4D-A988-76A4-1C40-A2604F798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79326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917184-93EA-DDB1-3A13-4F2AB2A1A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09159969-96DE-2414-7C04-685AFF1892A0}"/>
              </a:ext>
            </a:extLst>
          </p:cNvPr>
          <p:cNvSpPr/>
          <p:nvPr/>
        </p:nvSpPr>
        <p:spPr>
          <a:xfrm>
            <a:off x="3814907" y="3713020"/>
            <a:ext cx="4144530" cy="124690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A833890-DA4C-BD15-26ED-DE6D81557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The proposed approach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95D1273-A037-C083-AC5B-6DF320A10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DF78278-D091-96ED-BCFD-F9A62F2A0CFA}"/>
              </a:ext>
            </a:extLst>
          </p:cNvPr>
          <p:cNvSpPr/>
          <p:nvPr/>
        </p:nvSpPr>
        <p:spPr>
          <a:xfrm>
            <a:off x="2207260" y="3713020"/>
            <a:ext cx="1372770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AB1863C-77FF-8B05-CFF3-0E5CA7E884FF}"/>
              </a:ext>
            </a:extLst>
          </p:cNvPr>
          <p:cNvSpPr/>
          <p:nvPr/>
        </p:nvSpPr>
        <p:spPr>
          <a:xfrm>
            <a:off x="2416093" y="3971496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50" dirty="0">
                <a:solidFill>
                  <a:schemeClr val="tx1"/>
                </a:solidFill>
              </a:rPr>
              <a:t>Data Preprocessing</a:t>
            </a:r>
            <a:endParaRPr lang="zh-TW" altLang="en-US" sz="1050" dirty="0">
              <a:solidFill>
                <a:schemeClr val="tx1"/>
              </a:solidFill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18E3EF6-E867-FA00-D24A-648C48355F48}"/>
              </a:ext>
            </a:extLst>
          </p:cNvPr>
          <p:cNvSpPr/>
          <p:nvPr/>
        </p:nvSpPr>
        <p:spPr>
          <a:xfrm>
            <a:off x="4032406" y="3971495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Store Extraction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03E00C2-917A-CC9E-EBAB-96F38F1DBED5}"/>
              </a:ext>
            </a:extLst>
          </p:cNvPr>
          <p:cNvSpPr/>
          <p:nvPr/>
        </p:nvSpPr>
        <p:spPr>
          <a:xfrm>
            <a:off x="5416858" y="3973089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Store Assignment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DF65256-92EB-FFF4-9CEB-4F1F110CD6A2}"/>
              </a:ext>
            </a:extLst>
          </p:cNvPr>
          <p:cNvSpPr/>
          <p:nvPr/>
        </p:nvSpPr>
        <p:spPr>
          <a:xfrm>
            <a:off x="8546197" y="3978422"/>
            <a:ext cx="971297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Performance Evaluation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7994DE3-112C-F927-64F6-6C69F57BFFF0}"/>
              </a:ext>
            </a:extLst>
          </p:cNvPr>
          <p:cNvSpPr/>
          <p:nvPr/>
        </p:nvSpPr>
        <p:spPr>
          <a:xfrm>
            <a:off x="5394947" y="2488190"/>
            <a:ext cx="971297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Google Maps Routes API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B094508-D559-AD4C-03D5-AA2703CE8849}"/>
              </a:ext>
            </a:extLst>
          </p:cNvPr>
          <p:cNvSpPr/>
          <p:nvPr/>
        </p:nvSpPr>
        <p:spPr>
          <a:xfrm>
            <a:off x="4029382" y="2483833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OSRM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18C7852B-220E-3E57-EEB6-82C5580F9183}"/>
              </a:ext>
            </a:extLst>
          </p:cNvPr>
          <p:cNvCxnSpPr>
            <a:cxnSpLocks/>
            <a:endCxn id="22" idx="1"/>
          </p:cNvCxnSpPr>
          <p:nvPr/>
        </p:nvCxnSpPr>
        <p:spPr>
          <a:xfrm flipV="1">
            <a:off x="1637714" y="4238267"/>
            <a:ext cx="77837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38194188-B3B9-5B6F-ECE7-9F8E4BAC6F08}"/>
              </a:ext>
            </a:extLst>
          </p:cNvPr>
          <p:cNvCxnSpPr>
            <a:cxnSpLocks/>
            <a:stCxn id="25" idx="3"/>
          </p:cNvCxnSpPr>
          <p:nvPr/>
        </p:nvCxnSpPr>
        <p:spPr>
          <a:xfrm flipV="1">
            <a:off x="9517494" y="4242191"/>
            <a:ext cx="754355" cy="30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85A96671-9275-D83F-667E-E61F65070E70}"/>
              </a:ext>
            </a:extLst>
          </p:cNvPr>
          <p:cNvSpPr txBox="1"/>
          <p:nvPr/>
        </p:nvSpPr>
        <p:spPr>
          <a:xfrm>
            <a:off x="2352890" y="4642440"/>
            <a:ext cx="11019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Data Module</a:t>
            </a:r>
            <a:endParaRPr lang="zh-TW" altLang="en-US" sz="1000" dirty="0"/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3FFEEE69-A0E6-EBB2-8D18-1572135C6486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 flipV="1">
            <a:off x="3389482" y="4238266"/>
            <a:ext cx="6429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4C733326-DFE0-7B1A-B48B-21D5497D74F0}"/>
              </a:ext>
            </a:extLst>
          </p:cNvPr>
          <p:cNvCxnSpPr>
            <a:cxnSpLocks/>
            <a:stCxn id="23" idx="3"/>
            <a:endCxn id="24" idx="1"/>
          </p:cNvCxnSpPr>
          <p:nvPr/>
        </p:nvCxnSpPr>
        <p:spPr>
          <a:xfrm>
            <a:off x="5005795" y="4238266"/>
            <a:ext cx="411063" cy="15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856AA079-8038-06AE-55B2-420632127194}"/>
              </a:ext>
            </a:extLst>
          </p:cNvPr>
          <p:cNvSpPr/>
          <p:nvPr/>
        </p:nvSpPr>
        <p:spPr>
          <a:xfrm>
            <a:off x="8350917" y="3727824"/>
            <a:ext cx="1372770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120709D5-CB70-82AB-BFF1-0C038C5AF01A}"/>
              </a:ext>
            </a:extLst>
          </p:cNvPr>
          <p:cNvSpPr txBox="1"/>
          <p:nvPr/>
        </p:nvSpPr>
        <p:spPr>
          <a:xfrm>
            <a:off x="3845719" y="4642440"/>
            <a:ext cx="424900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Routing Module</a:t>
            </a:r>
            <a:endParaRPr lang="zh-TW" altLang="en-US" sz="1000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308B44A-D481-D1FC-B7C2-5D1A21D6E9EC}"/>
              </a:ext>
            </a:extLst>
          </p:cNvPr>
          <p:cNvSpPr/>
          <p:nvPr/>
        </p:nvSpPr>
        <p:spPr>
          <a:xfrm>
            <a:off x="6784509" y="3977014"/>
            <a:ext cx="969210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Support Route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Planning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40" name="直線單箭頭接點 39">
            <a:extLst>
              <a:ext uri="{FF2B5EF4-FFF2-40B4-BE49-F238E27FC236}">
                <a16:creationId xmlns:a16="http://schemas.microsoft.com/office/drawing/2014/main" id="{9431D27C-BCC4-0ECB-00F2-4C046AE2287A}"/>
              </a:ext>
            </a:extLst>
          </p:cNvPr>
          <p:cNvCxnSpPr>
            <a:cxnSpLocks/>
            <a:stCxn id="24" idx="3"/>
            <a:endCxn id="39" idx="1"/>
          </p:cNvCxnSpPr>
          <p:nvPr/>
        </p:nvCxnSpPr>
        <p:spPr>
          <a:xfrm>
            <a:off x="6390247" y="4239860"/>
            <a:ext cx="394262" cy="39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D79E2643-3509-6294-7390-46434BDE960D}"/>
              </a:ext>
            </a:extLst>
          </p:cNvPr>
          <p:cNvSpPr txBox="1"/>
          <p:nvPr/>
        </p:nvSpPr>
        <p:spPr>
          <a:xfrm>
            <a:off x="8355648" y="4641210"/>
            <a:ext cx="136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Evaluation Module</a:t>
            </a:r>
            <a:endParaRPr lang="zh-TW" altLang="en-US" sz="1000" dirty="0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DDCF806-5380-C025-4D3C-8996566C9E2F}"/>
              </a:ext>
            </a:extLst>
          </p:cNvPr>
          <p:cNvSpPr/>
          <p:nvPr/>
        </p:nvSpPr>
        <p:spPr>
          <a:xfrm>
            <a:off x="3814907" y="2221202"/>
            <a:ext cx="2757055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6ECD02AE-D2E1-4E5D-B8B1-3C23650DB426}"/>
              </a:ext>
            </a:extLst>
          </p:cNvPr>
          <p:cNvSpPr txBox="1"/>
          <p:nvPr/>
        </p:nvSpPr>
        <p:spPr>
          <a:xfrm>
            <a:off x="3814907" y="3150622"/>
            <a:ext cx="27570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API Module</a:t>
            </a:r>
            <a:endParaRPr lang="zh-TW" altLang="en-US" sz="1000" dirty="0"/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D2457337-DE23-9B59-AD66-44054787D36B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743068" y="2690702"/>
            <a:ext cx="1342991" cy="1229635"/>
          </a:xfrm>
          <a:prstGeom prst="bentConnector3">
            <a:avLst>
              <a:gd name="adj1" fmla="val 10000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7EED67C6-2581-78E9-6165-6EE01856A709}"/>
              </a:ext>
            </a:extLst>
          </p:cNvPr>
          <p:cNvCxnSpPr>
            <a:cxnSpLocks/>
          </p:cNvCxnSpPr>
          <p:nvPr/>
        </p:nvCxnSpPr>
        <p:spPr>
          <a:xfrm rot="5400000">
            <a:off x="2990892" y="2931332"/>
            <a:ext cx="1106015" cy="970965"/>
          </a:xfrm>
          <a:prstGeom prst="bentConnector3">
            <a:avLst>
              <a:gd name="adj1" fmla="val 26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流程圖: 磁碟 48">
            <a:extLst>
              <a:ext uri="{FF2B5EF4-FFF2-40B4-BE49-F238E27FC236}">
                <a16:creationId xmlns:a16="http://schemas.microsoft.com/office/drawing/2014/main" id="{67A26891-6175-B0FA-5C0A-69E45EE57F7B}"/>
              </a:ext>
            </a:extLst>
          </p:cNvPr>
          <p:cNvSpPr/>
          <p:nvPr/>
        </p:nvSpPr>
        <p:spPr>
          <a:xfrm>
            <a:off x="10264923" y="3823855"/>
            <a:ext cx="792480" cy="896431"/>
          </a:xfrm>
          <a:prstGeom prst="flowChartMagneticDisk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dirty="0"/>
          </a:p>
        </p:txBody>
      </p:sp>
      <p:sp>
        <p:nvSpPr>
          <p:cNvPr id="55" name="文字方塊 8">
            <a:extLst>
              <a:ext uri="{FF2B5EF4-FFF2-40B4-BE49-F238E27FC236}">
                <a16:creationId xmlns:a16="http://schemas.microsoft.com/office/drawing/2014/main" id="{430873D7-7A2C-E997-42EC-3A8EDD5EC264}"/>
              </a:ext>
            </a:extLst>
          </p:cNvPr>
          <p:cNvSpPr txBox="1"/>
          <p:nvPr/>
        </p:nvSpPr>
        <p:spPr>
          <a:xfrm>
            <a:off x="10271847" y="4115510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Optimized</a:t>
            </a:r>
            <a:endParaRPr lang="zh-TW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6" name="文字方塊 8">
            <a:extLst>
              <a:ext uri="{FF2B5EF4-FFF2-40B4-BE49-F238E27FC236}">
                <a16:creationId xmlns:a16="http://schemas.microsoft.com/office/drawing/2014/main" id="{D68C66C5-6F5B-B0E7-2154-CCE6C7842AA0}"/>
              </a:ext>
            </a:extLst>
          </p:cNvPr>
          <p:cNvSpPr txBox="1"/>
          <p:nvPr/>
        </p:nvSpPr>
        <p:spPr>
          <a:xfrm>
            <a:off x="10278774" y="4288508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Route Data</a:t>
            </a:r>
            <a:endParaRPr 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CD2563A3-EA51-3B31-EDA6-F41B16878C6F}"/>
              </a:ext>
            </a:extLst>
          </p:cNvPr>
          <p:cNvCxnSpPr>
            <a:cxnSpLocks/>
            <a:stCxn id="39" idx="3"/>
            <a:endCxn id="25" idx="1"/>
          </p:cNvCxnSpPr>
          <p:nvPr/>
        </p:nvCxnSpPr>
        <p:spPr>
          <a:xfrm>
            <a:off x="7753719" y="4243785"/>
            <a:ext cx="792478" cy="1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接點: 肘形 63">
            <a:extLst>
              <a:ext uri="{FF2B5EF4-FFF2-40B4-BE49-F238E27FC236}">
                <a16:creationId xmlns:a16="http://schemas.microsoft.com/office/drawing/2014/main" id="{2F814A8B-385D-9DB5-3A8D-15FB79689CC4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16892" y="2796745"/>
            <a:ext cx="1339501" cy="1023856"/>
          </a:xfrm>
          <a:prstGeom prst="bentConnector3">
            <a:avLst>
              <a:gd name="adj1" fmla="val -16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4D4A820-31C8-11C6-E819-AAB5B95DA631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10910" y="3031511"/>
            <a:ext cx="1103789" cy="776180"/>
          </a:xfrm>
          <a:prstGeom prst="bentConnector3">
            <a:avLst>
              <a:gd name="adj1" fmla="val 10005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2420C91C-11B3-D738-7A14-D9F4E84E320F}"/>
              </a:ext>
            </a:extLst>
          </p:cNvPr>
          <p:cNvCxnSpPr>
            <a:cxnSpLocks/>
          </p:cNvCxnSpPr>
          <p:nvPr/>
        </p:nvCxnSpPr>
        <p:spPr>
          <a:xfrm flipH="1" flipV="1">
            <a:off x="5780821" y="3021731"/>
            <a:ext cx="1043" cy="955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E291AE6E-D216-1184-4257-1244FC086C38}"/>
              </a:ext>
            </a:extLst>
          </p:cNvPr>
          <p:cNvCxnSpPr>
            <a:cxnSpLocks/>
          </p:cNvCxnSpPr>
          <p:nvPr/>
        </p:nvCxnSpPr>
        <p:spPr>
          <a:xfrm>
            <a:off x="5980564" y="3024694"/>
            <a:ext cx="0" cy="952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流程圖: 磁碟 5">
            <a:extLst>
              <a:ext uri="{FF2B5EF4-FFF2-40B4-BE49-F238E27FC236}">
                <a16:creationId xmlns:a16="http://schemas.microsoft.com/office/drawing/2014/main" id="{9F9D287D-DE48-AB50-B06B-C320B6A023D5}"/>
              </a:ext>
            </a:extLst>
          </p:cNvPr>
          <p:cNvSpPr/>
          <p:nvPr/>
        </p:nvSpPr>
        <p:spPr>
          <a:xfrm>
            <a:off x="901102" y="3823855"/>
            <a:ext cx="792480" cy="896431"/>
          </a:xfrm>
          <a:prstGeom prst="flowChartMagneticDisk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F02E731-8806-0F3F-45E5-B684542DB213}"/>
              </a:ext>
            </a:extLst>
          </p:cNvPr>
          <p:cNvSpPr txBox="1"/>
          <p:nvPr/>
        </p:nvSpPr>
        <p:spPr>
          <a:xfrm>
            <a:off x="918200" y="4115510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Original</a:t>
            </a:r>
            <a:endParaRPr lang="zh-TW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8" name="文字方塊 8">
            <a:extLst>
              <a:ext uri="{FF2B5EF4-FFF2-40B4-BE49-F238E27FC236}">
                <a16:creationId xmlns:a16="http://schemas.microsoft.com/office/drawing/2014/main" id="{E90EDB7E-B456-2E43-1C4D-62A11B6C91B7}"/>
              </a:ext>
            </a:extLst>
          </p:cNvPr>
          <p:cNvSpPr txBox="1"/>
          <p:nvPr/>
        </p:nvSpPr>
        <p:spPr>
          <a:xfrm>
            <a:off x="925127" y="4288508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Route Data</a:t>
            </a:r>
            <a:endParaRPr 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82314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0607BA-65E0-9671-82C1-A3D835CD0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4DB061-6C80-17AF-4B5E-84CB8C1F8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Routing Module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523EA98-4841-AB80-5022-30741AC4A7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718668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zh-TW" dirty="0"/>
              <a:t>The proposed framework is developed by considering the constraints of the logistics company, and mainly consists of three stage</a:t>
            </a:r>
            <a:r>
              <a:rPr lang="en-US" altLang="zh-TW" dirty="0"/>
              <a:t>s</a:t>
            </a:r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en-US" altLang="zh-TW" dirty="0"/>
              <a:t>Store Extraction</a:t>
            </a:r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en-US" altLang="zh-TW" dirty="0"/>
              <a:t>Store Assignment</a:t>
            </a:r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en-US" altLang="zh-TW" dirty="0"/>
              <a:t>Support Route Planning</a:t>
            </a:r>
          </a:p>
          <a:p>
            <a:pPr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Ø"/>
            </a:pPr>
            <a:endParaRPr lang="en-US" altLang="zh-TW" dirty="0"/>
          </a:p>
          <a:p>
            <a:pPr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Ø"/>
            </a:pPr>
            <a:r>
              <a:rPr lang="en-US" altLang="zh-TW" dirty="0"/>
              <a:t>The routing process in the proposed framework is </a:t>
            </a:r>
            <a:r>
              <a:rPr lang="zh-TW" altLang="zh-TW" dirty="0"/>
              <a:t>formulated as a Vehicle Routing Problem (VRP)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74B726-3822-BF3C-0167-C409891BE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900446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E61BFB-70A7-6BB9-36E2-8F0073A3B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1D6FF3-8321-6BA7-AE4C-8A998842A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VRP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8C8CF03-1754-8007-99D3-9DA64B4A4C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Clr>
                <a:schemeClr val="accent1">
                  <a:lumMod val="50000"/>
                </a:schemeClr>
              </a:buClr>
              <a:buNone/>
            </a:pPr>
            <a:r>
              <a:rPr lang="en-US" altLang="zh-TW" dirty="0"/>
              <a:t>Vehicle Routing Problem</a:t>
            </a:r>
            <a:r>
              <a:rPr lang="zh-TW" altLang="en-US" dirty="0"/>
              <a:t> </a:t>
            </a:r>
            <a:r>
              <a:rPr lang="en-US" altLang="zh-TW" dirty="0"/>
              <a:t>(VRP)[1]</a:t>
            </a:r>
          </a:p>
          <a:p>
            <a:pPr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Ø"/>
            </a:pPr>
            <a:r>
              <a:rPr lang="en-US" altLang="zh-TW" dirty="0"/>
              <a:t>NP-hard problem in combinatorial optimization and integer programming</a:t>
            </a:r>
          </a:p>
          <a:p>
            <a:pPr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Ø"/>
            </a:pPr>
            <a:r>
              <a:rPr lang="en-US" altLang="zh-TW" dirty="0"/>
              <a:t>The objective is to ensure that all customer demands are satisfied while complying with operational constraints and minimizing the overall cost</a:t>
            </a:r>
          </a:p>
          <a:p>
            <a:pPr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Ø"/>
            </a:pPr>
            <a:endParaRPr lang="en-US" altLang="zh-TW" dirty="0"/>
          </a:p>
          <a:p>
            <a:pPr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Ø"/>
            </a:pPr>
            <a:r>
              <a:rPr lang="en-US" altLang="zh-TW" dirty="0"/>
              <a:t>Constraints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2000" dirty="0"/>
              <a:t>Each vehicle starts and ends its route at the depot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2000" dirty="0"/>
              <a:t>Each customer is visited exactly once and served by exactly one vehicle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2000" dirty="0"/>
              <a:t>The demand of every customer must be satisfied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2E53523-D08A-59D4-99E5-9EFFBBF16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66D4813-1FB8-4F04-92C2-DBEDECC35DA1}"/>
              </a:ext>
            </a:extLst>
          </p:cNvPr>
          <p:cNvSpPr txBox="1"/>
          <p:nvPr/>
        </p:nvSpPr>
        <p:spPr>
          <a:xfrm>
            <a:off x="979517" y="6365348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800"/>
              </a:spcAft>
              <a:buNone/>
            </a:pPr>
            <a:r>
              <a:rPr lang="en-US" altLang="zh-TW" sz="12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</a:rPr>
              <a:t>[1]</a:t>
            </a:r>
            <a:r>
              <a:rPr lang="zh-TW" altLang="en-US" sz="12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</a:rPr>
              <a:t>  </a:t>
            </a:r>
            <a:r>
              <a:rPr lang="en-US" altLang="zh-TW" sz="12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</a:rPr>
              <a:t>P. Toth and D. Vigo, </a:t>
            </a:r>
            <a:r>
              <a:rPr lang="en-US" altLang="zh-TW" sz="1200" i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</a:rPr>
              <a:t>The vehicle routing problem</a:t>
            </a:r>
            <a:r>
              <a:rPr lang="en-US" altLang="zh-TW" sz="12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</a:rPr>
              <a:t>. SIAM, 2002.</a:t>
            </a:r>
            <a:endParaRPr lang="zh-TW" altLang="zh-TW" sz="1200" kern="100" dirty="0">
              <a:solidFill>
                <a:schemeClr val="bg1"/>
              </a:solidFill>
              <a:effectLst/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234904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8104D2-0CE3-C978-B9C9-0773B24D5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ED79EAB-D062-209B-78B8-12963C7A6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VRP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D3524AB-C7F0-330E-01E5-DC326524A3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Ø"/>
            </a:pPr>
            <a:r>
              <a:rPr lang="en-US" altLang="zh-TW" dirty="0"/>
              <a:t>Variants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000" dirty="0"/>
              <a:t>Capacitated Vehicle Routing Problem</a:t>
            </a:r>
            <a:r>
              <a:rPr lang="zh-TW" altLang="en-US" sz="2000" dirty="0"/>
              <a:t> </a:t>
            </a:r>
            <a:r>
              <a:rPr lang="en-US" altLang="zh-TW" sz="2000" dirty="0"/>
              <a:t>(CVRP)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000" dirty="0"/>
              <a:t>Vehicle Routing Problem with Time Windows</a:t>
            </a:r>
            <a:r>
              <a:rPr lang="zh-TW" altLang="en-US" sz="2000" dirty="0"/>
              <a:t> </a:t>
            </a:r>
            <a:r>
              <a:rPr lang="en-US" altLang="zh-TW" sz="2000" dirty="0"/>
              <a:t>(VRPTW)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000" dirty="0"/>
              <a:t>etc.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altLang="zh-TW" sz="2000" dirty="0"/>
          </a:p>
          <a:p>
            <a:pPr lvl="1">
              <a:buFont typeface="Arial" panose="020B0604020202020204" pitchFamily="34" charset="0"/>
              <a:buChar char="•"/>
            </a:pPr>
            <a:endParaRPr lang="en-US" altLang="zh-TW" sz="2200" dirty="0"/>
          </a:p>
          <a:p>
            <a:pPr>
              <a:buFont typeface="Arial" panose="020B0604020202020204" pitchFamily="34" charset="0"/>
              <a:buChar char="•"/>
            </a:pPr>
            <a:endParaRPr lang="en-US" altLang="zh-TW" sz="2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A70888C-E0D4-917B-D15D-FCA24FDBA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55222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D0D9C9-1226-5928-9AC5-C733B5B82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D2B7E8-D721-B4FB-7980-ED219E63E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Constraints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825CA7F-EA6B-FE92-128D-61F40ABC8A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857610"/>
            <a:ext cx="10058400" cy="4023360"/>
          </a:xfrm>
        </p:spPr>
        <p:txBody>
          <a:bodyPr>
            <a:normAutofit/>
          </a:bodyPr>
          <a:lstStyle/>
          <a:p>
            <a:pPr marL="0" indent="0">
              <a:buClr>
                <a:schemeClr val="accent1">
                  <a:lumMod val="50000"/>
                </a:schemeClr>
              </a:buClr>
              <a:buNone/>
            </a:pPr>
            <a:r>
              <a:rPr lang="en-US" altLang="zh-TW" dirty="0">
                <a:solidFill>
                  <a:schemeClr val="tx1"/>
                </a:solidFill>
              </a:rPr>
              <a:t>The constraints considered in this study</a:t>
            </a:r>
            <a:r>
              <a:rPr lang="zh-TW" altLang="en-US" dirty="0">
                <a:solidFill>
                  <a:schemeClr val="tx1"/>
                </a:solidFill>
              </a:rPr>
              <a:t> </a:t>
            </a:r>
            <a:r>
              <a:rPr lang="en-US" altLang="zh-TW" dirty="0">
                <a:solidFill>
                  <a:schemeClr val="tx1"/>
                </a:solidFill>
              </a:rPr>
              <a:t>are defined as follows</a:t>
            </a:r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en-US" altLang="zh-TW" dirty="0"/>
              <a:t>The main routes are defined with a fixed sequence of stores, and the ordering cannot be modified</a:t>
            </a:r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zh-TW" altLang="zh-TW" dirty="0"/>
              <a:t>The extent of route modification is minimized while preserving the main</a:t>
            </a:r>
            <a:r>
              <a:rPr lang="zh-TW" altLang="en-US" dirty="0"/>
              <a:t> </a:t>
            </a:r>
            <a:r>
              <a:rPr lang="zh-TW" altLang="zh-TW" dirty="0"/>
              <a:t>route structure</a:t>
            </a:r>
            <a:endParaRPr lang="en-US" altLang="zh-TW" dirty="0"/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zh-TW" altLang="zh-TW" dirty="0"/>
              <a:t>The vehicle capacity must not be exceeded</a:t>
            </a:r>
            <a:endParaRPr lang="en-US" altLang="zh-TW" dirty="0">
              <a:solidFill>
                <a:schemeClr val="tx1"/>
              </a:solidFill>
            </a:endParaRPr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en-US" altLang="zh-TW" dirty="0">
                <a:solidFill>
                  <a:schemeClr val="tx1"/>
                </a:solidFill>
              </a:rPr>
              <a:t>The time window is defined as 1 hour before and 30 minutes after the scheduled time</a:t>
            </a:r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zh-TW" altLang="zh-TW" dirty="0"/>
              <a:t>The total route duration must not exceed 5 hours</a:t>
            </a:r>
            <a:endParaRPr lang="en-US" altLang="zh-TW" dirty="0"/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endParaRPr lang="en-US" altLang="zh-TW" dirty="0">
              <a:solidFill>
                <a:schemeClr val="tx1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C2F935B-D19E-E040-DC20-3B30AF02B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74883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E3C3B2-2A84-30FC-3E24-FCD661D51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766BD8-6B89-AC9C-68DB-C51037D51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Objective Function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E3BE9A6-9026-B190-CFE2-00DB532533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Clr>
                    <a:schemeClr val="accent1">
                      <a:lumMod val="50000"/>
                    </a:schemeClr>
                  </a:buClr>
                  <a:buFont typeface="Wingdings" panose="05000000000000000000" pitchFamily="2" charset="2"/>
                  <a:buChar char="Ø"/>
                </a:pPr>
                <a:r>
                  <a:rPr lang="en-US" altLang="zh-TW" dirty="0"/>
                  <a:t>The objective function is formulated as a hierarchical objective</a:t>
                </a:r>
              </a:p>
              <a:p>
                <a:pPr lvl="1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TW" altLang="zh-TW" dirty="0"/>
                  <a:t>Minimize Number of Support Routes</a:t>
                </a:r>
                <a:endParaRPr lang="en-US" altLang="zh-TW" dirty="0"/>
              </a:p>
              <a:p>
                <a:pPr marL="201168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𝑣𝑒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𝑖𝑐𝑙𝑒</m:t>
                          </m:r>
                        </m:sub>
                      </m:sSub>
                      <m:d>
                        <m:d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TW" alt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zh-TW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zh-TW" alt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zh-TW" altLang="en-US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zh-TW" altLang="en-US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zh-TW" alt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zh-TW" altLang="en-US" i="1">
                                      <a:latin typeface="Cambria Math" panose="02040503050406030204" pitchFamily="18" charset="0"/>
                                    </a:rPr>
                                    <m:t>≠0)</m:t>
                                  </m:r>
                                </m:e>
                              </m:eqAr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zh-TW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zh-TW" alt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0,</m:t>
                                  </m:r>
                                  <m:r>
                                    <a:rPr lang="zh-TW" alt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p>
                              </m:sSubSup>
                            </m:e>
                          </m:nary>
                        </m:e>
                      </m:nary>
                    </m:oMath>
                  </m:oMathPara>
                </a14:m>
                <a:endParaRPr lang="en-US" altLang="zh-TW" dirty="0"/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zh-TW" altLang="zh-TW" dirty="0"/>
                  <a:t>Minimize Total Distance</a:t>
                </a:r>
                <a:endParaRPr lang="en-US" altLang="zh-TW" dirty="0"/>
              </a:p>
              <a:p>
                <a:pPr marL="201168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𝑡𝑟𝑎𝑣𝑒𝑙</m:t>
                          </m:r>
                        </m:sub>
                      </m:sSub>
                      <m:d>
                        <m:d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TW" alt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  <m:sup/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zh-TW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eqArr>
                                    <m:eqArrPr>
                                      <m:ctrlPr>
                                        <a:rPr lang="zh-TW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eqArrPr>
                                    <m:e>
                                      <m:r>
                                        <a:rPr lang="zh-TW" alt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zh-TW" altLang="en-US" i="1">
                                          <a:latin typeface="Cambria Math" panose="02040503050406030204" pitchFamily="18" charset="0"/>
                                        </a:rPr>
                                        <m:t>∈</m:t>
                                      </m:r>
                                      <m:r>
                                        <a:rPr lang="zh-TW" altLang="en-US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zh-TW" alt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zh-TW" altLang="en-US" i="1">
                                          <a:latin typeface="Cambria Math" panose="02040503050406030204" pitchFamily="18" charset="0"/>
                                        </a:rPr>
                                        <m:t>≠</m:t>
                                      </m:r>
                                      <m:r>
                                        <a:rPr lang="zh-TW" alt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eqArr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zh-TW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zh-TW" alt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zh-TW" alt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zh-TW" altLang="en-US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Sup>
                                    <m:sSubSupPr>
                                      <m:ctrlPr>
                                        <a:rPr lang="zh-TW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zh-TW" alt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zh-TW" alt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zh-TW" alt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zh-TW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nary>
                        </m:e>
                      </m:nary>
                    </m:oMath>
                  </m:oMathPara>
                </a14:m>
                <a:endParaRPr lang="en-US" altLang="zh-TW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E3BE9A6-9026-B190-CFE2-00DB532533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1939F-C541-3267-E13A-7960BD01B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54024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044FBE-870B-6CE6-D0E2-649633075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AB3E21-8E5F-D6B8-7F35-98A15BDDE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Store Extraction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78B2D5-FD0C-4825-3993-15B67F0BCA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TW" dirty="0"/>
                  <a:t>A</a:t>
                </a:r>
                <a:r>
                  <a:rPr lang="zh-TW" altLang="zh-TW" dirty="0"/>
                  <a:t>ddress vehicle overloading caused by demand fluctuations by removing selected stores from overloaded </a:t>
                </a:r>
                <a:r>
                  <a:rPr lang="en-US" altLang="zh-TW" dirty="0"/>
                  <a:t>main </a:t>
                </a:r>
                <a:r>
                  <a:rPr lang="zh-TW" altLang="zh-TW" dirty="0"/>
                  <a:t>routes</a:t>
                </a:r>
                <a:r>
                  <a:rPr lang="en-US" altLang="zh-TW" dirty="0"/>
                  <a:t> to </a:t>
                </a:r>
                <a:r>
                  <a:rPr lang="zh-TW" altLang="zh-TW" dirty="0"/>
                  <a:t>satisfy capacity and time window constraints</a:t>
                </a:r>
                <a:endParaRPr lang="en-US" altLang="zh-TW" dirty="0"/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TW" dirty="0"/>
                  <a:t>Cooperative Co-evolutionary Genetic Algorithm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(CCGA)[2]</a:t>
                </a:r>
              </a:p>
              <a:p>
                <a:pPr lvl="1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TW" altLang="zh-TW" dirty="0"/>
                  <a:t>Decompose the problem into </a:t>
                </a:r>
                <a:r>
                  <a:rPr lang="en-US" altLang="zh-TW" dirty="0"/>
                  <a:t>multiple </a:t>
                </a:r>
                <a:r>
                  <a:rPr lang="zh-TW" altLang="zh-TW" dirty="0"/>
                  <a:t>smaller subproblems</a:t>
                </a:r>
                <a:endParaRPr lang="en-US" altLang="zh-TW" dirty="0"/>
              </a:p>
              <a:p>
                <a:pPr lvl="1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TW" altLang="zh-TW" dirty="0"/>
                  <a:t>Evolve each subproblem independently using Genetic Algorithms</a:t>
                </a:r>
                <a:endParaRPr lang="en-US" altLang="zh-TW" dirty="0"/>
              </a:p>
              <a:p>
                <a:pPr lvl="1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TW" altLang="zh-TW" dirty="0"/>
                  <a:t>Combine partial solutions and evaluate the complete solution</a:t>
                </a:r>
                <a:endParaRPr lang="en-US" altLang="zh-TW" dirty="0"/>
              </a:p>
              <a:p>
                <a:pPr lvl="1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i="1" smtClean="0">
                        <a:latin typeface="Cambria Math" panose="02040503050406030204" pitchFamily="18" charset="0"/>
                      </a:rPr>
                      <m:t>𝑓𝑖𝑡𝑛𝑒𝑠𝑠</m:t>
                    </m:r>
                    <m:r>
                      <a:rPr lang="en-US" altLang="zh-TW" i="1" smtClean="0">
                        <a:latin typeface="Cambria Math" panose="02040503050406030204" pitchFamily="18" charset="0"/>
                      </a:rPr>
                      <m:t> =</m:t>
                    </m:r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𝑣𝑒h𝑖𝑐𝑙𝑒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)+</m:t>
                    </m:r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⋅|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|+</m:t>
                    </m:r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𝑡𝑟𝑎𝑣𝑒𝑙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TW" altLang="en-US" dirty="0"/>
              </a:p>
              <a:p>
                <a:pPr lvl="1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78B2D5-FD0C-4825-3993-15B67F0BCA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06079BC-B004-5D1E-9240-90A6D47A6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F56D1B6-D6D2-E7FF-2C69-DA6C48344B92}"/>
              </a:ext>
            </a:extLst>
          </p:cNvPr>
          <p:cNvSpPr txBox="1"/>
          <p:nvPr/>
        </p:nvSpPr>
        <p:spPr>
          <a:xfrm>
            <a:off x="979517" y="6367183"/>
            <a:ext cx="10058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800"/>
              </a:spcAft>
              <a:buNone/>
            </a:pPr>
            <a:r>
              <a:rPr lang="en-US" altLang="zh-TW" sz="12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</a:rPr>
              <a:t>[2]</a:t>
            </a:r>
            <a:r>
              <a:rPr lang="en-US" altLang="zh-TW" sz="1200" kern="100" dirty="0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 </a:t>
            </a:r>
            <a:r>
              <a:rPr lang="en-US" altLang="zh-TW" sz="12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</a:rPr>
              <a:t>X. Ma</a:t>
            </a:r>
            <a:r>
              <a:rPr lang="en-US" altLang="zh-TW" sz="1200" i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</a:rPr>
              <a:t> et al.</a:t>
            </a:r>
            <a:r>
              <a:rPr lang="en-US" altLang="zh-TW" sz="12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</a:rPr>
              <a:t>, "A survey on cooperative co-evolutionary algorithms," </a:t>
            </a:r>
            <a:r>
              <a:rPr lang="en-US" altLang="zh-TW" sz="1200" i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</a:rPr>
              <a:t>IEEE Transactions on Evolutionary Computation, </a:t>
            </a:r>
            <a:r>
              <a:rPr lang="en-US" altLang="zh-TW" sz="12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</a:rPr>
              <a:t>vol. 23, no. 3, pp. 421–441, 2018.</a:t>
            </a:r>
            <a:endParaRPr lang="zh-TW" altLang="zh-TW" sz="1200" kern="100" dirty="0">
              <a:solidFill>
                <a:schemeClr val="bg1"/>
              </a:solidFill>
              <a:effectLst/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892512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192A1B-6FA4-DCC6-808A-EA3C1F5B3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112EE1-1BD1-368D-9159-8B09BB760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Store Assignment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FC6B11F-0DD8-3CC4-3966-337A9A873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893B6B56-560F-B365-4615-811B1CC8C4D1}"/>
              </a:ext>
            </a:extLst>
          </p:cNvPr>
          <p:cNvSpPr txBox="1">
            <a:spLocks/>
          </p:cNvSpPr>
          <p:nvPr/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Ø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l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TW" dirty="0"/>
              <a:t>I</a:t>
            </a:r>
            <a:r>
              <a:rPr lang="zh-TW" altLang="zh-TW" dirty="0"/>
              <a:t>nsert candidate stores into main routes with available capacity to improve utilization and reduce the need for support routes</a:t>
            </a:r>
            <a:endParaRPr lang="en-US" altLang="zh-TW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TW" dirty="0"/>
              <a:t>Hybrid Ant Colony Optimization (HACO)[3]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dirty="0"/>
              <a:t>Combine Ant Colony Optimization</a:t>
            </a:r>
            <a:r>
              <a:rPr lang="zh-TW" altLang="en-US" dirty="0"/>
              <a:t> </a:t>
            </a:r>
            <a:r>
              <a:rPr lang="en-US" altLang="zh-TW" dirty="0"/>
              <a:t>(ACO) and </a:t>
            </a:r>
            <a:r>
              <a:rPr lang="zh-TW" altLang="zh-TW" dirty="0"/>
              <a:t>Variable Neighborhood Descent</a:t>
            </a:r>
            <a:r>
              <a:rPr lang="en-US" altLang="zh-TW" dirty="0"/>
              <a:t> (VND)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dirty="0"/>
              <a:t>ACO constructs solutions by simulating pheromone-based communication among ants</a:t>
            </a:r>
            <a:endParaRPr lang="en-US" altLang="zh-TW" dirty="0"/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dirty="0"/>
              <a:t>VND improves solutions by sequentially exploring multiple neighborhood to escape local optima</a:t>
            </a:r>
            <a:endParaRPr lang="en-US" altLang="zh-TW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D836BE0-D00E-B521-C7F6-56F78B60D3E4}"/>
              </a:ext>
            </a:extLst>
          </p:cNvPr>
          <p:cNvSpPr txBox="1"/>
          <p:nvPr/>
        </p:nvSpPr>
        <p:spPr>
          <a:xfrm>
            <a:off x="979517" y="6363245"/>
            <a:ext cx="93836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800"/>
              </a:spcAft>
              <a:buNone/>
            </a:pPr>
            <a:r>
              <a:rPr lang="en-US" altLang="zh-TW" sz="12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</a:rPr>
              <a:t>[3]</a:t>
            </a:r>
            <a:r>
              <a:rPr lang="zh-TW" altLang="en-US" sz="12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</a:rPr>
              <a:t>  </a:t>
            </a:r>
            <a:r>
              <a:rPr lang="en-US" altLang="zh-TW" sz="12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</a:rPr>
              <a:t>Q. Ding, X. Hu, L. Sun, and Y. Wang, "An improved ant colony optimization and its application to vehicle routing problem with time windows," </a:t>
            </a:r>
            <a:r>
              <a:rPr lang="en-US" altLang="zh-TW" sz="1200" i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</a:rPr>
              <a:t>Neurocomputing, </a:t>
            </a:r>
            <a:r>
              <a:rPr lang="en-US" altLang="zh-TW" sz="12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</a:rPr>
              <a:t>vol. 98, pp. 101–107, 2012.</a:t>
            </a:r>
            <a:endParaRPr lang="zh-TW" altLang="zh-TW" sz="1200" kern="100" dirty="0">
              <a:solidFill>
                <a:schemeClr val="bg1"/>
              </a:solidFill>
              <a:effectLst/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591617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1FECAD-FCB4-1003-0C95-6C88C2915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7E3B61-AE48-2968-7AD8-1A13ADCE2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Support Route Planning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4B810D-FC73-A553-60E6-7015E0001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BB14FA3D-3001-C747-2DB6-66D5582B47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023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TW" dirty="0"/>
              <a:t>Perform routing for stores that cannot be assigned to main routes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TW" dirty="0"/>
              <a:t>Multiple Ant Colony System</a:t>
            </a:r>
            <a:r>
              <a:rPr lang="zh-TW" altLang="en-US" dirty="0"/>
              <a:t> </a:t>
            </a:r>
            <a:r>
              <a:rPr lang="en-US" altLang="zh-TW" dirty="0"/>
              <a:t>(MACS)[4]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dirty="0"/>
              <a:t>ACS-VEI minimizes the number of vehicles by improving </a:t>
            </a:r>
            <a:r>
              <a:rPr lang="en-US" altLang="zh-TW" dirty="0"/>
              <a:t>store</a:t>
            </a:r>
            <a:r>
              <a:rPr lang="zh-TW" altLang="zh-TW" dirty="0"/>
              <a:t> coverage during route construction</a:t>
            </a:r>
            <a:endParaRPr lang="en-US" altLang="zh-TW" dirty="0"/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dirty="0"/>
              <a:t>ACS-DIST minimizes total travel distance by applying VND for local optimization after solution construction.</a:t>
            </a:r>
            <a:endParaRPr lang="en-US" altLang="zh-TW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98658F3-C84B-5B94-8D3E-342C74A5B3E3}"/>
              </a:ext>
            </a:extLst>
          </p:cNvPr>
          <p:cNvSpPr txBox="1"/>
          <p:nvPr/>
        </p:nvSpPr>
        <p:spPr>
          <a:xfrm>
            <a:off x="979517" y="6363245"/>
            <a:ext cx="96488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</a:rPr>
              <a:t>[4]  L. M. Gambardella, É. </a:t>
            </a:r>
            <a:r>
              <a:rPr lang="en-US" altLang="zh-TW" sz="1200" dirty="0" err="1">
                <a:solidFill>
                  <a:schemeClr val="bg1"/>
                </a:solidFill>
              </a:rPr>
              <a:t>Taillard</a:t>
            </a:r>
            <a:r>
              <a:rPr lang="en-US" altLang="zh-TW" sz="1200" dirty="0">
                <a:solidFill>
                  <a:schemeClr val="bg1"/>
                </a:solidFill>
              </a:rPr>
              <a:t>, and G. Agazzi, "MACS-VRPTW: A multiple ant colony system for vehicle routing problems with time windows," ed: Istituto Dalle Molle Di Studi Sull </a:t>
            </a:r>
            <a:r>
              <a:rPr lang="en-US" altLang="zh-TW" sz="1200" dirty="0" err="1">
                <a:solidFill>
                  <a:schemeClr val="bg1"/>
                </a:solidFill>
              </a:rPr>
              <a:t>Intelligenza</a:t>
            </a:r>
            <a:r>
              <a:rPr lang="en-US" altLang="zh-TW" sz="1200" dirty="0">
                <a:solidFill>
                  <a:schemeClr val="bg1"/>
                </a:solidFill>
              </a:rPr>
              <a:t> </a:t>
            </a:r>
            <a:r>
              <a:rPr lang="en-US" altLang="zh-TW" sz="1200" dirty="0" err="1">
                <a:solidFill>
                  <a:schemeClr val="bg1"/>
                </a:solidFill>
              </a:rPr>
              <a:t>Artificiale</a:t>
            </a:r>
            <a:r>
              <a:rPr lang="en-US" altLang="zh-TW" sz="1200" dirty="0">
                <a:solidFill>
                  <a:schemeClr val="bg1"/>
                </a:solidFill>
              </a:rPr>
              <a:t>, 1999</a:t>
            </a:r>
            <a:endParaRPr lang="zh-TW" alt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31088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271F19-E799-790E-1B38-E8CFBA129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8D550C14-D2E6-BA6A-6139-FC2DE4996821}"/>
              </a:ext>
            </a:extLst>
          </p:cNvPr>
          <p:cNvSpPr/>
          <p:nvPr/>
        </p:nvSpPr>
        <p:spPr>
          <a:xfrm>
            <a:off x="8350917" y="3727824"/>
            <a:ext cx="1372770" cy="124690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CE1D91A-C9BE-C08C-ACDE-0C413EA2B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The proposed approach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7E64EF5-D0ED-7A56-6228-DDFC5CB9A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23</a:t>
            </a:fld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69B3B0-57F6-1C92-F5D0-2964B57F70C8}"/>
              </a:ext>
            </a:extLst>
          </p:cNvPr>
          <p:cNvSpPr/>
          <p:nvPr/>
        </p:nvSpPr>
        <p:spPr>
          <a:xfrm>
            <a:off x="2207260" y="3713020"/>
            <a:ext cx="1372770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5040F68-8DD0-1B11-6EA2-61F5AEF93125}"/>
              </a:ext>
            </a:extLst>
          </p:cNvPr>
          <p:cNvSpPr/>
          <p:nvPr/>
        </p:nvSpPr>
        <p:spPr>
          <a:xfrm>
            <a:off x="2416093" y="3971496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50" dirty="0">
                <a:solidFill>
                  <a:schemeClr val="tx1"/>
                </a:solidFill>
              </a:rPr>
              <a:t>Data Preprocessing</a:t>
            </a:r>
            <a:endParaRPr lang="zh-TW" altLang="en-US" sz="105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A536A47-CA00-3476-6E60-EA4AFD930770}"/>
              </a:ext>
            </a:extLst>
          </p:cNvPr>
          <p:cNvSpPr/>
          <p:nvPr/>
        </p:nvSpPr>
        <p:spPr>
          <a:xfrm>
            <a:off x="4032406" y="3971495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Store Extraction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71E753C-CAD7-BBB5-BF4C-34072D5700C7}"/>
              </a:ext>
            </a:extLst>
          </p:cNvPr>
          <p:cNvSpPr/>
          <p:nvPr/>
        </p:nvSpPr>
        <p:spPr>
          <a:xfrm>
            <a:off x="5416858" y="3973089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Store Assignment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B5DBFE4-3DAC-DF95-8981-2310B5EDB609}"/>
              </a:ext>
            </a:extLst>
          </p:cNvPr>
          <p:cNvSpPr/>
          <p:nvPr/>
        </p:nvSpPr>
        <p:spPr>
          <a:xfrm>
            <a:off x="8546197" y="3978422"/>
            <a:ext cx="971297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Performance Evaluation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EEA4DE1-B8DC-1042-8228-C6FB549C1B0B}"/>
              </a:ext>
            </a:extLst>
          </p:cNvPr>
          <p:cNvSpPr/>
          <p:nvPr/>
        </p:nvSpPr>
        <p:spPr>
          <a:xfrm>
            <a:off x="5394947" y="2488190"/>
            <a:ext cx="971297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Google Maps Routes API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431D335-5AB8-684C-D394-E438AED28EE6}"/>
              </a:ext>
            </a:extLst>
          </p:cNvPr>
          <p:cNvSpPr/>
          <p:nvPr/>
        </p:nvSpPr>
        <p:spPr>
          <a:xfrm>
            <a:off x="4029382" y="2483833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OSRM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33FB917-6A29-1899-95DF-F148C075EB60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1637714" y="4238267"/>
            <a:ext cx="77837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0E8D8C11-D80E-06FB-CB33-343364DBE0E3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9517494" y="4242191"/>
            <a:ext cx="754355" cy="30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4B67E79-4CF3-4650-6E3B-85701FBAB47B}"/>
              </a:ext>
            </a:extLst>
          </p:cNvPr>
          <p:cNvSpPr txBox="1"/>
          <p:nvPr/>
        </p:nvSpPr>
        <p:spPr>
          <a:xfrm>
            <a:off x="2352890" y="4642440"/>
            <a:ext cx="11019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Data Module</a:t>
            </a:r>
            <a:endParaRPr lang="zh-TW" altLang="en-US" sz="1000" dirty="0"/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38918806-091C-F341-9E9D-DA87788324B3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389482" y="4238266"/>
            <a:ext cx="6429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6B5D236E-FF19-A58C-919A-18192EEA1B63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>
            <a:off x="5005795" y="4238266"/>
            <a:ext cx="411063" cy="15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DCF4C5FA-D9A7-6E19-F3EB-6D195C093684}"/>
              </a:ext>
            </a:extLst>
          </p:cNvPr>
          <p:cNvSpPr/>
          <p:nvPr/>
        </p:nvSpPr>
        <p:spPr>
          <a:xfrm>
            <a:off x="3814907" y="3713020"/>
            <a:ext cx="4144530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DB5A96C0-B90D-25FF-5E91-F11B4E7F101B}"/>
              </a:ext>
            </a:extLst>
          </p:cNvPr>
          <p:cNvSpPr txBox="1"/>
          <p:nvPr/>
        </p:nvSpPr>
        <p:spPr>
          <a:xfrm>
            <a:off x="3845719" y="4642440"/>
            <a:ext cx="424900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Routing Module</a:t>
            </a:r>
            <a:endParaRPr lang="zh-TW" altLang="en-US" sz="1000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558FA42-C770-EAB5-C5F8-6B9B3E6D4291}"/>
              </a:ext>
            </a:extLst>
          </p:cNvPr>
          <p:cNvSpPr/>
          <p:nvPr/>
        </p:nvSpPr>
        <p:spPr>
          <a:xfrm>
            <a:off x="6784509" y="3977014"/>
            <a:ext cx="969210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Support Route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Planning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0BA557FE-2725-DF52-7FB3-BE240B584CE7}"/>
              </a:ext>
            </a:extLst>
          </p:cNvPr>
          <p:cNvCxnSpPr>
            <a:cxnSpLocks/>
            <a:stCxn id="13" idx="3"/>
            <a:endCxn id="28" idx="1"/>
          </p:cNvCxnSpPr>
          <p:nvPr/>
        </p:nvCxnSpPr>
        <p:spPr>
          <a:xfrm>
            <a:off x="6390247" y="4239860"/>
            <a:ext cx="394262" cy="39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F9E022A-E1F6-423E-911A-EF1202C47B97}"/>
              </a:ext>
            </a:extLst>
          </p:cNvPr>
          <p:cNvSpPr txBox="1"/>
          <p:nvPr/>
        </p:nvSpPr>
        <p:spPr>
          <a:xfrm>
            <a:off x="8355648" y="4641210"/>
            <a:ext cx="136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Evaluation Module</a:t>
            </a:r>
            <a:endParaRPr lang="zh-TW" altLang="en-US" sz="10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B9AEB1A-08A0-1B84-4CBB-6980BA4792B1}"/>
              </a:ext>
            </a:extLst>
          </p:cNvPr>
          <p:cNvSpPr/>
          <p:nvPr/>
        </p:nvSpPr>
        <p:spPr>
          <a:xfrm>
            <a:off x="3814907" y="2221202"/>
            <a:ext cx="2757055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8A63D81A-054A-F8FF-260C-A3DC7D643812}"/>
              </a:ext>
            </a:extLst>
          </p:cNvPr>
          <p:cNvSpPr txBox="1"/>
          <p:nvPr/>
        </p:nvSpPr>
        <p:spPr>
          <a:xfrm>
            <a:off x="3814907" y="3150622"/>
            <a:ext cx="27570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API Module</a:t>
            </a:r>
            <a:endParaRPr lang="zh-TW" altLang="en-US" sz="1000" dirty="0"/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D8C0B731-F037-5458-8BFE-EBCDE32900C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743068" y="2690702"/>
            <a:ext cx="1342991" cy="1229635"/>
          </a:xfrm>
          <a:prstGeom prst="bentConnector3">
            <a:avLst>
              <a:gd name="adj1" fmla="val 10000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接點: 肘形 36">
            <a:extLst>
              <a:ext uri="{FF2B5EF4-FFF2-40B4-BE49-F238E27FC236}">
                <a16:creationId xmlns:a16="http://schemas.microsoft.com/office/drawing/2014/main" id="{0B90D8D3-B235-233F-3C33-541DAAE080D9}"/>
              </a:ext>
            </a:extLst>
          </p:cNvPr>
          <p:cNvCxnSpPr>
            <a:cxnSpLocks/>
          </p:cNvCxnSpPr>
          <p:nvPr/>
        </p:nvCxnSpPr>
        <p:spPr>
          <a:xfrm rot="5400000">
            <a:off x="2990892" y="2931332"/>
            <a:ext cx="1106015" cy="970965"/>
          </a:xfrm>
          <a:prstGeom prst="bentConnector3">
            <a:avLst>
              <a:gd name="adj1" fmla="val 26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流程圖: 磁碟 38">
            <a:extLst>
              <a:ext uri="{FF2B5EF4-FFF2-40B4-BE49-F238E27FC236}">
                <a16:creationId xmlns:a16="http://schemas.microsoft.com/office/drawing/2014/main" id="{0CE9F9F1-D80D-11B8-A818-61D9BA7D318C}"/>
              </a:ext>
            </a:extLst>
          </p:cNvPr>
          <p:cNvSpPr/>
          <p:nvPr/>
        </p:nvSpPr>
        <p:spPr>
          <a:xfrm>
            <a:off x="10264923" y="3823855"/>
            <a:ext cx="792480" cy="896431"/>
          </a:xfrm>
          <a:prstGeom prst="flowChartMagneticDisk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dirty="0"/>
          </a:p>
        </p:txBody>
      </p:sp>
      <p:sp>
        <p:nvSpPr>
          <p:cNvPr id="46" name="文字方塊 8">
            <a:extLst>
              <a:ext uri="{FF2B5EF4-FFF2-40B4-BE49-F238E27FC236}">
                <a16:creationId xmlns:a16="http://schemas.microsoft.com/office/drawing/2014/main" id="{991093C4-5C52-976B-D054-1930309EF128}"/>
              </a:ext>
            </a:extLst>
          </p:cNvPr>
          <p:cNvSpPr txBox="1"/>
          <p:nvPr/>
        </p:nvSpPr>
        <p:spPr>
          <a:xfrm>
            <a:off x="10271847" y="4115510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Optimized</a:t>
            </a:r>
            <a:endParaRPr lang="zh-TW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48" name="文字方塊 8">
            <a:extLst>
              <a:ext uri="{FF2B5EF4-FFF2-40B4-BE49-F238E27FC236}">
                <a16:creationId xmlns:a16="http://schemas.microsoft.com/office/drawing/2014/main" id="{98AAA2EA-8762-3A66-28E8-A3AA6E5AF035}"/>
              </a:ext>
            </a:extLst>
          </p:cNvPr>
          <p:cNvSpPr txBox="1"/>
          <p:nvPr/>
        </p:nvSpPr>
        <p:spPr>
          <a:xfrm>
            <a:off x="10278774" y="4288508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Route Data</a:t>
            </a:r>
            <a:endParaRPr 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cxnSp>
        <p:nvCxnSpPr>
          <p:cNvPr id="49" name="直線單箭頭接點 48">
            <a:extLst>
              <a:ext uri="{FF2B5EF4-FFF2-40B4-BE49-F238E27FC236}">
                <a16:creationId xmlns:a16="http://schemas.microsoft.com/office/drawing/2014/main" id="{34373A1F-BA82-110F-A573-42919A5702A5}"/>
              </a:ext>
            </a:extLst>
          </p:cNvPr>
          <p:cNvCxnSpPr>
            <a:cxnSpLocks/>
            <a:stCxn id="28" idx="3"/>
            <a:endCxn id="16" idx="1"/>
          </p:cNvCxnSpPr>
          <p:nvPr/>
        </p:nvCxnSpPr>
        <p:spPr>
          <a:xfrm>
            <a:off x="7753719" y="4243785"/>
            <a:ext cx="792478" cy="1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ED4FDA1-F8BF-1193-8A74-288BD6E2698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16892" y="2796745"/>
            <a:ext cx="1339501" cy="1023856"/>
          </a:xfrm>
          <a:prstGeom prst="bentConnector3">
            <a:avLst>
              <a:gd name="adj1" fmla="val -16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接點: 肘形 51">
            <a:extLst>
              <a:ext uri="{FF2B5EF4-FFF2-40B4-BE49-F238E27FC236}">
                <a16:creationId xmlns:a16="http://schemas.microsoft.com/office/drawing/2014/main" id="{98993F70-AE48-80EC-ADFA-D731E19D1DC6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10910" y="3031511"/>
            <a:ext cx="1103789" cy="776180"/>
          </a:xfrm>
          <a:prstGeom prst="bentConnector3">
            <a:avLst>
              <a:gd name="adj1" fmla="val 10005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16FDAE27-5A72-428B-6683-46392BAF079A}"/>
              </a:ext>
            </a:extLst>
          </p:cNvPr>
          <p:cNvCxnSpPr>
            <a:cxnSpLocks/>
          </p:cNvCxnSpPr>
          <p:nvPr/>
        </p:nvCxnSpPr>
        <p:spPr>
          <a:xfrm flipH="1" flipV="1">
            <a:off x="5780821" y="3021731"/>
            <a:ext cx="1043" cy="955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單箭頭接點 53">
            <a:extLst>
              <a:ext uri="{FF2B5EF4-FFF2-40B4-BE49-F238E27FC236}">
                <a16:creationId xmlns:a16="http://schemas.microsoft.com/office/drawing/2014/main" id="{E3683248-990E-F0F9-E857-8736AABC249B}"/>
              </a:ext>
            </a:extLst>
          </p:cNvPr>
          <p:cNvCxnSpPr>
            <a:cxnSpLocks/>
          </p:cNvCxnSpPr>
          <p:nvPr/>
        </p:nvCxnSpPr>
        <p:spPr>
          <a:xfrm>
            <a:off x="5980564" y="3024694"/>
            <a:ext cx="0" cy="952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流程圖: 磁碟 6">
            <a:extLst>
              <a:ext uri="{FF2B5EF4-FFF2-40B4-BE49-F238E27FC236}">
                <a16:creationId xmlns:a16="http://schemas.microsoft.com/office/drawing/2014/main" id="{36869628-8564-DE77-07B7-81FF3BE303C9}"/>
              </a:ext>
            </a:extLst>
          </p:cNvPr>
          <p:cNvSpPr/>
          <p:nvPr/>
        </p:nvSpPr>
        <p:spPr>
          <a:xfrm>
            <a:off x="901102" y="3823855"/>
            <a:ext cx="792480" cy="896431"/>
          </a:xfrm>
          <a:prstGeom prst="flowChartMagneticDisk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6E7547D-EF2D-7D5F-176B-04B02B99429C}"/>
              </a:ext>
            </a:extLst>
          </p:cNvPr>
          <p:cNvSpPr txBox="1"/>
          <p:nvPr/>
        </p:nvSpPr>
        <p:spPr>
          <a:xfrm>
            <a:off x="918200" y="4115510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Original</a:t>
            </a:r>
            <a:endParaRPr lang="zh-TW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51B72D-89BD-053F-9711-B91E94FAF3E9}"/>
              </a:ext>
            </a:extLst>
          </p:cNvPr>
          <p:cNvSpPr txBox="1"/>
          <p:nvPr/>
        </p:nvSpPr>
        <p:spPr>
          <a:xfrm>
            <a:off x="925127" y="4288508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Route Data</a:t>
            </a:r>
            <a:endParaRPr 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09983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C1270F-AB9E-863D-CDBE-EEBAC013D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0CABBC-771A-86A2-0F5A-3A478FC55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Evaluation Module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67370C-C16D-8D85-717F-8D8FB23F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24</a:t>
            </a:fld>
            <a:endParaRPr lang="zh-TW" altLang="en-US"/>
          </a:p>
        </p:txBody>
      </p:sp>
      <p:sp>
        <p:nvSpPr>
          <p:cNvPr id="59" name="內容版面配置區 2">
            <a:extLst>
              <a:ext uri="{FF2B5EF4-FFF2-40B4-BE49-F238E27FC236}">
                <a16:creationId xmlns:a16="http://schemas.microsoft.com/office/drawing/2014/main" id="{E2FA261F-2938-34FE-08C9-C815CBA1B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058400" cy="4614052"/>
          </a:xfrm>
        </p:spPr>
        <p:txBody>
          <a:bodyPr>
            <a:normAutofit/>
          </a:bodyPr>
          <a:lstStyle/>
          <a:p>
            <a:pPr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Ø"/>
            </a:pPr>
            <a:r>
              <a:rPr lang="zh-TW" altLang="zh-TW" dirty="0"/>
              <a:t>The routing results are visualized on map-based visualization platform</a:t>
            </a:r>
            <a:r>
              <a:rPr lang="en-US" altLang="zh-TW" dirty="0"/>
              <a:t>s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D4A04D76-8FF1-8456-5027-74180B444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" y="2470891"/>
            <a:ext cx="4840670" cy="3261842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82027927-72EC-38B6-EB29-BA54587BD2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902"/>
          <a:stretch>
            <a:fillRect/>
          </a:stretch>
        </p:blipFill>
        <p:spPr>
          <a:xfrm>
            <a:off x="6096001" y="2470891"/>
            <a:ext cx="5410386" cy="3261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3765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10FAB0-A0E4-823A-5AA0-43624A0FE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6E19A9-5195-D404-668B-D18C9BC0B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Evaluate Module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E3D2A4A-1CCA-129C-2F7F-AFEB57933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25</a:t>
            </a:fld>
            <a:endParaRPr lang="zh-TW" altLang="en-US"/>
          </a:p>
        </p:txBody>
      </p:sp>
      <p:sp>
        <p:nvSpPr>
          <p:cNvPr id="10" name="內容版面配置區 9">
            <a:extLst>
              <a:ext uri="{FF2B5EF4-FFF2-40B4-BE49-F238E27FC236}">
                <a16:creationId xmlns:a16="http://schemas.microsoft.com/office/drawing/2014/main" id="{338F5130-24B6-BC8D-93DB-13AC612924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The following metrics are used to evaluate the performance of the proposed VRP framework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Number of Vehicles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Number of Support Vehicles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Total Distance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Average load rate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On time rate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Runtime</a:t>
            </a:r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225431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0D6655-5F72-37A7-CF71-2350AC44C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8C1114-122B-AC5B-7DF7-4E9E99A08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The proposed approach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D2C82C-C853-AAB6-5420-A10EF9D8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26</a:t>
            </a:fld>
            <a:endParaRPr lang="zh-TW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97F6865-92BD-A6D1-15C9-30A4A3E9CC34}"/>
              </a:ext>
            </a:extLst>
          </p:cNvPr>
          <p:cNvSpPr/>
          <p:nvPr/>
        </p:nvSpPr>
        <p:spPr>
          <a:xfrm>
            <a:off x="2207260" y="3713020"/>
            <a:ext cx="1372770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A98F779-FD28-D98F-6853-C4F100582DC6}"/>
              </a:ext>
            </a:extLst>
          </p:cNvPr>
          <p:cNvSpPr/>
          <p:nvPr/>
        </p:nvSpPr>
        <p:spPr>
          <a:xfrm>
            <a:off x="2416093" y="3971496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50" dirty="0">
                <a:solidFill>
                  <a:schemeClr val="tx1"/>
                </a:solidFill>
              </a:rPr>
              <a:t>Data Preprocessing</a:t>
            </a:r>
            <a:endParaRPr lang="zh-TW" altLang="en-US" sz="1050" dirty="0">
              <a:solidFill>
                <a:schemeClr val="tx1"/>
              </a:solidFill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353F4F1C-2C8E-5F4D-4615-9189F5A0ECD8}"/>
              </a:ext>
            </a:extLst>
          </p:cNvPr>
          <p:cNvSpPr/>
          <p:nvPr/>
        </p:nvSpPr>
        <p:spPr>
          <a:xfrm>
            <a:off x="4032406" y="3971495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Store Extraction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31C5FA5B-B530-E78B-9D29-5B73B86AF785}"/>
              </a:ext>
            </a:extLst>
          </p:cNvPr>
          <p:cNvSpPr/>
          <p:nvPr/>
        </p:nvSpPr>
        <p:spPr>
          <a:xfrm>
            <a:off x="5416858" y="3973089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Store Assignment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299B320-2F63-0CF4-0DA8-4404A4280E8A}"/>
              </a:ext>
            </a:extLst>
          </p:cNvPr>
          <p:cNvSpPr/>
          <p:nvPr/>
        </p:nvSpPr>
        <p:spPr>
          <a:xfrm>
            <a:off x="8546197" y="3978422"/>
            <a:ext cx="971297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Performance Evaluation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FBDCE885-1E36-551E-AD89-174CAE9D3B85}"/>
              </a:ext>
            </a:extLst>
          </p:cNvPr>
          <p:cNvSpPr/>
          <p:nvPr/>
        </p:nvSpPr>
        <p:spPr>
          <a:xfrm>
            <a:off x="5394947" y="2488190"/>
            <a:ext cx="971297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Google Maps Routes API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36DAB94-1763-F371-C6B1-6C96B13528A6}"/>
              </a:ext>
            </a:extLst>
          </p:cNvPr>
          <p:cNvSpPr/>
          <p:nvPr/>
        </p:nvSpPr>
        <p:spPr>
          <a:xfrm>
            <a:off x="4029382" y="2483833"/>
            <a:ext cx="973389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OSRM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48" name="直線單箭頭接點 47">
            <a:extLst>
              <a:ext uri="{FF2B5EF4-FFF2-40B4-BE49-F238E27FC236}">
                <a16:creationId xmlns:a16="http://schemas.microsoft.com/office/drawing/2014/main" id="{0E75D82D-D03E-FF41-F172-78C51AEC4A90}"/>
              </a:ext>
            </a:extLst>
          </p:cNvPr>
          <p:cNvCxnSpPr>
            <a:cxnSpLocks/>
            <a:endCxn id="40" idx="1"/>
          </p:cNvCxnSpPr>
          <p:nvPr/>
        </p:nvCxnSpPr>
        <p:spPr>
          <a:xfrm flipV="1">
            <a:off x="1637714" y="4238267"/>
            <a:ext cx="77837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線單箭頭接點 48">
            <a:extLst>
              <a:ext uri="{FF2B5EF4-FFF2-40B4-BE49-F238E27FC236}">
                <a16:creationId xmlns:a16="http://schemas.microsoft.com/office/drawing/2014/main" id="{EF74ABE5-C2F1-33F4-3FF5-ECE8CCD1777D}"/>
              </a:ext>
            </a:extLst>
          </p:cNvPr>
          <p:cNvCxnSpPr>
            <a:cxnSpLocks/>
            <a:stCxn id="43" idx="3"/>
          </p:cNvCxnSpPr>
          <p:nvPr/>
        </p:nvCxnSpPr>
        <p:spPr>
          <a:xfrm flipV="1">
            <a:off x="9517494" y="4242191"/>
            <a:ext cx="754355" cy="30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21D800B9-5D1B-A4F8-F1D2-827328AA0B02}"/>
              </a:ext>
            </a:extLst>
          </p:cNvPr>
          <p:cNvSpPr txBox="1"/>
          <p:nvPr/>
        </p:nvSpPr>
        <p:spPr>
          <a:xfrm>
            <a:off x="2352890" y="4642440"/>
            <a:ext cx="11019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Data Module</a:t>
            </a:r>
            <a:endParaRPr lang="zh-TW" altLang="en-US" sz="1000" dirty="0"/>
          </a:p>
        </p:txBody>
      </p: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3E319827-03D4-7150-D8B1-E8904034E1C6}"/>
              </a:ext>
            </a:extLst>
          </p:cNvPr>
          <p:cNvCxnSpPr>
            <a:cxnSpLocks/>
            <a:stCxn id="40" idx="3"/>
            <a:endCxn id="41" idx="1"/>
          </p:cNvCxnSpPr>
          <p:nvPr/>
        </p:nvCxnSpPr>
        <p:spPr>
          <a:xfrm flipV="1">
            <a:off x="3389482" y="4238266"/>
            <a:ext cx="6429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單箭頭接點 51">
            <a:extLst>
              <a:ext uri="{FF2B5EF4-FFF2-40B4-BE49-F238E27FC236}">
                <a16:creationId xmlns:a16="http://schemas.microsoft.com/office/drawing/2014/main" id="{90583BBF-7E12-405A-D563-06ED6D3DA561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005795" y="4238266"/>
            <a:ext cx="411063" cy="15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0E8257BC-7E95-5BC6-679A-01A970D13546}"/>
              </a:ext>
            </a:extLst>
          </p:cNvPr>
          <p:cNvSpPr/>
          <p:nvPr/>
        </p:nvSpPr>
        <p:spPr>
          <a:xfrm>
            <a:off x="8350917" y="3727824"/>
            <a:ext cx="1372770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992E2BD2-8509-79A5-7AAD-327EECCCC3F3}"/>
              </a:ext>
            </a:extLst>
          </p:cNvPr>
          <p:cNvSpPr/>
          <p:nvPr/>
        </p:nvSpPr>
        <p:spPr>
          <a:xfrm>
            <a:off x="3814907" y="3713020"/>
            <a:ext cx="4144530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8B228DAD-7402-E320-D380-338753471CFD}"/>
              </a:ext>
            </a:extLst>
          </p:cNvPr>
          <p:cNvSpPr txBox="1"/>
          <p:nvPr/>
        </p:nvSpPr>
        <p:spPr>
          <a:xfrm>
            <a:off x="3845719" y="4642440"/>
            <a:ext cx="424900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Routing Module</a:t>
            </a:r>
            <a:endParaRPr lang="zh-TW" altLang="en-US" sz="1000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6AFA9B27-F4DC-BA54-3B53-0B536BF52935}"/>
              </a:ext>
            </a:extLst>
          </p:cNvPr>
          <p:cNvSpPr/>
          <p:nvPr/>
        </p:nvSpPr>
        <p:spPr>
          <a:xfrm>
            <a:off x="6784509" y="3977014"/>
            <a:ext cx="969210" cy="53354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Support Route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Planning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C44DC62C-D8D1-6969-52CE-8A0CFA432B55}"/>
              </a:ext>
            </a:extLst>
          </p:cNvPr>
          <p:cNvCxnSpPr>
            <a:cxnSpLocks/>
            <a:stCxn id="42" idx="3"/>
            <a:endCxn id="56" idx="1"/>
          </p:cNvCxnSpPr>
          <p:nvPr/>
        </p:nvCxnSpPr>
        <p:spPr>
          <a:xfrm>
            <a:off x="6390247" y="4239860"/>
            <a:ext cx="394262" cy="39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E7E2E9C6-2158-8AFF-02E0-52F59C9DCF15}"/>
              </a:ext>
            </a:extLst>
          </p:cNvPr>
          <p:cNvSpPr txBox="1"/>
          <p:nvPr/>
        </p:nvSpPr>
        <p:spPr>
          <a:xfrm>
            <a:off x="8355648" y="4641210"/>
            <a:ext cx="136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Evaluation Module</a:t>
            </a:r>
            <a:endParaRPr lang="zh-TW" altLang="en-US" sz="1000" dirty="0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D5AF7F7E-0E3E-E23C-83A9-D9EF5DE93C9C}"/>
              </a:ext>
            </a:extLst>
          </p:cNvPr>
          <p:cNvSpPr/>
          <p:nvPr/>
        </p:nvSpPr>
        <p:spPr>
          <a:xfrm>
            <a:off x="3814907" y="2221202"/>
            <a:ext cx="2757055" cy="1246908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E48100B4-90E9-6147-5E26-48D6FC3A9A72}"/>
              </a:ext>
            </a:extLst>
          </p:cNvPr>
          <p:cNvSpPr txBox="1"/>
          <p:nvPr/>
        </p:nvSpPr>
        <p:spPr>
          <a:xfrm>
            <a:off x="3814907" y="3150622"/>
            <a:ext cx="27570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API Module</a:t>
            </a:r>
            <a:endParaRPr lang="zh-TW" altLang="en-US" sz="1000" dirty="0"/>
          </a:p>
        </p:txBody>
      </p:sp>
      <p:cxnSp>
        <p:nvCxnSpPr>
          <p:cNvPr id="66" name="接點: 肘形 65">
            <a:extLst>
              <a:ext uri="{FF2B5EF4-FFF2-40B4-BE49-F238E27FC236}">
                <a16:creationId xmlns:a16="http://schemas.microsoft.com/office/drawing/2014/main" id="{E94B0C1D-46E5-2A19-FAA8-6F237991A0C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743068" y="2690702"/>
            <a:ext cx="1342991" cy="1229635"/>
          </a:xfrm>
          <a:prstGeom prst="bentConnector3">
            <a:avLst>
              <a:gd name="adj1" fmla="val 10000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接點: 肘形 66">
            <a:extLst>
              <a:ext uri="{FF2B5EF4-FFF2-40B4-BE49-F238E27FC236}">
                <a16:creationId xmlns:a16="http://schemas.microsoft.com/office/drawing/2014/main" id="{0E62BA7B-6D47-0D34-4FCF-CE6492874848}"/>
              </a:ext>
            </a:extLst>
          </p:cNvPr>
          <p:cNvCxnSpPr>
            <a:cxnSpLocks/>
          </p:cNvCxnSpPr>
          <p:nvPr/>
        </p:nvCxnSpPr>
        <p:spPr>
          <a:xfrm rot="5400000">
            <a:off x="2990892" y="2931332"/>
            <a:ext cx="1106015" cy="970965"/>
          </a:xfrm>
          <a:prstGeom prst="bentConnector3">
            <a:avLst>
              <a:gd name="adj1" fmla="val 26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C992F4FA-59FB-1261-5541-87EFA94AD90D}"/>
              </a:ext>
            </a:extLst>
          </p:cNvPr>
          <p:cNvCxnSpPr>
            <a:cxnSpLocks/>
          </p:cNvCxnSpPr>
          <p:nvPr/>
        </p:nvCxnSpPr>
        <p:spPr>
          <a:xfrm flipH="1" flipV="1">
            <a:off x="5780821" y="3021731"/>
            <a:ext cx="1043" cy="955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流程圖: 磁碟 72">
            <a:extLst>
              <a:ext uri="{FF2B5EF4-FFF2-40B4-BE49-F238E27FC236}">
                <a16:creationId xmlns:a16="http://schemas.microsoft.com/office/drawing/2014/main" id="{ADF9F460-E6A9-85E4-9563-7E156E4E8531}"/>
              </a:ext>
            </a:extLst>
          </p:cNvPr>
          <p:cNvSpPr/>
          <p:nvPr/>
        </p:nvSpPr>
        <p:spPr>
          <a:xfrm>
            <a:off x="10264923" y="3823855"/>
            <a:ext cx="792480" cy="896431"/>
          </a:xfrm>
          <a:prstGeom prst="flowChartMagneticDisk">
            <a:avLst/>
          </a:prstGeom>
          <a:solidFill>
            <a:schemeClr val="tx2">
              <a:lumMod val="10000"/>
              <a:lumOff val="9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dirty="0"/>
          </a:p>
        </p:txBody>
      </p:sp>
      <p:grpSp>
        <p:nvGrpSpPr>
          <p:cNvPr id="77" name="群組 76">
            <a:extLst>
              <a:ext uri="{FF2B5EF4-FFF2-40B4-BE49-F238E27FC236}">
                <a16:creationId xmlns:a16="http://schemas.microsoft.com/office/drawing/2014/main" id="{5137084C-E2FF-FB6A-2B7D-F5759395BCF7}"/>
              </a:ext>
            </a:extLst>
          </p:cNvPr>
          <p:cNvGrpSpPr/>
          <p:nvPr/>
        </p:nvGrpSpPr>
        <p:grpSpPr>
          <a:xfrm>
            <a:off x="901099" y="3823855"/>
            <a:ext cx="792483" cy="896431"/>
            <a:chOff x="1181097" y="2391884"/>
            <a:chExt cx="792483" cy="823755"/>
          </a:xfrm>
        </p:grpSpPr>
        <p:sp>
          <p:nvSpPr>
            <p:cNvPr id="78" name="流程圖: 磁碟 77">
              <a:extLst>
                <a:ext uri="{FF2B5EF4-FFF2-40B4-BE49-F238E27FC236}">
                  <a16:creationId xmlns:a16="http://schemas.microsoft.com/office/drawing/2014/main" id="{DDC35C89-675C-222E-08F9-064AD1B9E528}"/>
                </a:ext>
              </a:extLst>
            </p:cNvPr>
            <p:cNvSpPr/>
            <p:nvPr/>
          </p:nvSpPr>
          <p:spPr>
            <a:xfrm>
              <a:off x="1181100" y="2391884"/>
              <a:ext cx="792480" cy="823755"/>
            </a:xfrm>
            <a:prstGeom prst="flowChartMagneticDisk">
              <a:avLst/>
            </a:prstGeom>
            <a:solidFill>
              <a:schemeClr val="bg1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zh-TW" altLang="en-US" dirty="0"/>
            </a:p>
          </p:txBody>
        </p:sp>
        <p:sp>
          <p:nvSpPr>
            <p:cNvPr id="80" name="文字方塊 8">
              <a:extLst>
                <a:ext uri="{FF2B5EF4-FFF2-40B4-BE49-F238E27FC236}">
                  <a16:creationId xmlns:a16="http://schemas.microsoft.com/office/drawing/2014/main" id="{730B14EB-0972-337B-C7FE-52C2C02A3C2F}"/>
                </a:ext>
              </a:extLst>
            </p:cNvPr>
            <p:cNvSpPr txBox="1"/>
            <p:nvPr/>
          </p:nvSpPr>
          <p:spPr>
            <a:xfrm>
              <a:off x="1181097" y="2657183"/>
              <a:ext cx="792481" cy="2208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en-US" sz="1000" kern="12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新細明體" panose="02020500000000000000" pitchFamily="18" charset="-120"/>
                  <a:cs typeface="Times New Roman" panose="02020603050405020304" pitchFamily="18" charset="0"/>
                </a:rPr>
                <a:t>Manually</a:t>
              </a:r>
              <a:endParaRPr lang="zh-TW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82" name="文字方塊 8">
              <a:extLst>
                <a:ext uri="{FF2B5EF4-FFF2-40B4-BE49-F238E27FC236}">
                  <a16:creationId xmlns:a16="http://schemas.microsoft.com/office/drawing/2014/main" id="{9798D1DD-D3BB-2895-9A44-A1696E4C9892}"/>
                </a:ext>
              </a:extLst>
            </p:cNvPr>
            <p:cNvSpPr txBox="1"/>
            <p:nvPr/>
          </p:nvSpPr>
          <p:spPr>
            <a:xfrm>
              <a:off x="1181099" y="2932347"/>
              <a:ext cx="792479" cy="2593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en-US" altLang="zh-TW" sz="1000" kern="12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新細明體" panose="02020500000000000000" pitchFamily="18" charset="-120"/>
                  <a:cs typeface="Times New Roman" panose="02020603050405020304" pitchFamily="18" charset="0"/>
                </a:rPr>
                <a:t>Route Data</a:t>
              </a:r>
              <a:endParaRPr 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83" name="文字方塊 8">
            <a:extLst>
              <a:ext uri="{FF2B5EF4-FFF2-40B4-BE49-F238E27FC236}">
                <a16:creationId xmlns:a16="http://schemas.microsoft.com/office/drawing/2014/main" id="{B5CA1A29-91C7-50C5-A601-125DFB22253F}"/>
              </a:ext>
            </a:extLst>
          </p:cNvPr>
          <p:cNvSpPr txBox="1"/>
          <p:nvPr/>
        </p:nvSpPr>
        <p:spPr>
          <a:xfrm>
            <a:off x="887245" y="4272070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Planned</a:t>
            </a:r>
            <a:endParaRPr lang="zh-TW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84" name="文字方塊 8">
            <a:extLst>
              <a:ext uri="{FF2B5EF4-FFF2-40B4-BE49-F238E27FC236}">
                <a16:creationId xmlns:a16="http://schemas.microsoft.com/office/drawing/2014/main" id="{2354D72A-F20F-CC55-A818-27EB1C274F1F}"/>
              </a:ext>
            </a:extLst>
          </p:cNvPr>
          <p:cNvSpPr txBox="1"/>
          <p:nvPr/>
        </p:nvSpPr>
        <p:spPr>
          <a:xfrm>
            <a:off x="10271847" y="4115510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Optimized</a:t>
            </a:r>
            <a:endParaRPr lang="zh-TW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85" name="文字方塊 8">
            <a:extLst>
              <a:ext uri="{FF2B5EF4-FFF2-40B4-BE49-F238E27FC236}">
                <a16:creationId xmlns:a16="http://schemas.microsoft.com/office/drawing/2014/main" id="{FDA32E35-19D5-4009-E272-4F57717461C8}"/>
              </a:ext>
            </a:extLst>
          </p:cNvPr>
          <p:cNvSpPr txBox="1"/>
          <p:nvPr/>
        </p:nvSpPr>
        <p:spPr>
          <a:xfrm>
            <a:off x="10278774" y="4288508"/>
            <a:ext cx="792479" cy="259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TW" sz="10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Route Data</a:t>
            </a:r>
            <a:endParaRPr 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767348D9-7D46-EDC8-656F-7CD08B05B3A6}"/>
              </a:ext>
            </a:extLst>
          </p:cNvPr>
          <p:cNvCxnSpPr>
            <a:cxnSpLocks/>
            <a:stCxn id="56" idx="3"/>
            <a:endCxn id="43" idx="1"/>
          </p:cNvCxnSpPr>
          <p:nvPr/>
        </p:nvCxnSpPr>
        <p:spPr>
          <a:xfrm>
            <a:off x="7753719" y="4243785"/>
            <a:ext cx="792478" cy="1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CE2E2493-4061-6B07-CD2E-B874E5BACABD}"/>
              </a:ext>
            </a:extLst>
          </p:cNvPr>
          <p:cNvCxnSpPr>
            <a:cxnSpLocks/>
          </p:cNvCxnSpPr>
          <p:nvPr/>
        </p:nvCxnSpPr>
        <p:spPr>
          <a:xfrm>
            <a:off x="5980564" y="3024694"/>
            <a:ext cx="0" cy="952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接點: 肘形 87">
            <a:extLst>
              <a:ext uri="{FF2B5EF4-FFF2-40B4-BE49-F238E27FC236}">
                <a16:creationId xmlns:a16="http://schemas.microsoft.com/office/drawing/2014/main" id="{2E46868A-33E6-92DA-FEFD-D9912D9CB0F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16892" y="2796745"/>
            <a:ext cx="1339501" cy="1023856"/>
          </a:xfrm>
          <a:prstGeom prst="bentConnector3">
            <a:avLst>
              <a:gd name="adj1" fmla="val -16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接點: 肘形 88">
            <a:extLst>
              <a:ext uri="{FF2B5EF4-FFF2-40B4-BE49-F238E27FC236}">
                <a16:creationId xmlns:a16="http://schemas.microsoft.com/office/drawing/2014/main" id="{69BF7B68-8B3A-64A6-2A3A-BD3E3F350D49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10910" y="3031511"/>
            <a:ext cx="1103789" cy="776180"/>
          </a:xfrm>
          <a:prstGeom prst="bentConnector3">
            <a:avLst>
              <a:gd name="adj1" fmla="val 10005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7084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94C335-F256-58F4-67A5-81285FACF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A9A4C5-60AA-EF04-4AE2-76FB2BC43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Optimized Route Data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A51500-0C26-12E4-6808-C3EFE45EF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27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7215ADB-D91F-B5BD-4E84-9DCDAF0FB6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55" t="3209" r="30710" b="38986"/>
          <a:stretch>
            <a:fillRect/>
          </a:stretch>
        </p:blipFill>
        <p:spPr>
          <a:xfrm>
            <a:off x="1154084" y="2229022"/>
            <a:ext cx="8595558" cy="355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3158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9DB30E-D6A4-A194-2B05-8842C85A2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BDC1DF-149D-9936-C341-93B96ECB4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62BB8-5859-7DA0-8954-D1FD69C977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Motivation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The proposed approach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/>
              <a:t>Experiment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Discussion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Conclusion &amp; Future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E306AF4-B507-B555-86C3-54915D3C7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67220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EA1023-1C36-6CAD-6064-C2B0D428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A638B2-283B-34D1-9BCF-C2FFC0799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FCF5AE-BD0F-BF37-0B85-E7D6577D2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29</a:t>
            </a:fld>
            <a:endParaRPr lang="zh-TW" altLang="en-US"/>
          </a:p>
        </p:txBody>
      </p:sp>
      <p:graphicFrame>
        <p:nvGraphicFramePr>
          <p:cNvPr id="5" name="內容版面配置區 4">
            <a:extLst>
              <a:ext uri="{FF2B5EF4-FFF2-40B4-BE49-F238E27FC236}">
                <a16:creationId xmlns:a16="http://schemas.microsoft.com/office/drawing/2014/main" id="{C2D34CE8-74F9-FDE1-D427-1E6A80436B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296625"/>
              </p:ext>
            </p:extLst>
          </p:nvPr>
        </p:nvGraphicFramePr>
        <p:xfrm>
          <a:off x="3000935" y="2203181"/>
          <a:ext cx="6190130" cy="3045464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1531503">
                  <a:extLst>
                    <a:ext uri="{9D8B030D-6E8A-4147-A177-3AD203B41FA5}">
                      <a16:colId xmlns:a16="http://schemas.microsoft.com/office/drawing/2014/main" val="1458894256"/>
                    </a:ext>
                  </a:extLst>
                </a:gridCol>
                <a:gridCol w="4658627">
                  <a:extLst>
                    <a:ext uri="{9D8B030D-6E8A-4147-A177-3AD203B41FA5}">
                      <a16:colId xmlns:a16="http://schemas.microsoft.com/office/drawing/2014/main" val="4258632931"/>
                    </a:ext>
                  </a:extLst>
                </a:gridCol>
              </a:tblGrid>
              <a:tr h="43913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Item</a:t>
                      </a:r>
                      <a:endParaRPr lang="zh-TW" sz="1800" kern="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Details</a:t>
                      </a:r>
                      <a:endParaRPr lang="zh-TW" sz="1800" b="1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4040492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0" kern="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CPU</a:t>
                      </a:r>
                      <a:endParaRPr lang="zh-TW" sz="1800" b="0" kern="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Intel® Core</a:t>
                      </a:r>
                      <a:r>
                        <a:rPr lang="zh-TW" altLang="zh-TW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™</a:t>
                      </a: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i7-13700 5.20 GHz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546818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0" kern="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GPU</a:t>
                      </a:r>
                      <a:endParaRPr lang="zh-TW" sz="1800" b="0" kern="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Intel® UHD graphics 770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2821283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0" kern="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RAM</a:t>
                      </a:r>
                      <a:endParaRPr lang="zh-TW" sz="1800" b="0" kern="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24GB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6439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0" kern="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SSD</a:t>
                      </a:r>
                      <a:endParaRPr lang="zh-TW" sz="1800" b="0" kern="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1TB SSD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8033468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0" kern="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OS</a:t>
                      </a:r>
                      <a:endParaRPr lang="zh-TW" sz="1800" b="0" kern="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Windows 11</a:t>
                      </a:r>
                      <a:r>
                        <a:rPr lang="zh-TW" alt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專業版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4196668"/>
                  </a:ext>
                </a:extLst>
              </a:tr>
              <a:tr h="41063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0" kern="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Python</a:t>
                      </a:r>
                      <a:endParaRPr lang="zh-TW" sz="1800" b="0" kern="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3.12.6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9939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8550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90A484-AA0F-2035-F678-CCCCFC091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52D9A2-16BD-692A-33C1-4F7C396E3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CCGA Setting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424B59-35BB-2885-F629-8877D077E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30</a:t>
            </a:fld>
            <a:endParaRPr lang="zh-TW" altLang="en-US"/>
          </a:p>
        </p:txBody>
      </p:sp>
      <p:graphicFrame>
        <p:nvGraphicFramePr>
          <p:cNvPr id="3" name="內容版面配置區 4">
            <a:extLst>
              <a:ext uri="{FF2B5EF4-FFF2-40B4-BE49-F238E27FC236}">
                <a16:creationId xmlns:a16="http://schemas.microsoft.com/office/drawing/2014/main" id="{DB3E0948-8453-0E98-BC54-BD22ED77FB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7973716"/>
              </p:ext>
            </p:extLst>
          </p:nvPr>
        </p:nvGraphicFramePr>
        <p:xfrm>
          <a:off x="2585299" y="2500064"/>
          <a:ext cx="6831834" cy="2195690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3091107">
                  <a:extLst>
                    <a:ext uri="{9D8B030D-6E8A-4147-A177-3AD203B41FA5}">
                      <a16:colId xmlns:a16="http://schemas.microsoft.com/office/drawing/2014/main" val="1458894256"/>
                    </a:ext>
                  </a:extLst>
                </a:gridCol>
                <a:gridCol w="3740727">
                  <a:extLst>
                    <a:ext uri="{9D8B030D-6E8A-4147-A177-3AD203B41FA5}">
                      <a16:colId xmlns:a16="http://schemas.microsoft.com/office/drawing/2014/main" val="4258632931"/>
                    </a:ext>
                  </a:extLst>
                </a:gridCol>
              </a:tblGrid>
              <a:tr h="4391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Generation</a:t>
                      </a:r>
                      <a:endParaRPr lang="zh-TW" sz="1800" b="1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7504475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Subpopulation</a:t>
                      </a:r>
                      <a:endParaRPr lang="zh-TW" sz="1800" b="1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20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7795021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Cross Rate</a:t>
                      </a:r>
                      <a:endParaRPr lang="zh-TW" sz="1800" b="1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0.8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4293028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Mutate Rate</a:t>
                      </a:r>
                      <a:endParaRPr lang="zh-TW" sz="1800" b="1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0.1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7011392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Elite Rate</a:t>
                      </a:r>
                      <a:endParaRPr lang="zh-TW" sz="1800" b="1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0.1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92988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88795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DBAA4-7DA2-3644-E09A-328839682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5CB66B-4425-25AA-753E-0B5E7D53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HACO Setting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D1BFE00-F2F2-CC08-D364-B56945A5C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31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內容版面配置區 4">
                <a:extLst>
                  <a:ext uri="{FF2B5EF4-FFF2-40B4-BE49-F238E27FC236}">
                    <a16:creationId xmlns:a16="http://schemas.microsoft.com/office/drawing/2014/main" id="{D444200D-17D6-B42B-7A7E-5033D4542C7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630311047"/>
                  </p:ext>
                </p:extLst>
              </p:nvPr>
            </p:nvGraphicFramePr>
            <p:xfrm>
              <a:off x="2585299" y="2500064"/>
              <a:ext cx="6831834" cy="2195690"/>
            </p:xfrm>
            <a:graphic>
              <a:graphicData uri="http://schemas.openxmlformats.org/drawingml/2006/table">
                <a:tbl>
                  <a:tblPr firstCol="1">
                    <a:tableStyleId>{5C22544A-7EE6-4342-B048-85BDC9FD1C3A}</a:tableStyleId>
                  </a:tblPr>
                  <a:tblGrid>
                    <a:gridCol w="3091107">
                      <a:extLst>
                        <a:ext uri="{9D8B030D-6E8A-4147-A177-3AD203B41FA5}">
                          <a16:colId xmlns:a16="http://schemas.microsoft.com/office/drawing/2014/main" val="1458894256"/>
                        </a:ext>
                      </a:extLst>
                    </a:gridCol>
                    <a:gridCol w="3740727">
                      <a:extLst>
                        <a:ext uri="{9D8B030D-6E8A-4147-A177-3AD203B41FA5}">
                          <a16:colId xmlns:a16="http://schemas.microsoft.com/office/drawing/2014/main" val="4258632931"/>
                        </a:ext>
                      </a:extLst>
                    </a:gridCol>
                  </a:tblGrid>
                  <a:tr h="439138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Iteration</a:t>
                          </a:r>
                          <a:endParaRPr lang="zh-TW" sz="1800" b="1" kern="100" dirty="0">
                            <a:solidFill>
                              <a:schemeClr val="tx1"/>
                            </a:solidFill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7504475"/>
                      </a:ext>
                    </a:extLst>
                  </a:tr>
                  <a:tr h="439138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Number of Ants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50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67795021"/>
                      </a:ext>
                    </a:extLst>
                  </a:tr>
                  <a:tr h="439138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Pheromone</a:t>
                          </a:r>
                          <a:r>
                            <a:rPr lang="zh-TW" altLang="en-US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Factor (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800" b="1" i="1" kern="10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標楷體" panose="03000509000000000000" pitchFamily="65" charset="-120"/>
                                  <a:cs typeface="Times New Roman" panose="02020603050405020304" pitchFamily="18" charset="0"/>
                                </a:rPr>
                                <m:t>𝜶</m:t>
                              </m:r>
                            </m:oMath>
                          </a14:m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zh-TW" sz="1800" b="1" kern="100" dirty="0">
                            <a:solidFill>
                              <a:schemeClr val="tx1"/>
                            </a:solidFill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74293028"/>
                      </a:ext>
                    </a:extLst>
                  </a:tr>
                  <a:tr h="439138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Heuristic Function Factor (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800" b="1" i="1" kern="10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標楷體" panose="03000509000000000000" pitchFamily="65" charset="-120"/>
                                  <a:cs typeface="Times New Roman" panose="02020603050405020304" pitchFamily="18" charset="0"/>
                                </a:rPr>
                                <m:t>𝜷</m:t>
                              </m:r>
                            </m:oMath>
                          </a14:m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zh-TW" sz="1800" b="1" kern="100" dirty="0">
                            <a:solidFill>
                              <a:schemeClr val="tx1"/>
                            </a:solidFill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77011392"/>
                      </a:ext>
                    </a:extLst>
                  </a:tr>
                  <a:tr h="439138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Pheromone Evaporation (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800" b="1" i="1" kern="10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標楷體" panose="03000509000000000000" pitchFamily="65" charset="-120"/>
                                  <a:cs typeface="Times New Roman" panose="02020603050405020304" pitchFamily="18" charset="0"/>
                                </a:rPr>
                                <m:t>𝝆</m:t>
                              </m:r>
                            </m:oMath>
                          </a14:m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zh-TW" sz="1800" b="1" kern="100" dirty="0">
                            <a:solidFill>
                              <a:schemeClr val="tx1"/>
                            </a:solidFill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0.7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3929887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內容版面配置區 4">
                <a:extLst>
                  <a:ext uri="{FF2B5EF4-FFF2-40B4-BE49-F238E27FC236}">
                    <a16:creationId xmlns:a16="http://schemas.microsoft.com/office/drawing/2014/main" id="{D444200D-17D6-B42B-7A7E-5033D4542C7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630311047"/>
                  </p:ext>
                </p:extLst>
              </p:nvPr>
            </p:nvGraphicFramePr>
            <p:xfrm>
              <a:off x="2585299" y="2500064"/>
              <a:ext cx="6831834" cy="2195690"/>
            </p:xfrm>
            <a:graphic>
              <a:graphicData uri="http://schemas.openxmlformats.org/drawingml/2006/table">
                <a:tbl>
                  <a:tblPr firstCol="1">
                    <a:tableStyleId>{5C22544A-7EE6-4342-B048-85BDC9FD1C3A}</a:tableStyleId>
                  </a:tblPr>
                  <a:tblGrid>
                    <a:gridCol w="3091107">
                      <a:extLst>
                        <a:ext uri="{9D8B030D-6E8A-4147-A177-3AD203B41FA5}">
                          <a16:colId xmlns:a16="http://schemas.microsoft.com/office/drawing/2014/main" val="1458894256"/>
                        </a:ext>
                      </a:extLst>
                    </a:gridCol>
                    <a:gridCol w="3740727">
                      <a:extLst>
                        <a:ext uri="{9D8B030D-6E8A-4147-A177-3AD203B41FA5}">
                          <a16:colId xmlns:a16="http://schemas.microsoft.com/office/drawing/2014/main" val="4258632931"/>
                        </a:ext>
                      </a:extLst>
                    </a:gridCol>
                  </a:tblGrid>
                  <a:tr h="439138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Iteration</a:t>
                          </a:r>
                          <a:endParaRPr lang="zh-TW" sz="1800" b="1" kern="100" dirty="0">
                            <a:solidFill>
                              <a:schemeClr val="tx1"/>
                            </a:solidFill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7504475"/>
                      </a:ext>
                    </a:extLst>
                  </a:tr>
                  <a:tr h="439138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Number of Ants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50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67795021"/>
                      </a:ext>
                    </a:extLst>
                  </a:tr>
                  <a:tr h="439138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7" t="-198630" r="-121499" b="-2123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74293028"/>
                      </a:ext>
                    </a:extLst>
                  </a:tr>
                  <a:tr h="439138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7" t="-302778" r="-121499" b="-1152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77011392"/>
                      </a:ext>
                    </a:extLst>
                  </a:tr>
                  <a:tr h="439138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7" t="-402778" r="-121499" b="-152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0.7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3929887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846717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C635F2-9C02-3DF5-5902-F56ED826D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B826D6-7254-CAD7-2A2D-2CC4794EF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MACS Setting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7420495-2669-B07C-BB39-6C1FF97CD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32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內容版面配置區 4">
                <a:extLst>
                  <a:ext uri="{FF2B5EF4-FFF2-40B4-BE49-F238E27FC236}">
                    <a16:creationId xmlns:a16="http://schemas.microsoft.com/office/drawing/2014/main" id="{319B14C7-3C4B-B4B2-59C4-7E96DDD77F0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438892474"/>
                  </p:ext>
                </p:extLst>
              </p:nvPr>
            </p:nvGraphicFramePr>
            <p:xfrm>
              <a:off x="2585299" y="2500064"/>
              <a:ext cx="6831834" cy="2195690"/>
            </p:xfrm>
            <a:graphic>
              <a:graphicData uri="http://schemas.openxmlformats.org/drawingml/2006/table">
                <a:tbl>
                  <a:tblPr firstCol="1">
                    <a:tableStyleId>{5C22544A-7EE6-4342-B048-85BDC9FD1C3A}</a:tableStyleId>
                  </a:tblPr>
                  <a:tblGrid>
                    <a:gridCol w="3091107">
                      <a:extLst>
                        <a:ext uri="{9D8B030D-6E8A-4147-A177-3AD203B41FA5}">
                          <a16:colId xmlns:a16="http://schemas.microsoft.com/office/drawing/2014/main" val="1458894256"/>
                        </a:ext>
                      </a:extLst>
                    </a:gridCol>
                    <a:gridCol w="3740727">
                      <a:extLst>
                        <a:ext uri="{9D8B030D-6E8A-4147-A177-3AD203B41FA5}">
                          <a16:colId xmlns:a16="http://schemas.microsoft.com/office/drawing/2014/main" val="4258632931"/>
                        </a:ext>
                      </a:extLst>
                    </a:gridCol>
                  </a:tblGrid>
                  <a:tr h="439138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Time</a:t>
                          </a:r>
                          <a:r>
                            <a:rPr lang="zh-TW" altLang="en-US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Limit (s)</a:t>
                          </a:r>
                          <a:endParaRPr lang="zh-TW" sz="1800" b="1" kern="100" dirty="0">
                            <a:solidFill>
                              <a:schemeClr val="tx1"/>
                            </a:solidFill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100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7504475"/>
                      </a:ext>
                    </a:extLst>
                  </a:tr>
                  <a:tr h="439138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Number of Ants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50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67795021"/>
                      </a:ext>
                    </a:extLst>
                  </a:tr>
                  <a:tr h="439138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Pheromone</a:t>
                          </a:r>
                          <a:r>
                            <a:rPr lang="zh-TW" altLang="en-US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Factor (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800" b="1" i="1" kern="10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標楷體" panose="03000509000000000000" pitchFamily="65" charset="-120"/>
                                  <a:cs typeface="Times New Roman" panose="02020603050405020304" pitchFamily="18" charset="0"/>
                                </a:rPr>
                                <m:t>𝜶</m:t>
                              </m:r>
                            </m:oMath>
                          </a14:m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zh-TW" sz="1800" b="1" kern="100" dirty="0">
                            <a:solidFill>
                              <a:schemeClr val="tx1"/>
                            </a:solidFill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74293028"/>
                      </a:ext>
                    </a:extLst>
                  </a:tr>
                  <a:tr h="439138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Heuristic Function Factor (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800" b="1" i="1" kern="10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標楷體" panose="03000509000000000000" pitchFamily="65" charset="-120"/>
                                  <a:cs typeface="Times New Roman" panose="02020603050405020304" pitchFamily="18" charset="0"/>
                                </a:rPr>
                                <m:t>𝜷</m:t>
                              </m:r>
                            </m:oMath>
                          </a14:m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zh-TW" sz="1800" b="1" kern="100" dirty="0">
                            <a:solidFill>
                              <a:schemeClr val="tx1"/>
                            </a:solidFill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77011392"/>
                      </a:ext>
                    </a:extLst>
                  </a:tr>
                  <a:tr h="439138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Pheromone Evaporation (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800" b="1" i="1" kern="10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標楷體" panose="03000509000000000000" pitchFamily="65" charset="-120"/>
                                  <a:cs typeface="Times New Roman" panose="02020603050405020304" pitchFamily="18" charset="0"/>
                                </a:rPr>
                                <m:t>𝝆</m:t>
                              </m:r>
                            </m:oMath>
                          </a14:m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zh-TW" sz="1800" b="1" kern="100" dirty="0">
                            <a:solidFill>
                              <a:schemeClr val="tx1"/>
                            </a:solidFill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0.5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3929887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內容版面配置區 4">
                <a:extLst>
                  <a:ext uri="{FF2B5EF4-FFF2-40B4-BE49-F238E27FC236}">
                    <a16:creationId xmlns:a16="http://schemas.microsoft.com/office/drawing/2014/main" id="{319B14C7-3C4B-B4B2-59C4-7E96DDD77F0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438892474"/>
                  </p:ext>
                </p:extLst>
              </p:nvPr>
            </p:nvGraphicFramePr>
            <p:xfrm>
              <a:off x="2585299" y="2500064"/>
              <a:ext cx="6831834" cy="2195690"/>
            </p:xfrm>
            <a:graphic>
              <a:graphicData uri="http://schemas.openxmlformats.org/drawingml/2006/table">
                <a:tbl>
                  <a:tblPr firstCol="1">
                    <a:tableStyleId>{5C22544A-7EE6-4342-B048-85BDC9FD1C3A}</a:tableStyleId>
                  </a:tblPr>
                  <a:tblGrid>
                    <a:gridCol w="3091107">
                      <a:extLst>
                        <a:ext uri="{9D8B030D-6E8A-4147-A177-3AD203B41FA5}">
                          <a16:colId xmlns:a16="http://schemas.microsoft.com/office/drawing/2014/main" val="1458894256"/>
                        </a:ext>
                      </a:extLst>
                    </a:gridCol>
                    <a:gridCol w="3740727">
                      <a:extLst>
                        <a:ext uri="{9D8B030D-6E8A-4147-A177-3AD203B41FA5}">
                          <a16:colId xmlns:a16="http://schemas.microsoft.com/office/drawing/2014/main" val="4258632931"/>
                        </a:ext>
                      </a:extLst>
                    </a:gridCol>
                  </a:tblGrid>
                  <a:tr h="439138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Time</a:t>
                          </a:r>
                          <a:r>
                            <a:rPr lang="zh-TW" altLang="en-US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Limit (s)</a:t>
                          </a:r>
                          <a:endParaRPr lang="zh-TW" sz="1800" b="1" kern="100" dirty="0">
                            <a:solidFill>
                              <a:schemeClr val="tx1"/>
                            </a:solidFill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100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7504475"/>
                      </a:ext>
                    </a:extLst>
                  </a:tr>
                  <a:tr h="439138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b="1" kern="100" dirty="0">
                              <a:solidFill>
                                <a:schemeClr val="tx1"/>
                              </a:solidFill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Number of Ants</a:t>
                          </a: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50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67795021"/>
                      </a:ext>
                    </a:extLst>
                  </a:tr>
                  <a:tr h="439138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7" t="-198630" r="-121499" b="-2123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74293028"/>
                      </a:ext>
                    </a:extLst>
                  </a:tr>
                  <a:tr h="439138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7" t="-302778" r="-121499" b="-1152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77011392"/>
                      </a:ext>
                    </a:extLst>
                  </a:tr>
                  <a:tr h="439138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7" t="-402778" r="-121499" b="-152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altLang="zh-TW" sz="1800" kern="100" dirty="0">
                              <a:effectLst/>
                              <a:latin typeface="+mj-lt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a:t>0.5</a:t>
                          </a:r>
                          <a:endParaRPr lang="zh-TW" sz="1800" kern="100" dirty="0">
                            <a:effectLst/>
                            <a:latin typeface="+mj-lt"/>
                            <a:ea typeface="標楷體" panose="03000509000000000000" pitchFamily="65" charset="-12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3929887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946562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ACAD89-1DB1-9EF1-5723-CFA4CEDA9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7EAEF4-DB8C-2E60-09D9-30920E9A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 Result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AFF40F6-7AE0-D68B-F97C-0424B4DE6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33</a:t>
            </a:fld>
            <a:endParaRPr lang="zh-TW" altLang="en-US"/>
          </a:p>
        </p:txBody>
      </p:sp>
      <p:graphicFrame>
        <p:nvGraphicFramePr>
          <p:cNvPr id="5" name="內容版面配置區 4">
            <a:extLst>
              <a:ext uri="{FF2B5EF4-FFF2-40B4-BE49-F238E27FC236}">
                <a16:creationId xmlns:a16="http://schemas.microsoft.com/office/drawing/2014/main" id="{E3B36739-C501-11D2-0F2A-975E660D39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251170"/>
              </p:ext>
            </p:extLst>
          </p:nvPr>
        </p:nvGraphicFramePr>
        <p:xfrm>
          <a:off x="1722045" y="2310059"/>
          <a:ext cx="8747909" cy="3073966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2952750">
                  <a:extLst>
                    <a:ext uri="{9D8B030D-6E8A-4147-A177-3AD203B41FA5}">
                      <a16:colId xmlns:a16="http://schemas.microsoft.com/office/drawing/2014/main" val="1458894256"/>
                    </a:ext>
                  </a:extLst>
                </a:gridCol>
                <a:gridCol w="2880954">
                  <a:extLst>
                    <a:ext uri="{9D8B030D-6E8A-4147-A177-3AD203B41FA5}">
                      <a16:colId xmlns:a16="http://schemas.microsoft.com/office/drawing/2014/main" val="4258632931"/>
                    </a:ext>
                  </a:extLst>
                </a:gridCol>
                <a:gridCol w="2914205">
                  <a:extLst>
                    <a:ext uri="{9D8B030D-6E8A-4147-A177-3AD203B41FA5}">
                      <a16:colId xmlns:a16="http://schemas.microsoft.com/office/drawing/2014/main" val="1663490534"/>
                    </a:ext>
                  </a:extLst>
                </a:gridCol>
              </a:tblGrid>
              <a:tr h="4391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endParaRPr lang="zh-TW" sz="1800" b="1" kern="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Proposed</a:t>
                      </a:r>
                      <a:r>
                        <a:rPr lang="zh-TW" altLang="en-US" sz="1800" b="1" kern="10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800" b="1" kern="10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Method</a:t>
                      </a:r>
                      <a:endParaRPr lang="zh-TW" sz="1800" b="1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Manually Planned</a:t>
                      </a:r>
                      <a:endParaRPr lang="zh-TW" sz="1800" b="1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9319815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Number of Vehicles</a:t>
                      </a:r>
                      <a:endParaRPr lang="zh-TW" sz="1800" b="1" kern="100" dirty="0">
                        <a:solidFill>
                          <a:schemeClr val="tx1"/>
                        </a:solidFill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92.93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100.88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7504475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Number of Support Vehicles</a:t>
                      </a:r>
                      <a:endParaRPr lang="zh-TW" sz="1800" b="1" kern="100" dirty="0">
                        <a:solidFill>
                          <a:schemeClr val="tx1"/>
                        </a:solidFill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11.12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19.77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423645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Total Distance (km)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4375.41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kern="1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4531.51</a:t>
                      </a:r>
                      <a:endParaRPr lang="zh-TW" altLang="zh-TW" sz="1800" kern="100" dirty="0">
                        <a:solidFill>
                          <a:schemeClr val="dk1"/>
                        </a:solidFill>
                        <a:effectLst/>
                        <a:latin typeface="+mn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7795021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Average Load Rate</a:t>
                      </a:r>
                      <a:endParaRPr lang="zh-TW" sz="1800" b="1" kern="100" dirty="0">
                        <a:solidFill>
                          <a:schemeClr val="tx1"/>
                        </a:solidFill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0.89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0.83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4293028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On Time Rate</a:t>
                      </a:r>
                      <a:endParaRPr lang="zh-TW" sz="1800" b="1" kern="100" dirty="0">
                        <a:solidFill>
                          <a:schemeClr val="tx1"/>
                        </a:solidFill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0.99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0.94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110203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Runtime (min)</a:t>
                      </a:r>
                      <a:endParaRPr lang="zh-TW" sz="1800" b="1" kern="100" dirty="0">
                        <a:solidFill>
                          <a:schemeClr val="tx1"/>
                        </a:solidFill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16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70113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22928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8E07EF-5A89-F2F3-6E4C-3396F2C0D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內容版面配置區 10">
            <a:extLst>
              <a:ext uri="{FF2B5EF4-FFF2-40B4-BE49-F238E27FC236}">
                <a16:creationId xmlns:a16="http://schemas.microsoft.com/office/drawing/2014/main" id="{2FB476AE-A461-00C5-1AA5-09A64A4318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6765099"/>
              </p:ext>
            </p:extLst>
          </p:nvPr>
        </p:nvGraphicFramePr>
        <p:xfrm>
          <a:off x="1204685" y="2162630"/>
          <a:ext cx="4752451" cy="34108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標題 1">
            <a:extLst>
              <a:ext uri="{FF2B5EF4-FFF2-40B4-BE49-F238E27FC236}">
                <a16:creationId xmlns:a16="http://schemas.microsoft.com/office/drawing/2014/main" id="{829C2228-B291-2BD9-2AAF-E5E9D1EF9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 Result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3F6E09A-1961-72B4-77F4-456FF7266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34</a:t>
            </a:fld>
            <a:endParaRPr lang="zh-TW" altLang="en-US"/>
          </a:p>
        </p:txBody>
      </p:sp>
      <p:graphicFrame>
        <p:nvGraphicFramePr>
          <p:cNvPr id="3" name="內容版面配置區 10">
            <a:extLst>
              <a:ext uri="{FF2B5EF4-FFF2-40B4-BE49-F238E27FC236}">
                <a16:creationId xmlns:a16="http://schemas.microsoft.com/office/drawing/2014/main" id="{0657D907-489E-20E6-7048-D7A44FF7A2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79317297"/>
              </p:ext>
            </p:extLst>
          </p:nvPr>
        </p:nvGraphicFramePr>
        <p:xfrm>
          <a:off x="6178059" y="2162630"/>
          <a:ext cx="4977621" cy="34108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1874243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0AF7CB-4E6E-24D6-B651-0655CCF75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FAB37F-A77E-1244-B20B-6E164A5CB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 Result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C5836C-37D1-FCC6-E45B-665426F2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35</a:t>
            </a:fld>
            <a:endParaRPr lang="zh-TW" altLang="en-US"/>
          </a:p>
        </p:txBody>
      </p:sp>
      <p:graphicFrame>
        <p:nvGraphicFramePr>
          <p:cNvPr id="13" name="內容版面配置區 12">
            <a:extLst>
              <a:ext uri="{FF2B5EF4-FFF2-40B4-BE49-F238E27FC236}">
                <a16:creationId xmlns:a16="http://schemas.microsoft.com/office/drawing/2014/main" id="{BC2D1972-9ECD-EFFF-33D3-989440BCAE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68937845"/>
              </p:ext>
            </p:extLst>
          </p:nvPr>
        </p:nvGraphicFramePr>
        <p:xfrm>
          <a:off x="1097280" y="2162630"/>
          <a:ext cx="10058400" cy="339502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8203264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6C37E9-1F7D-3F3A-2F29-2563835C2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F7D10D-159F-7F39-13E8-F0ED8B658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 Result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3C3853-492B-5B55-89EB-392714573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36</a:t>
            </a:fld>
            <a:endParaRPr lang="zh-TW" altLang="en-US"/>
          </a:p>
        </p:txBody>
      </p:sp>
      <p:graphicFrame>
        <p:nvGraphicFramePr>
          <p:cNvPr id="8" name="內容版面配置區 7">
            <a:extLst>
              <a:ext uri="{FF2B5EF4-FFF2-40B4-BE49-F238E27FC236}">
                <a16:creationId xmlns:a16="http://schemas.microsoft.com/office/drawing/2014/main" id="{0A8B3EBF-260E-4FF8-8418-7A51657911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9522995"/>
              </p:ext>
            </p:extLst>
          </p:nvPr>
        </p:nvGraphicFramePr>
        <p:xfrm>
          <a:off x="1127443" y="2238148"/>
          <a:ext cx="4968557" cy="30463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E7A527AE-3151-3699-9BA3-06FE2D6A06F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676554"/>
              </p:ext>
            </p:extLst>
          </p:nvPr>
        </p:nvGraphicFramePr>
        <p:xfrm>
          <a:off x="6213763" y="2346056"/>
          <a:ext cx="4998720" cy="29384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977680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E7EC2B-4DFB-4C53-6E2C-6067027F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6C5674F-BCCC-ACDC-A9CA-5C092DB71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Ablation Study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F8AE684-85D9-452B-6574-238D67006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37</a:t>
            </a:fld>
            <a:endParaRPr lang="zh-TW" altLang="en-US"/>
          </a:p>
        </p:txBody>
      </p:sp>
      <p:graphicFrame>
        <p:nvGraphicFramePr>
          <p:cNvPr id="6" name="內容版面配置區 4">
            <a:extLst>
              <a:ext uri="{FF2B5EF4-FFF2-40B4-BE49-F238E27FC236}">
                <a16:creationId xmlns:a16="http://schemas.microsoft.com/office/drawing/2014/main" id="{B7C7E742-0C9E-439C-4301-D10394B9E55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55244870"/>
              </p:ext>
            </p:extLst>
          </p:nvPr>
        </p:nvGraphicFramePr>
        <p:xfrm>
          <a:off x="1097280" y="2128960"/>
          <a:ext cx="10018024" cy="3183468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2905760">
                  <a:extLst>
                    <a:ext uri="{9D8B030D-6E8A-4147-A177-3AD203B41FA5}">
                      <a16:colId xmlns:a16="http://schemas.microsoft.com/office/drawing/2014/main" val="1458894256"/>
                    </a:ext>
                  </a:extLst>
                </a:gridCol>
                <a:gridCol w="1923732">
                  <a:extLst>
                    <a:ext uri="{9D8B030D-6E8A-4147-A177-3AD203B41FA5}">
                      <a16:colId xmlns:a16="http://schemas.microsoft.com/office/drawing/2014/main" val="4258632931"/>
                    </a:ext>
                  </a:extLst>
                </a:gridCol>
                <a:gridCol w="1646921">
                  <a:extLst>
                    <a:ext uri="{9D8B030D-6E8A-4147-A177-3AD203B41FA5}">
                      <a16:colId xmlns:a16="http://schemas.microsoft.com/office/drawing/2014/main" val="1663490534"/>
                    </a:ext>
                  </a:extLst>
                </a:gridCol>
                <a:gridCol w="1662546">
                  <a:extLst>
                    <a:ext uri="{9D8B030D-6E8A-4147-A177-3AD203B41FA5}">
                      <a16:colId xmlns:a16="http://schemas.microsoft.com/office/drawing/2014/main" val="2934832940"/>
                    </a:ext>
                  </a:extLst>
                </a:gridCol>
                <a:gridCol w="1879065">
                  <a:extLst>
                    <a:ext uri="{9D8B030D-6E8A-4147-A177-3AD203B41FA5}">
                      <a16:colId xmlns:a16="http://schemas.microsoft.com/office/drawing/2014/main" val="4186979241"/>
                    </a:ext>
                  </a:extLst>
                </a:gridCol>
              </a:tblGrid>
              <a:tr h="43913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zh-TW" sz="1800" b="1" kern="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Proposed Method</a:t>
                      </a:r>
                      <a:endParaRPr lang="zh-TW" sz="1800" b="1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Random Extraction</a:t>
                      </a:r>
                      <a:endParaRPr lang="zh-TW" sz="1800" b="1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HACO 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Without VND</a:t>
                      </a:r>
                      <a:endParaRPr lang="zh-TW" sz="1800" b="1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MACS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Without VND</a:t>
                      </a:r>
                      <a:endParaRPr lang="zh-TW" sz="1800" b="1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9319815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Number of Vehicles</a:t>
                      </a:r>
                      <a:endParaRPr lang="zh-TW" sz="1800" b="1" kern="100" dirty="0">
                        <a:solidFill>
                          <a:schemeClr val="tx1"/>
                        </a:solidFill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92.93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94.24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92.94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93.25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7504475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Number of Support Vehicles</a:t>
                      </a:r>
                      <a:endParaRPr lang="zh-TW" sz="1800" b="1" kern="100" dirty="0">
                        <a:solidFill>
                          <a:schemeClr val="tx1"/>
                        </a:solidFill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11.12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kern="1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12.43</a:t>
                      </a:r>
                      <a:endParaRPr lang="zh-TW" altLang="zh-TW" sz="1800" kern="100" dirty="0">
                        <a:solidFill>
                          <a:schemeClr val="dk1"/>
                        </a:solidFill>
                        <a:effectLst/>
                        <a:latin typeface="+mn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11.14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11.44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423645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Total Distance (km)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4375.41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kern="1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4524.44</a:t>
                      </a:r>
                      <a:endParaRPr lang="zh-TW" altLang="zh-TW" sz="1800" kern="100" dirty="0">
                        <a:solidFill>
                          <a:schemeClr val="dk1"/>
                        </a:solidFill>
                        <a:effectLst/>
                        <a:latin typeface="+mn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kern="1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4382.40</a:t>
                      </a:r>
                      <a:endParaRPr lang="zh-TW" altLang="zh-TW" sz="1800" kern="100" dirty="0">
                        <a:solidFill>
                          <a:schemeClr val="dk1"/>
                        </a:solidFill>
                        <a:effectLst/>
                        <a:latin typeface="+mn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kern="1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4,400.13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7795021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Average Load Rate</a:t>
                      </a:r>
                      <a:endParaRPr lang="zh-TW" sz="1800" b="1" kern="100" dirty="0">
                        <a:solidFill>
                          <a:schemeClr val="tx1"/>
                        </a:solidFill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0.89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0.88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0.89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0.89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4293028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On Time Rate</a:t>
                      </a:r>
                      <a:endParaRPr lang="zh-TW" sz="1800" b="1" kern="100" dirty="0">
                        <a:solidFill>
                          <a:schemeClr val="tx1"/>
                        </a:solidFill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0.99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0.99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0.99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0.99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110203"/>
                  </a:ext>
                </a:extLst>
              </a:tr>
              <a:tr h="43913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Runtime (min)</a:t>
                      </a:r>
                      <a:endParaRPr lang="zh-TW" sz="1800" b="1" kern="100" dirty="0">
                        <a:solidFill>
                          <a:schemeClr val="tx1"/>
                        </a:solidFill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16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10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15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16</a:t>
                      </a:r>
                      <a:endParaRPr lang="zh-TW" sz="180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70113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4987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3ABDF3-D330-FCC0-9E9F-2C6FA9A2D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6DC68C-3B0E-0B82-5A5D-63A167434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Ablation Study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AEB60F6-6FF4-5030-ACAF-B487E2703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38</a:t>
            </a:fld>
            <a:endParaRPr lang="zh-TW" altLang="en-US"/>
          </a:p>
        </p:txBody>
      </p:sp>
      <p:graphicFrame>
        <p:nvGraphicFramePr>
          <p:cNvPr id="5" name="內容版面配置區 4">
            <a:extLst>
              <a:ext uri="{FF2B5EF4-FFF2-40B4-BE49-F238E27FC236}">
                <a16:creationId xmlns:a16="http://schemas.microsoft.com/office/drawing/2014/main" id="{522B77D7-CB57-0001-2606-4C02B6E824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3621037"/>
              </p:ext>
            </p:extLst>
          </p:nvPr>
        </p:nvGraphicFramePr>
        <p:xfrm>
          <a:off x="1186106" y="2176462"/>
          <a:ext cx="9620439" cy="3415322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2328990">
                  <a:extLst>
                    <a:ext uri="{9D8B030D-6E8A-4147-A177-3AD203B41FA5}">
                      <a16:colId xmlns:a16="http://schemas.microsoft.com/office/drawing/2014/main" val="1458894256"/>
                    </a:ext>
                  </a:extLst>
                </a:gridCol>
                <a:gridCol w="2766950">
                  <a:extLst>
                    <a:ext uri="{9D8B030D-6E8A-4147-A177-3AD203B41FA5}">
                      <a16:colId xmlns:a16="http://schemas.microsoft.com/office/drawing/2014/main" val="4258632931"/>
                    </a:ext>
                  </a:extLst>
                </a:gridCol>
                <a:gridCol w="4524499">
                  <a:extLst>
                    <a:ext uri="{9D8B030D-6E8A-4147-A177-3AD203B41FA5}">
                      <a16:colId xmlns:a16="http://schemas.microsoft.com/office/drawing/2014/main" val="4186979241"/>
                    </a:ext>
                  </a:extLst>
                </a:gridCol>
              </a:tblGrid>
              <a:tr h="51923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zh-TW" sz="1800" b="1" kern="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Metric</a:t>
                      </a:r>
                      <a:endParaRPr lang="zh-TW" sz="1800" b="1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P(Proposed Method &gt; Ablation Method)</a:t>
                      </a:r>
                      <a:endParaRPr lang="zh-TW" sz="1800" b="1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9319815"/>
                  </a:ext>
                </a:extLst>
              </a:tr>
              <a:tr h="345966">
                <a:tc row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Random Extraction</a:t>
                      </a:r>
                      <a:endParaRPr lang="zh-TW" altLang="zh-TW" sz="1800" b="1" kern="100">
                        <a:solidFill>
                          <a:schemeClr val="tx1"/>
                        </a:solidFill>
                        <a:effectLst/>
                        <a:latin typeface="+mn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Number of Vehicles</a:t>
                      </a:r>
                      <a:endParaRPr lang="zh-TW" altLang="zh-TW" sz="1800" b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0.999998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7504475"/>
                  </a:ext>
                </a:extLst>
              </a:tr>
              <a:tr h="32765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Number of Support Vehicles</a:t>
                      </a:r>
                      <a:endParaRPr lang="zh-TW" altLang="zh-TW" sz="1800" b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0.999998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666904"/>
                  </a:ext>
                </a:extLst>
              </a:tr>
              <a:tr h="327650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zh-TW" sz="1800" b="1" kern="100" dirty="0">
                        <a:solidFill>
                          <a:schemeClr val="lt1"/>
                        </a:solidFill>
                        <a:effectLst/>
                        <a:latin typeface="+mn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Total Distance</a:t>
                      </a:r>
                      <a:endParaRPr lang="zh-TW" sz="1800" b="0" kern="100" dirty="0"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0.999999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423645"/>
                  </a:ext>
                </a:extLst>
              </a:tr>
              <a:tr h="294726">
                <a:tc rowSpan="3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HACO Without VND</a:t>
                      </a:r>
                      <a:endParaRPr lang="zh-TW" altLang="zh-TW" sz="1800" b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Number of Vehicles</a:t>
                      </a:r>
                      <a:endParaRPr lang="zh-TW" altLang="zh-TW" sz="1800" b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kern="1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0.084909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7795021"/>
                  </a:ext>
                </a:extLst>
              </a:tr>
              <a:tr h="32765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Number of Support Vehicles</a:t>
                      </a:r>
                      <a:endParaRPr lang="zh-TW" altLang="zh-TW" sz="1800" b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kern="1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0.072707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4790753"/>
                  </a:ext>
                </a:extLst>
              </a:tr>
              <a:tr h="327650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zh-TW" sz="1800" b="1" kern="100" dirty="0">
                        <a:solidFill>
                          <a:schemeClr val="tx1"/>
                        </a:solidFill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Total Distance</a:t>
                      </a:r>
                      <a:endParaRPr lang="zh-TW" altLang="zh-TW" sz="1800" b="0" kern="100" dirty="0">
                        <a:solidFill>
                          <a:schemeClr val="dk1"/>
                        </a:solidFill>
                        <a:effectLst/>
                        <a:latin typeface="+mn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0.956534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4293028"/>
                  </a:ext>
                </a:extLst>
              </a:tr>
              <a:tr h="289493">
                <a:tc rowSpan="3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MACS Without VND</a:t>
                      </a:r>
                      <a:endParaRPr lang="zh-TW" altLang="zh-TW" sz="1800" b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Number of Vehicles</a:t>
                      </a:r>
                      <a:endParaRPr lang="zh-TW" altLang="zh-TW" sz="1800" b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0.991104</a:t>
                      </a:r>
                      <a:endParaRPr lang="zh-TW" sz="1800" kern="100" dirty="0">
                        <a:solidFill>
                          <a:srgbClr val="FF0000"/>
                        </a:solidFill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110203"/>
                  </a:ext>
                </a:extLst>
              </a:tr>
              <a:tr h="32765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Number of Support Vehicles</a:t>
                      </a:r>
                      <a:endParaRPr lang="zh-TW" altLang="zh-TW" sz="1800" b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0.990543</a:t>
                      </a:r>
                      <a:endParaRPr lang="zh-TW" sz="1800" kern="100" dirty="0">
                        <a:solidFill>
                          <a:srgbClr val="FF0000"/>
                        </a:solidFill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643804"/>
                  </a:ext>
                </a:extLst>
              </a:tr>
              <a:tr h="327650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zh-TW" sz="1800" b="1" kern="100" dirty="0">
                        <a:solidFill>
                          <a:schemeClr val="tx1"/>
                        </a:solidFill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b="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Total Distance</a:t>
                      </a:r>
                      <a:endParaRPr lang="zh-TW" altLang="zh-TW" sz="1800" b="0" kern="100" dirty="0">
                        <a:solidFill>
                          <a:schemeClr val="dk1"/>
                        </a:solidFill>
                        <a:effectLst/>
                        <a:latin typeface="+mn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TW" sz="1800" kern="1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0.999929</a:t>
                      </a:r>
                      <a:endParaRPr lang="zh-TW" sz="1800" kern="100" dirty="0">
                        <a:solidFill>
                          <a:srgbClr val="FF0000"/>
                        </a:solidFill>
                        <a:effectLst/>
                        <a:latin typeface="+mj-lt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70113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52032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27B109-41E4-5FE9-5837-A227C4B33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D0002D-B968-AF9E-A8D9-856B9B642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Baseline - HGA-SIH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AF524B-608C-BF88-26E2-3FAD16FD1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39</a:t>
            </a:fld>
            <a:endParaRPr lang="zh-TW" altLang="en-US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25FF4DB1-59A4-11DD-1654-717EDF69C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023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zh-TW" dirty="0"/>
              <a:t>Hybrid Genetic Algorithm-Solomon Insertion Heuristic</a:t>
            </a:r>
            <a:r>
              <a:rPr lang="en-US" altLang="zh-TW" dirty="0"/>
              <a:t> (HGA-SIH)[5]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TW" dirty="0"/>
              <a:t>Problem Definition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dirty="0"/>
              <a:t>Vehicle Routing Problem with Time Windows (VRPTW)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TW" dirty="0"/>
              <a:t>Method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dirty="0"/>
              <a:t>Integrates the Solomon Insertion Heuristic (SIH) with a Hybrid Genetic Algorithm (HGA)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dirty="0"/>
              <a:t>Partially Mapped Crossover (PMX)</a:t>
            </a:r>
            <a:r>
              <a:rPr lang="zh-TW" altLang="zh-TW" dirty="0"/>
              <a:t> and </a:t>
            </a:r>
            <a:r>
              <a:rPr lang="en-US" altLang="zh-TW" dirty="0"/>
              <a:t>I</a:t>
            </a:r>
            <a:r>
              <a:rPr lang="zh-TW" altLang="zh-TW" dirty="0"/>
              <a:t>nverse </a:t>
            </a:r>
            <a:r>
              <a:rPr lang="en-US" altLang="zh-TW" dirty="0"/>
              <a:t>M</a:t>
            </a:r>
            <a:r>
              <a:rPr lang="zh-TW" altLang="zh-TW" dirty="0"/>
              <a:t>utation operators</a:t>
            </a:r>
            <a:endParaRPr lang="en-US" altLang="zh-TW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D631B40-1979-BBF1-9776-18D230BFEE6E}"/>
              </a:ext>
            </a:extLst>
          </p:cNvPr>
          <p:cNvSpPr txBox="1"/>
          <p:nvPr/>
        </p:nvSpPr>
        <p:spPr>
          <a:xfrm>
            <a:off x="979517" y="6396335"/>
            <a:ext cx="98238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effectLst/>
                <a:latin typeface="+mj-lt"/>
                <a:ea typeface="新細明體" panose="02020500000000000000" pitchFamily="18" charset="-120"/>
                <a:cs typeface="Times New Roman" panose="02020603050405020304" pitchFamily="18" charset="0"/>
              </a:rPr>
              <a:t>[5]  A. Maroof, B. Ayvaz, and K. Naeem, "Logistics optimization using hybrid genetic algorithm (</a:t>
            </a:r>
            <a:r>
              <a:rPr lang="en-US" altLang="zh-TW" sz="1200" dirty="0" err="1">
                <a:solidFill>
                  <a:schemeClr val="bg1"/>
                </a:solidFill>
                <a:effectLst/>
                <a:latin typeface="+mj-lt"/>
                <a:ea typeface="新細明體" panose="02020500000000000000" pitchFamily="18" charset="-120"/>
                <a:cs typeface="Times New Roman" panose="02020603050405020304" pitchFamily="18" charset="0"/>
              </a:rPr>
              <a:t>hga</a:t>
            </a:r>
            <a:r>
              <a:rPr lang="en-US" altLang="zh-TW" sz="1200" dirty="0">
                <a:solidFill>
                  <a:schemeClr val="bg1"/>
                </a:solidFill>
                <a:effectLst/>
                <a:latin typeface="+mj-lt"/>
                <a:ea typeface="新細明體" panose="02020500000000000000" pitchFamily="18" charset="-120"/>
                <a:cs typeface="Times New Roman" panose="02020603050405020304" pitchFamily="18" charset="0"/>
              </a:rPr>
              <a:t>): A solution to the vehicle routing problem with time windows (</a:t>
            </a:r>
            <a:r>
              <a:rPr lang="en-US" altLang="zh-TW" sz="1200" dirty="0" err="1">
                <a:solidFill>
                  <a:schemeClr val="bg1"/>
                </a:solidFill>
                <a:effectLst/>
                <a:latin typeface="+mj-lt"/>
                <a:ea typeface="新細明體" panose="02020500000000000000" pitchFamily="18" charset="-120"/>
                <a:cs typeface="Times New Roman" panose="02020603050405020304" pitchFamily="18" charset="0"/>
              </a:rPr>
              <a:t>vrptw</a:t>
            </a:r>
            <a:r>
              <a:rPr lang="en-US" altLang="zh-TW" sz="1200" dirty="0">
                <a:solidFill>
                  <a:schemeClr val="bg1"/>
                </a:solidFill>
                <a:effectLst/>
                <a:latin typeface="+mj-lt"/>
                <a:ea typeface="新細明體" panose="02020500000000000000" pitchFamily="18" charset="-120"/>
                <a:cs typeface="Times New Roman" panose="02020603050405020304" pitchFamily="18" charset="0"/>
              </a:rPr>
              <a:t>)," </a:t>
            </a:r>
            <a:r>
              <a:rPr lang="en-US" altLang="zh-TW" sz="1200" i="1" dirty="0">
                <a:solidFill>
                  <a:schemeClr val="bg1"/>
                </a:solidFill>
                <a:effectLst/>
                <a:latin typeface="+mj-lt"/>
                <a:ea typeface="新細明體" panose="02020500000000000000" pitchFamily="18" charset="-120"/>
                <a:cs typeface="Times New Roman" panose="02020603050405020304" pitchFamily="18" charset="0"/>
              </a:rPr>
              <a:t>IEEE Access, </a:t>
            </a:r>
            <a:r>
              <a:rPr lang="en-US" altLang="zh-TW" sz="1200" dirty="0">
                <a:solidFill>
                  <a:schemeClr val="bg1"/>
                </a:solidFill>
                <a:effectLst/>
                <a:latin typeface="+mj-lt"/>
                <a:ea typeface="新細明體" panose="02020500000000000000" pitchFamily="18" charset="-120"/>
                <a:cs typeface="Times New Roman" panose="02020603050405020304" pitchFamily="18" charset="0"/>
              </a:rPr>
              <a:t>vol. 12, pp. 36974–36989, 2024</a:t>
            </a:r>
            <a:endParaRPr lang="zh-TW" altLang="en-US" sz="1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027208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83989A-96AD-794C-8550-A63B8F342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2B6F03-33ED-1748-9DB0-4A1F871F0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Comparison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819EE19-CDCF-310E-D8EE-41A492F25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40</a:t>
            </a:fld>
            <a:endParaRPr lang="zh-TW" altLang="en-US"/>
          </a:p>
        </p:txBody>
      </p:sp>
      <p:graphicFrame>
        <p:nvGraphicFramePr>
          <p:cNvPr id="10" name="內容版面配置區 9">
            <a:extLst>
              <a:ext uri="{FF2B5EF4-FFF2-40B4-BE49-F238E27FC236}">
                <a16:creationId xmlns:a16="http://schemas.microsoft.com/office/drawing/2014/main" id="{17425CF0-60D1-8741-989F-62E1F36D52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1717991"/>
              </p:ext>
            </p:extLst>
          </p:nvPr>
        </p:nvGraphicFramePr>
        <p:xfrm>
          <a:off x="1097279" y="2162630"/>
          <a:ext cx="4936127" cy="34108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內容版面配置區 9">
            <a:extLst>
              <a:ext uri="{FF2B5EF4-FFF2-40B4-BE49-F238E27FC236}">
                <a16:creationId xmlns:a16="http://schemas.microsoft.com/office/drawing/2014/main" id="{C4BC874B-65BD-E7DE-1AEC-5B22DB0312F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20003401"/>
              </p:ext>
            </p:extLst>
          </p:nvPr>
        </p:nvGraphicFramePr>
        <p:xfrm>
          <a:off x="6096000" y="2162630"/>
          <a:ext cx="5059363" cy="34108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8945850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853239-6F20-F58A-DBD5-65432309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507E54-9B8D-4797-0964-5E39F1A11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D42290-4772-3000-F4F2-A49DC55D61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Motivation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The proposed approach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Experiment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/>
              <a:t>Discussion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Conclusion &amp; Future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7C98722-0688-2201-753E-9DEE74C53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21822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5FED88-1A45-D20D-5DC7-BBA407D86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8E73D8-0756-EB5B-05DB-7B6EFE2E1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Discussion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7CC67D-88A9-E498-9B94-FBA1904CF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42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AB60DFE3-97EE-DAE5-1C13-1BE7471E58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941454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A3BDA6-B1CC-CC77-5E7B-0147B947B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533922-4B8A-8A61-A8CD-D2842E706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DE62C09-9F85-6CD6-251F-F4188154E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Motivation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The proposed approach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Experiment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>
                <a:solidFill>
                  <a:schemeClr val="bg2">
                    <a:lumMod val="75000"/>
                  </a:schemeClr>
                </a:solidFill>
              </a:rPr>
              <a:t>Discussion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altLang="zh-TW" sz="3200" dirty="0"/>
              <a:t>Conclusion &amp; Future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2977C1-7FDB-0A66-B228-A37220DCC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18055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E007B-82E8-216A-54C6-68DE3B14C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0DD5D9D-97D0-3DA8-CF49-1D1EA07D0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D7BDCD-7602-8F36-F084-DDAC0FCDF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44</a:t>
            </a:fld>
            <a:endParaRPr lang="zh-TW" altLang="en-US"/>
          </a:p>
        </p:txBody>
      </p:sp>
      <p:sp>
        <p:nvSpPr>
          <p:cNvPr id="59" name="內容版面配置區 2">
            <a:extLst>
              <a:ext uri="{FF2B5EF4-FFF2-40B4-BE49-F238E27FC236}">
                <a16:creationId xmlns:a16="http://schemas.microsoft.com/office/drawing/2014/main" id="{8FE8E4F5-8D23-DDC6-13C9-F88F2126CC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058400" cy="4614052"/>
          </a:xfrm>
        </p:spPr>
        <p:txBody>
          <a:bodyPr>
            <a:normAutofit/>
          </a:bodyPr>
          <a:lstStyle/>
          <a:p>
            <a:pPr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Ø"/>
            </a:pPr>
            <a:endParaRPr lang="en-US" altLang="zh-TW" dirty="0"/>
          </a:p>
          <a:p>
            <a:pPr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Ø"/>
            </a:pPr>
            <a:endParaRPr lang="en-US" altLang="zh-TW" dirty="0"/>
          </a:p>
          <a:p>
            <a:pPr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Ø"/>
            </a:pPr>
            <a:endParaRPr lang="en-US" altLang="zh-TW" dirty="0"/>
          </a:p>
          <a:p>
            <a:pPr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Ø"/>
            </a:pPr>
            <a:endParaRPr lang="en-US" altLang="zh-TW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815C0E44-0C06-116A-157C-BEA497E0E4A3}"/>
              </a:ext>
            </a:extLst>
          </p:cNvPr>
          <p:cNvSpPr txBox="1">
            <a:spLocks/>
          </p:cNvSpPr>
          <p:nvPr/>
        </p:nvSpPr>
        <p:spPr>
          <a:xfrm>
            <a:off x="1097280" y="1845733"/>
            <a:ext cx="10409910" cy="4614052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Ø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l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Ø"/>
            </a:pPr>
            <a:r>
              <a:rPr lang="en-US" altLang="zh-TW" dirty="0"/>
              <a:t>Proposed a Multi-Stage Operationally Constrained VRP model for real-world logistics</a:t>
            </a:r>
          </a:p>
          <a:p>
            <a:pPr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Ø"/>
            </a:pPr>
            <a:r>
              <a:rPr lang="zh-TW" altLang="zh-TW" dirty="0"/>
              <a:t>Developed a hybrid solution framework using CCGA, HACO, and MAC</a:t>
            </a:r>
            <a:r>
              <a:rPr lang="en-US" altLang="zh-TW" dirty="0"/>
              <a:t>S</a:t>
            </a:r>
          </a:p>
          <a:p>
            <a:pPr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Ø"/>
            </a:pPr>
            <a:r>
              <a:rPr lang="zh-TW" altLang="zh-TW" dirty="0"/>
              <a:t>Reduced support-route usage and improved delivery efficiency on real-world data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838413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C7964C-B3DF-5EEF-9FDE-D40A03CD3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98C9BD-D935-0D7C-AD9C-88D417C6F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Future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A62698-DB82-4F1D-CEA7-3696B1076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25633-CB68-4D6B-BEE8-144406895708}" type="slidenum">
              <a:rPr lang="zh-TW" altLang="en-US" smtClean="0"/>
              <a:t>45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31F7D6F9-4448-FEAE-78F3-544C06AF70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dirty="0"/>
              <a:t>Problem-level Extensions</a:t>
            </a:r>
            <a:endParaRPr lang="en-US" altLang="zh-TW" dirty="0"/>
          </a:p>
          <a:p>
            <a:pPr lvl="1">
              <a:lnSpc>
                <a:spcPct val="150000"/>
              </a:lnSpc>
            </a:pPr>
            <a:r>
              <a:rPr lang="en-US" altLang="zh-TW" dirty="0"/>
              <a:t>Multi-type Heterogeneous Fleet Vehicle Routing Problem</a:t>
            </a:r>
          </a:p>
          <a:p>
            <a:pPr lvl="1">
              <a:lnSpc>
                <a:spcPct val="150000"/>
              </a:lnSpc>
            </a:pPr>
            <a:r>
              <a:rPr lang="en-US" altLang="zh-TW" dirty="0"/>
              <a:t>Green Vehicle Routing Problem</a:t>
            </a:r>
          </a:p>
          <a:p>
            <a:pPr lvl="1"/>
            <a:endParaRPr lang="en-US" altLang="zh-TW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dirty="0"/>
              <a:t>Methodological Enhancements</a:t>
            </a:r>
            <a:endParaRPr lang="en-US" altLang="zh-TW" dirty="0"/>
          </a:p>
          <a:p>
            <a:pPr lvl="1">
              <a:lnSpc>
                <a:spcPct val="150000"/>
              </a:lnSpc>
            </a:pPr>
            <a:r>
              <a:rPr lang="en-US" altLang="zh-TW" dirty="0"/>
              <a:t>Integrate advanced artificial intelligence m</a:t>
            </a:r>
            <a:r>
              <a:rPr lang="zh-TW" altLang="zh-TW" dirty="0"/>
              <a:t>ethodologies</a:t>
            </a:r>
            <a:endParaRPr lang="en-US" altLang="zh-TW" dirty="0"/>
          </a:p>
          <a:p>
            <a:pPr lvl="1">
              <a:lnSpc>
                <a:spcPct val="150000"/>
              </a:lnSpc>
            </a:pPr>
            <a:r>
              <a:rPr lang="en-US" altLang="zh-TW" dirty="0"/>
              <a:t>Apply deep learning and reinforcement learning to improve scalability and decision quality</a:t>
            </a:r>
          </a:p>
          <a:p>
            <a:pPr marL="201168" lvl="1" indent="0">
              <a:buNone/>
            </a:pP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359755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328943-D35C-924C-9AB1-F9406D30C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C323A80-7D69-D9D9-1E96-5B96EAF70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</a:rPr>
              <a:t>Q &amp; A</a:t>
            </a:r>
            <a:endParaRPr lang="zh-TW" altLang="en-US" cap="none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21D5E32-3A22-A75B-E78F-74666301B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C0657-DFCE-4451-BE98-3FA3D33DFB54}" type="slidenum">
              <a:rPr lang="zh-TW" altLang="en-US" smtClean="0"/>
              <a:t>46</a:t>
            </a:fld>
            <a:endParaRPr lang="zh-TW" altLang="en-US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D8038848-D7F8-A128-7D73-7A84B529A1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5965" y="3064213"/>
            <a:ext cx="9720071" cy="729574"/>
          </a:xfrm>
        </p:spPr>
        <p:txBody>
          <a:bodyPr>
            <a:normAutofit/>
          </a:bodyPr>
          <a:lstStyle/>
          <a:p>
            <a:pPr marL="0" indent="0" algn="ctr">
              <a:buClrTx/>
              <a:buNone/>
            </a:pPr>
            <a:r>
              <a:rPr lang="en-US" altLang="zh-TW" sz="4400" dirty="0">
                <a:latin typeface="Times New Roman" panose="02020603050405020304" pitchFamily="18" charset="0"/>
                <a:ea typeface="標楷體" panose="03000509000000000000" pitchFamily="65" charset="-120"/>
              </a:rPr>
              <a:t>Thank you for listening</a:t>
            </a:r>
            <a:r>
              <a:rPr lang="zh-TW" altLang="en-US" sz="4400" dirty="0">
                <a:latin typeface="Times New Roman" panose="02020603050405020304" pitchFamily="18" charset="0"/>
                <a:ea typeface="標楷體" panose="03000509000000000000" pitchFamily="65" charset="-120"/>
              </a:rPr>
              <a:t>！</a:t>
            </a:r>
            <a:endParaRPr lang="en-US" altLang="zh-TW" sz="4400" dirty="0">
              <a:solidFill>
                <a:srgbClr val="0070C0"/>
              </a:solidFill>
              <a:latin typeface="Times New Roman" panose="02020603050405020304" pitchFamily="18" charset="0"/>
              <a:ea typeface="標楷體" panose="03000509000000000000" pitchFamily="65" charset="-120"/>
            </a:endParaRPr>
          </a:p>
          <a:p>
            <a:pPr>
              <a:buClrTx/>
              <a:buFont typeface="Arial" panose="020B0604020202020204" pitchFamily="34" charset="0"/>
              <a:buChar char="•"/>
            </a:pP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97367654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自訂 1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回顧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17698</TotalTime>
  <Words>4208</Words>
  <Application>Microsoft Office PowerPoint</Application>
  <PresentationFormat>寬螢幕</PresentationFormat>
  <Paragraphs>683</Paragraphs>
  <Slides>46</Slides>
  <Notes>46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46</vt:i4>
      </vt:variant>
    </vt:vector>
  </HeadingPairs>
  <TitlesOfParts>
    <vt:vector size="54" baseType="lpstr">
      <vt:lpstr>DFKai-SB</vt:lpstr>
      <vt:lpstr>Aptos</vt:lpstr>
      <vt:lpstr>Arial</vt:lpstr>
      <vt:lpstr>Calibri</vt:lpstr>
      <vt:lpstr>Cambria Math</vt:lpstr>
      <vt:lpstr>Times New Roman</vt:lpstr>
      <vt:lpstr>Wingdings</vt:lpstr>
      <vt:lpstr>回顧</vt:lpstr>
      <vt:lpstr>Multi-Stage Optimization for Supporting Lines in Logistics Companies</vt:lpstr>
      <vt:lpstr>Outline</vt:lpstr>
      <vt:lpstr>Outline</vt:lpstr>
      <vt:lpstr>Motivation</vt:lpstr>
      <vt:lpstr>Outline</vt:lpstr>
      <vt:lpstr>The proposed approach</vt:lpstr>
      <vt:lpstr>The proposed approach</vt:lpstr>
      <vt:lpstr>The proposed approach</vt:lpstr>
      <vt:lpstr>Original Route Data</vt:lpstr>
      <vt:lpstr>The proposed approach</vt:lpstr>
      <vt:lpstr>API Module</vt:lpstr>
      <vt:lpstr>The proposed approach</vt:lpstr>
      <vt:lpstr>Data Preprocessing</vt:lpstr>
      <vt:lpstr>The proposed approach</vt:lpstr>
      <vt:lpstr>Routing Module</vt:lpstr>
      <vt:lpstr>VRP</vt:lpstr>
      <vt:lpstr>VRP</vt:lpstr>
      <vt:lpstr>Constraints</vt:lpstr>
      <vt:lpstr>Objective Function</vt:lpstr>
      <vt:lpstr>Store Extraction</vt:lpstr>
      <vt:lpstr>Store Assignment</vt:lpstr>
      <vt:lpstr>Support Route Planning</vt:lpstr>
      <vt:lpstr>The proposed approach</vt:lpstr>
      <vt:lpstr>Evaluation Module</vt:lpstr>
      <vt:lpstr>Evaluate Module</vt:lpstr>
      <vt:lpstr>The proposed approach</vt:lpstr>
      <vt:lpstr>Optimized Route Data</vt:lpstr>
      <vt:lpstr>Outline</vt:lpstr>
      <vt:lpstr>Experiment</vt:lpstr>
      <vt:lpstr>CCGA Setting</vt:lpstr>
      <vt:lpstr>HACO Setting</vt:lpstr>
      <vt:lpstr>MACS Setting</vt:lpstr>
      <vt:lpstr>Experiment Result</vt:lpstr>
      <vt:lpstr>Experiment Result</vt:lpstr>
      <vt:lpstr>Experiment Result</vt:lpstr>
      <vt:lpstr>Experiment Result</vt:lpstr>
      <vt:lpstr>Ablation Study</vt:lpstr>
      <vt:lpstr>Ablation Study</vt:lpstr>
      <vt:lpstr>Baseline - HGA-SIH</vt:lpstr>
      <vt:lpstr>Comparison</vt:lpstr>
      <vt:lpstr>Outline</vt:lpstr>
      <vt:lpstr>Discussion</vt:lpstr>
      <vt:lpstr>Outline</vt:lpstr>
      <vt:lpstr>Conclusion</vt:lpstr>
      <vt:lpstr>Future</vt:lpstr>
      <vt:lpstr>Q &amp; 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少嘉 范</dc:creator>
  <cp:lastModifiedBy>楊宏傑</cp:lastModifiedBy>
  <cp:revision>703</cp:revision>
  <dcterms:created xsi:type="dcterms:W3CDTF">2025-02-12T06:34:32Z</dcterms:created>
  <dcterms:modified xsi:type="dcterms:W3CDTF">2026-06-08T08:00:27Z</dcterms:modified>
</cp:coreProperties>
</file>