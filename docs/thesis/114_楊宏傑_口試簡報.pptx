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6"/>
  </p:notesMasterIdLst>
  <p:sldIdLst>
    <p:sldId id="260" r:id="rId2"/>
    <p:sldId id="272" r:id="rId3"/>
    <p:sldId id="319" r:id="rId4"/>
    <p:sldId id="264" r:id="rId5"/>
    <p:sldId id="320" r:id="rId6"/>
    <p:sldId id="323" r:id="rId7"/>
    <p:sldId id="322" r:id="rId8"/>
    <p:sldId id="378" r:id="rId9"/>
    <p:sldId id="385" r:id="rId10"/>
    <p:sldId id="380" r:id="rId11"/>
    <p:sldId id="396" r:id="rId12"/>
    <p:sldId id="379" r:id="rId13"/>
    <p:sldId id="386" r:id="rId14"/>
    <p:sldId id="381" r:id="rId15"/>
    <p:sldId id="387" r:id="rId16"/>
    <p:sldId id="410" r:id="rId17"/>
    <p:sldId id="401" r:id="rId18"/>
    <p:sldId id="409" r:id="rId19"/>
    <p:sldId id="408" r:id="rId20"/>
    <p:sldId id="426" r:id="rId21"/>
    <p:sldId id="389" r:id="rId22"/>
    <p:sldId id="399" r:id="rId23"/>
    <p:sldId id="383" r:id="rId24"/>
    <p:sldId id="400" r:id="rId25"/>
    <p:sldId id="402" r:id="rId26"/>
    <p:sldId id="382" r:id="rId27"/>
    <p:sldId id="397" r:id="rId28"/>
    <p:sldId id="390" r:id="rId29"/>
    <p:sldId id="398" r:id="rId30"/>
    <p:sldId id="431" r:id="rId31"/>
    <p:sldId id="406" r:id="rId32"/>
    <p:sldId id="407" r:id="rId33"/>
    <p:sldId id="412" r:id="rId34"/>
    <p:sldId id="414" r:id="rId35"/>
    <p:sldId id="422" r:id="rId36"/>
    <p:sldId id="429" r:id="rId37"/>
    <p:sldId id="421" r:id="rId38"/>
    <p:sldId id="427" r:id="rId39"/>
    <p:sldId id="391" r:id="rId40"/>
    <p:sldId id="432" r:id="rId41"/>
    <p:sldId id="395" r:id="rId42"/>
    <p:sldId id="392" r:id="rId43"/>
    <p:sldId id="393" r:id="rId44"/>
    <p:sldId id="394"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7438" autoAdjust="0"/>
  </p:normalViewPr>
  <p:slideViewPr>
    <p:cSldViewPr snapToGrid="0">
      <p:cViewPr varScale="1">
        <p:scale>
          <a:sx n="81" d="100"/>
          <a:sy n="81" d="100"/>
        </p:scale>
        <p:origin x="114" y="60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4" d="100"/>
          <a:sy n="114" d="100"/>
        </p:scale>
        <p:origin x="5178" y="1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eff0\OneDrive\&#26700;&#38754;\115_NTUT_Thesis\100\&#36335;&#32218;&#26368;&#20339;&#21270;&#27604;&#36611;&#32080;&#2652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eff0\OneDrive\&#26700;&#38754;\115_NTUT_Thesis\100\&#36335;&#32218;&#26368;&#20339;&#21270;&#27604;&#36611;&#32080;&#2652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eff0\OneDrive\&#26700;&#38754;\115_NTUT_Thesis\100\&#36335;&#32218;&#26368;&#20339;&#21270;&#27604;&#36611;&#32080;&#2652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jeff0\OneDrive\&#26700;&#38754;\115_NTUT_Thesis\100\&#36335;&#32218;&#26368;&#20339;&#21270;&#27604;&#36611;&#32080;&#26524;.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jeff0\OneDrive\&#26700;&#38754;\115_NTUT_Thesis\100\&#36335;&#32218;&#26368;&#20339;&#21270;&#27604;&#36611;&#32080;&#26524;.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jeff0\OneDrive\&#26700;&#38754;\115_NTUT_Thesis\docs\Baseline&#27604;&#36611;&#32080;&#26524;.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jeff0\OneDrive\&#26700;&#38754;\115_NTUT_Thesis\docs\Baseline&#27604;&#36611;&#32080;&#26524;.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a:t>Number of Vehicles</a:t>
            </a:r>
            <a:endParaRPr lang="zh-TW"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Manually Planned</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核心指標比較!$B$2:$B$27</c:f>
              <c:numCache>
                <c:formatCode>General</c:formatCode>
                <c:ptCount val="26"/>
                <c:pt idx="0">
                  <c:v>102</c:v>
                </c:pt>
                <c:pt idx="1">
                  <c:v>90</c:v>
                </c:pt>
                <c:pt idx="2">
                  <c:v>89</c:v>
                </c:pt>
                <c:pt idx="3">
                  <c:v>83</c:v>
                </c:pt>
                <c:pt idx="4">
                  <c:v>89</c:v>
                </c:pt>
                <c:pt idx="5">
                  <c:v>94</c:v>
                </c:pt>
                <c:pt idx="6">
                  <c:v>91</c:v>
                </c:pt>
                <c:pt idx="7">
                  <c:v>108</c:v>
                </c:pt>
                <c:pt idx="8">
                  <c:v>85</c:v>
                </c:pt>
                <c:pt idx="9">
                  <c:v>81</c:v>
                </c:pt>
                <c:pt idx="10">
                  <c:v>83</c:v>
                </c:pt>
                <c:pt idx="11">
                  <c:v>83</c:v>
                </c:pt>
                <c:pt idx="12">
                  <c:v>82</c:v>
                </c:pt>
                <c:pt idx="13">
                  <c:v>100</c:v>
                </c:pt>
                <c:pt idx="14">
                  <c:v>90</c:v>
                </c:pt>
                <c:pt idx="15">
                  <c:v>84</c:v>
                </c:pt>
                <c:pt idx="16">
                  <c:v>129</c:v>
                </c:pt>
                <c:pt idx="17">
                  <c:v>134</c:v>
                </c:pt>
                <c:pt idx="18">
                  <c:v>105</c:v>
                </c:pt>
                <c:pt idx="19">
                  <c:v>111</c:v>
                </c:pt>
                <c:pt idx="20">
                  <c:v>110</c:v>
                </c:pt>
                <c:pt idx="21">
                  <c:v>120</c:v>
                </c:pt>
                <c:pt idx="22">
                  <c:v>91</c:v>
                </c:pt>
                <c:pt idx="23">
                  <c:v>136</c:v>
                </c:pt>
                <c:pt idx="24">
                  <c:v>159</c:v>
                </c:pt>
                <c:pt idx="25">
                  <c:v>94</c:v>
                </c:pt>
              </c:numCache>
            </c:numRef>
          </c:val>
          <c:smooth val="0"/>
          <c:extLst>
            <c:ext xmlns:c16="http://schemas.microsoft.com/office/drawing/2014/chart" uri="{C3380CC4-5D6E-409C-BE32-E72D297353CC}">
              <c16:uniqueId val="{00000000-9663-4955-8F64-ADE502E9B99B}"/>
            </c:ext>
          </c:extLst>
        </c:ser>
        <c:ser>
          <c:idx val="1"/>
          <c:order val="1"/>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核心指標比較!$C$2:$C$27</c:f>
              <c:numCache>
                <c:formatCode>General</c:formatCode>
                <c:ptCount val="26"/>
                <c:pt idx="0">
                  <c:v>93.6</c:v>
                </c:pt>
                <c:pt idx="1">
                  <c:v>83.2</c:v>
                </c:pt>
                <c:pt idx="2">
                  <c:v>86</c:v>
                </c:pt>
                <c:pt idx="3">
                  <c:v>82</c:v>
                </c:pt>
                <c:pt idx="4">
                  <c:v>84.4</c:v>
                </c:pt>
                <c:pt idx="5">
                  <c:v>85</c:v>
                </c:pt>
                <c:pt idx="6">
                  <c:v>83.6</c:v>
                </c:pt>
                <c:pt idx="7">
                  <c:v>99</c:v>
                </c:pt>
                <c:pt idx="8">
                  <c:v>82.8</c:v>
                </c:pt>
                <c:pt idx="9">
                  <c:v>81</c:v>
                </c:pt>
                <c:pt idx="10">
                  <c:v>81</c:v>
                </c:pt>
                <c:pt idx="11">
                  <c:v>81</c:v>
                </c:pt>
                <c:pt idx="12">
                  <c:v>81</c:v>
                </c:pt>
                <c:pt idx="13">
                  <c:v>93.2</c:v>
                </c:pt>
                <c:pt idx="14">
                  <c:v>85.4</c:v>
                </c:pt>
                <c:pt idx="15">
                  <c:v>81.2</c:v>
                </c:pt>
                <c:pt idx="16">
                  <c:v>122</c:v>
                </c:pt>
                <c:pt idx="17">
                  <c:v>123</c:v>
                </c:pt>
                <c:pt idx="18">
                  <c:v>101.2</c:v>
                </c:pt>
                <c:pt idx="19">
                  <c:v>103.6</c:v>
                </c:pt>
                <c:pt idx="20">
                  <c:v>103.6</c:v>
                </c:pt>
                <c:pt idx="21">
                  <c:v>98.4</c:v>
                </c:pt>
                <c:pt idx="22">
                  <c:v>83.4</c:v>
                </c:pt>
                <c:pt idx="23">
                  <c:v>99.8</c:v>
                </c:pt>
                <c:pt idx="24">
                  <c:v>128.19999999999999</c:v>
                </c:pt>
                <c:pt idx="25">
                  <c:v>88.8</c:v>
                </c:pt>
              </c:numCache>
            </c:numRef>
          </c:val>
          <c:smooth val="0"/>
          <c:extLst>
            <c:ext xmlns:c16="http://schemas.microsoft.com/office/drawing/2014/chart" uri="{C3380CC4-5D6E-409C-BE32-E72D297353CC}">
              <c16:uniqueId val="{00000001-9663-4955-8F64-ADE502E9B99B}"/>
            </c:ext>
          </c:extLst>
        </c:ser>
        <c:dLbls>
          <c:showLegendKey val="0"/>
          <c:showVal val="0"/>
          <c:showCatName val="0"/>
          <c:showSerName val="0"/>
          <c:showPercent val="0"/>
          <c:showBubbleSize val="0"/>
        </c:dLbls>
        <c:marker val="1"/>
        <c:smooth val="0"/>
        <c:axId val="998890640"/>
        <c:axId val="998891120"/>
      </c:lineChart>
      <c:catAx>
        <c:axId val="99889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98891120"/>
        <c:crosses val="autoZero"/>
        <c:auto val="1"/>
        <c:lblAlgn val="ctr"/>
        <c:lblOffset val="100"/>
        <c:noMultiLvlLbl val="0"/>
      </c:catAx>
      <c:valAx>
        <c:axId val="998891120"/>
        <c:scaling>
          <c:orientation val="minMax"/>
          <c:min val="6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98890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a:t>Number of</a:t>
            </a:r>
            <a:r>
              <a:rPr lang="en-US" altLang="zh-TW" baseline="0"/>
              <a:t> Support Vehicles</a:t>
            </a:r>
            <a:endParaRPr lang="zh-TW"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Manually Planned</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核心指標比較!$E$2:$E$27</c:f>
              <c:numCache>
                <c:formatCode>General</c:formatCode>
                <c:ptCount val="26"/>
                <c:pt idx="0">
                  <c:v>21</c:v>
                </c:pt>
                <c:pt idx="1">
                  <c:v>10</c:v>
                </c:pt>
                <c:pt idx="2">
                  <c:v>9</c:v>
                </c:pt>
                <c:pt idx="3">
                  <c:v>3</c:v>
                </c:pt>
                <c:pt idx="4">
                  <c:v>9</c:v>
                </c:pt>
                <c:pt idx="5">
                  <c:v>14</c:v>
                </c:pt>
                <c:pt idx="6">
                  <c:v>12</c:v>
                </c:pt>
                <c:pt idx="7">
                  <c:v>27</c:v>
                </c:pt>
                <c:pt idx="8">
                  <c:v>4</c:v>
                </c:pt>
                <c:pt idx="9">
                  <c:v>0</c:v>
                </c:pt>
                <c:pt idx="10">
                  <c:v>3</c:v>
                </c:pt>
                <c:pt idx="11">
                  <c:v>3</c:v>
                </c:pt>
                <c:pt idx="12">
                  <c:v>2</c:v>
                </c:pt>
                <c:pt idx="13">
                  <c:v>19</c:v>
                </c:pt>
                <c:pt idx="14">
                  <c:v>9</c:v>
                </c:pt>
                <c:pt idx="15">
                  <c:v>4</c:v>
                </c:pt>
                <c:pt idx="16">
                  <c:v>48</c:v>
                </c:pt>
                <c:pt idx="17">
                  <c:v>53</c:v>
                </c:pt>
                <c:pt idx="18">
                  <c:v>24</c:v>
                </c:pt>
                <c:pt idx="19">
                  <c:v>30</c:v>
                </c:pt>
                <c:pt idx="20">
                  <c:v>30</c:v>
                </c:pt>
                <c:pt idx="21">
                  <c:v>39</c:v>
                </c:pt>
                <c:pt idx="22">
                  <c:v>10</c:v>
                </c:pt>
                <c:pt idx="23">
                  <c:v>50</c:v>
                </c:pt>
                <c:pt idx="24">
                  <c:v>73</c:v>
                </c:pt>
                <c:pt idx="25">
                  <c:v>8</c:v>
                </c:pt>
              </c:numCache>
            </c:numRef>
          </c:val>
          <c:smooth val="0"/>
          <c:extLst>
            <c:ext xmlns:c16="http://schemas.microsoft.com/office/drawing/2014/chart" uri="{C3380CC4-5D6E-409C-BE32-E72D297353CC}">
              <c16:uniqueId val="{00000000-1A7E-4DD7-9B9F-00876EAF4406}"/>
            </c:ext>
          </c:extLst>
        </c:ser>
        <c:ser>
          <c:idx val="1"/>
          <c:order val="1"/>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核心指標比較!$F$2:$F$27</c:f>
              <c:numCache>
                <c:formatCode>General</c:formatCode>
                <c:ptCount val="26"/>
                <c:pt idx="0">
                  <c:v>12.6</c:v>
                </c:pt>
                <c:pt idx="1">
                  <c:v>2.2000000000000002</c:v>
                </c:pt>
                <c:pt idx="2">
                  <c:v>5</c:v>
                </c:pt>
                <c:pt idx="3">
                  <c:v>1</c:v>
                </c:pt>
                <c:pt idx="4">
                  <c:v>3.4</c:v>
                </c:pt>
                <c:pt idx="5">
                  <c:v>4</c:v>
                </c:pt>
                <c:pt idx="6">
                  <c:v>2.6</c:v>
                </c:pt>
                <c:pt idx="7">
                  <c:v>18</c:v>
                </c:pt>
                <c:pt idx="8">
                  <c:v>1.8</c:v>
                </c:pt>
                <c:pt idx="9">
                  <c:v>0</c:v>
                </c:pt>
                <c:pt idx="10">
                  <c:v>0</c:v>
                </c:pt>
                <c:pt idx="11">
                  <c:v>0</c:v>
                </c:pt>
                <c:pt idx="12">
                  <c:v>0</c:v>
                </c:pt>
                <c:pt idx="13">
                  <c:v>12.2</c:v>
                </c:pt>
                <c:pt idx="14">
                  <c:v>4.4000000000000004</c:v>
                </c:pt>
                <c:pt idx="15">
                  <c:v>0.2</c:v>
                </c:pt>
                <c:pt idx="16">
                  <c:v>41</c:v>
                </c:pt>
                <c:pt idx="17">
                  <c:v>42</c:v>
                </c:pt>
                <c:pt idx="18">
                  <c:v>20.2</c:v>
                </c:pt>
                <c:pt idx="19">
                  <c:v>22.6</c:v>
                </c:pt>
                <c:pt idx="20">
                  <c:v>22.6</c:v>
                </c:pt>
                <c:pt idx="21">
                  <c:v>17.399999999999999</c:v>
                </c:pt>
                <c:pt idx="22">
                  <c:v>2.4</c:v>
                </c:pt>
                <c:pt idx="23">
                  <c:v>11.8</c:v>
                </c:pt>
                <c:pt idx="24">
                  <c:v>40.200000000000003</c:v>
                </c:pt>
                <c:pt idx="25">
                  <c:v>0.8</c:v>
                </c:pt>
              </c:numCache>
            </c:numRef>
          </c:val>
          <c:smooth val="0"/>
          <c:extLst>
            <c:ext xmlns:c16="http://schemas.microsoft.com/office/drawing/2014/chart" uri="{C3380CC4-5D6E-409C-BE32-E72D297353CC}">
              <c16:uniqueId val="{00000001-1A7E-4DD7-9B9F-00876EAF4406}"/>
            </c:ext>
          </c:extLst>
        </c:ser>
        <c:dLbls>
          <c:showLegendKey val="0"/>
          <c:showVal val="0"/>
          <c:showCatName val="0"/>
          <c:showSerName val="0"/>
          <c:showPercent val="0"/>
          <c:showBubbleSize val="0"/>
        </c:dLbls>
        <c:marker val="1"/>
        <c:smooth val="0"/>
        <c:axId val="2047267615"/>
        <c:axId val="2047268575"/>
      </c:lineChart>
      <c:catAx>
        <c:axId val="20472676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2047268575"/>
        <c:crosses val="autoZero"/>
        <c:auto val="1"/>
        <c:lblAlgn val="ctr"/>
        <c:lblOffset val="100"/>
        <c:noMultiLvlLbl val="0"/>
      </c:catAx>
      <c:valAx>
        <c:axId val="2047268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20472676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a:t>Total Distance (km)</a:t>
            </a:r>
            <a:endParaRPr lang="zh-TW"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Manually Planned</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核心指標比較!$H$2:$H$27</c:f>
              <c:numCache>
                <c:formatCode>General</c:formatCode>
                <c:ptCount val="26"/>
                <c:pt idx="0">
                  <c:v>4623.34</c:v>
                </c:pt>
                <c:pt idx="1">
                  <c:v>4069.95</c:v>
                </c:pt>
                <c:pt idx="2">
                  <c:v>4134.37</c:v>
                </c:pt>
                <c:pt idx="3">
                  <c:v>3826.14</c:v>
                </c:pt>
                <c:pt idx="4">
                  <c:v>4042.17</c:v>
                </c:pt>
                <c:pt idx="5">
                  <c:v>4264.0600000000004</c:v>
                </c:pt>
                <c:pt idx="6">
                  <c:v>4169.74</c:v>
                </c:pt>
                <c:pt idx="7">
                  <c:v>4835.7</c:v>
                </c:pt>
                <c:pt idx="8">
                  <c:v>3915.92</c:v>
                </c:pt>
                <c:pt idx="9">
                  <c:v>3807.76</c:v>
                </c:pt>
                <c:pt idx="10">
                  <c:v>3859.83</c:v>
                </c:pt>
                <c:pt idx="11">
                  <c:v>3855.24</c:v>
                </c:pt>
                <c:pt idx="12">
                  <c:v>3812.78</c:v>
                </c:pt>
                <c:pt idx="13">
                  <c:v>4542.96</c:v>
                </c:pt>
                <c:pt idx="14">
                  <c:v>4172.2299999999996</c:v>
                </c:pt>
                <c:pt idx="15">
                  <c:v>3882.31</c:v>
                </c:pt>
                <c:pt idx="16">
                  <c:v>5567.91</c:v>
                </c:pt>
                <c:pt idx="17">
                  <c:v>5726.8</c:v>
                </c:pt>
                <c:pt idx="18">
                  <c:v>4701.75</c:v>
                </c:pt>
                <c:pt idx="19">
                  <c:v>4946.66</c:v>
                </c:pt>
                <c:pt idx="20">
                  <c:v>4883.74</c:v>
                </c:pt>
                <c:pt idx="21">
                  <c:v>5373.11</c:v>
                </c:pt>
                <c:pt idx="22">
                  <c:v>4168</c:v>
                </c:pt>
                <c:pt idx="23">
                  <c:v>5553.82</c:v>
                </c:pt>
                <c:pt idx="24">
                  <c:v>6891.41</c:v>
                </c:pt>
                <c:pt idx="25">
                  <c:v>4191.59</c:v>
                </c:pt>
              </c:numCache>
            </c:numRef>
          </c:val>
          <c:smooth val="0"/>
          <c:extLst>
            <c:ext xmlns:c16="http://schemas.microsoft.com/office/drawing/2014/chart" uri="{C3380CC4-5D6E-409C-BE32-E72D297353CC}">
              <c16:uniqueId val="{00000000-834F-4FB8-97BB-782E192AFF84}"/>
            </c:ext>
          </c:extLst>
        </c:ser>
        <c:ser>
          <c:idx val="1"/>
          <c:order val="1"/>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核心指標比較!$I$2:$I$27</c:f>
              <c:numCache>
                <c:formatCode>General</c:formatCode>
                <c:ptCount val="26"/>
                <c:pt idx="0">
                  <c:v>4517.2700000000004</c:v>
                </c:pt>
                <c:pt idx="1">
                  <c:v>3954.13</c:v>
                </c:pt>
                <c:pt idx="2">
                  <c:v>4094.73</c:v>
                </c:pt>
                <c:pt idx="3">
                  <c:v>3802.25</c:v>
                </c:pt>
                <c:pt idx="4">
                  <c:v>3951.56</c:v>
                </c:pt>
                <c:pt idx="5">
                  <c:v>4102.1099999999997</c:v>
                </c:pt>
                <c:pt idx="6">
                  <c:v>3992.15</c:v>
                </c:pt>
                <c:pt idx="7">
                  <c:v>4683.42</c:v>
                </c:pt>
                <c:pt idx="8">
                  <c:v>3918.2</c:v>
                </c:pt>
                <c:pt idx="9">
                  <c:v>3796.46</c:v>
                </c:pt>
                <c:pt idx="10">
                  <c:v>3803.06</c:v>
                </c:pt>
                <c:pt idx="11">
                  <c:v>3792.05</c:v>
                </c:pt>
                <c:pt idx="12">
                  <c:v>3806.05</c:v>
                </c:pt>
                <c:pt idx="13">
                  <c:v>4416.13</c:v>
                </c:pt>
                <c:pt idx="14">
                  <c:v>4101.51</c:v>
                </c:pt>
                <c:pt idx="15">
                  <c:v>3819.98</c:v>
                </c:pt>
                <c:pt idx="16">
                  <c:v>5596.55</c:v>
                </c:pt>
                <c:pt idx="17">
                  <c:v>5654.47</c:v>
                </c:pt>
                <c:pt idx="18">
                  <c:v>4766.66</c:v>
                </c:pt>
                <c:pt idx="19">
                  <c:v>4918.38</c:v>
                </c:pt>
                <c:pt idx="20">
                  <c:v>4968.2</c:v>
                </c:pt>
                <c:pt idx="21">
                  <c:v>4714.5600000000004</c:v>
                </c:pt>
                <c:pt idx="22">
                  <c:v>3918.45</c:v>
                </c:pt>
                <c:pt idx="23">
                  <c:v>4628.5600000000004</c:v>
                </c:pt>
                <c:pt idx="24">
                  <c:v>6020.64</c:v>
                </c:pt>
                <c:pt idx="25">
                  <c:v>4046.22</c:v>
                </c:pt>
              </c:numCache>
            </c:numRef>
          </c:val>
          <c:smooth val="0"/>
          <c:extLst>
            <c:ext xmlns:c16="http://schemas.microsoft.com/office/drawing/2014/chart" uri="{C3380CC4-5D6E-409C-BE32-E72D297353CC}">
              <c16:uniqueId val="{00000001-834F-4FB8-97BB-782E192AFF84}"/>
            </c:ext>
          </c:extLst>
        </c:ser>
        <c:dLbls>
          <c:showLegendKey val="0"/>
          <c:showVal val="0"/>
          <c:showCatName val="0"/>
          <c:showSerName val="0"/>
          <c:showPercent val="0"/>
          <c:showBubbleSize val="0"/>
        </c:dLbls>
        <c:marker val="1"/>
        <c:smooth val="0"/>
        <c:axId val="998895920"/>
        <c:axId val="998893040"/>
      </c:lineChart>
      <c:catAx>
        <c:axId val="998895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98893040"/>
        <c:crosses val="autoZero"/>
        <c:auto val="1"/>
        <c:lblAlgn val="ctr"/>
        <c:lblOffset val="100"/>
        <c:noMultiLvlLbl val="0"/>
      </c:catAx>
      <c:valAx>
        <c:axId val="998893040"/>
        <c:scaling>
          <c:orientation val="minMax"/>
          <c:min val="3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988959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a:t>Average Load Rate</a:t>
            </a:r>
            <a:endParaRPr lang="zh-TW"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Manually Planned</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核心指標比較!$K$2:$K$27</c:f>
              <c:numCache>
                <c:formatCode>General</c:formatCode>
                <c:ptCount val="26"/>
                <c:pt idx="0">
                  <c:v>0.85</c:v>
                </c:pt>
                <c:pt idx="1">
                  <c:v>0.84</c:v>
                </c:pt>
                <c:pt idx="2">
                  <c:v>0.87</c:v>
                </c:pt>
                <c:pt idx="3">
                  <c:v>0.79</c:v>
                </c:pt>
                <c:pt idx="4">
                  <c:v>0.83</c:v>
                </c:pt>
                <c:pt idx="5">
                  <c:v>0.85</c:v>
                </c:pt>
                <c:pt idx="6">
                  <c:v>0.86</c:v>
                </c:pt>
                <c:pt idx="7">
                  <c:v>0.85</c:v>
                </c:pt>
                <c:pt idx="8">
                  <c:v>0.84</c:v>
                </c:pt>
                <c:pt idx="9">
                  <c:v>0.8</c:v>
                </c:pt>
                <c:pt idx="10">
                  <c:v>0.8</c:v>
                </c:pt>
                <c:pt idx="11">
                  <c:v>0.84</c:v>
                </c:pt>
                <c:pt idx="12">
                  <c:v>0.84</c:v>
                </c:pt>
                <c:pt idx="13">
                  <c:v>0.87</c:v>
                </c:pt>
                <c:pt idx="14">
                  <c:v>0.86</c:v>
                </c:pt>
                <c:pt idx="15">
                  <c:v>0.84</c:v>
                </c:pt>
                <c:pt idx="16">
                  <c:v>0.87</c:v>
                </c:pt>
                <c:pt idx="17">
                  <c:v>0.85</c:v>
                </c:pt>
                <c:pt idx="18">
                  <c:v>0.9</c:v>
                </c:pt>
                <c:pt idx="19">
                  <c:v>0.87</c:v>
                </c:pt>
                <c:pt idx="20">
                  <c:v>0.87</c:v>
                </c:pt>
                <c:pt idx="21">
                  <c:v>0.77</c:v>
                </c:pt>
                <c:pt idx="22">
                  <c:v>0.81</c:v>
                </c:pt>
                <c:pt idx="23">
                  <c:v>0.68</c:v>
                </c:pt>
                <c:pt idx="24">
                  <c:v>0.75</c:v>
                </c:pt>
                <c:pt idx="25">
                  <c:v>0.79</c:v>
                </c:pt>
              </c:numCache>
            </c:numRef>
          </c:val>
          <c:smooth val="0"/>
          <c:extLst>
            <c:ext xmlns:c16="http://schemas.microsoft.com/office/drawing/2014/chart" uri="{C3380CC4-5D6E-409C-BE32-E72D297353CC}">
              <c16:uniqueId val="{00000000-C014-4DF8-AE16-AC53D29D5181}"/>
            </c:ext>
          </c:extLst>
        </c:ser>
        <c:ser>
          <c:idx val="1"/>
          <c:order val="1"/>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核心指標比較!$L$2:$L$27</c:f>
              <c:numCache>
                <c:formatCode>General</c:formatCode>
                <c:ptCount val="26"/>
                <c:pt idx="0">
                  <c:v>0.92</c:v>
                </c:pt>
                <c:pt idx="1">
                  <c:v>0.9</c:v>
                </c:pt>
                <c:pt idx="2">
                  <c:v>0.9</c:v>
                </c:pt>
                <c:pt idx="3">
                  <c:v>0.8</c:v>
                </c:pt>
                <c:pt idx="4">
                  <c:v>0.88</c:v>
                </c:pt>
                <c:pt idx="5">
                  <c:v>0.93</c:v>
                </c:pt>
                <c:pt idx="6">
                  <c:v>0.92</c:v>
                </c:pt>
                <c:pt idx="7">
                  <c:v>0.93</c:v>
                </c:pt>
                <c:pt idx="8">
                  <c:v>0.86</c:v>
                </c:pt>
                <c:pt idx="9">
                  <c:v>0.8</c:v>
                </c:pt>
                <c:pt idx="10">
                  <c:v>0.82</c:v>
                </c:pt>
                <c:pt idx="11">
                  <c:v>0.86</c:v>
                </c:pt>
                <c:pt idx="12">
                  <c:v>0.85</c:v>
                </c:pt>
                <c:pt idx="13">
                  <c:v>0.93</c:v>
                </c:pt>
                <c:pt idx="14">
                  <c:v>0.91</c:v>
                </c:pt>
                <c:pt idx="15">
                  <c:v>0.87</c:v>
                </c:pt>
                <c:pt idx="16">
                  <c:v>0.92</c:v>
                </c:pt>
                <c:pt idx="17">
                  <c:v>0.93</c:v>
                </c:pt>
                <c:pt idx="18">
                  <c:v>0.93</c:v>
                </c:pt>
                <c:pt idx="19">
                  <c:v>0.93</c:v>
                </c:pt>
                <c:pt idx="20">
                  <c:v>0.92</c:v>
                </c:pt>
                <c:pt idx="21">
                  <c:v>0.94</c:v>
                </c:pt>
                <c:pt idx="22">
                  <c:v>0.88</c:v>
                </c:pt>
                <c:pt idx="23">
                  <c:v>0.92</c:v>
                </c:pt>
                <c:pt idx="24">
                  <c:v>0.92</c:v>
                </c:pt>
                <c:pt idx="25">
                  <c:v>0.84</c:v>
                </c:pt>
              </c:numCache>
            </c:numRef>
          </c:val>
          <c:smooth val="0"/>
          <c:extLst>
            <c:ext xmlns:c16="http://schemas.microsoft.com/office/drawing/2014/chart" uri="{C3380CC4-5D6E-409C-BE32-E72D297353CC}">
              <c16:uniqueId val="{00000001-C014-4DF8-AE16-AC53D29D5181}"/>
            </c:ext>
          </c:extLst>
        </c:ser>
        <c:dLbls>
          <c:showLegendKey val="0"/>
          <c:showVal val="0"/>
          <c:showCatName val="0"/>
          <c:showSerName val="0"/>
          <c:showPercent val="0"/>
          <c:showBubbleSize val="0"/>
        </c:dLbls>
        <c:marker val="1"/>
        <c:smooth val="0"/>
        <c:axId val="905194480"/>
        <c:axId val="905191120"/>
      </c:lineChart>
      <c:catAx>
        <c:axId val="905194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05191120"/>
        <c:crosses val="autoZero"/>
        <c:auto val="1"/>
        <c:lblAlgn val="ctr"/>
        <c:lblOffset val="100"/>
        <c:noMultiLvlLbl val="0"/>
      </c:catAx>
      <c:valAx>
        <c:axId val="905191120"/>
        <c:scaling>
          <c:orientation val="minMax"/>
          <c:max val="1"/>
          <c:min val="0.6000000000000000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051944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a:t>On Time Rate</a:t>
            </a:r>
            <a:endParaRPr lang="zh-TW"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Manually Planned</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核心指標比較!$N$2:$N$27</c:f>
              <c:numCache>
                <c:formatCode>General</c:formatCode>
                <c:ptCount val="26"/>
                <c:pt idx="0">
                  <c:v>0.96</c:v>
                </c:pt>
                <c:pt idx="1">
                  <c:v>0.96</c:v>
                </c:pt>
                <c:pt idx="2">
                  <c:v>0.92</c:v>
                </c:pt>
                <c:pt idx="3">
                  <c:v>0.93</c:v>
                </c:pt>
                <c:pt idx="4">
                  <c:v>0.92</c:v>
                </c:pt>
                <c:pt idx="5">
                  <c:v>0.94</c:v>
                </c:pt>
                <c:pt idx="6">
                  <c:v>0.95</c:v>
                </c:pt>
                <c:pt idx="7">
                  <c:v>0.97</c:v>
                </c:pt>
                <c:pt idx="8">
                  <c:v>0.95</c:v>
                </c:pt>
                <c:pt idx="9">
                  <c:v>0.92</c:v>
                </c:pt>
                <c:pt idx="10">
                  <c:v>0.9</c:v>
                </c:pt>
                <c:pt idx="11">
                  <c:v>0.93</c:v>
                </c:pt>
                <c:pt idx="12">
                  <c:v>0.91</c:v>
                </c:pt>
                <c:pt idx="13">
                  <c:v>0.95</c:v>
                </c:pt>
                <c:pt idx="14">
                  <c:v>0.94</c:v>
                </c:pt>
                <c:pt idx="15">
                  <c:v>0.92</c:v>
                </c:pt>
                <c:pt idx="16">
                  <c:v>0.95</c:v>
                </c:pt>
                <c:pt idx="17">
                  <c:v>0.95</c:v>
                </c:pt>
                <c:pt idx="18">
                  <c:v>0.96</c:v>
                </c:pt>
                <c:pt idx="19">
                  <c:v>0.94</c:v>
                </c:pt>
                <c:pt idx="20">
                  <c:v>0.97</c:v>
                </c:pt>
                <c:pt idx="21">
                  <c:v>0.93</c:v>
                </c:pt>
                <c:pt idx="22">
                  <c:v>0.96</c:v>
                </c:pt>
                <c:pt idx="23">
                  <c:v>0.95</c:v>
                </c:pt>
                <c:pt idx="24">
                  <c:v>0.94</c:v>
                </c:pt>
                <c:pt idx="25">
                  <c:v>0.96</c:v>
                </c:pt>
              </c:numCache>
            </c:numRef>
          </c:val>
          <c:smooth val="0"/>
          <c:extLst>
            <c:ext xmlns:c16="http://schemas.microsoft.com/office/drawing/2014/chart" uri="{C3380CC4-5D6E-409C-BE32-E72D297353CC}">
              <c16:uniqueId val="{00000000-74F6-4534-91B2-8AE1DD92E4BF}"/>
            </c:ext>
          </c:extLst>
        </c:ser>
        <c:ser>
          <c:idx val="1"/>
          <c:order val="1"/>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核心指標比較!$A$2:$A$27</c:f>
              <c:strCache>
                <c:ptCount val="26"/>
                <c:pt idx="0">
                  <c:v>20221203</c:v>
                </c:pt>
                <c:pt idx="1">
                  <c:v>20221205</c:v>
                </c:pt>
                <c:pt idx="2">
                  <c:v>20221207</c:v>
                </c:pt>
                <c:pt idx="3">
                  <c:v>20221208</c:v>
                </c:pt>
                <c:pt idx="4">
                  <c:v>20221209</c:v>
                </c:pt>
                <c:pt idx="5">
                  <c:v>20221210</c:v>
                </c:pt>
                <c:pt idx="6">
                  <c:v>20221212</c:v>
                </c:pt>
                <c:pt idx="7">
                  <c:v>20221213</c:v>
                </c:pt>
                <c:pt idx="8">
                  <c:v>20221214</c:v>
                </c:pt>
                <c:pt idx="9">
                  <c:v>20221215</c:v>
                </c:pt>
                <c:pt idx="10">
                  <c:v>20221216</c:v>
                </c:pt>
                <c:pt idx="11">
                  <c:v>20221217</c:v>
                </c:pt>
                <c:pt idx="12">
                  <c:v>20221219</c:v>
                </c:pt>
                <c:pt idx="13">
                  <c:v>20221220</c:v>
                </c:pt>
                <c:pt idx="14">
                  <c:v>20221221</c:v>
                </c:pt>
                <c:pt idx="15">
                  <c:v>20221222</c:v>
                </c:pt>
                <c:pt idx="16">
                  <c:v>20221223</c:v>
                </c:pt>
                <c:pt idx="17">
                  <c:v>20221227</c:v>
                </c:pt>
                <c:pt idx="18">
                  <c:v>20221230</c:v>
                </c:pt>
                <c:pt idx="19">
                  <c:v>20221231</c:v>
                </c:pt>
                <c:pt idx="20">
                  <c:v>20230102</c:v>
                </c:pt>
                <c:pt idx="21">
                  <c:v>20230107</c:v>
                </c:pt>
                <c:pt idx="22">
                  <c:v>20230113</c:v>
                </c:pt>
                <c:pt idx="23">
                  <c:v>20260102</c:v>
                </c:pt>
                <c:pt idx="24">
                  <c:v>20260106</c:v>
                </c:pt>
                <c:pt idx="25">
                  <c:v>20260109</c:v>
                </c:pt>
              </c:strCache>
            </c:strRef>
          </c:cat>
          <c:val>
            <c:numRef>
              <c:f>核心指標比較!$O$2:$O$27</c:f>
              <c:numCache>
                <c:formatCode>General</c:formatCode>
                <c:ptCount val="26"/>
                <c:pt idx="0">
                  <c:v>1</c:v>
                </c:pt>
                <c:pt idx="1">
                  <c:v>0.99</c:v>
                </c:pt>
                <c:pt idx="2">
                  <c:v>1</c:v>
                </c:pt>
                <c:pt idx="3">
                  <c:v>0.99</c:v>
                </c:pt>
                <c:pt idx="4">
                  <c:v>1</c:v>
                </c:pt>
                <c:pt idx="5">
                  <c:v>1</c:v>
                </c:pt>
                <c:pt idx="6">
                  <c:v>1</c:v>
                </c:pt>
                <c:pt idx="7">
                  <c:v>1</c:v>
                </c:pt>
                <c:pt idx="8">
                  <c:v>0.99</c:v>
                </c:pt>
                <c:pt idx="9">
                  <c:v>0.98</c:v>
                </c:pt>
                <c:pt idx="10">
                  <c:v>0.98</c:v>
                </c:pt>
                <c:pt idx="11">
                  <c:v>0.99</c:v>
                </c:pt>
                <c:pt idx="12">
                  <c:v>0.97</c:v>
                </c:pt>
                <c:pt idx="13">
                  <c:v>1</c:v>
                </c:pt>
                <c:pt idx="14">
                  <c:v>0.99</c:v>
                </c:pt>
                <c:pt idx="15">
                  <c:v>0.99</c:v>
                </c:pt>
                <c:pt idx="16">
                  <c:v>1</c:v>
                </c:pt>
                <c:pt idx="17">
                  <c:v>1</c:v>
                </c:pt>
                <c:pt idx="18">
                  <c:v>1</c:v>
                </c:pt>
                <c:pt idx="19">
                  <c:v>1</c:v>
                </c:pt>
                <c:pt idx="20">
                  <c:v>1</c:v>
                </c:pt>
                <c:pt idx="21">
                  <c:v>1</c:v>
                </c:pt>
                <c:pt idx="22">
                  <c:v>0.99</c:v>
                </c:pt>
                <c:pt idx="23">
                  <c:v>0.98</c:v>
                </c:pt>
                <c:pt idx="24">
                  <c:v>1</c:v>
                </c:pt>
                <c:pt idx="25">
                  <c:v>0.96</c:v>
                </c:pt>
              </c:numCache>
            </c:numRef>
          </c:val>
          <c:smooth val="0"/>
          <c:extLst>
            <c:ext xmlns:c16="http://schemas.microsoft.com/office/drawing/2014/chart" uri="{C3380CC4-5D6E-409C-BE32-E72D297353CC}">
              <c16:uniqueId val="{00000001-74F6-4534-91B2-8AE1DD92E4BF}"/>
            </c:ext>
          </c:extLst>
        </c:ser>
        <c:dLbls>
          <c:showLegendKey val="0"/>
          <c:showVal val="0"/>
          <c:showCatName val="0"/>
          <c:showSerName val="0"/>
          <c:showPercent val="0"/>
          <c:showBubbleSize val="0"/>
        </c:dLbls>
        <c:marker val="1"/>
        <c:smooth val="0"/>
        <c:axId val="905186320"/>
        <c:axId val="905207920"/>
      </c:lineChart>
      <c:catAx>
        <c:axId val="90518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05207920"/>
        <c:crosses val="autoZero"/>
        <c:auto val="1"/>
        <c:lblAlgn val="ctr"/>
        <c:lblOffset val="100"/>
        <c:noMultiLvlLbl val="0"/>
      </c:catAx>
      <c:valAx>
        <c:axId val="905207920"/>
        <c:scaling>
          <c:orientation val="minMax"/>
          <c:max val="1"/>
          <c:min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9051863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baseline="0" dirty="0"/>
              <a:t>Number of Vehicles</a:t>
            </a:r>
            <a:endParaRPr lang="zh-TW" altLang="en-US" sz="1400" b="0" i="0" u="none" strike="noStrike" kern="1200" spc="0" baseline="0" dirty="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工作表2!$A$81:$A$86</c:f>
              <c:strCache>
                <c:ptCount val="6"/>
                <c:pt idx="0">
                  <c:v>R1</c:v>
                </c:pt>
                <c:pt idx="1">
                  <c:v>R2</c:v>
                </c:pt>
                <c:pt idx="2">
                  <c:v>C1</c:v>
                </c:pt>
                <c:pt idx="3">
                  <c:v>C2</c:v>
                </c:pt>
                <c:pt idx="4">
                  <c:v>RC1</c:v>
                </c:pt>
                <c:pt idx="5">
                  <c:v>RC2</c:v>
                </c:pt>
              </c:strCache>
            </c:strRef>
          </c:cat>
          <c:val>
            <c:numRef>
              <c:f>工作表2!$B$81:$B$86</c:f>
              <c:numCache>
                <c:formatCode>General</c:formatCode>
                <c:ptCount val="6"/>
                <c:pt idx="0">
                  <c:v>12.79</c:v>
                </c:pt>
                <c:pt idx="1">
                  <c:v>3.15</c:v>
                </c:pt>
                <c:pt idx="2">
                  <c:v>10</c:v>
                </c:pt>
                <c:pt idx="3">
                  <c:v>3.01</c:v>
                </c:pt>
                <c:pt idx="4">
                  <c:v>12.44</c:v>
                </c:pt>
                <c:pt idx="5">
                  <c:v>3.46</c:v>
                </c:pt>
              </c:numCache>
            </c:numRef>
          </c:val>
          <c:smooth val="0"/>
          <c:extLst>
            <c:ext xmlns:c16="http://schemas.microsoft.com/office/drawing/2014/chart" uri="{C3380CC4-5D6E-409C-BE32-E72D297353CC}">
              <c16:uniqueId val="{00000000-5E25-49C4-8A0B-69FD25029507}"/>
            </c:ext>
          </c:extLst>
        </c:ser>
        <c:ser>
          <c:idx val="1"/>
          <c:order val="1"/>
          <c:tx>
            <c:strRef>
              <c:f>工作表2!$D$80</c:f>
              <c:strCache>
                <c:ptCount val="1"/>
                <c:pt idx="0">
                  <c:v>Baseline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工作表2!$A$81:$A$86</c:f>
              <c:strCache>
                <c:ptCount val="6"/>
                <c:pt idx="0">
                  <c:v>R1</c:v>
                </c:pt>
                <c:pt idx="1">
                  <c:v>R2</c:v>
                </c:pt>
                <c:pt idx="2">
                  <c:v>C1</c:v>
                </c:pt>
                <c:pt idx="3">
                  <c:v>C2</c:v>
                </c:pt>
                <c:pt idx="4">
                  <c:v>RC1</c:v>
                </c:pt>
                <c:pt idx="5">
                  <c:v>RC2</c:v>
                </c:pt>
              </c:strCache>
            </c:strRef>
          </c:cat>
          <c:val>
            <c:numRef>
              <c:f>工作表2!$D$81:$D$86</c:f>
              <c:numCache>
                <c:formatCode>General</c:formatCode>
                <c:ptCount val="6"/>
                <c:pt idx="0">
                  <c:v>12.83</c:v>
                </c:pt>
                <c:pt idx="1">
                  <c:v>4.72</c:v>
                </c:pt>
                <c:pt idx="2">
                  <c:v>10</c:v>
                </c:pt>
                <c:pt idx="3">
                  <c:v>3</c:v>
                </c:pt>
                <c:pt idx="4">
                  <c:v>12.26</c:v>
                </c:pt>
                <c:pt idx="5">
                  <c:v>5</c:v>
                </c:pt>
              </c:numCache>
            </c:numRef>
          </c:val>
          <c:smooth val="0"/>
          <c:extLst>
            <c:ext xmlns:c16="http://schemas.microsoft.com/office/drawing/2014/chart" uri="{C3380CC4-5D6E-409C-BE32-E72D297353CC}">
              <c16:uniqueId val="{00000001-5E25-49C4-8A0B-69FD25029507}"/>
            </c:ext>
          </c:extLst>
        </c:ser>
        <c:dLbls>
          <c:showLegendKey val="0"/>
          <c:showVal val="0"/>
          <c:showCatName val="0"/>
          <c:showSerName val="0"/>
          <c:showPercent val="0"/>
          <c:showBubbleSize val="0"/>
        </c:dLbls>
        <c:marker val="1"/>
        <c:smooth val="0"/>
        <c:axId val="1242555375"/>
        <c:axId val="799262831"/>
      </c:lineChart>
      <c:catAx>
        <c:axId val="12425553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799262831"/>
        <c:crosses val="autoZero"/>
        <c:auto val="1"/>
        <c:lblAlgn val="ctr"/>
        <c:lblOffset val="100"/>
        <c:noMultiLvlLbl val="0"/>
      </c:catAx>
      <c:valAx>
        <c:axId val="7992628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TW"/>
                  <a:t>Number</a:t>
                </a:r>
                <a:r>
                  <a:rPr lang="en-US" altLang="zh-TW" baseline="0"/>
                  <a:t> of Vehicles</a:t>
                </a:r>
                <a:endParaRPr lang="zh-TW" alt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242555375"/>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TW"/>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TW" altLang="zh-TW" sz="1400" b="0" i="0" u="none" strike="noStrike" baseline="0" dirty="0"/>
              <a:t>Travel Distance</a:t>
            </a:r>
            <a:endParaRPr lang="zh-TW" alt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v>Proposed Method</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工作表2!$A$81:$A$86</c:f>
              <c:strCache>
                <c:ptCount val="6"/>
                <c:pt idx="0">
                  <c:v>R1</c:v>
                </c:pt>
                <c:pt idx="1">
                  <c:v>R2</c:v>
                </c:pt>
                <c:pt idx="2">
                  <c:v>C1</c:v>
                </c:pt>
                <c:pt idx="3">
                  <c:v>C2</c:v>
                </c:pt>
                <c:pt idx="4">
                  <c:v>RC1</c:v>
                </c:pt>
                <c:pt idx="5">
                  <c:v>RC2</c:v>
                </c:pt>
              </c:strCache>
            </c:strRef>
          </c:cat>
          <c:val>
            <c:numRef>
              <c:f>工作表2!$C$81:$C$86</c:f>
              <c:numCache>
                <c:formatCode>General</c:formatCode>
                <c:ptCount val="6"/>
                <c:pt idx="0">
                  <c:v>1234.93</c:v>
                </c:pt>
                <c:pt idx="1">
                  <c:v>995.42</c:v>
                </c:pt>
                <c:pt idx="2">
                  <c:v>828.38</c:v>
                </c:pt>
                <c:pt idx="3">
                  <c:v>592.58000000000004</c:v>
                </c:pt>
                <c:pt idx="4">
                  <c:v>1381.75</c:v>
                </c:pt>
                <c:pt idx="5">
                  <c:v>1167.7</c:v>
                </c:pt>
              </c:numCache>
            </c:numRef>
          </c:val>
          <c:smooth val="0"/>
          <c:extLst>
            <c:ext xmlns:c16="http://schemas.microsoft.com/office/drawing/2014/chart" uri="{C3380CC4-5D6E-409C-BE32-E72D297353CC}">
              <c16:uniqueId val="{00000000-9836-4027-8E72-972338ED69AD}"/>
            </c:ext>
          </c:extLst>
        </c:ser>
        <c:ser>
          <c:idx val="1"/>
          <c:order val="1"/>
          <c:tx>
            <c:strRef>
              <c:f>工作表2!$E$80</c:f>
              <c:strCache>
                <c:ptCount val="1"/>
                <c:pt idx="0">
                  <c:v>Baseline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工作表2!$A$81:$A$86</c:f>
              <c:strCache>
                <c:ptCount val="6"/>
                <c:pt idx="0">
                  <c:v>R1</c:v>
                </c:pt>
                <c:pt idx="1">
                  <c:v>R2</c:v>
                </c:pt>
                <c:pt idx="2">
                  <c:v>C1</c:v>
                </c:pt>
                <c:pt idx="3">
                  <c:v>C2</c:v>
                </c:pt>
                <c:pt idx="4">
                  <c:v>RC1</c:v>
                </c:pt>
                <c:pt idx="5">
                  <c:v>RC2</c:v>
                </c:pt>
              </c:strCache>
            </c:strRef>
          </c:cat>
          <c:val>
            <c:numRef>
              <c:f>工作表2!$E$81:$E$86</c:f>
              <c:numCache>
                <c:formatCode>General</c:formatCode>
                <c:ptCount val="6"/>
                <c:pt idx="0">
                  <c:v>1209.0999999999999</c:v>
                </c:pt>
                <c:pt idx="1">
                  <c:v>1087.5999999999999</c:v>
                </c:pt>
                <c:pt idx="2">
                  <c:v>838.75</c:v>
                </c:pt>
                <c:pt idx="3">
                  <c:v>590.35</c:v>
                </c:pt>
                <c:pt idx="4">
                  <c:v>1391.4</c:v>
                </c:pt>
                <c:pt idx="5">
                  <c:v>1134.43</c:v>
                </c:pt>
              </c:numCache>
            </c:numRef>
          </c:val>
          <c:smooth val="0"/>
          <c:extLst>
            <c:ext xmlns:c16="http://schemas.microsoft.com/office/drawing/2014/chart" uri="{C3380CC4-5D6E-409C-BE32-E72D297353CC}">
              <c16:uniqueId val="{00000001-9836-4027-8E72-972338ED69AD}"/>
            </c:ext>
          </c:extLst>
        </c:ser>
        <c:dLbls>
          <c:showLegendKey val="0"/>
          <c:showVal val="0"/>
          <c:showCatName val="0"/>
          <c:showSerName val="0"/>
          <c:showPercent val="0"/>
          <c:showBubbleSize val="0"/>
        </c:dLbls>
        <c:marker val="1"/>
        <c:smooth val="0"/>
        <c:axId val="790149007"/>
        <c:axId val="1249616111"/>
      </c:lineChart>
      <c:catAx>
        <c:axId val="790149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249616111"/>
        <c:crosses val="autoZero"/>
        <c:auto val="1"/>
        <c:lblAlgn val="ctr"/>
        <c:lblOffset val="100"/>
        <c:noMultiLvlLbl val="0"/>
      </c:catAx>
      <c:valAx>
        <c:axId val="12496161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TW"/>
                  <a:t>Travel Distance</a:t>
                </a:r>
                <a:endParaRPr lang="zh-TW" alt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TW"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790149007"/>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TW"/>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85926D-8BBA-4C74-8368-2D9ACE9667B6}" type="datetimeFigureOut">
              <a:rPr lang="zh-TW" altLang="en-US" smtClean="0"/>
              <a:t>2026/6/10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134DBE-7CC5-4F23-841F-273EC3D50B7F}" type="slidenum">
              <a:rPr lang="zh-TW" altLang="en-US" smtClean="0"/>
              <a:t>‹#›</a:t>
            </a:fld>
            <a:endParaRPr lang="zh-TW" altLang="en-US"/>
          </a:p>
        </p:txBody>
      </p:sp>
    </p:spTree>
    <p:extLst>
      <p:ext uri="{BB962C8B-B14F-4D97-AF65-F5344CB8AC3E}">
        <p14:creationId xmlns:p14="http://schemas.microsoft.com/office/powerpoint/2010/main" val="2306001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lvl="0" indent="0" algn="l" rtl="0">
              <a:spcBef>
                <a:spcPts val="0"/>
              </a:spcBef>
              <a:spcAft>
                <a:spcPts val="0"/>
              </a:spcAft>
              <a:buNone/>
            </a:pPr>
            <a:r>
              <a:rPr lang="zh-TW" altLang="en-US" sz="1200" b="0" dirty="0">
                <a:latin typeface="DFKai-SB"/>
                <a:ea typeface="DFKai-SB"/>
                <a:cs typeface="DFKai-SB"/>
                <a:sym typeface="DFKai-SB"/>
              </a:rPr>
              <a:t>各位口試委員好，我是學生楊宏傑，</a:t>
            </a:r>
            <a:br>
              <a:rPr lang="en-US" altLang="zh-TW" sz="1200" b="0" dirty="0">
                <a:latin typeface="DFKai-SB"/>
                <a:ea typeface="DFKai-SB"/>
                <a:cs typeface="DFKai-SB"/>
                <a:sym typeface="DFKai-SB"/>
              </a:rPr>
            </a:br>
            <a:r>
              <a:rPr lang="zh-TW" altLang="en-US" sz="1200" b="0" dirty="0">
                <a:latin typeface="DFKai-SB"/>
                <a:ea typeface="DFKai-SB"/>
                <a:cs typeface="DFKai-SB"/>
                <a:sym typeface="DFKai-SB"/>
              </a:rPr>
              <a:t>我的論文題目為 </a:t>
            </a:r>
            <a:r>
              <a:rPr lang="en-US" altLang="zh-TW" sz="1200" b="0" dirty="0">
                <a:latin typeface="DFKai-SB"/>
                <a:ea typeface="DFKai-SB"/>
                <a:cs typeface="DFKai-SB"/>
                <a:sym typeface="DFKai-SB"/>
              </a:rPr>
              <a:t>”</a:t>
            </a:r>
            <a:r>
              <a:rPr lang="zh-TW" altLang="zh-TW" sz="1200" b="0" i="0" kern="1200" dirty="0">
                <a:solidFill>
                  <a:schemeClr val="tx1"/>
                </a:solidFill>
                <a:effectLst/>
                <a:latin typeface="+mn-lt"/>
                <a:ea typeface="+mn-ea"/>
                <a:cs typeface="+mn-cs"/>
              </a:rPr>
              <a:t>物流公司支援線規劃之多階段最佳化方法</a:t>
            </a:r>
            <a:r>
              <a:rPr lang="en-US" altLang="zh-TW" sz="1200" b="0" dirty="0">
                <a:latin typeface="DFKai-SB"/>
                <a:ea typeface="DFKai-SB"/>
                <a:cs typeface="DFKai-SB"/>
                <a:sym typeface="DFKai-SB"/>
              </a:rPr>
              <a:t>”</a:t>
            </a:r>
          </a:p>
          <a:p>
            <a:pPr marL="0" lvl="0" indent="0" algn="l" rtl="0">
              <a:spcBef>
                <a:spcPts val="0"/>
              </a:spcBef>
              <a:spcAft>
                <a:spcPts val="0"/>
              </a:spcAft>
              <a:buNone/>
            </a:pPr>
            <a:br>
              <a:rPr lang="en-US" altLang="zh-TW" sz="1200" b="0" dirty="0">
                <a:latin typeface="DFKai-SB"/>
                <a:ea typeface="DFKai-SB"/>
                <a:cs typeface="DFKai-SB"/>
                <a:sym typeface="DFKai-SB"/>
              </a:rPr>
            </a:br>
            <a:r>
              <a:rPr lang="zh-TW" altLang="en-US" sz="1200" b="0" dirty="0">
                <a:latin typeface="DFKai-SB"/>
                <a:ea typeface="DFKai-SB"/>
                <a:cs typeface="DFKai-SB"/>
                <a:sym typeface="DFKai-SB"/>
              </a:rPr>
              <a:t>我的指導教授是郭忠義老師</a:t>
            </a:r>
            <a:endParaRPr lang="en-US" altLang="zh-TW" sz="1200" b="0" dirty="0">
              <a:latin typeface="DFKai-SB"/>
              <a:ea typeface="DFKai-SB"/>
              <a:cs typeface="DFKai-SB"/>
              <a:sym typeface="DFKai-SB"/>
            </a:endParaRPr>
          </a:p>
          <a:p>
            <a:pPr marL="0" lvl="0" indent="0" algn="l" rtl="0">
              <a:spcBef>
                <a:spcPts val="0"/>
              </a:spcBef>
              <a:spcAft>
                <a:spcPts val="0"/>
              </a:spcAft>
              <a:buNone/>
            </a:pPr>
            <a:r>
              <a:rPr lang="zh-TW" altLang="en-US" sz="1200" b="0" dirty="0">
                <a:latin typeface="DFKai-SB"/>
                <a:ea typeface="DFKai-SB"/>
                <a:cs typeface="DFKai-SB"/>
                <a:sym typeface="DFKai-SB"/>
              </a:rPr>
              <a:t>本研究主要是希望</a:t>
            </a:r>
            <a:r>
              <a:rPr lang="zh-TW" altLang="zh-TW" dirty="0"/>
              <a:t>協助物流公司透過自動化路線編排</a:t>
            </a:r>
            <a:r>
              <a:rPr lang="zh-TW" altLang="en-US" dirty="0"/>
              <a:t>方法，</a:t>
            </a:r>
            <a:r>
              <a:rPr lang="zh-TW" altLang="zh-TW" dirty="0"/>
              <a:t>提升配送規劃效率，並有效降低整體配送成本</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1</a:t>
            </a:fld>
            <a:endParaRPr lang="zh-TW" altLang="en-US"/>
          </a:p>
        </p:txBody>
      </p:sp>
    </p:spTree>
    <p:extLst>
      <p:ext uri="{BB962C8B-B14F-4D97-AF65-F5344CB8AC3E}">
        <p14:creationId xmlns:p14="http://schemas.microsoft.com/office/powerpoint/2010/main" val="171608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這是本研究的報告大綱，分為五個章節</a:t>
            </a:r>
            <a:endParaRPr lang="en-US" altLang="zh-TW" dirty="0"/>
          </a:p>
          <a:p>
            <a:r>
              <a:rPr lang="zh-TW" altLang="en-US" dirty="0"/>
              <a:t>將依序介紹研究動機、研究方法、實驗結果、討論、結論與未來研究方向</a:t>
            </a:r>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2</a:t>
            </a:fld>
            <a:endParaRPr lang="zh-TW" altLang="en-US"/>
          </a:p>
        </p:txBody>
      </p:sp>
    </p:spTree>
    <p:extLst>
      <p:ext uri="{BB962C8B-B14F-4D97-AF65-F5344CB8AC3E}">
        <p14:creationId xmlns:p14="http://schemas.microsoft.com/office/powerpoint/2010/main" val="380162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首先介紹本研究的研究動機</a:t>
            </a:r>
            <a:endParaRPr lang="en-US" altLang="zh-TW"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3</a:t>
            </a:fld>
            <a:endParaRPr lang="zh-TW" altLang="en-US"/>
          </a:p>
        </p:txBody>
      </p:sp>
    </p:spTree>
    <p:extLst>
      <p:ext uri="{BB962C8B-B14F-4D97-AF65-F5344CB8AC3E}">
        <p14:creationId xmlns:p14="http://schemas.microsoft.com/office/powerpoint/2010/main" val="420581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隨著電子商務與物流產業的快速發展，物流配送需求持續增加。因此，如何透過有效的路線規劃來降低配送成本並提升配送效率，已成為物流</a:t>
            </a:r>
            <a:r>
              <a:rPr lang="zh-TW" altLang="en-US" dirty="0"/>
              <a:t>產業</a:t>
            </a:r>
            <a:r>
              <a:rPr lang="zh-TW" altLang="zh-TW" dirty="0"/>
              <a:t>的重要課題。</a:t>
            </a:r>
          </a:p>
          <a:p>
            <a:r>
              <a:rPr lang="zh-TW" altLang="zh-TW" dirty="0"/>
              <a:t>雖然車輛路</a:t>
            </a:r>
            <a:r>
              <a:rPr lang="zh-TW" altLang="en-US" dirty="0"/>
              <a:t>徑</a:t>
            </a:r>
            <a:r>
              <a:rPr lang="zh-TW" altLang="zh-TW" dirty="0"/>
              <a:t>問題（Vehicle Routing Problem, VRP）已被廣泛研究，但實際物流配送問題往往包含更多現實限制，無法完全由</a:t>
            </a:r>
            <a:r>
              <a:rPr lang="zh-TW" altLang="en-US" dirty="0"/>
              <a:t>一般</a:t>
            </a:r>
            <a:r>
              <a:rPr lang="zh-TW" altLang="zh-TW" dirty="0"/>
              <a:t>VRP模型描述。</a:t>
            </a:r>
            <a:endParaRPr lang="en-US" altLang="zh-TW" dirty="0"/>
          </a:p>
          <a:p>
            <a:r>
              <a:rPr lang="zh-TW" altLang="zh-TW" dirty="0"/>
              <a:t>例如，物流公司採用固定路線架構進行配送，並受到各種作業限制與服務規範的影響，而這些實務因素在許多VRP研究中較少被考量。</a:t>
            </a:r>
          </a:p>
          <a:p>
            <a:r>
              <a:rPr lang="zh-TW" altLang="zh-TW" dirty="0"/>
              <a:t>此外，目前物流公司的路線規劃仍以人工編排為主。整體規劃不僅需要投入大量時間</a:t>
            </a:r>
            <a:r>
              <a:rPr lang="zh-TW" altLang="en-US" dirty="0"/>
              <a:t>，</a:t>
            </a:r>
            <a:r>
              <a:rPr lang="zh-TW" altLang="zh-TW" dirty="0"/>
              <a:t>過程高度依賴調度人員的經驗與專業判斷，進而造成路線規劃品質不一致的問題。</a:t>
            </a:r>
            <a:endParaRPr lang="en-US" altLang="zh-TW" dirty="0"/>
          </a:p>
          <a:p>
            <a:r>
              <a:rPr lang="zh-TW" altLang="zh-TW" dirty="0"/>
              <a:t>因此，本研究提出一套多階段</a:t>
            </a:r>
            <a:r>
              <a:rPr lang="zh-TW" altLang="en-US" dirty="0"/>
              <a:t>符合營運限制的</a:t>
            </a:r>
            <a:r>
              <a:rPr lang="zh-TW" altLang="zh-TW" dirty="0"/>
              <a:t>最佳化方法，在既有路線架構下有效處理超載路線問題，並兼顧配送效率與服務品質。</a:t>
            </a:r>
            <a:endParaRPr lang="zh-TW" altLang="en-US"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4</a:t>
            </a:fld>
            <a:endParaRPr lang="zh-TW" altLang="en-US"/>
          </a:p>
        </p:txBody>
      </p:sp>
    </p:spTree>
    <p:extLst>
      <p:ext uri="{BB962C8B-B14F-4D97-AF65-F5344CB8AC3E}">
        <p14:creationId xmlns:p14="http://schemas.microsoft.com/office/powerpoint/2010/main" val="1291591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接下來介紹本研究的研究方法</a:t>
            </a:r>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5</a:t>
            </a:fld>
            <a:endParaRPr lang="zh-TW" altLang="en-US"/>
          </a:p>
        </p:txBody>
      </p:sp>
    </p:spTree>
    <p:extLst>
      <p:ext uri="{BB962C8B-B14F-4D97-AF65-F5344CB8AC3E}">
        <p14:creationId xmlns:p14="http://schemas.microsoft.com/office/powerpoint/2010/main" val="800996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本研究所提出多階段符合</a:t>
            </a:r>
            <a:r>
              <a:rPr lang="zh-TW" altLang="zh-TW" dirty="0"/>
              <a:t>實務作業</a:t>
            </a:r>
            <a:r>
              <a:rPr lang="zh-TW" altLang="en-US" dirty="0"/>
              <a:t>的</a:t>
            </a:r>
            <a:r>
              <a:rPr lang="zh-TW" altLang="zh-TW" dirty="0"/>
              <a:t>車輛路</a:t>
            </a:r>
            <a:r>
              <a:rPr lang="zh-TW" altLang="en-US" dirty="0"/>
              <a:t>徑</a:t>
            </a:r>
            <a:r>
              <a:rPr lang="zh-TW" altLang="zh-TW" dirty="0"/>
              <a:t>問題</a:t>
            </a:r>
            <a:r>
              <a:rPr lang="zh-TW" altLang="en-US" dirty="0"/>
              <a:t>架構主要由下列四個模組組成</a:t>
            </a:r>
            <a:endParaRPr lang="en-US" altLang="zh-TW"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TW" dirty="0"/>
              <a:t>API</a:t>
            </a:r>
            <a:r>
              <a:rPr lang="zh-TW" altLang="en-US" dirty="0"/>
              <a:t>模組：</a:t>
            </a:r>
            <a:r>
              <a:rPr lang="zh-TW" altLang="zh-TW" dirty="0"/>
              <a:t>透過 OSRM 與 Google Maps Routes API 提供</a:t>
            </a:r>
            <a:r>
              <a:rPr lang="zh-TW" altLang="en-US" dirty="0"/>
              <a:t>相關</a:t>
            </a:r>
            <a:r>
              <a:rPr lang="zh-TW" altLang="zh-TW" dirty="0"/>
              <a:t>距離</a:t>
            </a:r>
            <a:r>
              <a:rPr lang="zh-TW" altLang="en-US" dirty="0"/>
              <a:t>及</a:t>
            </a:r>
            <a:r>
              <a:rPr lang="zh-TW" altLang="zh-TW" dirty="0"/>
              <a:t>行車時間資訊</a:t>
            </a:r>
            <a:endParaRPr lang="en-US" altLang="zh-TW" dirty="0"/>
          </a:p>
          <a:p>
            <a:pPr marL="228600" indent="-228600">
              <a:buAutoNum type="arabicPeriod"/>
            </a:pPr>
            <a:r>
              <a:rPr lang="zh-TW" altLang="en-US" dirty="0"/>
              <a:t>資料模組：</a:t>
            </a:r>
            <a:r>
              <a:rPr lang="zh-TW" altLang="zh-TW" dirty="0"/>
              <a:t>負責對</a:t>
            </a:r>
            <a:r>
              <a:rPr lang="zh-TW" altLang="en-US" dirty="0"/>
              <a:t>物流公司所提供</a:t>
            </a:r>
            <a:r>
              <a:rPr lang="zh-TW" altLang="zh-TW" dirty="0"/>
              <a:t>路線資料進行前處理</a:t>
            </a:r>
            <a:endParaRPr lang="en-US" altLang="zh-TW" dirty="0"/>
          </a:p>
          <a:p>
            <a:pPr marL="228600" indent="-228600">
              <a:buAutoNum type="arabicPeriod"/>
            </a:pPr>
            <a:r>
              <a:rPr lang="zh-TW" altLang="en-US" dirty="0"/>
              <a:t>路由模組：</a:t>
            </a:r>
            <a:r>
              <a:rPr lang="zh-TW" altLang="zh-TW" dirty="0"/>
              <a:t>負責執行</a:t>
            </a:r>
            <a:r>
              <a:rPr lang="zh-TW" altLang="en-US" dirty="0"/>
              <a:t>路線</a:t>
            </a:r>
            <a:r>
              <a:rPr lang="zh-TW" altLang="zh-TW" dirty="0"/>
              <a:t>最佳化</a:t>
            </a:r>
            <a:r>
              <a:rPr lang="zh-TW" altLang="en-US" dirty="0"/>
              <a:t>方法</a:t>
            </a:r>
            <a:r>
              <a:rPr lang="zh-TW" altLang="zh-TW" dirty="0"/>
              <a:t>產生符合實務作業限制</a:t>
            </a:r>
            <a:r>
              <a:rPr lang="zh-TW" altLang="en-US" dirty="0"/>
              <a:t>的</a:t>
            </a:r>
            <a:r>
              <a:rPr lang="zh-TW" altLang="zh-TW" dirty="0"/>
              <a:t>配送路線</a:t>
            </a:r>
            <a:endParaRPr lang="en-US" altLang="zh-TW" dirty="0"/>
          </a:p>
          <a:p>
            <a:pPr marL="228600" indent="-228600">
              <a:buAutoNum type="arabicPeriod"/>
            </a:pPr>
            <a:r>
              <a:rPr lang="zh-TW" altLang="en-US" dirty="0"/>
              <a:t>評估模組：提供路線可視化並根據各項指標對編排結果進行評估</a:t>
            </a:r>
            <a:endParaRPr lang="en-US" altLang="zh-TW"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6</a:t>
            </a:fld>
            <a:endParaRPr lang="zh-TW" altLang="en-US"/>
          </a:p>
        </p:txBody>
      </p:sp>
    </p:spTree>
    <p:extLst>
      <p:ext uri="{BB962C8B-B14F-4D97-AF65-F5344CB8AC3E}">
        <p14:creationId xmlns:p14="http://schemas.microsoft.com/office/powerpoint/2010/main" val="4127310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接下來介紹本研究的架構</a:t>
            </a:r>
            <a:endParaRPr lang="en-US" altLang="zh-TW" dirty="0"/>
          </a:p>
          <a:p>
            <a:endParaRPr lang="en-US" altLang="zh-TW" dirty="0"/>
          </a:p>
          <a:p>
            <a:r>
              <a:rPr lang="zh-TW" altLang="en-US" dirty="0"/>
              <a:t>首先</a:t>
            </a:r>
            <a:endParaRPr lang="en-US" altLang="zh-TW" dirty="0"/>
          </a:p>
          <a:p>
            <a:r>
              <a:rPr lang="zh-TW" altLang="en-US" dirty="0"/>
              <a:t>先從物流公司所取得之原始路線資料</a:t>
            </a:r>
            <a:endParaRPr lang="en-US" altLang="zh-TW" dirty="0"/>
          </a:p>
          <a:p>
            <a:r>
              <a:rPr lang="zh-TW" altLang="en-US" dirty="0"/>
              <a:t>對其進行前處理同時取得</a:t>
            </a:r>
            <a:r>
              <a:rPr lang="en-US" altLang="zh-TW" dirty="0"/>
              <a:t>OSRM</a:t>
            </a:r>
            <a:r>
              <a:rPr lang="zh-TW" altLang="en-US" dirty="0"/>
              <a:t>相關路線資料</a:t>
            </a:r>
            <a:endParaRPr lang="en-US" altLang="zh-TW" dirty="0"/>
          </a:p>
          <a:p>
            <a:r>
              <a:rPr lang="zh-TW" altLang="en-US" dirty="0"/>
              <a:t>接著進入路由模組，對主線架構中超載的店舖進行店舖抽取</a:t>
            </a:r>
            <a:endParaRPr lang="en-US" altLang="zh-TW" dirty="0"/>
          </a:p>
          <a:p>
            <a:r>
              <a:rPr lang="zh-TW" altLang="en-US" dirty="0"/>
              <a:t>將抽取完的店鋪集合進行店鋪分配以最大化主線的利用率</a:t>
            </a:r>
            <a:endParaRPr lang="en-US" altLang="zh-TW" dirty="0"/>
          </a:p>
          <a:p>
            <a:r>
              <a:rPr lang="zh-TW" altLang="en-US" dirty="0"/>
              <a:t>之後將剩餘的無法分配進主線中的店舖進行支援線規劃</a:t>
            </a:r>
            <a:endParaRPr lang="en-US" altLang="zh-TW" dirty="0"/>
          </a:p>
          <a:p>
            <a:r>
              <a:rPr lang="zh-TW" altLang="en-US" dirty="0"/>
              <a:t>店鋪分配和支援線規劃在規劃完成後會透過</a:t>
            </a:r>
            <a:r>
              <a:rPr lang="en-US" altLang="zh-TW" dirty="0"/>
              <a:t>google maps routes </a:t>
            </a:r>
            <a:r>
              <a:rPr lang="en-US" altLang="zh-TW" dirty="0" err="1"/>
              <a:t>api</a:t>
            </a:r>
            <a:r>
              <a:rPr lang="zh-TW" altLang="en-US" dirty="0"/>
              <a:t>進行驗證</a:t>
            </a:r>
            <a:endParaRPr lang="en-US" altLang="zh-TW" dirty="0"/>
          </a:p>
          <a:p>
            <a:r>
              <a:rPr lang="zh-TW" altLang="en-US" dirty="0"/>
              <a:t>最後再透過評估模組對編排好的路線資料進行評估及驗證</a:t>
            </a:r>
            <a:endParaRPr lang="en-US" altLang="zh-TW" dirty="0"/>
          </a:p>
          <a:p>
            <a:r>
              <a:rPr lang="zh-TW" altLang="en-US" dirty="0"/>
              <a:t>最後再將結果輸出成最佳化路線資料</a:t>
            </a:r>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7</a:t>
            </a:fld>
            <a:endParaRPr lang="zh-TW" altLang="en-US"/>
          </a:p>
        </p:txBody>
      </p:sp>
    </p:spTree>
    <p:extLst>
      <p:ext uri="{BB962C8B-B14F-4D97-AF65-F5344CB8AC3E}">
        <p14:creationId xmlns:p14="http://schemas.microsoft.com/office/powerpoint/2010/main" val="1518272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6759E-EEAE-B3B6-8E75-CC57FC87DF2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E33F969-AECC-C4D8-856A-99647858612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004E002-CB1A-C026-FEF8-332CF42ACF1C}"/>
              </a:ext>
            </a:extLst>
          </p:cNvPr>
          <p:cNvSpPr>
            <a:spLocks noGrp="1"/>
          </p:cNvSpPr>
          <p:nvPr>
            <p:ph type="body" idx="1"/>
          </p:nvPr>
        </p:nvSpPr>
        <p:spPr/>
        <p:txBody>
          <a:bodyPr/>
          <a:lstStyle/>
          <a:p>
            <a:r>
              <a:rPr lang="zh-TW" altLang="en-US" dirty="0"/>
              <a:t>首先介紹</a:t>
            </a:r>
            <a:r>
              <a:rPr lang="zh-TW" altLang="zh-TW" dirty="0"/>
              <a:t>物流公司提供之</a:t>
            </a:r>
            <a:r>
              <a:rPr lang="zh-TW" altLang="en-US" dirty="0"/>
              <a:t>原始</a:t>
            </a:r>
            <a:r>
              <a:rPr lang="zh-TW" altLang="zh-TW" dirty="0"/>
              <a:t>路線資料</a:t>
            </a:r>
            <a:endParaRPr lang="zh-TW" altLang="en-US" dirty="0"/>
          </a:p>
        </p:txBody>
      </p:sp>
      <p:sp>
        <p:nvSpPr>
          <p:cNvPr id="4" name="投影片編號版面配置區 3">
            <a:extLst>
              <a:ext uri="{FF2B5EF4-FFF2-40B4-BE49-F238E27FC236}">
                <a16:creationId xmlns:a16="http://schemas.microsoft.com/office/drawing/2014/main" id="{10CEDCF3-8BF2-E47C-617B-94B948836F22}"/>
              </a:ext>
            </a:extLst>
          </p:cNvPr>
          <p:cNvSpPr>
            <a:spLocks noGrp="1"/>
          </p:cNvSpPr>
          <p:nvPr>
            <p:ph type="sldNum" sz="quarter" idx="5"/>
          </p:nvPr>
        </p:nvSpPr>
        <p:spPr/>
        <p:txBody>
          <a:bodyPr/>
          <a:lstStyle/>
          <a:p>
            <a:fld id="{C1134DBE-7CC5-4F23-841F-273EC3D50B7F}" type="slidenum">
              <a:rPr lang="zh-TW" altLang="en-US" smtClean="0"/>
              <a:t>8</a:t>
            </a:fld>
            <a:endParaRPr lang="zh-TW" altLang="en-US"/>
          </a:p>
        </p:txBody>
      </p:sp>
    </p:spTree>
    <p:extLst>
      <p:ext uri="{BB962C8B-B14F-4D97-AF65-F5344CB8AC3E}">
        <p14:creationId xmlns:p14="http://schemas.microsoft.com/office/powerpoint/2010/main" val="2630222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A5872-2C6D-62DC-4463-3D1E29D0637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84CFF0F-AD78-C412-D934-9A2242EF406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992C8DB-C56D-3600-E11C-6546825524BD}"/>
              </a:ext>
            </a:extLst>
          </p:cNvPr>
          <p:cNvSpPr>
            <a:spLocks noGrp="1"/>
          </p:cNvSpPr>
          <p:nvPr>
            <p:ph type="body" idx="1"/>
          </p:nvPr>
        </p:nvSpPr>
        <p:spPr/>
        <p:txBody>
          <a:bodyPr/>
          <a:lstStyle/>
          <a:p>
            <a:r>
              <a:rPr lang="zh-TW" altLang="zh-TW" dirty="0"/>
              <a:t>本研究資料由物流公司提供，共涵蓋 26 個工作天之</a:t>
            </a:r>
            <a:r>
              <a:rPr lang="zh-TW" altLang="en-US" dirty="0"/>
              <a:t>原始</a:t>
            </a:r>
            <a:r>
              <a:rPr lang="zh-TW" altLang="zh-TW" dirty="0"/>
              <a:t>配送資料</a:t>
            </a:r>
            <a:endParaRPr lang="en-US" altLang="zh-TW" dirty="0"/>
          </a:p>
          <a:p>
            <a:r>
              <a:rPr lang="zh-TW" altLang="en-US" dirty="0"/>
              <a:t>紅色方框為物流公司主線架構中的路線</a:t>
            </a:r>
            <a:r>
              <a:rPr lang="en-US" altLang="zh-TW" dirty="0"/>
              <a:t>2M</a:t>
            </a:r>
            <a:r>
              <a:rPr lang="zh-TW" altLang="en-US" dirty="0"/>
              <a:t>的原始規劃結果</a:t>
            </a:r>
            <a:endParaRPr lang="en-US" altLang="zh-TW" dirty="0"/>
          </a:p>
          <a:p>
            <a:r>
              <a:rPr lang="zh-TW" altLang="en-US" dirty="0"/>
              <a:t>內容涵蓋</a:t>
            </a:r>
            <a:r>
              <a:rPr lang="zh-TW" altLang="zh-TW" dirty="0"/>
              <a:t>配送路線、店舖順序、配送</a:t>
            </a:r>
            <a:r>
              <a:rPr lang="zh-TW" altLang="en-US" dirty="0"/>
              <a:t>貨</a:t>
            </a:r>
            <a:r>
              <a:rPr lang="zh-TW" altLang="zh-TW" dirty="0"/>
              <a:t>量</a:t>
            </a:r>
            <a:r>
              <a:rPr lang="zh-TW" altLang="en-US" dirty="0"/>
              <a:t>及裝載率</a:t>
            </a:r>
            <a:r>
              <a:rPr lang="zh-TW" altLang="zh-TW" dirty="0"/>
              <a:t>等資訊</a:t>
            </a:r>
            <a:endParaRPr lang="en-US" altLang="zh-TW" dirty="0"/>
          </a:p>
          <a:p>
            <a:endParaRPr lang="en-US" altLang="zh-TW" dirty="0"/>
          </a:p>
          <a:p>
            <a:r>
              <a:rPr lang="zh-TW" altLang="zh-TW" dirty="0"/>
              <a:t>由於每日店舖需求量具有變動性，主線路線可能</a:t>
            </a:r>
            <a:r>
              <a:rPr lang="zh-TW" altLang="en-US" dirty="0"/>
              <a:t>因店鋪貨量改變而</a:t>
            </a:r>
            <a:r>
              <a:rPr lang="zh-TW" altLang="zh-TW" dirty="0"/>
              <a:t>出現超載情形</a:t>
            </a:r>
            <a:endParaRPr lang="en-US" altLang="zh-TW" dirty="0"/>
          </a:p>
          <a:p>
            <a:r>
              <a:rPr lang="zh-TW" altLang="zh-TW" dirty="0"/>
              <a:t>當路線總配送需求超過車輛容量時，裝載率將大於 1，代表該路線已超出可</a:t>
            </a:r>
            <a:r>
              <a:rPr lang="zh-TW" altLang="en-US" dirty="0"/>
              <a:t>行</a:t>
            </a:r>
            <a:r>
              <a:rPr lang="zh-TW" altLang="zh-TW" dirty="0"/>
              <a:t>載運範圍</a:t>
            </a:r>
            <a:endParaRPr lang="en-US" altLang="zh-TW" dirty="0"/>
          </a:p>
          <a:p>
            <a:r>
              <a:rPr lang="zh-TW" altLang="zh-TW" dirty="0"/>
              <a:t>因此，需要透過後續的路線調整機制對超載路線進行處理，以確保配送</a:t>
            </a:r>
            <a:r>
              <a:rPr lang="zh-TW" altLang="en-US" dirty="0"/>
              <a:t>結果</a:t>
            </a:r>
            <a:r>
              <a:rPr lang="zh-TW" altLang="zh-TW" dirty="0"/>
              <a:t>符合</a:t>
            </a:r>
            <a:r>
              <a:rPr lang="zh-TW" altLang="en-US" dirty="0"/>
              <a:t>限制</a:t>
            </a:r>
            <a:endParaRPr lang="en-US" altLang="zh-TW" dirty="0"/>
          </a:p>
        </p:txBody>
      </p:sp>
      <p:sp>
        <p:nvSpPr>
          <p:cNvPr id="4" name="投影片編號版面配置區 3">
            <a:extLst>
              <a:ext uri="{FF2B5EF4-FFF2-40B4-BE49-F238E27FC236}">
                <a16:creationId xmlns:a16="http://schemas.microsoft.com/office/drawing/2014/main" id="{F81F5665-60D0-14EA-E28F-FA2A88ECCE93}"/>
              </a:ext>
            </a:extLst>
          </p:cNvPr>
          <p:cNvSpPr>
            <a:spLocks noGrp="1"/>
          </p:cNvSpPr>
          <p:nvPr>
            <p:ph type="sldNum" sz="quarter" idx="5"/>
          </p:nvPr>
        </p:nvSpPr>
        <p:spPr/>
        <p:txBody>
          <a:bodyPr/>
          <a:lstStyle/>
          <a:p>
            <a:fld id="{C1134DBE-7CC5-4F23-841F-273EC3D50B7F}" type="slidenum">
              <a:rPr lang="zh-TW" altLang="en-US" smtClean="0"/>
              <a:t>9</a:t>
            </a:fld>
            <a:endParaRPr lang="zh-TW" altLang="en-US"/>
          </a:p>
        </p:txBody>
      </p:sp>
    </p:spTree>
    <p:extLst>
      <p:ext uri="{BB962C8B-B14F-4D97-AF65-F5344CB8AC3E}">
        <p14:creationId xmlns:p14="http://schemas.microsoft.com/office/powerpoint/2010/main" val="760499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1F94-BD66-B03A-67B4-38CF7A02967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18A1D5A-9992-3D93-56FB-410ADFDA4D6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15C9F95-652E-051D-A97D-F9B1EFA748C7}"/>
              </a:ext>
            </a:extLst>
          </p:cNvPr>
          <p:cNvSpPr>
            <a:spLocks noGrp="1"/>
          </p:cNvSpPr>
          <p:nvPr>
            <p:ph type="body" idx="1"/>
          </p:nvPr>
        </p:nvSpPr>
        <p:spPr/>
        <p:txBody>
          <a:bodyPr/>
          <a:lstStyle/>
          <a:p>
            <a:r>
              <a:rPr lang="zh-TW" altLang="en-US" dirty="0"/>
              <a:t>接著介紹本研究</a:t>
            </a:r>
            <a:r>
              <a:rPr lang="en-US" altLang="zh-TW" dirty="0"/>
              <a:t>API</a:t>
            </a:r>
            <a:r>
              <a:rPr lang="zh-TW" altLang="en-US" dirty="0"/>
              <a:t>模組</a:t>
            </a:r>
          </a:p>
        </p:txBody>
      </p:sp>
      <p:sp>
        <p:nvSpPr>
          <p:cNvPr id="4" name="投影片編號版面配置區 3">
            <a:extLst>
              <a:ext uri="{FF2B5EF4-FFF2-40B4-BE49-F238E27FC236}">
                <a16:creationId xmlns:a16="http://schemas.microsoft.com/office/drawing/2014/main" id="{AB5D102B-B7E9-7E4F-BBB7-23141611402C}"/>
              </a:ext>
            </a:extLst>
          </p:cNvPr>
          <p:cNvSpPr>
            <a:spLocks noGrp="1"/>
          </p:cNvSpPr>
          <p:nvPr>
            <p:ph type="sldNum" sz="quarter" idx="5"/>
          </p:nvPr>
        </p:nvSpPr>
        <p:spPr/>
        <p:txBody>
          <a:bodyPr/>
          <a:lstStyle/>
          <a:p>
            <a:fld id="{C1134DBE-7CC5-4F23-841F-273EC3D50B7F}" type="slidenum">
              <a:rPr lang="zh-TW" altLang="en-US" smtClean="0"/>
              <a:t>10</a:t>
            </a:fld>
            <a:endParaRPr lang="zh-TW" altLang="en-US"/>
          </a:p>
        </p:txBody>
      </p:sp>
    </p:spTree>
    <p:extLst>
      <p:ext uri="{BB962C8B-B14F-4D97-AF65-F5344CB8AC3E}">
        <p14:creationId xmlns:p14="http://schemas.microsoft.com/office/powerpoint/2010/main" val="1007858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73F1-A16B-FA43-739A-1E3B9B9B06A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DE20796-1616-6940-239A-6B0A8B36B0B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C3A4B5D-D08E-C717-A48D-2821D96368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API</a:t>
            </a:r>
            <a:r>
              <a:rPr lang="zh-TW" altLang="en-US" sz="1200" kern="1200" dirty="0">
                <a:solidFill>
                  <a:schemeClr val="tx1"/>
                </a:solidFill>
                <a:effectLst/>
                <a:latin typeface="+mn-lt"/>
                <a:ea typeface="+mn-ea"/>
                <a:cs typeface="+mn-cs"/>
              </a:rPr>
              <a:t>模組</a:t>
            </a:r>
            <a:r>
              <a:rPr lang="zh-TW" altLang="zh-TW" sz="1200" kern="1200" dirty="0">
                <a:solidFill>
                  <a:schemeClr val="tx1"/>
                </a:solidFill>
                <a:effectLst/>
                <a:latin typeface="+mn-lt"/>
                <a:ea typeface="+mn-ea"/>
                <a:cs typeface="+mn-cs"/>
              </a:rPr>
              <a:t>負責與外部服務進行串接</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在路線規劃階段，本研究採用 Open Source Routing Machine</a:t>
            </a:r>
            <a:r>
              <a:rPr lang="zh-TW" altLang="en-US" dirty="0"/>
              <a:t> </a:t>
            </a:r>
            <a:r>
              <a:rPr lang="zh-TW" altLang="zh-TW" dirty="0"/>
              <a:t>來取得店舖間的距離與行駛時間矩陣</a:t>
            </a:r>
            <a:r>
              <a:rPr lang="zh-TW" altLang="en-US" dirty="0"/>
              <a:t>進行路線規劃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在驗證及評估階段，</a:t>
            </a:r>
            <a:r>
              <a:rPr lang="zh-TW" altLang="zh-TW" dirty="0"/>
              <a:t>使用 Google Maps Routes API 取得實際道路網路資訊</a:t>
            </a:r>
            <a:r>
              <a:rPr lang="zh-TW" altLang="en-US" dirty="0"/>
              <a:t>，</a:t>
            </a:r>
            <a:r>
              <a:rPr lang="zh-TW" altLang="zh-TW" dirty="0"/>
              <a:t>對規劃結果進行驗證與評估</a:t>
            </a:r>
            <a:endParaRPr lang="en-US" altLang="zh-TW" sz="120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1CE20DF7-79BA-D7A1-E1D8-95335EA7060D}"/>
              </a:ext>
            </a:extLst>
          </p:cNvPr>
          <p:cNvSpPr>
            <a:spLocks noGrp="1"/>
          </p:cNvSpPr>
          <p:nvPr>
            <p:ph type="sldNum" sz="quarter" idx="5"/>
          </p:nvPr>
        </p:nvSpPr>
        <p:spPr/>
        <p:txBody>
          <a:bodyPr/>
          <a:lstStyle/>
          <a:p>
            <a:fld id="{C1134DBE-7CC5-4F23-841F-273EC3D50B7F}" type="slidenum">
              <a:rPr lang="zh-TW" altLang="en-US" smtClean="0"/>
              <a:t>11</a:t>
            </a:fld>
            <a:endParaRPr lang="zh-TW" altLang="en-US"/>
          </a:p>
        </p:txBody>
      </p:sp>
    </p:spTree>
    <p:extLst>
      <p:ext uri="{BB962C8B-B14F-4D97-AF65-F5344CB8AC3E}">
        <p14:creationId xmlns:p14="http://schemas.microsoft.com/office/powerpoint/2010/main" val="1669126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BC1BE-993D-B181-E1EF-CCABB26AF75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2D5A7ED-26C9-C8DD-B348-01849E71914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EB72154-4A0A-8AB4-C3BF-10EBC175E275}"/>
              </a:ext>
            </a:extLst>
          </p:cNvPr>
          <p:cNvSpPr>
            <a:spLocks noGrp="1"/>
          </p:cNvSpPr>
          <p:nvPr>
            <p:ph type="body" idx="1"/>
          </p:nvPr>
        </p:nvSpPr>
        <p:spPr/>
        <p:txBody>
          <a:bodyPr/>
          <a:lstStyle/>
          <a:p>
            <a:r>
              <a:rPr lang="zh-TW" altLang="en-US" dirty="0"/>
              <a:t>接著介紹本研究資料模組部分</a:t>
            </a:r>
          </a:p>
        </p:txBody>
      </p:sp>
      <p:sp>
        <p:nvSpPr>
          <p:cNvPr id="4" name="投影片編號版面配置區 3">
            <a:extLst>
              <a:ext uri="{FF2B5EF4-FFF2-40B4-BE49-F238E27FC236}">
                <a16:creationId xmlns:a16="http://schemas.microsoft.com/office/drawing/2014/main" id="{A02100C7-912D-9101-27F4-1883BE9BA690}"/>
              </a:ext>
            </a:extLst>
          </p:cNvPr>
          <p:cNvSpPr>
            <a:spLocks noGrp="1"/>
          </p:cNvSpPr>
          <p:nvPr>
            <p:ph type="sldNum" sz="quarter" idx="5"/>
          </p:nvPr>
        </p:nvSpPr>
        <p:spPr/>
        <p:txBody>
          <a:bodyPr/>
          <a:lstStyle/>
          <a:p>
            <a:fld id="{C1134DBE-7CC5-4F23-841F-273EC3D50B7F}" type="slidenum">
              <a:rPr lang="zh-TW" altLang="en-US" smtClean="0"/>
              <a:t>12</a:t>
            </a:fld>
            <a:endParaRPr lang="zh-TW" altLang="en-US"/>
          </a:p>
        </p:txBody>
      </p:sp>
    </p:spTree>
    <p:extLst>
      <p:ext uri="{BB962C8B-B14F-4D97-AF65-F5344CB8AC3E}">
        <p14:creationId xmlns:p14="http://schemas.microsoft.com/office/powerpoint/2010/main" val="1230491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E6F0F-F143-4905-B305-B45348B18E8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4ECDCF3-9001-EC2F-4521-1BD21D36482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19A4C9-AE3D-10A5-5A61-6B8E097584FD}"/>
              </a:ext>
            </a:extLst>
          </p:cNvPr>
          <p:cNvSpPr>
            <a:spLocks noGrp="1"/>
          </p:cNvSpPr>
          <p:nvPr>
            <p:ph type="body" idx="1"/>
          </p:nvPr>
        </p:nvSpPr>
        <p:spPr/>
        <p:txBody>
          <a:bodyPr/>
          <a:lstStyle/>
          <a:p>
            <a:r>
              <a:rPr lang="zh-TW" altLang="en-US" dirty="0"/>
              <a:t>本研究的資料模組負責對物流公司提供之資料進行前處理</a:t>
            </a:r>
            <a:endParaRPr lang="en-US" altLang="zh-TW" dirty="0"/>
          </a:p>
          <a:p>
            <a:r>
              <a:rPr lang="zh-TW" altLang="en-US" dirty="0"/>
              <a:t>主要分成兩個部分</a:t>
            </a:r>
            <a:endParaRPr lang="en-US" altLang="zh-TW" dirty="0"/>
          </a:p>
          <a:p>
            <a:r>
              <a:rPr lang="zh-TW" altLang="en-US" dirty="0"/>
              <a:t>分別是資料清理及資料轉換</a:t>
            </a:r>
            <a:endParaRPr lang="en-US" altLang="zh-TW" dirty="0"/>
          </a:p>
          <a:p>
            <a:endParaRPr lang="en-US" altLang="zh-TW" dirty="0"/>
          </a:p>
          <a:p>
            <a:r>
              <a:rPr lang="zh-TW" altLang="en-US" dirty="0"/>
              <a:t>首先</a:t>
            </a:r>
            <a:r>
              <a:rPr lang="zh-TW" altLang="zh-TW" dirty="0"/>
              <a:t>針對缺失或不完整之店鋪資訊進行補齊與修正</a:t>
            </a:r>
            <a:endParaRPr lang="en-US" altLang="zh-TW" dirty="0"/>
          </a:p>
          <a:p>
            <a:r>
              <a:rPr lang="zh-TW" altLang="zh-TW" dirty="0"/>
              <a:t>將資料進行結構化整理與統一，轉換</a:t>
            </a:r>
            <a:r>
              <a:rPr lang="zh-TW" altLang="en-US" dirty="0"/>
              <a:t>為後續</a:t>
            </a:r>
            <a:r>
              <a:rPr lang="zh-TW" altLang="zh-TW" dirty="0"/>
              <a:t>路線規劃</a:t>
            </a:r>
            <a:r>
              <a:rPr lang="zh-TW" altLang="en-US" dirty="0"/>
              <a:t>所需</a:t>
            </a:r>
            <a:r>
              <a:rPr lang="zh-TW" altLang="zh-TW" dirty="0"/>
              <a:t>格式</a:t>
            </a:r>
            <a:endParaRPr lang="en-US" altLang="zh-TW" dirty="0"/>
          </a:p>
        </p:txBody>
      </p:sp>
      <p:sp>
        <p:nvSpPr>
          <p:cNvPr id="4" name="投影片編號版面配置區 3">
            <a:extLst>
              <a:ext uri="{FF2B5EF4-FFF2-40B4-BE49-F238E27FC236}">
                <a16:creationId xmlns:a16="http://schemas.microsoft.com/office/drawing/2014/main" id="{AEB7897C-731B-9BF1-DA00-92097FA9C23F}"/>
              </a:ext>
            </a:extLst>
          </p:cNvPr>
          <p:cNvSpPr>
            <a:spLocks noGrp="1"/>
          </p:cNvSpPr>
          <p:nvPr>
            <p:ph type="sldNum" sz="quarter" idx="5"/>
          </p:nvPr>
        </p:nvSpPr>
        <p:spPr/>
        <p:txBody>
          <a:bodyPr/>
          <a:lstStyle/>
          <a:p>
            <a:fld id="{C1134DBE-7CC5-4F23-841F-273EC3D50B7F}" type="slidenum">
              <a:rPr lang="zh-TW" altLang="en-US" smtClean="0"/>
              <a:t>13</a:t>
            </a:fld>
            <a:endParaRPr lang="zh-TW" altLang="en-US"/>
          </a:p>
        </p:txBody>
      </p:sp>
    </p:spTree>
    <p:extLst>
      <p:ext uri="{BB962C8B-B14F-4D97-AF65-F5344CB8AC3E}">
        <p14:creationId xmlns:p14="http://schemas.microsoft.com/office/powerpoint/2010/main" val="4160302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CA88B-C458-0683-BE99-F86DE574DA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76D5C62-DE35-0F68-D9F3-7A51EC618B7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6B133E7-A145-43B5-9C16-5737C19BF621}"/>
              </a:ext>
            </a:extLst>
          </p:cNvPr>
          <p:cNvSpPr>
            <a:spLocks noGrp="1"/>
          </p:cNvSpPr>
          <p:nvPr>
            <p:ph type="body" idx="1"/>
          </p:nvPr>
        </p:nvSpPr>
        <p:spPr/>
        <p:txBody>
          <a:bodyPr/>
          <a:lstStyle/>
          <a:p>
            <a:r>
              <a:rPr lang="zh-TW" altLang="en-US" dirty="0"/>
              <a:t>接下來介紹本研究的路由模組</a:t>
            </a:r>
            <a:endParaRPr lang="en-US" altLang="zh-TW" dirty="0"/>
          </a:p>
        </p:txBody>
      </p:sp>
      <p:sp>
        <p:nvSpPr>
          <p:cNvPr id="4" name="投影片編號版面配置區 3">
            <a:extLst>
              <a:ext uri="{FF2B5EF4-FFF2-40B4-BE49-F238E27FC236}">
                <a16:creationId xmlns:a16="http://schemas.microsoft.com/office/drawing/2014/main" id="{2A268668-ED82-A85C-113F-9C6ED9F2798A}"/>
              </a:ext>
            </a:extLst>
          </p:cNvPr>
          <p:cNvSpPr>
            <a:spLocks noGrp="1"/>
          </p:cNvSpPr>
          <p:nvPr>
            <p:ph type="sldNum" sz="quarter" idx="5"/>
          </p:nvPr>
        </p:nvSpPr>
        <p:spPr/>
        <p:txBody>
          <a:bodyPr/>
          <a:lstStyle/>
          <a:p>
            <a:fld id="{C1134DBE-7CC5-4F23-841F-273EC3D50B7F}" type="slidenum">
              <a:rPr lang="zh-TW" altLang="en-US" smtClean="0"/>
              <a:t>14</a:t>
            </a:fld>
            <a:endParaRPr lang="zh-TW" altLang="en-US"/>
          </a:p>
        </p:txBody>
      </p:sp>
    </p:spTree>
    <p:extLst>
      <p:ext uri="{BB962C8B-B14F-4D97-AF65-F5344CB8AC3E}">
        <p14:creationId xmlns:p14="http://schemas.microsoft.com/office/powerpoint/2010/main" val="7187783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41A5D-EA24-6D3F-0F5D-0BA8A1BC58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2915156-FBD8-ECE3-2B85-A652598EF25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24812ED-F62A-1E83-17EF-324A825A44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本研究提出之架構</a:t>
            </a:r>
            <a:r>
              <a:rPr lang="zh-TW" altLang="zh-TW" dirty="0"/>
              <a:t>主要在物流公司的營運限制下進行設計</a:t>
            </a:r>
            <a:r>
              <a:rPr lang="zh-TW" altLang="en-US" dirty="0"/>
              <a:t>，並分為三個階段，分別為店鋪抽取、店鋪分配、支援線規劃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zh-TW" altLang="zh-TW" dirty="0"/>
              <a:t>店鋪抽取階段，從超載主線中選取適當店鋪進行移除</a:t>
            </a:r>
            <a:br>
              <a:rPr lang="en-US" altLang="zh-TW" dirty="0"/>
            </a:br>
            <a:r>
              <a:rPr lang="zh-TW" altLang="zh-TW" dirty="0"/>
              <a:t>店鋪分配階段，決定被抽取店鋪應分配至哪條</a:t>
            </a:r>
            <a:r>
              <a:rPr lang="zh-TW" altLang="en-US" dirty="0"/>
              <a:t>主線以最大化主線配送效率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支援線規劃階段</a:t>
            </a:r>
            <a:r>
              <a:rPr lang="zh-TW" altLang="en-US" dirty="0"/>
              <a:t>，針對無法被安排進主線的店鋪，</a:t>
            </a:r>
            <a:r>
              <a:rPr lang="zh-TW" altLang="zh-TW" dirty="0"/>
              <a:t>建構支援線，以完成整體配送規劃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因為本研究的整體配送問題本質上可以視為車輛路徑問題的延伸變體</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因此</a:t>
            </a:r>
            <a:r>
              <a:rPr lang="zh-TW" altLang="zh-TW" dirty="0"/>
              <a:t>在介紹</a:t>
            </a:r>
            <a:r>
              <a:rPr lang="zh-TW" altLang="en-US" dirty="0"/>
              <a:t>路由模組各階段</a:t>
            </a:r>
            <a:r>
              <a:rPr lang="zh-TW" altLang="zh-TW" dirty="0"/>
              <a:t>之前，接下來將先說明</a:t>
            </a:r>
            <a:r>
              <a:rPr lang="zh-TW" altLang="en-US" dirty="0"/>
              <a:t>車輛路徑問題</a:t>
            </a:r>
            <a:r>
              <a:rPr lang="zh-TW" altLang="zh-TW" dirty="0"/>
              <a:t>以及相關限制條</a:t>
            </a:r>
            <a:r>
              <a:rPr lang="zh-TW" altLang="en-US" dirty="0"/>
              <a:t>件</a:t>
            </a:r>
            <a:endParaRPr lang="en-US" altLang="zh-TW" dirty="0"/>
          </a:p>
        </p:txBody>
      </p:sp>
      <p:sp>
        <p:nvSpPr>
          <p:cNvPr id="4" name="投影片編號版面配置區 3">
            <a:extLst>
              <a:ext uri="{FF2B5EF4-FFF2-40B4-BE49-F238E27FC236}">
                <a16:creationId xmlns:a16="http://schemas.microsoft.com/office/drawing/2014/main" id="{A879A534-DF38-D149-4D84-71384B761C6D}"/>
              </a:ext>
            </a:extLst>
          </p:cNvPr>
          <p:cNvSpPr>
            <a:spLocks noGrp="1"/>
          </p:cNvSpPr>
          <p:nvPr>
            <p:ph type="sldNum" sz="quarter" idx="5"/>
          </p:nvPr>
        </p:nvSpPr>
        <p:spPr/>
        <p:txBody>
          <a:bodyPr/>
          <a:lstStyle/>
          <a:p>
            <a:fld id="{C1134DBE-7CC5-4F23-841F-273EC3D50B7F}" type="slidenum">
              <a:rPr lang="zh-TW" altLang="en-US" smtClean="0"/>
              <a:t>15</a:t>
            </a:fld>
            <a:endParaRPr lang="zh-TW" altLang="en-US"/>
          </a:p>
        </p:txBody>
      </p:sp>
    </p:spTree>
    <p:extLst>
      <p:ext uri="{BB962C8B-B14F-4D97-AF65-F5344CB8AC3E}">
        <p14:creationId xmlns:p14="http://schemas.microsoft.com/office/powerpoint/2010/main" val="2501916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2A19-E296-2490-FB38-65E631B105E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C288A4-4ED1-2C4F-BB6F-96E923880D5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8E23A75-A286-79E6-8C88-7B58897763CE}"/>
              </a:ext>
            </a:extLst>
          </p:cNvPr>
          <p:cNvSpPr>
            <a:spLocks noGrp="1"/>
          </p:cNvSpPr>
          <p:nvPr>
            <p:ph type="body" idx="1"/>
          </p:nvPr>
        </p:nvSpPr>
        <p:spPr/>
        <p:txBody>
          <a:bodyPr/>
          <a:lstStyle/>
          <a:p>
            <a:r>
              <a:rPr lang="en-US" altLang="zh-TW" dirty="0"/>
              <a:t>VRP </a:t>
            </a:r>
            <a:r>
              <a:rPr lang="zh-TW" altLang="en-US" dirty="0"/>
              <a:t>是組合最佳化與整數規劃領域中的 </a:t>
            </a:r>
            <a:r>
              <a:rPr lang="en-US" altLang="zh-TW" dirty="0"/>
              <a:t>NP-hard </a:t>
            </a:r>
            <a:r>
              <a:rPr lang="zh-TW" altLang="en-US" dirty="0"/>
              <a:t>問題。</a:t>
            </a:r>
            <a:endParaRPr lang="en-US" altLang="zh-TW" dirty="0"/>
          </a:p>
          <a:p>
            <a:r>
              <a:rPr lang="zh-TW" altLang="en-US" dirty="0"/>
              <a:t>其目標是在滿足各項配送限制的前提下，規劃出一組最佳配送路線，使車輛能夠完成所有顧客的配送需求，同時最小化配送成本。</a:t>
            </a:r>
          </a:p>
          <a:p>
            <a:endParaRPr lang="en-US" altLang="zh-TW" dirty="0"/>
          </a:p>
          <a:p>
            <a:r>
              <a:rPr lang="zh-TW" altLang="zh-TW" dirty="0"/>
              <a:t>標準 VRP 中，需要滿足以下幾項基本限制條件</a:t>
            </a:r>
            <a:endParaRPr lang="en-US" altLang="zh-TW" dirty="0"/>
          </a:p>
          <a:p>
            <a:pPr lvl="0"/>
            <a:r>
              <a:rPr lang="zh-TW" altLang="zh-TW" sz="1200" kern="1200" dirty="0">
                <a:solidFill>
                  <a:schemeClr val="tx1"/>
                </a:solidFill>
                <a:effectLst/>
                <a:latin typeface="+mn-lt"/>
                <a:ea typeface="+mn-ea"/>
                <a:cs typeface="+mn-cs"/>
              </a:rPr>
              <a:t>每輛車必須從配送中心出發並返回配送中心。</a:t>
            </a:r>
          </a:p>
          <a:p>
            <a:pPr lvl="0"/>
            <a:r>
              <a:rPr lang="zh-TW" altLang="zh-TW" sz="1200" kern="1200" dirty="0">
                <a:solidFill>
                  <a:schemeClr val="tx1"/>
                </a:solidFill>
                <a:effectLst/>
                <a:latin typeface="+mn-lt"/>
                <a:ea typeface="+mn-ea"/>
                <a:cs typeface="+mn-cs"/>
              </a:rPr>
              <a:t>每個顧客僅允許被拜訪一次且僅能由一輛車負責配送。</a:t>
            </a:r>
          </a:p>
          <a:p>
            <a:pPr lvl="0"/>
            <a:r>
              <a:rPr lang="zh-TW" altLang="zh-TW" sz="1200" kern="1200" dirty="0">
                <a:solidFill>
                  <a:schemeClr val="tx1"/>
                </a:solidFill>
                <a:effectLst/>
                <a:latin typeface="+mn-lt"/>
                <a:ea typeface="+mn-ea"/>
                <a:cs typeface="+mn-cs"/>
              </a:rPr>
              <a:t>每個顧客</a:t>
            </a:r>
            <a:r>
              <a:rPr lang="zh-TW" altLang="en-US" sz="1200" kern="1200" dirty="0">
                <a:solidFill>
                  <a:schemeClr val="tx1"/>
                </a:solidFill>
                <a:effectLst/>
                <a:latin typeface="+mn-lt"/>
                <a:ea typeface="+mn-ea"/>
                <a:cs typeface="+mn-cs"/>
              </a:rPr>
              <a:t>的需求</a:t>
            </a:r>
            <a:r>
              <a:rPr lang="zh-TW" altLang="zh-TW" sz="1200" kern="1200" dirty="0">
                <a:solidFill>
                  <a:schemeClr val="tx1"/>
                </a:solidFill>
                <a:effectLst/>
                <a:latin typeface="+mn-lt"/>
                <a:ea typeface="+mn-ea"/>
                <a:cs typeface="+mn-cs"/>
              </a:rPr>
              <a:t>都必須</a:t>
            </a:r>
            <a:r>
              <a:rPr lang="zh-TW" altLang="en-US" sz="1200" kern="1200" dirty="0">
                <a:solidFill>
                  <a:schemeClr val="tx1"/>
                </a:solidFill>
                <a:effectLst/>
                <a:latin typeface="+mn-lt"/>
                <a:ea typeface="+mn-ea"/>
                <a:cs typeface="+mn-cs"/>
              </a:rPr>
              <a:t>被滿足</a:t>
            </a:r>
            <a:r>
              <a:rPr lang="zh-TW" altLang="zh-TW" sz="1200" kern="1200" dirty="0">
                <a:solidFill>
                  <a:schemeClr val="tx1"/>
                </a:solidFill>
                <a:effectLst/>
                <a:latin typeface="+mn-lt"/>
                <a:ea typeface="+mn-ea"/>
                <a:cs typeface="+mn-cs"/>
              </a:rPr>
              <a:t>。</a:t>
            </a:r>
          </a:p>
        </p:txBody>
      </p:sp>
      <p:sp>
        <p:nvSpPr>
          <p:cNvPr id="4" name="投影片編號版面配置區 3">
            <a:extLst>
              <a:ext uri="{FF2B5EF4-FFF2-40B4-BE49-F238E27FC236}">
                <a16:creationId xmlns:a16="http://schemas.microsoft.com/office/drawing/2014/main" id="{9CD009CE-2EDE-722C-BF90-B33BC5FA8CD3}"/>
              </a:ext>
            </a:extLst>
          </p:cNvPr>
          <p:cNvSpPr>
            <a:spLocks noGrp="1"/>
          </p:cNvSpPr>
          <p:nvPr>
            <p:ph type="sldNum" sz="quarter" idx="5"/>
          </p:nvPr>
        </p:nvSpPr>
        <p:spPr/>
        <p:txBody>
          <a:bodyPr/>
          <a:lstStyle/>
          <a:p>
            <a:fld id="{C1134DBE-7CC5-4F23-841F-273EC3D50B7F}" type="slidenum">
              <a:rPr lang="zh-TW" altLang="en-US" smtClean="0"/>
              <a:t>16</a:t>
            </a:fld>
            <a:endParaRPr lang="zh-TW" altLang="en-US"/>
          </a:p>
        </p:txBody>
      </p:sp>
    </p:spTree>
    <p:extLst>
      <p:ext uri="{BB962C8B-B14F-4D97-AF65-F5344CB8AC3E}">
        <p14:creationId xmlns:p14="http://schemas.microsoft.com/office/powerpoint/2010/main" val="783055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E992-4D24-B6CF-5B08-26DE7FBFB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89354B-3A90-2123-A1DF-CA3465D19A1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59DD81-AADA-2CA5-6E73-4B4E645766FA}"/>
              </a:ext>
            </a:extLst>
          </p:cNvPr>
          <p:cNvSpPr>
            <a:spLocks noGrp="1"/>
          </p:cNvSpPr>
          <p:nvPr>
            <p:ph type="body" idx="1"/>
          </p:nvPr>
        </p:nvSpPr>
        <p:spPr/>
        <p:txBody>
          <a:bodyPr/>
          <a:lstStyle/>
          <a:p>
            <a:r>
              <a:rPr lang="zh-TW" altLang="zh-TW" dirty="0"/>
              <a:t>由於實際物流環境相當複雜，因此 VRP 衍生出許多不同的變體，以符合不同的配送需求。</a:t>
            </a:r>
            <a:endParaRPr lang="en-US" altLang="zh-TW" dirty="0"/>
          </a:p>
          <a:p>
            <a:r>
              <a:rPr lang="en-US" altLang="zh-TW" dirty="0"/>
              <a:t>CVRP</a:t>
            </a:r>
            <a:r>
              <a:rPr lang="zh-TW" altLang="en-US" dirty="0"/>
              <a:t>容量限制車輛途程問題，</a:t>
            </a:r>
            <a:r>
              <a:rPr lang="zh-TW" altLang="zh-TW" dirty="0"/>
              <a:t>除了基本 VRP 條件外，還必須考慮車輛容量限制，確保每輛車所承載的需求量不超過其載重上限</a:t>
            </a:r>
            <a:endParaRPr lang="en-US" altLang="zh-TW" dirty="0"/>
          </a:p>
          <a:p>
            <a:r>
              <a:rPr lang="zh-TW" altLang="zh-TW" dirty="0"/>
              <a:t>VRPTW具時間窗限制的車輛途程問題</a:t>
            </a:r>
            <a:r>
              <a:rPr lang="zh-TW" altLang="en-US" dirty="0"/>
              <a:t>，除了容量限制以外，還</a:t>
            </a:r>
            <a:r>
              <a:rPr lang="zh-TW" altLang="zh-TW" dirty="0"/>
              <a:t>要求車輛必須在顧客指定的時間區間內完成配送服務</a:t>
            </a:r>
            <a:endParaRPr lang="en-US" altLang="zh-TW" dirty="0"/>
          </a:p>
          <a:p>
            <a:r>
              <a:rPr lang="en-US" altLang="zh-TW" dirty="0"/>
              <a:t>VRPPC</a:t>
            </a:r>
            <a:r>
              <a:rPr lang="zh-TW" altLang="en-US" dirty="0"/>
              <a:t>具委外及外部運輸商的車輛路徑問題，需要同時考量</a:t>
            </a:r>
            <a:r>
              <a:rPr lang="zh-TW" altLang="zh-TW" dirty="0"/>
              <a:t>配送成本、車輛容量限制及委外決策等因素</a:t>
            </a:r>
            <a:endParaRPr lang="en-US" altLang="zh-TW" dirty="0"/>
          </a:p>
          <a:p>
            <a:endParaRPr lang="en-US" altLang="zh-TW" dirty="0"/>
          </a:p>
          <a:p>
            <a:r>
              <a:rPr lang="zh-TW" altLang="zh-TW" dirty="0"/>
              <a:t>本研究所探討的配送問題同時具有車輛容量限制、配送時間窗限制等特性，因此可視為結合 VRPTW </a:t>
            </a:r>
            <a:r>
              <a:rPr lang="zh-TW" altLang="en-US" dirty="0"/>
              <a:t>以及物流公司主線架構</a:t>
            </a:r>
            <a:r>
              <a:rPr lang="zh-TW" altLang="zh-TW" dirty="0"/>
              <a:t>特性</a:t>
            </a:r>
            <a:r>
              <a:rPr lang="zh-TW" altLang="en-US" dirty="0"/>
              <a:t>符合營運限制的</a:t>
            </a:r>
            <a:r>
              <a:rPr lang="zh-TW" altLang="zh-TW" dirty="0"/>
              <a:t>車輛</a:t>
            </a:r>
            <a:r>
              <a:rPr lang="zh-TW" altLang="en-US" dirty="0"/>
              <a:t>路徑</a:t>
            </a:r>
            <a:r>
              <a:rPr lang="zh-TW" altLang="zh-TW" dirty="0"/>
              <a:t>問題。</a:t>
            </a:r>
            <a:endParaRPr lang="en-US" altLang="zh-TW" dirty="0"/>
          </a:p>
        </p:txBody>
      </p:sp>
      <p:sp>
        <p:nvSpPr>
          <p:cNvPr id="4" name="投影片編號版面配置區 3">
            <a:extLst>
              <a:ext uri="{FF2B5EF4-FFF2-40B4-BE49-F238E27FC236}">
                <a16:creationId xmlns:a16="http://schemas.microsoft.com/office/drawing/2014/main" id="{F9D36EC1-C688-738E-A346-0D2246E88493}"/>
              </a:ext>
            </a:extLst>
          </p:cNvPr>
          <p:cNvSpPr>
            <a:spLocks noGrp="1"/>
          </p:cNvSpPr>
          <p:nvPr>
            <p:ph type="sldNum" sz="quarter" idx="5"/>
          </p:nvPr>
        </p:nvSpPr>
        <p:spPr/>
        <p:txBody>
          <a:bodyPr/>
          <a:lstStyle/>
          <a:p>
            <a:fld id="{C1134DBE-7CC5-4F23-841F-273EC3D50B7F}" type="slidenum">
              <a:rPr lang="zh-TW" altLang="en-US" smtClean="0"/>
              <a:t>17</a:t>
            </a:fld>
            <a:endParaRPr lang="zh-TW" altLang="en-US"/>
          </a:p>
        </p:txBody>
      </p:sp>
    </p:spTree>
    <p:extLst>
      <p:ext uri="{BB962C8B-B14F-4D97-AF65-F5344CB8AC3E}">
        <p14:creationId xmlns:p14="http://schemas.microsoft.com/office/powerpoint/2010/main" val="1517155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634C7-B32B-1397-024A-AF8A75204B0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C431912-4DC3-B48D-03B0-167A447BB7A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D4B5E9C-2F57-273F-C5CB-3A4D102ACD2D}"/>
              </a:ext>
            </a:extLst>
          </p:cNvPr>
          <p:cNvSpPr>
            <a:spLocks noGrp="1"/>
          </p:cNvSpPr>
          <p:nvPr>
            <p:ph type="body" idx="1"/>
          </p:nvPr>
        </p:nvSpPr>
        <p:spPr/>
        <p:txBody>
          <a:bodyPr/>
          <a:lstStyle/>
          <a:p>
            <a:r>
              <a:rPr lang="zh-TW" altLang="en-US" dirty="0"/>
              <a:t>根據物流公司的營運限制，</a:t>
            </a:r>
            <a:r>
              <a:rPr lang="zh-TW" altLang="zh-TW" dirty="0"/>
              <a:t>本研究所考量之限制如下。</a:t>
            </a:r>
          </a:p>
          <a:p>
            <a:r>
              <a:rPr lang="en-US" altLang="zh-TW" dirty="0"/>
              <a:t>1.</a:t>
            </a:r>
            <a:r>
              <a:rPr lang="zh-TW" altLang="en-US" dirty="0"/>
              <a:t> </a:t>
            </a:r>
            <a:r>
              <a:rPr lang="zh-TW" altLang="zh-TW" dirty="0"/>
              <a:t>原有主線的</a:t>
            </a:r>
            <a:r>
              <a:rPr lang="zh-TW" altLang="en-US" dirty="0"/>
              <a:t>店鋪</a:t>
            </a:r>
            <a:r>
              <a:rPr lang="zh-TW" altLang="zh-TW" dirty="0"/>
              <a:t>服務順序不得變更，以維持既有路線結構的穩定性。</a:t>
            </a:r>
            <a:endParaRPr lang="en-US" altLang="zh-TW" dirty="0"/>
          </a:p>
          <a:p>
            <a:r>
              <a:rPr lang="en-US" altLang="zh-TW" dirty="0"/>
              <a:t>2.</a:t>
            </a:r>
            <a:r>
              <a:rPr lang="zh-TW" altLang="en-US" dirty="0"/>
              <a:t> </a:t>
            </a:r>
            <a:r>
              <a:rPr lang="zh-TW" altLang="zh-TW" dirty="0"/>
              <a:t>將路線調整幅度最小化，以維持原有主線架構的完整性。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dirty="0"/>
              <a:t> </a:t>
            </a:r>
            <a:r>
              <a:rPr lang="zh-TW" altLang="zh-TW" dirty="0"/>
              <a:t>車輛載重不得超過其容量限制，以確保配送過程中的可行性與安全性。</a:t>
            </a:r>
          </a:p>
          <a:p>
            <a:r>
              <a:rPr lang="en-US" altLang="zh-TW" dirty="0"/>
              <a:t>4.</a:t>
            </a:r>
            <a:r>
              <a:rPr lang="zh-TW" altLang="en-US" dirty="0"/>
              <a:t> </a:t>
            </a:r>
            <a:r>
              <a:rPr lang="zh-TW" altLang="zh-TW" dirty="0"/>
              <a:t>配送時間窗設定為預定時間前一小時至後三十分鐘之內，且不得發生提早或延遲服務的情況。</a:t>
            </a:r>
          </a:p>
          <a:p>
            <a:r>
              <a:rPr lang="en-US" altLang="zh-TW" dirty="0"/>
              <a:t>5.</a:t>
            </a:r>
            <a:r>
              <a:rPr lang="zh-TW" altLang="en-US" dirty="0"/>
              <a:t> </a:t>
            </a:r>
            <a:r>
              <a:rPr lang="zh-TW" altLang="zh-TW" dirty="0"/>
              <a:t>整體配送時間不得超過五小時，以符合實際營運時效需求。</a:t>
            </a:r>
          </a:p>
        </p:txBody>
      </p:sp>
      <p:sp>
        <p:nvSpPr>
          <p:cNvPr id="4" name="投影片編號版面配置區 3">
            <a:extLst>
              <a:ext uri="{FF2B5EF4-FFF2-40B4-BE49-F238E27FC236}">
                <a16:creationId xmlns:a16="http://schemas.microsoft.com/office/drawing/2014/main" id="{8D6CF6FA-E493-2D27-E637-83A74DED6A99}"/>
              </a:ext>
            </a:extLst>
          </p:cNvPr>
          <p:cNvSpPr>
            <a:spLocks noGrp="1"/>
          </p:cNvSpPr>
          <p:nvPr>
            <p:ph type="sldNum" sz="quarter" idx="5"/>
          </p:nvPr>
        </p:nvSpPr>
        <p:spPr/>
        <p:txBody>
          <a:bodyPr/>
          <a:lstStyle/>
          <a:p>
            <a:fld id="{C1134DBE-7CC5-4F23-841F-273EC3D50B7F}" type="slidenum">
              <a:rPr lang="zh-TW" altLang="en-US" smtClean="0"/>
              <a:t>18</a:t>
            </a:fld>
            <a:endParaRPr lang="zh-TW" altLang="en-US"/>
          </a:p>
        </p:txBody>
      </p:sp>
    </p:spTree>
    <p:extLst>
      <p:ext uri="{BB962C8B-B14F-4D97-AF65-F5344CB8AC3E}">
        <p14:creationId xmlns:p14="http://schemas.microsoft.com/office/powerpoint/2010/main" val="1220978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A796-99BE-69F8-0FF1-8E8AE04333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060558-5D27-679F-0281-7FA424DA0A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513C1DB-3122-C002-21CD-F2D6A5A88573}"/>
              </a:ext>
            </a:extLst>
          </p:cNvPr>
          <p:cNvSpPr>
            <a:spLocks noGrp="1"/>
          </p:cNvSpPr>
          <p:nvPr>
            <p:ph type="body" idx="1"/>
          </p:nvPr>
        </p:nvSpPr>
        <p:spPr/>
        <p:txBody>
          <a:bodyPr/>
          <a:lstStyle/>
          <a:p>
            <a:r>
              <a:rPr lang="zh-TW" altLang="en-US" dirty="0"/>
              <a:t>本研究的目標函數採用階層式目標的設計</a:t>
            </a:r>
          </a:p>
          <a:p>
            <a:r>
              <a:rPr lang="zh-TW" altLang="en-US" dirty="0"/>
              <a:t>主要目標是最小化支援路線的數量</a:t>
            </a:r>
          </a:p>
          <a:p>
            <a:r>
              <a:rPr lang="zh-TW" altLang="en-US" dirty="0"/>
              <a:t>次要目標是最小化總行駛距離</a:t>
            </a:r>
          </a:p>
          <a:p>
            <a:endParaRPr lang="zh-TW" altLang="zh-TW" dirty="0"/>
          </a:p>
        </p:txBody>
      </p:sp>
      <p:sp>
        <p:nvSpPr>
          <p:cNvPr id="4" name="投影片編號版面配置區 3">
            <a:extLst>
              <a:ext uri="{FF2B5EF4-FFF2-40B4-BE49-F238E27FC236}">
                <a16:creationId xmlns:a16="http://schemas.microsoft.com/office/drawing/2014/main" id="{0734FEB2-2F62-275A-11D6-84B65C6A1FFA}"/>
              </a:ext>
            </a:extLst>
          </p:cNvPr>
          <p:cNvSpPr>
            <a:spLocks noGrp="1"/>
          </p:cNvSpPr>
          <p:nvPr>
            <p:ph type="sldNum" sz="quarter" idx="5"/>
          </p:nvPr>
        </p:nvSpPr>
        <p:spPr/>
        <p:txBody>
          <a:bodyPr/>
          <a:lstStyle/>
          <a:p>
            <a:fld id="{C1134DBE-7CC5-4F23-841F-273EC3D50B7F}" type="slidenum">
              <a:rPr lang="zh-TW" altLang="en-US" smtClean="0"/>
              <a:t>19</a:t>
            </a:fld>
            <a:endParaRPr lang="zh-TW" altLang="en-US"/>
          </a:p>
        </p:txBody>
      </p:sp>
    </p:spTree>
    <p:extLst>
      <p:ext uri="{BB962C8B-B14F-4D97-AF65-F5344CB8AC3E}">
        <p14:creationId xmlns:p14="http://schemas.microsoft.com/office/powerpoint/2010/main" val="604157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EB929-D201-1660-716F-AC39835880E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4234CCB-E01C-3DD1-A764-677B1165D10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A179699-E115-9B12-4521-4760523489E3}"/>
              </a:ext>
            </a:extLst>
          </p:cNvPr>
          <p:cNvSpPr>
            <a:spLocks noGrp="1"/>
          </p:cNvSpPr>
          <p:nvPr>
            <p:ph type="body" idx="1"/>
          </p:nvPr>
        </p:nvSpPr>
        <p:spPr/>
        <p:txBody>
          <a:bodyPr/>
          <a:lstStyle/>
          <a:p>
            <a:r>
              <a:rPr lang="zh-TW" altLang="en-US" dirty="0"/>
              <a:t>接著介紹路由模組的店鋪抽取階段</a:t>
            </a:r>
            <a:endParaRPr lang="en-US" altLang="zh-TW" dirty="0"/>
          </a:p>
          <a:p>
            <a:r>
              <a:rPr lang="zh-TW" altLang="en-US" dirty="0"/>
              <a:t>店鋪抽取</a:t>
            </a:r>
            <a:r>
              <a:rPr lang="zh-TW" altLang="zh-TW" dirty="0"/>
              <a:t>主要用來解決因需求波動所造成的車輛超載問題</a:t>
            </a:r>
            <a:endParaRPr lang="en-US" altLang="zh-TW" dirty="0"/>
          </a:p>
          <a:p>
            <a:r>
              <a:rPr lang="zh-TW" altLang="zh-TW" dirty="0"/>
              <a:t>透過從超載主路線中選取並移除部分店舖，使</a:t>
            </a:r>
            <a:r>
              <a:rPr lang="zh-TW" altLang="en-US" dirty="0"/>
              <a:t>主</a:t>
            </a:r>
            <a:r>
              <a:rPr lang="zh-TW" altLang="zh-TW" dirty="0"/>
              <a:t>線能符合容量與時間窗限制。</a:t>
            </a:r>
          </a:p>
          <a:p>
            <a:r>
              <a:rPr lang="zh-TW" altLang="zh-TW" dirty="0"/>
              <a:t>為解決此問題，本研究採用</a:t>
            </a:r>
            <a:r>
              <a:rPr lang="zh-TW" altLang="en-US" dirty="0"/>
              <a:t>合作式</a:t>
            </a:r>
            <a:r>
              <a:rPr lang="zh-TW" altLang="zh-TW" dirty="0"/>
              <a:t>共</a:t>
            </a:r>
            <a:r>
              <a:rPr lang="zh-TW" altLang="en-US" dirty="0"/>
              <a:t>同</a:t>
            </a:r>
            <a:r>
              <a:rPr lang="zh-TW" altLang="zh-TW" dirty="0"/>
              <a:t>演化</a:t>
            </a:r>
            <a:r>
              <a:rPr lang="zh-TW" altLang="en-US" dirty="0"/>
              <a:t>基因</a:t>
            </a:r>
            <a:r>
              <a:rPr lang="zh-TW" altLang="zh-TW" dirty="0"/>
              <a:t>演算法（CCGA）</a:t>
            </a:r>
            <a:endParaRPr lang="en-US" altLang="zh-TW" dirty="0"/>
          </a:p>
          <a:p>
            <a:r>
              <a:rPr lang="zh-TW" altLang="zh-TW" dirty="0"/>
              <a:t>其核心概念是將原始問題拆解為多個較小的子問題，並針對每個子問題分別使用</a:t>
            </a:r>
            <a:r>
              <a:rPr lang="zh-TW" altLang="en-US" dirty="0"/>
              <a:t>基因</a:t>
            </a:r>
            <a:r>
              <a:rPr lang="zh-TW" altLang="zh-TW" dirty="0"/>
              <a:t>演算法進行獨立演化搜尋。</a:t>
            </a:r>
          </a:p>
          <a:p>
            <a:r>
              <a:rPr lang="zh-TW" altLang="zh-TW" dirty="0"/>
              <a:t>最後再將各子問題的部分解進行整合，形成完整解，並以整體結果進行評估。</a:t>
            </a:r>
            <a:endParaRPr lang="en-US" altLang="zh-TW" dirty="0"/>
          </a:p>
          <a:p>
            <a:endParaRPr lang="en-US" altLang="zh-TW" dirty="0"/>
          </a:p>
          <a:p>
            <a:r>
              <a:rPr lang="zh-TW" altLang="en-US" dirty="0"/>
              <a:t>適應值函數分別針對</a:t>
            </a:r>
            <a:r>
              <a:rPr lang="zh-TW" altLang="zh-TW" dirty="0"/>
              <a:t>支援線車輛數量</a:t>
            </a:r>
            <a:r>
              <a:rPr lang="zh-TW" altLang="en-US" dirty="0"/>
              <a:t>及對被抽取店鋪數量</a:t>
            </a:r>
            <a:r>
              <a:rPr lang="zh-TW" altLang="zh-TW" dirty="0"/>
              <a:t>設置獨立的懲罰係數</a:t>
            </a:r>
            <a:r>
              <a:rPr lang="zh-TW" altLang="en-US" dirty="0"/>
              <a:t>，以</a:t>
            </a:r>
            <a:r>
              <a:rPr lang="zh-TW" altLang="zh-TW" dirty="0"/>
              <a:t>降低</a:t>
            </a:r>
            <a:r>
              <a:rPr lang="zh-TW" altLang="en-US" dirty="0"/>
              <a:t>支援線</a:t>
            </a:r>
            <a:r>
              <a:rPr lang="zh-TW" altLang="zh-TW" dirty="0"/>
              <a:t>車輛使用需求，並避免過度抽取店舖</a:t>
            </a:r>
            <a:endParaRPr lang="en-US" altLang="zh-TW" dirty="0"/>
          </a:p>
        </p:txBody>
      </p:sp>
      <p:sp>
        <p:nvSpPr>
          <p:cNvPr id="4" name="投影片編號版面配置區 3">
            <a:extLst>
              <a:ext uri="{FF2B5EF4-FFF2-40B4-BE49-F238E27FC236}">
                <a16:creationId xmlns:a16="http://schemas.microsoft.com/office/drawing/2014/main" id="{DDF1F566-5A5B-9298-ADF7-DB1B24766CFF}"/>
              </a:ext>
            </a:extLst>
          </p:cNvPr>
          <p:cNvSpPr>
            <a:spLocks noGrp="1"/>
          </p:cNvSpPr>
          <p:nvPr>
            <p:ph type="sldNum" sz="quarter" idx="5"/>
          </p:nvPr>
        </p:nvSpPr>
        <p:spPr/>
        <p:txBody>
          <a:bodyPr/>
          <a:lstStyle/>
          <a:p>
            <a:fld id="{C1134DBE-7CC5-4F23-841F-273EC3D50B7F}" type="slidenum">
              <a:rPr lang="zh-TW" altLang="en-US" smtClean="0"/>
              <a:t>20</a:t>
            </a:fld>
            <a:endParaRPr lang="zh-TW" altLang="en-US"/>
          </a:p>
        </p:txBody>
      </p:sp>
    </p:spTree>
    <p:extLst>
      <p:ext uri="{BB962C8B-B14F-4D97-AF65-F5344CB8AC3E}">
        <p14:creationId xmlns:p14="http://schemas.microsoft.com/office/powerpoint/2010/main" val="2072241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A1659-C291-A4C7-59CB-D8672C77E30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19A83FC-8B05-A895-B63E-2F61130F779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F4B9F69-CA43-B58A-F7DB-4513464D188D}"/>
              </a:ext>
            </a:extLst>
          </p:cNvPr>
          <p:cNvSpPr>
            <a:spLocks noGrp="1"/>
          </p:cNvSpPr>
          <p:nvPr>
            <p:ph type="body" idx="1"/>
          </p:nvPr>
        </p:nvSpPr>
        <p:spPr/>
        <p:txBody>
          <a:bodyPr/>
          <a:lstStyle/>
          <a:p>
            <a:r>
              <a:rPr lang="zh-TW" altLang="zh-TW" dirty="0"/>
              <a:t>在候選店舖分配階段，會將候選店舖重新</a:t>
            </a:r>
            <a:r>
              <a:rPr lang="zh-TW" altLang="en-US" dirty="0"/>
              <a:t>嘗試</a:t>
            </a:r>
            <a:r>
              <a:rPr lang="zh-TW" altLang="zh-TW" dirty="0"/>
              <a:t>插入至具備剩餘容量的主線中，以提升路線利用率並減少對支援路線的需求</a:t>
            </a:r>
          </a:p>
          <a:p>
            <a:r>
              <a:rPr lang="zh-TW" altLang="zh-TW" dirty="0"/>
              <a:t>為了解決此問題，本研究採用混合式蟻群最佳化演算法</a:t>
            </a:r>
            <a:endParaRPr lang="en-US" altLang="zh-TW" dirty="0"/>
          </a:p>
          <a:p>
            <a:r>
              <a:rPr lang="zh-TW" altLang="zh-TW" dirty="0"/>
              <a:t>HACO 結合了蟻群最佳化（ACO）與變動鄰域下降法（VND）</a:t>
            </a:r>
          </a:p>
          <a:p>
            <a:r>
              <a:rPr lang="zh-TW" altLang="zh-TW" dirty="0"/>
              <a:t>其中，ACO透過模擬螞蟻之間的費洛蒙傳遞機制來引導搜尋方向建構解</a:t>
            </a:r>
            <a:endParaRPr lang="en-US" altLang="zh-TW" dirty="0"/>
          </a:p>
          <a:p>
            <a:r>
              <a:rPr lang="zh-TW" altLang="zh-TW" dirty="0"/>
              <a:t>而 VND 則透過依序探索多種鄰域結構以跳</a:t>
            </a:r>
            <a:r>
              <a:rPr lang="zh-TW" altLang="en-US" dirty="0"/>
              <a:t>脫</a:t>
            </a:r>
            <a:r>
              <a:rPr lang="zh-TW" altLang="zh-TW" dirty="0"/>
              <a:t>局部最佳解提升</a:t>
            </a:r>
            <a:r>
              <a:rPr lang="zh-TW" altLang="en-US" dirty="0"/>
              <a:t>規劃</a:t>
            </a:r>
            <a:r>
              <a:rPr lang="zh-TW" altLang="zh-TW" dirty="0"/>
              <a:t>品質</a:t>
            </a:r>
          </a:p>
        </p:txBody>
      </p:sp>
      <p:sp>
        <p:nvSpPr>
          <p:cNvPr id="4" name="投影片編號版面配置區 3">
            <a:extLst>
              <a:ext uri="{FF2B5EF4-FFF2-40B4-BE49-F238E27FC236}">
                <a16:creationId xmlns:a16="http://schemas.microsoft.com/office/drawing/2014/main" id="{77C245F9-59BF-0C85-507A-0EA2F6DAB44A}"/>
              </a:ext>
            </a:extLst>
          </p:cNvPr>
          <p:cNvSpPr>
            <a:spLocks noGrp="1"/>
          </p:cNvSpPr>
          <p:nvPr>
            <p:ph type="sldNum" sz="quarter" idx="5"/>
          </p:nvPr>
        </p:nvSpPr>
        <p:spPr/>
        <p:txBody>
          <a:bodyPr/>
          <a:lstStyle/>
          <a:p>
            <a:fld id="{C1134DBE-7CC5-4F23-841F-273EC3D50B7F}" type="slidenum">
              <a:rPr lang="zh-TW" altLang="en-US" smtClean="0"/>
              <a:t>21</a:t>
            </a:fld>
            <a:endParaRPr lang="zh-TW" altLang="en-US"/>
          </a:p>
        </p:txBody>
      </p:sp>
    </p:spTree>
    <p:extLst>
      <p:ext uri="{BB962C8B-B14F-4D97-AF65-F5344CB8AC3E}">
        <p14:creationId xmlns:p14="http://schemas.microsoft.com/office/powerpoint/2010/main" val="2954739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F9DE1-440C-7FBA-37E9-3934D47C2E0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200B24E-8190-1C23-0A3A-70E046FA40B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B70E49E-8B91-7559-7FE4-47E56933BE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針對無法編排進主路線的店舖，會進行支援線規劃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本研究採用多蟻群系統（</a:t>
            </a:r>
            <a:r>
              <a:rPr lang="en-US" altLang="zh-TW" dirty="0"/>
              <a:t>MACS</a:t>
            </a:r>
            <a:r>
              <a:rPr lang="zh-TW" altLang="en-US" dirty="0"/>
              <a:t>），</a:t>
            </a:r>
            <a:r>
              <a:rPr lang="zh-TW" altLang="zh-TW" dirty="0"/>
              <a:t>由兩個蟻群組成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其中，</a:t>
            </a:r>
            <a:r>
              <a:rPr lang="en-US" altLang="zh-TW" dirty="0"/>
              <a:t>ACS-VEI</a:t>
            </a:r>
            <a:r>
              <a:rPr lang="zh-TW" altLang="zh-TW" dirty="0"/>
              <a:t>透過在路線建構過程中提升店舖覆蓋率來減少所需車輛</a:t>
            </a:r>
            <a:r>
              <a:rPr lang="zh-TW" altLang="en-US" dirty="0"/>
              <a:t>，以</a:t>
            </a:r>
            <a:r>
              <a:rPr lang="zh-TW" altLang="zh-TW" dirty="0"/>
              <a:t>最小化車輛數量</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而 </a:t>
            </a:r>
            <a:r>
              <a:rPr lang="en-US" altLang="zh-TW" dirty="0"/>
              <a:t>ACS-DIST </a:t>
            </a:r>
            <a:r>
              <a:rPr lang="zh-TW" altLang="en-US" dirty="0"/>
              <a:t>則在路線建構完成後結合局部搜尋策略進行局部最佳化，以最小化總行駛距離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本研究於</a:t>
            </a:r>
            <a:r>
              <a:rPr lang="en-US" altLang="zh-TW" dirty="0"/>
              <a:t>ACS-DIST</a:t>
            </a:r>
            <a:r>
              <a:rPr lang="zh-TW" altLang="en-US" dirty="0"/>
              <a:t>所使用之局部搜尋策略為</a:t>
            </a:r>
            <a:r>
              <a:rPr lang="en-US" altLang="zh-TW" dirty="0"/>
              <a:t>VND</a:t>
            </a:r>
          </a:p>
        </p:txBody>
      </p:sp>
      <p:sp>
        <p:nvSpPr>
          <p:cNvPr id="4" name="投影片編號版面配置區 3">
            <a:extLst>
              <a:ext uri="{FF2B5EF4-FFF2-40B4-BE49-F238E27FC236}">
                <a16:creationId xmlns:a16="http://schemas.microsoft.com/office/drawing/2014/main" id="{033F782B-9695-7503-87B6-50FD5FEE1901}"/>
              </a:ext>
            </a:extLst>
          </p:cNvPr>
          <p:cNvSpPr>
            <a:spLocks noGrp="1"/>
          </p:cNvSpPr>
          <p:nvPr>
            <p:ph type="sldNum" sz="quarter" idx="5"/>
          </p:nvPr>
        </p:nvSpPr>
        <p:spPr/>
        <p:txBody>
          <a:bodyPr/>
          <a:lstStyle/>
          <a:p>
            <a:fld id="{C1134DBE-7CC5-4F23-841F-273EC3D50B7F}" type="slidenum">
              <a:rPr lang="zh-TW" altLang="en-US" smtClean="0"/>
              <a:t>22</a:t>
            </a:fld>
            <a:endParaRPr lang="zh-TW" altLang="en-US"/>
          </a:p>
        </p:txBody>
      </p:sp>
    </p:spTree>
    <p:extLst>
      <p:ext uri="{BB962C8B-B14F-4D97-AF65-F5344CB8AC3E}">
        <p14:creationId xmlns:p14="http://schemas.microsoft.com/office/powerpoint/2010/main" val="228516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8D303-9C7D-E4CC-2300-2935CFB5568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A0ABB58-D1DB-6C1C-EB82-E6F75950463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8A538F9-0058-51E6-0A05-959F6B2B9D86}"/>
              </a:ext>
            </a:extLst>
          </p:cNvPr>
          <p:cNvSpPr>
            <a:spLocks noGrp="1"/>
          </p:cNvSpPr>
          <p:nvPr>
            <p:ph type="body" idx="1"/>
          </p:nvPr>
        </p:nvSpPr>
        <p:spPr/>
        <p:txBody>
          <a:bodyPr/>
          <a:lstStyle/>
          <a:p>
            <a:r>
              <a:rPr lang="zh-TW" altLang="en-US" dirty="0"/>
              <a:t>接下來介紹本研究評估模組</a:t>
            </a:r>
          </a:p>
        </p:txBody>
      </p:sp>
      <p:sp>
        <p:nvSpPr>
          <p:cNvPr id="4" name="投影片編號版面配置區 3">
            <a:extLst>
              <a:ext uri="{FF2B5EF4-FFF2-40B4-BE49-F238E27FC236}">
                <a16:creationId xmlns:a16="http://schemas.microsoft.com/office/drawing/2014/main" id="{ECDF5527-E784-CDC6-BEAC-B85F416EB538}"/>
              </a:ext>
            </a:extLst>
          </p:cNvPr>
          <p:cNvSpPr>
            <a:spLocks noGrp="1"/>
          </p:cNvSpPr>
          <p:nvPr>
            <p:ph type="sldNum" sz="quarter" idx="5"/>
          </p:nvPr>
        </p:nvSpPr>
        <p:spPr/>
        <p:txBody>
          <a:bodyPr/>
          <a:lstStyle/>
          <a:p>
            <a:fld id="{C1134DBE-7CC5-4F23-841F-273EC3D50B7F}" type="slidenum">
              <a:rPr lang="zh-TW" altLang="en-US" smtClean="0"/>
              <a:t>23</a:t>
            </a:fld>
            <a:endParaRPr lang="zh-TW" altLang="en-US"/>
          </a:p>
        </p:txBody>
      </p:sp>
    </p:spTree>
    <p:extLst>
      <p:ext uri="{BB962C8B-B14F-4D97-AF65-F5344CB8AC3E}">
        <p14:creationId xmlns:p14="http://schemas.microsoft.com/office/powerpoint/2010/main" val="671474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5F1D4-8E75-BE13-974C-8C81B1EE0FB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71FA09C-E826-F1EB-1EC3-EB4F903129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067EDF0-CE2D-4823-DAE5-EB7307269F32}"/>
              </a:ext>
            </a:extLst>
          </p:cNvPr>
          <p:cNvSpPr>
            <a:spLocks noGrp="1"/>
          </p:cNvSpPr>
          <p:nvPr>
            <p:ph type="body" idx="1"/>
          </p:nvPr>
        </p:nvSpPr>
        <p:spPr/>
        <p:txBody>
          <a:bodyPr/>
          <a:lstStyle/>
          <a:p>
            <a:r>
              <a:rPr lang="zh-TW" altLang="en-US" sz="1200" kern="1200" dirty="0">
                <a:solidFill>
                  <a:schemeClr val="tx1"/>
                </a:solidFill>
                <a:effectLst/>
                <a:latin typeface="+mn-lt"/>
                <a:ea typeface="+mn-ea"/>
                <a:cs typeface="+mn-cs"/>
              </a:rPr>
              <a:t>在評估模組中，本研究將編排結果以</a:t>
            </a:r>
            <a:r>
              <a:rPr lang="zh-TW" altLang="zh-TW" dirty="0"/>
              <a:t>地圖式視覺化平台進行呈現</a:t>
            </a:r>
            <a:endParaRPr lang="zh-TW" altLang="en-US" dirty="0"/>
          </a:p>
        </p:txBody>
      </p:sp>
      <p:sp>
        <p:nvSpPr>
          <p:cNvPr id="4" name="投影片編號版面配置區 3">
            <a:extLst>
              <a:ext uri="{FF2B5EF4-FFF2-40B4-BE49-F238E27FC236}">
                <a16:creationId xmlns:a16="http://schemas.microsoft.com/office/drawing/2014/main" id="{53367C6C-EC52-43CE-3C96-B3A9D4EBD2BC}"/>
              </a:ext>
            </a:extLst>
          </p:cNvPr>
          <p:cNvSpPr>
            <a:spLocks noGrp="1"/>
          </p:cNvSpPr>
          <p:nvPr>
            <p:ph type="sldNum" sz="quarter" idx="5"/>
          </p:nvPr>
        </p:nvSpPr>
        <p:spPr/>
        <p:txBody>
          <a:bodyPr/>
          <a:lstStyle/>
          <a:p>
            <a:fld id="{C1134DBE-7CC5-4F23-841F-273EC3D50B7F}" type="slidenum">
              <a:rPr lang="zh-TW" altLang="en-US" smtClean="0"/>
              <a:t>24</a:t>
            </a:fld>
            <a:endParaRPr lang="zh-TW" altLang="en-US"/>
          </a:p>
        </p:txBody>
      </p:sp>
    </p:spTree>
    <p:extLst>
      <p:ext uri="{BB962C8B-B14F-4D97-AF65-F5344CB8AC3E}">
        <p14:creationId xmlns:p14="http://schemas.microsoft.com/office/powerpoint/2010/main" val="3959306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6D289-45F1-018B-283C-D5B8EC3ADAB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AB63DB-BBBC-1A58-C1E0-788E9944D67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5750D86-9304-18C2-A772-0DB512DDF7C9}"/>
              </a:ext>
            </a:extLst>
          </p:cNvPr>
          <p:cNvSpPr>
            <a:spLocks noGrp="1"/>
          </p:cNvSpPr>
          <p:nvPr>
            <p:ph type="body" idx="1"/>
          </p:nvPr>
        </p:nvSpPr>
        <p:spPr/>
        <p:txBody>
          <a:bodyPr/>
          <a:lstStyle/>
          <a:p>
            <a:pPr rtl="0" eaLnBrk="1" latinLnBrk="0" hangingPunct="1"/>
            <a:r>
              <a:rPr lang="zh-TW" altLang="zh-TW" sz="1200" kern="1200" dirty="0">
                <a:solidFill>
                  <a:schemeClr val="tx1"/>
                </a:solidFill>
                <a:effectLst/>
                <a:latin typeface="+mn-lt"/>
                <a:ea typeface="+mn-ea"/>
                <a:cs typeface="+mn-cs"/>
              </a:rPr>
              <a:t>使用以下指標對所提出</a:t>
            </a:r>
            <a:r>
              <a:rPr lang="en-US" altLang="zh-TW" sz="1200" kern="1200" dirty="0">
                <a:solidFill>
                  <a:schemeClr val="tx1"/>
                </a:solidFill>
                <a:effectLst/>
                <a:latin typeface="+mn-lt"/>
                <a:ea typeface="+mn-ea"/>
                <a:cs typeface="+mn-cs"/>
              </a:rPr>
              <a:t>VRP</a:t>
            </a:r>
            <a:r>
              <a:rPr lang="zh-TW" altLang="zh-TW" sz="1200" kern="1200" dirty="0">
                <a:solidFill>
                  <a:schemeClr val="tx1"/>
                </a:solidFill>
                <a:effectLst/>
                <a:latin typeface="+mn-lt"/>
                <a:ea typeface="+mn-ea"/>
                <a:cs typeface="+mn-cs"/>
              </a:rPr>
              <a:t>架構進行評估：</a:t>
            </a:r>
            <a:endParaRPr lang="zh-TW" altLang="zh-TW" dirty="0">
              <a:effectLst/>
            </a:endParaRPr>
          </a:p>
          <a:p>
            <a:pPr marL="228600" indent="-228600" rtl="0" eaLnBrk="1" latinLnBrk="0" hangingPunct="1">
              <a:buAutoNum type="arabicPeriod"/>
            </a:pPr>
            <a:r>
              <a:rPr lang="zh-TW" altLang="zh-TW" sz="1200" kern="1200" dirty="0">
                <a:solidFill>
                  <a:schemeClr val="tx1"/>
                </a:solidFill>
                <a:effectLst/>
                <a:latin typeface="+mn-lt"/>
                <a:ea typeface="+mn-ea"/>
                <a:cs typeface="+mn-cs"/>
              </a:rPr>
              <a:t>車輛數量（NV），用來表示完成所有配送任務所需的車輛總數。</a:t>
            </a:r>
            <a:endParaRPr lang="en-US" altLang="zh-TW"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TW" altLang="en-US" sz="1200" kern="1200" dirty="0">
                <a:solidFill>
                  <a:schemeClr val="tx1"/>
                </a:solidFill>
                <a:effectLst/>
                <a:latin typeface="+mn-lt"/>
                <a:ea typeface="+mn-ea"/>
                <a:cs typeface="+mn-cs"/>
              </a:rPr>
              <a:t>支援線數量 </a:t>
            </a:r>
            <a:r>
              <a:rPr lang="en-US" altLang="zh-TW" sz="1200" kern="1200" dirty="0">
                <a:solidFill>
                  <a:schemeClr val="tx1"/>
                </a:solidFill>
                <a:effectLst/>
                <a:latin typeface="+mn-lt"/>
                <a:ea typeface="+mn-ea"/>
                <a:cs typeface="+mn-cs"/>
              </a:rPr>
              <a:t>(SV)</a:t>
            </a:r>
            <a:r>
              <a:rPr lang="zh-TW" altLang="en-US" sz="1200" kern="1200" dirty="0">
                <a:solidFill>
                  <a:schemeClr val="tx1"/>
                </a:solidFill>
                <a:effectLst/>
                <a:latin typeface="+mn-lt"/>
                <a:ea typeface="+mn-ea"/>
                <a:cs typeface="+mn-cs"/>
              </a:rPr>
              <a:t>，用來</a:t>
            </a:r>
            <a:r>
              <a:rPr lang="zh-TW" altLang="zh-TW" sz="1200" kern="1200" dirty="0">
                <a:solidFill>
                  <a:schemeClr val="tx1"/>
                </a:solidFill>
                <a:effectLst/>
                <a:latin typeface="+mn-lt"/>
                <a:ea typeface="+mn-ea"/>
                <a:cs typeface="+mn-cs"/>
              </a:rPr>
              <a:t>表示完成所有配送任務所需的</a:t>
            </a:r>
            <a:r>
              <a:rPr lang="zh-TW" altLang="en-US" sz="1200" kern="1200" dirty="0">
                <a:solidFill>
                  <a:schemeClr val="tx1"/>
                </a:solidFill>
                <a:effectLst/>
                <a:latin typeface="+mn-lt"/>
                <a:ea typeface="+mn-ea"/>
                <a:cs typeface="+mn-cs"/>
              </a:rPr>
              <a:t>支援</a:t>
            </a:r>
            <a:r>
              <a:rPr lang="zh-TW" altLang="zh-TW" sz="1200" kern="1200" dirty="0">
                <a:solidFill>
                  <a:schemeClr val="tx1"/>
                </a:solidFill>
                <a:effectLst/>
                <a:latin typeface="+mn-lt"/>
                <a:ea typeface="+mn-ea"/>
                <a:cs typeface="+mn-cs"/>
              </a:rPr>
              <a:t>車輛總數。</a:t>
            </a:r>
            <a:endParaRPr lang="en-US" altLang="zh-TW"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TW" altLang="zh-TW" sz="1200" kern="1200" dirty="0">
                <a:solidFill>
                  <a:schemeClr val="tx1"/>
                </a:solidFill>
                <a:effectLst/>
                <a:latin typeface="+mn-lt"/>
                <a:ea typeface="+mn-ea"/>
                <a:cs typeface="+mn-cs"/>
              </a:rPr>
              <a:t>總行駛距離（TD），用來衡量所有車輛完成配送任務所需的總距離。</a:t>
            </a:r>
            <a:endParaRPr lang="en-US" altLang="zh-TW"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TW" altLang="zh-TW" sz="1200" kern="1200" dirty="0">
                <a:solidFill>
                  <a:schemeClr val="tx1"/>
                </a:solidFill>
                <a:effectLst/>
                <a:latin typeface="+mn-lt"/>
                <a:ea typeface="+mn-ea"/>
                <a:cs typeface="+mn-cs"/>
              </a:rPr>
              <a:t>平均裝載率（U），用來評估車輛的</a:t>
            </a:r>
            <a:r>
              <a:rPr lang="zh-TW" altLang="en-US" sz="1200" kern="1200" dirty="0">
                <a:solidFill>
                  <a:schemeClr val="tx1"/>
                </a:solidFill>
                <a:effectLst/>
                <a:latin typeface="+mn-lt"/>
                <a:ea typeface="+mn-ea"/>
                <a:cs typeface="+mn-cs"/>
              </a:rPr>
              <a:t>平均</a:t>
            </a:r>
            <a:r>
              <a:rPr lang="zh-TW" altLang="zh-TW" sz="1200" kern="1200" dirty="0">
                <a:solidFill>
                  <a:schemeClr val="tx1"/>
                </a:solidFill>
                <a:effectLst/>
                <a:latin typeface="+mn-lt"/>
                <a:ea typeface="+mn-ea"/>
                <a:cs typeface="+mn-cs"/>
              </a:rPr>
              <a:t>載重利用情形。</a:t>
            </a:r>
            <a:endParaRPr lang="en-US" altLang="zh-TW"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TW" altLang="zh-TW" sz="1200" kern="1200" dirty="0">
                <a:solidFill>
                  <a:schemeClr val="tx1"/>
                </a:solidFill>
                <a:effectLst/>
                <a:latin typeface="+mn-lt"/>
                <a:ea typeface="+mn-ea"/>
                <a:cs typeface="+mn-cs"/>
              </a:rPr>
              <a:t>準點率（O），用來衡量</a:t>
            </a:r>
            <a:r>
              <a:rPr lang="zh-TW" altLang="en-US" sz="1200" kern="1200" dirty="0">
                <a:solidFill>
                  <a:schemeClr val="tx1"/>
                </a:solidFill>
                <a:effectLst/>
                <a:latin typeface="+mn-lt"/>
                <a:ea typeface="+mn-ea"/>
                <a:cs typeface="+mn-cs"/>
              </a:rPr>
              <a:t>店鋪</a:t>
            </a:r>
            <a:r>
              <a:rPr lang="zh-TW" altLang="zh-TW" sz="1200" kern="1200" dirty="0">
                <a:solidFill>
                  <a:schemeClr val="tx1"/>
                </a:solidFill>
                <a:effectLst/>
                <a:latin typeface="+mn-lt"/>
                <a:ea typeface="+mn-ea"/>
                <a:cs typeface="+mn-cs"/>
              </a:rPr>
              <a:t>配送是否能在時間限制內完成。</a:t>
            </a:r>
            <a:endParaRPr lang="en-US" altLang="zh-TW"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TW" altLang="zh-TW" sz="1200" kern="1200" dirty="0">
                <a:solidFill>
                  <a:schemeClr val="tx1"/>
                </a:solidFill>
                <a:effectLst/>
                <a:latin typeface="+mn-lt"/>
                <a:ea typeface="+mn-ea"/>
                <a:cs typeface="+mn-cs"/>
              </a:rPr>
              <a:t>執行時間（RT），用來評估演算法產生解的計算效率。</a:t>
            </a:r>
            <a:endParaRPr lang="zh-TW" altLang="zh-TW" dirty="0">
              <a:effectLst/>
            </a:endParaRPr>
          </a:p>
        </p:txBody>
      </p:sp>
      <p:sp>
        <p:nvSpPr>
          <p:cNvPr id="4" name="投影片編號版面配置區 3">
            <a:extLst>
              <a:ext uri="{FF2B5EF4-FFF2-40B4-BE49-F238E27FC236}">
                <a16:creationId xmlns:a16="http://schemas.microsoft.com/office/drawing/2014/main" id="{A1A73CA3-7609-A313-1F6B-F9C694F70563}"/>
              </a:ext>
            </a:extLst>
          </p:cNvPr>
          <p:cNvSpPr>
            <a:spLocks noGrp="1"/>
          </p:cNvSpPr>
          <p:nvPr>
            <p:ph type="sldNum" sz="quarter" idx="5"/>
          </p:nvPr>
        </p:nvSpPr>
        <p:spPr/>
        <p:txBody>
          <a:bodyPr/>
          <a:lstStyle/>
          <a:p>
            <a:fld id="{C1134DBE-7CC5-4F23-841F-273EC3D50B7F}" type="slidenum">
              <a:rPr lang="zh-TW" altLang="en-US" smtClean="0"/>
              <a:t>25</a:t>
            </a:fld>
            <a:endParaRPr lang="zh-TW" altLang="en-US"/>
          </a:p>
        </p:txBody>
      </p:sp>
    </p:spTree>
    <p:extLst>
      <p:ext uri="{BB962C8B-B14F-4D97-AF65-F5344CB8AC3E}">
        <p14:creationId xmlns:p14="http://schemas.microsoft.com/office/powerpoint/2010/main" val="656207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F5C00-B6A4-3ACF-D778-22BAF88366B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A303197-E67C-AA29-9C78-62D5CAE0E38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7322D6F-37F0-98AA-238C-CB97B1B9CFB0}"/>
              </a:ext>
            </a:extLst>
          </p:cNvPr>
          <p:cNvSpPr>
            <a:spLocks noGrp="1"/>
          </p:cNvSpPr>
          <p:nvPr>
            <p:ph type="body" idx="1"/>
          </p:nvPr>
        </p:nvSpPr>
        <p:spPr/>
        <p:txBody>
          <a:bodyPr/>
          <a:lstStyle/>
          <a:p>
            <a:r>
              <a:rPr lang="zh-TW" altLang="en-US" dirty="0"/>
              <a:t>接著介紹最佳化路線資料</a:t>
            </a:r>
          </a:p>
        </p:txBody>
      </p:sp>
      <p:sp>
        <p:nvSpPr>
          <p:cNvPr id="4" name="投影片編號版面配置區 3">
            <a:extLst>
              <a:ext uri="{FF2B5EF4-FFF2-40B4-BE49-F238E27FC236}">
                <a16:creationId xmlns:a16="http://schemas.microsoft.com/office/drawing/2014/main" id="{ED1D59EE-5777-7733-D61F-D47CC11433BD}"/>
              </a:ext>
            </a:extLst>
          </p:cNvPr>
          <p:cNvSpPr>
            <a:spLocks noGrp="1"/>
          </p:cNvSpPr>
          <p:nvPr>
            <p:ph type="sldNum" sz="quarter" idx="5"/>
          </p:nvPr>
        </p:nvSpPr>
        <p:spPr/>
        <p:txBody>
          <a:bodyPr/>
          <a:lstStyle/>
          <a:p>
            <a:fld id="{C1134DBE-7CC5-4F23-841F-273EC3D50B7F}" type="slidenum">
              <a:rPr lang="zh-TW" altLang="en-US" smtClean="0"/>
              <a:t>26</a:t>
            </a:fld>
            <a:endParaRPr lang="zh-TW" altLang="en-US"/>
          </a:p>
        </p:txBody>
      </p:sp>
    </p:spTree>
    <p:extLst>
      <p:ext uri="{BB962C8B-B14F-4D97-AF65-F5344CB8AC3E}">
        <p14:creationId xmlns:p14="http://schemas.microsoft.com/office/powerpoint/2010/main" val="33811750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54A8C-4E48-6074-44BC-CDE40B3EEC5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D4B3B4B-2854-C5A6-1419-86DBB3F54A9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23F1BCE-C6D8-F8CD-1BF9-9C22E086A943}"/>
              </a:ext>
            </a:extLst>
          </p:cNvPr>
          <p:cNvSpPr>
            <a:spLocks noGrp="1"/>
          </p:cNvSpPr>
          <p:nvPr>
            <p:ph type="body" idx="1"/>
          </p:nvPr>
        </p:nvSpPr>
        <p:spPr/>
        <p:txBody>
          <a:bodyPr/>
          <a:lstStyle/>
          <a:p>
            <a:r>
              <a:rPr lang="zh-TW" altLang="zh-TW" dirty="0"/>
              <a:t>本階段將最佳化結果轉換為實際配送路線，作為後續評估分析與實務應用的依據</a:t>
            </a:r>
            <a:endParaRPr lang="en-US" altLang="zh-TW" dirty="0"/>
          </a:p>
        </p:txBody>
      </p:sp>
      <p:sp>
        <p:nvSpPr>
          <p:cNvPr id="4" name="投影片編號版面配置區 3">
            <a:extLst>
              <a:ext uri="{FF2B5EF4-FFF2-40B4-BE49-F238E27FC236}">
                <a16:creationId xmlns:a16="http://schemas.microsoft.com/office/drawing/2014/main" id="{74953761-9BAB-12E7-97CC-16AC0D973C54}"/>
              </a:ext>
            </a:extLst>
          </p:cNvPr>
          <p:cNvSpPr>
            <a:spLocks noGrp="1"/>
          </p:cNvSpPr>
          <p:nvPr>
            <p:ph type="sldNum" sz="quarter" idx="5"/>
          </p:nvPr>
        </p:nvSpPr>
        <p:spPr/>
        <p:txBody>
          <a:bodyPr/>
          <a:lstStyle/>
          <a:p>
            <a:fld id="{C1134DBE-7CC5-4F23-841F-273EC3D50B7F}" type="slidenum">
              <a:rPr lang="zh-TW" altLang="en-US" smtClean="0"/>
              <a:t>27</a:t>
            </a:fld>
            <a:endParaRPr lang="zh-TW" altLang="en-US"/>
          </a:p>
        </p:txBody>
      </p:sp>
    </p:spTree>
    <p:extLst>
      <p:ext uri="{BB962C8B-B14F-4D97-AF65-F5344CB8AC3E}">
        <p14:creationId xmlns:p14="http://schemas.microsoft.com/office/powerpoint/2010/main" val="2953724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2D2E9-0823-2C28-81AD-7C33B03251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5F8B80-CC89-77C0-40E3-867BA3C9AD0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D7A9057-972D-1966-1710-938AADF1DB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接下來說明本研究的實驗結果</a:t>
            </a:r>
            <a:endParaRPr lang="en-US" altLang="zh-TW" dirty="0"/>
          </a:p>
        </p:txBody>
      </p:sp>
      <p:sp>
        <p:nvSpPr>
          <p:cNvPr id="4" name="投影片編號版面配置區 3">
            <a:extLst>
              <a:ext uri="{FF2B5EF4-FFF2-40B4-BE49-F238E27FC236}">
                <a16:creationId xmlns:a16="http://schemas.microsoft.com/office/drawing/2014/main" id="{608366BC-CEA1-A381-07DD-CE987B2A2D11}"/>
              </a:ext>
            </a:extLst>
          </p:cNvPr>
          <p:cNvSpPr>
            <a:spLocks noGrp="1"/>
          </p:cNvSpPr>
          <p:nvPr>
            <p:ph type="sldNum" sz="quarter" idx="5"/>
          </p:nvPr>
        </p:nvSpPr>
        <p:spPr/>
        <p:txBody>
          <a:bodyPr/>
          <a:lstStyle/>
          <a:p>
            <a:fld id="{C1134DBE-7CC5-4F23-841F-273EC3D50B7F}" type="slidenum">
              <a:rPr lang="zh-TW" altLang="en-US" smtClean="0"/>
              <a:t>28</a:t>
            </a:fld>
            <a:endParaRPr lang="zh-TW" altLang="en-US"/>
          </a:p>
        </p:txBody>
      </p:sp>
    </p:spTree>
    <p:extLst>
      <p:ext uri="{BB962C8B-B14F-4D97-AF65-F5344CB8AC3E}">
        <p14:creationId xmlns:p14="http://schemas.microsoft.com/office/powerpoint/2010/main" val="6315496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DB317-1A8B-820B-CE24-9B9341C892F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E97C2D-D292-E0AF-D8B3-035AC3E6971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313B45D-41C9-E7FC-DB40-1106B343CC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首先介紹本研究的實驗環境</a:t>
            </a:r>
          </a:p>
        </p:txBody>
      </p:sp>
      <p:sp>
        <p:nvSpPr>
          <p:cNvPr id="4" name="投影片編號版面配置區 3">
            <a:extLst>
              <a:ext uri="{FF2B5EF4-FFF2-40B4-BE49-F238E27FC236}">
                <a16:creationId xmlns:a16="http://schemas.microsoft.com/office/drawing/2014/main" id="{923CF027-DE3A-EFFB-DC9F-2A8A27985E9F}"/>
              </a:ext>
            </a:extLst>
          </p:cNvPr>
          <p:cNvSpPr>
            <a:spLocks noGrp="1"/>
          </p:cNvSpPr>
          <p:nvPr>
            <p:ph type="sldNum" sz="quarter" idx="5"/>
          </p:nvPr>
        </p:nvSpPr>
        <p:spPr/>
        <p:txBody>
          <a:bodyPr/>
          <a:lstStyle/>
          <a:p>
            <a:fld id="{C1134DBE-7CC5-4F23-841F-273EC3D50B7F}" type="slidenum">
              <a:rPr lang="zh-TW" altLang="en-US" smtClean="0"/>
              <a:t>29</a:t>
            </a:fld>
            <a:endParaRPr lang="zh-TW" altLang="en-US"/>
          </a:p>
        </p:txBody>
      </p:sp>
    </p:spTree>
    <p:extLst>
      <p:ext uri="{BB962C8B-B14F-4D97-AF65-F5344CB8AC3E}">
        <p14:creationId xmlns:p14="http://schemas.microsoft.com/office/powerpoint/2010/main" val="26130326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6FC9-A265-857D-204E-768945FF09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407EDDE-E189-D5F5-7C8D-6DD9952392E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2C22BE0-3B00-73C0-847E-7CA7298421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首先介紹本研究各階段演算法之設定</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可能會問方法</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t>
            </a:r>
            <a:r>
              <a:rPr lang="zh-TW" altLang="zh-TW" dirty="0"/>
              <a:t>本研究採用田口方法（Taguchi Method）進行參數設計與分析</a:t>
            </a:r>
            <a:endParaRPr lang="zh-TW" altLang="en-US" dirty="0"/>
          </a:p>
        </p:txBody>
      </p:sp>
      <p:sp>
        <p:nvSpPr>
          <p:cNvPr id="4" name="投影片編號版面配置區 3">
            <a:extLst>
              <a:ext uri="{FF2B5EF4-FFF2-40B4-BE49-F238E27FC236}">
                <a16:creationId xmlns:a16="http://schemas.microsoft.com/office/drawing/2014/main" id="{9BDB44C1-48CE-2BC0-28CF-AABF7FCACFBB}"/>
              </a:ext>
            </a:extLst>
          </p:cNvPr>
          <p:cNvSpPr>
            <a:spLocks noGrp="1"/>
          </p:cNvSpPr>
          <p:nvPr>
            <p:ph type="sldNum" sz="quarter" idx="5"/>
          </p:nvPr>
        </p:nvSpPr>
        <p:spPr/>
        <p:txBody>
          <a:bodyPr/>
          <a:lstStyle/>
          <a:p>
            <a:fld id="{C1134DBE-7CC5-4F23-841F-273EC3D50B7F}" type="slidenum">
              <a:rPr lang="zh-TW" altLang="en-US" smtClean="0"/>
              <a:t>30</a:t>
            </a:fld>
            <a:endParaRPr lang="zh-TW" altLang="en-US"/>
          </a:p>
        </p:txBody>
      </p:sp>
    </p:spTree>
    <p:extLst>
      <p:ext uri="{BB962C8B-B14F-4D97-AF65-F5344CB8AC3E}">
        <p14:creationId xmlns:p14="http://schemas.microsoft.com/office/powerpoint/2010/main" val="19860539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ACCA-4DB5-301F-9CB9-FBD4DB31D82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D9A2B0-C747-BA7F-09F4-40AB3A7AF4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78358B0-6E3F-11BB-8BF0-8E6B5F06574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本研究比較所提出</a:t>
            </a:r>
            <a:r>
              <a:rPr lang="zh-TW" altLang="zh-TW" dirty="0"/>
              <a:t>方法</a:t>
            </a:r>
            <a:r>
              <a:rPr lang="zh-TW" altLang="zh-TW" b="1" dirty="0"/>
              <a:t>與</a:t>
            </a:r>
            <a:r>
              <a:rPr lang="zh-TW" altLang="zh-TW" dirty="0"/>
              <a:t>人工規劃的整體配送</a:t>
            </a:r>
            <a:r>
              <a:rPr lang="zh-TW" altLang="en-US" dirty="0"/>
              <a:t>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顯示本研究方法能夠在降低整體編排時間的同時</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降低 總車輛數量 </a:t>
            </a:r>
            <a:r>
              <a:rPr lang="en-US" altLang="zh-TW" dirty="0"/>
              <a:t>&amp;</a:t>
            </a:r>
            <a:r>
              <a:rPr lang="zh-TW" altLang="en-US" dirty="0"/>
              <a:t> 支援線數量 </a:t>
            </a:r>
            <a:r>
              <a:rPr lang="en-US" altLang="zh-TW" dirty="0"/>
              <a:t>&amp;</a:t>
            </a:r>
            <a:r>
              <a:rPr lang="zh-TW" altLang="en-US" dirty="0"/>
              <a:t> 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並且能夠有效提升平均裝載率及準點率</a:t>
            </a:r>
            <a:endParaRPr lang="en-US" altLang="zh-TW" dirty="0"/>
          </a:p>
        </p:txBody>
      </p:sp>
      <p:sp>
        <p:nvSpPr>
          <p:cNvPr id="4" name="投影片編號版面配置區 3">
            <a:extLst>
              <a:ext uri="{FF2B5EF4-FFF2-40B4-BE49-F238E27FC236}">
                <a16:creationId xmlns:a16="http://schemas.microsoft.com/office/drawing/2014/main" id="{836E2863-213B-3948-069B-145407C712C9}"/>
              </a:ext>
            </a:extLst>
          </p:cNvPr>
          <p:cNvSpPr>
            <a:spLocks noGrp="1"/>
          </p:cNvSpPr>
          <p:nvPr>
            <p:ph type="sldNum" sz="quarter" idx="5"/>
          </p:nvPr>
        </p:nvSpPr>
        <p:spPr/>
        <p:txBody>
          <a:bodyPr/>
          <a:lstStyle/>
          <a:p>
            <a:fld id="{C1134DBE-7CC5-4F23-841F-273EC3D50B7F}" type="slidenum">
              <a:rPr lang="zh-TW" altLang="en-US" smtClean="0"/>
              <a:t>31</a:t>
            </a:fld>
            <a:endParaRPr lang="zh-TW" altLang="en-US"/>
          </a:p>
        </p:txBody>
      </p:sp>
    </p:spTree>
    <p:extLst>
      <p:ext uri="{BB962C8B-B14F-4D97-AF65-F5344CB8AC3E}">
        <p14:creationId xmlns:p14="http://schemas.microsoft.com/office/powerpoint/2010/main" val="30148375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A14AA-850A-9997-FDF6-7428D78ED0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DD6AA3A-F079-682C-12C0-08F3EA89376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54512FB-1035-98C2-7C40-9B71C14A6E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本頁為各測試案例</a:t>
            </a:r>
            <a:r>
              <a:rPr lang="zh-TW" altLang="en-US" dirty="0"/>
              <a:t>中</a:t>
            </a:r>
            <a:r>
              <a:rPr lang="zh-TW" altLang="zh-TW" dirty="0"/>
              <a:t>車輛使用數比較結果</a:t>
            </a:r>
            <a:br>
              <a:rPr lang="en-US" altLang="zh-TW" dirty="0"/>
            </a:br>
            <a:r>
              <a:rPr lang="en-US" altLang="zh-TW" dirty="0"/>
              <a:t>(</a:t>
            </a:r>
            <a:r>
              <a:rPr lang="zh-TW" altLang="en-US" dirty="0"/>
              <a:t>說明線的顏色代表的意義</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從圖中可知本研究方法於所有案例皆能夠有效降低整體以及支援線的車輛需求</a:t>
            </a:r>
            <a:endParaRPr lang="en-US" altLang="zh-TW" dirty="0"/>
          </a:p>
        </p:txBody>
      </p:sp>
      <p:sp>
        <p:nvSpPr>
          <p:cNvPr id="4" name="投影片編號版面配置區 3">
            <a:extLst>
              <a:ext uri="{FF2B5EF4-FFF2-40B4-BE49-F238E27FC236}">
                <a16:creationId xmlns:a16="http://schemas.microsoft.com/office/drawing/2014/main" id="{F38607FD-9405-0620-96E6-688D71DD0E2A}"/>
              </a:ext>
            </a:extLst>
          </p:cNvPr>
          <p:cNvSpPr>
            <a:spLocks noGrp="1"/>
          </p:cNvSpPr>
          <p:nvPr>
            <p:ph type="sldNum" sz="quarter" idx="5"/>
          </p:nvPr>
        </p:nvSpPr>
        <p:spPr/>
        <p:txBody>
          <a:bodyPr/>
          <a:lstStyle/>
          <a:p>
            <a:fld id="{C1134DBE-7CC5-4F23-841F-273EC3D50B7F}" type="slidenum">
              <a:rPr lang="zh-TW" altLang="en-US" smtClean="0"/>
              <a:t>32</a:t>
            </a:fld>
            <a:endParaRPr lang="zh-TW" altLang="en-US"/>
          </a:p>
        </p:txBody>
      </p:sp>
    </p:spTree>
    <p:extLst>
      <p:ext uri="{BB962C8B-B14F-4D97-AF65-F5344CB8AC3E}">
        <p14:creationId xmlns:p14="http://schemas.microsoft.com/office/powerpoint/2010/main" val="709060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B6B80-638A-657F-B00B-E0D336B0D70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37F307-F38E-37EB-8B80-84BE82B8D4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D5D3911-4428-BF8D-2823-70BF17EAD7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本頁為各測試案例</a:t>
            </a:r>
            <a:r>
              <a:rPr lang="zh-TW" altLang="en-US" dirty="0"/>
              <a:t>中行駛距離</a:t>
            </a:r>
            <a:r>
              <a:rPr lang="zh-TW" altLang="zh-TW" dirty="0"/>
              <a:t>比較結果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從圖中可知本研究方法於大部分案例中皆能降低總行駛距離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其中有少數幾筆資料顯示略差於 物流公司編排的結果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其原因為本研究之目標優先考量車輛數量，其次為總行駛距離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因此，</a:t>
            </a:r>
            <a:r>
              <a:rPr lang="zh-TW" altLang="zh-TW" dirty="0"/>
              <a:t>部分案例會以增加少量行駛距離作為代價，換取減少車輛數量</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進而達到更佳的整體配送</a:t>
            </a:r>
            <a:r>
              <a:rPr lang="zh-TW" altLang="en-US" dirty="0"/>
              <a:t>效果</a:t>
            </a:r>
          </a:p>
        </p:txBody>
      </p:sp>
      <p:sp>
        <p:nvSpPr>
          <p:cNvPr id="4" name="投影片編號版面配置區 3">
            <a:extLst>
              <a:ext uri="{FF2B5EF4-FFF2-40B4-BE49-F238E27FC236}">
                <a16:creationId xmlns:a16="http://schemas.microsoft.com/office/drawing/2014/main" id="{CE73C1FC-DA6E-8E12-6850-0FEA8DE18FA8}"/>
              </a:ext>
            </a:extLst>
          </p:cNvPr>
          <p:cNvSpPr>
            <a:spLocks noGrp="1"/>
          </p:cNvSpPr>
          <p:nvPr>
            <p:ph type="sldNum" sz="quarter" idx="5"/>
          </p:nvPr>
        </p:nvSpPr>
        <p:spPr/>
        <p:txBody>
          <a:bodyPr/>
          <a:lstStyle/>
          <a:p>
            <a:fld id="{C1134DBE-7CC5-4F23-841F-273EC3D50B7F}" type="slidenum">
              <a:rPr lang="zh-TW" altLang="en-US" smtClean="0"/>
              <a:t>33</a:t>
            </a:fld>
            <a:endParaRPr lang="zh-TW" altLang="en-US"/>
          </a:p>
        </p:txBody>
      </p:sp>
    </p:spTree>
    <p:extLst>
      <p:ext uri="{BB962C8B-B14F-4D97-AF65-F5344CB8AC3E}">
        <p14:creationId xmlns:p14="http://schemas.microsoft.com/office/powerpoint/2010/main" val="582699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40C61-25BD-91A1-A17B-76B2E2BCD36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24834C2-B3EC-E9A2-6CF5-6E1CFE21F00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23D18E-C9A0-561F-8732-B5D197A05C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本頁為各測試案例</a:t>
            </a:r>
            <a:r>
              <a:rPr lang="zh-TW" altLang="en-US" dirty="0"/>
              <a:t>中平均裝載率及準點率</a:t>
            </a:r>
            <a:r>
              <a:rPr lang="zh-TW" altLang="zh-TW" dirty="0"/>
              <a:t>比較結果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從圖中可知本研究方法於所有案例皆能夠有效提升車輛平均裝載率及店鋪準點率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a:extLst>
              <a:ext uri="{FF2B5EF4-FFF2-40B4-BE49-F238E27FC236}">
                <a16:creationId xmlns:a16="http://schemas.microsoft.com/office/drawing/2014/main" id="{FEF3B2CD-D8D6-E8C9-2730-57AF5FCAFEEF}"/>
              </a:ext>
            </a:extLst>
          </p:cNvPr>
          <p:cNvSpPr>
            <a:spLocks noGrp="1"/>
          </p:cNvSpPr>
          <p:nvPr>
            <p:ph type="sldNum" sz="quarter" idx="5"/>
          </p:nvPr>
        </p:nvSpPr>
        <p:spPr/>
        <p:txBody>
          <a:bodyPr/>
          <a:lstStyle/>
          <a:p>
            <a:fld id="{C1134DBE-7CC5-4F23-841F-273EC3D50B7F}" type="slidenum">
              <a:rPr lang="zh-TW" altLang="en-US" smtClean="0"/>
              <a:t>34</a:t>
            </a:fld>
            <a:endParaRPr lang="zh-TW" altLang="en-US"/>
          </a:p>
        </p:txBody>
      </p:sp>
    </p:spTree>
    <p:extLst>
      <p:ext uri="{BB962C8B-B14F-4D97-AF65-F5344CB8AC3E}">
        <p14:creationId xmlns:p14="http://schemas.microsoft.com/office/powerpoint/2010/main" val="30144726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2F04B-F934-9ED9-D2F8-8F497722A2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431C448-BC01-3F12-A3ED-4C0C537F18C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900D42-D3F4-22F5-A185-D8F6BD7217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為驗證路由模組各階段對整體配送</a:t>
            </a:r>
            <a:r>
              <a:rPr lang="zh-TW" altLang="en-US" dirty="0"/>
              <a:t>結果</a:t>
            </a:r>
            <a:r>
              <a:rPr lang="zh-TW" altLang="zh-TW" dirty="0"/>
              <a:t>影響</a:t>
            </a:r>
            <a:r>
              <a:rPr lang="zh-TW" altLang="en-US" dirty="0"/>
              <a:t>，本研究針對所提出方法路由模組中三階段分別進行消融實驗</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第一組實驗將店舖抽取方法改為隨機抽取</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第二組實驗將店鋪分配中只保留</a:t>
            </a:r>
            <a:r>
              <a:rPr lang="en-US" altLang="zh-TW" dirty="0"/>
              <a:t>ACO</a:t>
            </a:r>
            <a:r>
              <a:rPr lang="zh-TW" altLang="en-US" dirty="0"/>
              <a:t>不使用</a:t>
            </a:r>
            <a:r>
              <a:rPr lang="en-US" altLang="zh-TW" dirty="0"/>
              <a:t>VND</a:t>
            </a:r>
            <a:r>
              <a:rPr lang="zh-TW" altLang="en-US" dirty="0"/>
              <a:t>局部搜尋策略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第三組實驗將支援線規劃只保留原有</a:t>
            </a:r>
            <a:r>
              <a:rPr lang="en-US" altLang="zh-TW" dirty="0"/>
              <a:t>MACS</a:t>
            </a:r>
            <a:r>
              <a:rPr lang="zh-TW" altLang="en-US" dirty="0"/>
              <a:t>架構不使用</a:t>
            </a:r>
            <a:r>
              <a:rPr lang="en-US" altLang="zh-TW" dirty="0"/>
              <a:t>VND</a:t>
            </a:r>
            <a:r>
              <a:rPr lang="zh-TW" altLang="en-US" dirty="0"/>
              <a:t>局部搜尋策略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表中可以觀察到本研究所提出之完整方法於各指標皆取得最佳結果</a:t>
            </a:r>
            <a:br>
              <a:rPr lang="en-US" altLang="zh-TW" dirty="0"/>
            </a:br>
            <a:r>
              <a:rPr lang="zh-TW" altLang="en-US" dirty="0"/>
              <a:t>而平均裝載率及準點率於各方法大致保持相同</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因此本研究進一步針對車輛數量，支援線數量，總行駛距離等指標進行統計分析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以確認其是否具有顯著差異</a:t>
            </a:r>
            <a:endParaRPr lang="en-US" altLang="zh-TW" dirty="0"/>
          </a:p>
        </p:txBody>
      </p:sp>
      <p:sp>
        <p:nvSpPr>
          <p:cNvPr id="4" name="投影片編號版面配置區 3">
            <a:extLst>
              <a:ext uri="{FF2B5EF4-FFF2-40B4-BE49-F238E27FC236}">
                <a16:creationId xmlns:a16="http://schemas.microsoft.com/office/drawing/2014/main" id="{964562B9-EB86-04A8-8F70-C8C5ED0F44EC}"/>
              </a:ext>
            </a:extLst>
          </p:cNvPr>
          <p:cNvSpPr>
            <a:spLocks noGrp="1"/>
          </p:cNvSpPr>
          <p:nvPr>
            <p:ph type="sldNum" sz="quarter" idx="5"/>
          </p:nvPr>
        </p:nvSpPr>
        <p:spPr/>
        <p:txBody>
          <a:bodyPr/>
          <a:lstStyle/>
          <a:p>
            <a:fld id="{C1134DBE-7CC5-4F23-841F-273EC3D50B7F}" type="slidenum">
              <a:rPr lang="zh-TW" altLang="en-US" smtClean="0"/>
              <a:t>35</a:t>
            </a:fld>
            <a:endParaRPr lang="zh-TW" altLang="en-US"/>
          </a:p>
        </p:txBody>
      </p:sp>
    </p:spTree>
    <p:extLst>
      <p:ext uri="{BB962C8B-B14F-4D97-AF65-F5344CB8AC3E}">
        <p14:creationId xmlns:p14="http://schemas.microsoft.com/office/powerpoint/2010/main" val="3271605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03E11-61A2-6569-C728-121FB640907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F9CCB07-C914-76B3-4F98-D1056CAFCCD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11CFADD-2C0F-3480-AC77-7C0DB5F241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本研究</a:t>
            </a:r>
            <a:r>
              <a:rPr lang="zh-TW" altLang="en-US" dirty="0"/>
              <a:t>使用</a:t>
            </a:r>
            <a:r>
              <a:rPr lang="en-US" altLang="zh-TW" b="0" dirty="0"/>
              <a:t>Wilcoxon Signed</a:t>
            </a:r>
            <a:r>
              <a:rPr lang="zh-TW" altLang="en-US" b="0" dirty="0"/>
              <a:t> </a:t>
            </a:r>
            <a:r>
              <a:rPr lang="en-US" altLang="zh-TW" b="0" dirty="0"/>
              <a:t>Rank Test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並</a:t>
            </a:r>
            <a:r>
              <a:rPr lang="zh-TW" altLang="zh-TW" dirty="0"/>
              <a:t>將顯著水準設為 0.05</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結果顯示，將店舖抽取方法改為隨機抽取時，各項指標皆達到顯著差異</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當店舖分配階段僅保留 ACO、移除 VND 局部搜尋策略時，</a:t>
            </a:r>
            <a:r>
              <a:rPr lang="zh-TW" altLang="en-US" dirty="0"/>
              <a:t>只有</a:t>
            </a:r>
            <a:r>
              <a:rPr lang="zh-TW" altLang="zh-TW" dirty="0"/>
              <a:t>在總行駛距離指標上達到顯著差異</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顯示針對主線規劃</a:t>
            </a:r>
            <a:r>
              <a:rPr lang="en-US" altLang="zh-TW" dirty="0"/>
              <a:t>VND</a:t>
            </a:r>
            <a:r>
              <a:rPr lang="zh-TW" altLang="en-US" dirty="0"/>
              <a:t>能夠有效</a:t>
            </a:r>
            <a:r>
              <a:rPr lang="zh-TW" altLang="zh-TW" dirty="0"/>
              <a:t>縮短總行駛距離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而在支援線規劃</a:t>
            </a:r>
            <a:r>
              <a:rPr lang="zh-TW" altLang="en-US" dirty="0"/>
              <a:t>僅</a:t>
            </a:r>
            <a:r>
              <a:rPr lang="zh-TW" altLang="zh-TW" dirty="0"/>
              <a:t>保留原有 MACS 架構的情況下，各項績效指標皆達到顯著差異</a:t>
            </a:r>
            <a:endParaRPr lang="en-US" altLang="zh-TW" dirty="0"/>
          </a:p>
        </p:txBody>
      </p:sp>
      <p:sp>
        <p:nvSpPr>
          <p:cNvPr id="4" name="投影片編號版面配置區 3">
            <a:extLst>
              <a:ext uri="{FF2B5EF4-FFF2-40B4-BE49-F238E27FC236}">
                <a16:creationId xmlns:a16="http://schemas.microsoft.com/office/drawing/2014/main" id="{E3268D99-197A-298D-767F-3E181FEE1910}"/>
              </a:ext>
            </a:extLst>
          </p:cNvPr>
          <p:cNvSpPr>
            <a:spLocks noGrp="1"/>
          </p:cNvSpPr>
          <p:nvPr>
            <p:ph type="sldNum" sz="quarter" idx="5"/>
          </p:nvPr>
        </p:nvSpPr>
        <p:spPr/>
        <p:txBody>
          <a:bodyPr/>
          <a:lstStyle/>
          <a:p>
            <a:fld id="{C1134DBE-7CC5-4F23-841F-273EC3D50B7F}" type="slidenum">
              <a:rPr lang="zh-TW" altLang="en-US" smtClean="0"/>
              <a:t>36</a:t>
            </a:fld>
            <a:endParaRPr lang="zh-TW" altLang="en-US"/>
          </a:p>
        </p:txBody>
      </p:sp>
    </p:spTree>
    <p:extLst>
      <p:ext uri="{BB962C8B-B14F-4D97-AF65-F5344CB8AC3E}">
        <p14:creationId xmlns:p14="http://schemas.microsoft.com/office/powerpoint/2010/main" val="37218572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CD96-19A2-CAE6-9E92-6C2F2F8EADB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53B305-5D05-3D9F-83D0-B7B1116F175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F651FDF-1F86-F053-1E0A-D064D28216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本研究進一步將所提出之方法與 相關文獻 進行比較</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以驗證其在標準測試資料上的結果</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該論文提出結合</a:t>
            </a:r>
            <a:r>
              <a:rPr lang="zh-TW" altLang="zh-TW" dirty="0"/>
              <a:t>所羅門插入啟發式演算法</a:t>
            </a:r>
            <a:r>
              <a:rPr lang="zh-TW" altLang="en-US" dirty="0"/>
              <a:t>的</a:t>
            </a:r>
            <a:r>
              <a:rPr lang="en-US" altLang="zh-TW" dirty="0"/>
              <a:t>Hybrid Genetic Algorithm</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用來解決具時間窗的車輛路徑問題</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利用 </a:t>
            </a:r>
            <a:r>
              <a:rPr lang="en-US" altLang="zh-TW" dirty="0"/>
              <a:t>SIH </a:t>
            </a:r>
            <a:r>
              <a:rPr lang="zh-TW" altLang="en-US" dirty="0"/>
              <a:t>產生初始解，接著透過 </a:t>
            </a:r>
            <a:r>
              <a:rPr lang="en-US" altLang="zh-TW" dirty="0"/>
              <a:t>PMX crossover </a:t>
            </a:r>
            <a:r>
              <a:rPr lang="zh-TW" altLang="en-US" dirty="0"/>
              <a:t>與 </a:t>
            </a:r>
            <a:r>
              <a:rPr lang="en-US" altLang="zh-TW" dirty="0"/>
              <a:t>inverse mutation </a:t>
            </a:r>
            <a:r>
              <a:rPr lang="zh-TW" altLang="en-US" dirty="0"/>
              <a:t>進行演化搜尋，以降低整體物流成本。</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a:extLst>
              <a:ext uri="{FF2B5EF4-FFF2-40B4-BE49-F238E27FC236}">
                <a16:creationId xmlns:a16="http://schemas.microsoft.com/office/drawing/2014/main" id="{053D8B48-84E3-5D9A-DF24-F21FF24E9680}"/>
              </a:ext>
            </a:extLst>
          </p:cNvPr>
          <p:cNvSpPr>
            <a:spLocks noGrp="1"/>
          </p:cNvSpPr>
          <p:nvPr>
            <p:ph type="sldNum" sz="quarter" idx="5"/>
          </p:nvPr>
        </p:nvSpPr>
        <p:spPr/>
        <p:txBody>
          <a:bodyPr/>
          <a:lstStyle/>
          <a:p>
            <a:fld id="{C1134DBE-7CC5-4F23-841F-273EC3D50B7F}" type="slidenum">
              <a:rPr lang="zh-TW" altLang="en-US" smtClean="0"/>
              <a:t>37</a:t>
            </a:fld>
            <a:endParaRPr lang="zh-TW" altLang="en-US"/>
          </a:p>
        </p:txBody>
      </p:sp>
    </p:spTree>
    <p:extLst>
      <p:ext uri="{BB962C8B-B14F-4D97-AF65-F5344CB8AC3E}">
        <p14:creationId xmlns:p14="http://schemas.microsoft.com/office/powerpoint/2010/main" val="14178933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ACC6-AC19-C30E-6820-FC1996A6EC5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EFDC2A4-BCAA-E095-22FF-3275CFF00A1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9DD570B-2BB5-D003-BB1E-D91F51F5DE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比較結果顯示</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本研究方法在車輛數量方面，於 R1、R2、C1 及 RC2 資料集皆取得較佳結果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在總行駛距離方面，則於 R2、C1 及 RC1 資料集表現較佳</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但</a:t>
            </a:r>
            <a:r>
              <a:rPr lang="zh-TW" altLang="zh-TW" dirty="0"/>
              <a:t>由於 VRPTW </a:t>
            </a:r>
            <a:r>
              <a:rPr lang="zh-TW" altLang="en-US" dirty="0"/>
              <a:t>同樣</a:t>
            </a:r>
            <a:r>
              <a:rPr lang="zh-TW" altLang="zh-TW" dirty="0"/>
              <a:t>採用階層式目標以最小化車輛數量為優先考量，並於車輛數量相同時再進一步比較總行駛距離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因此整體而言，本研究方法於多數測試案例中</a:t>
            </a:r>
            <a:r>
              <a:rPr lang="zh-TW" altLang="en-US" dirty="0"/>
              <a:t>能夠取得</a:t>
            </a:r>
            <a:r>
              <a:rPr lang="zh-TW" altLang="zh-TW" dirty="0"/>
              <a:t>較佳</a:t>
            </a:r>
            <a:r>
              <a:rPr lang="zh-TW" altLang="en-US" dirty="0"/>
              <a:t>結果</a:t>
            </a:r>
          </a:p>
        </p:txBody>
      </p:sp>
      <p:sp>
        <p:nvSpPr>
          <p:cNvPr id="4" name="投影片編號版面配置區 3">
            <a:extLst>
              <a:ext uri="{FF2B5EF4-FFF2-40B4-BE49-F238E27FC236}">
                <a16:creationId xmlns:a16="http://schemas.microsoft.com/office/drawing/2014/main" id="{EF209AEC-C86B-3F52-9CDE-763167518721}"/>
              </a:ext>
            </a:extLst>
          </p:cNvPr>
          <p:cNvSpPr>
            <a:spLocks noGrp="1"/>
          </p:cNvSpPr>
          <p:nvPr>
            <p:ph type="sldNum" sz="quarter" idx="5"/>
          </p:nvPr>
        </p:nvSpPr>
        <p:spPr/>
        <p:txBody>
          <a:bodyPr/>
          <a:lstStyle/>
          <a:p>
            <a:fld id="{C1134DBE-7CC5-4F23-841F-273EC3D50B7F}" type="slidenum">
              <a:rPr lang="zh-TW" altLang="en-US" smtClean="0"/>
              <a:t>38</a:t>
            </a:fld>
            <a:endParaRPr lang="zh-TW" altLang="en-US"/>
          </a:p>
        </p:txBody>
      </p:sp>
    </p:spTree>
    <p:extLst>
      <p:ext uri="{BB962C8B-B14F-4D97-AF65-F5344CB8AC3E}">
        <p14:creationId xmlns:p14="http://schemas.microsoft.com/office/powerpoint/2010/main" val="29576189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98DED-A852-36B9-D349-6D8C0C5D2C1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C9AAEAF-E461-4F3C-F881-4B4B7FF9FD2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0D530DB-C7A1-C1D2-5865-DBA4654781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接下來是介紹本研究之討論</a:t>
            </a:r>
            <a:endParaRPr lang="en-US" altLang="zh-TW" dirty="0"/>
          </a:p>
        </p:txBody>
      </p:sp>
      <p:sp>
        <p:nvSpPr>
          <p:cNvPr id="4" name="投影片編號版面配置區 3">
            <a:extLst>
              <a:ext uri="{FF2B5EF4-FFF2-40B4-BE49-F238E27FC236}">
                <a16:creationId xmlns:a16="http://schemas.microsoft.com/office/drawing/2014/main" id="{5FF16008-D0EF-03D6-A6E9-94B2165575FA}"/>
              </a:ext>
            </a:extLst>
          </p:cNvPr>
          <p:cNvSpPr>
            <a:spLocks noGrp="1"/>
          </p:cNvSpPr>
          <p:nvPr>
            <p:ph type="sldNum" sz="quarter" idx="5"/>
          </p:nvPr>
        </p:nvSpPr>
        <p:spPr/>
        <p:txBody>
          <a:bodyPr/>
          <a:lstStyle/>
          <a:p>
            <a:fld id="{C1134DBE-7CC5-4F23-841F-273EC3D50B7F}" type="slidenum">
              <a:rPr lang="zh-TW" altLang="en-US" smtClean="0"/>
              <a:t>39</a:t>
            </a:fld>
            <a:endParaRPr lang="zh-TW" altLang="en-US"/>
          </a:p>
        </p:txBody>
      </p:sp>
    </p:spTree>
    <p:extLst>
      <p:ext uri="{BB962C8B-B14F-4D97-AF65-F5344CB8AC3E}">
        <p14:creationId xmlns:p14="http://schemas.microsoft.com/office/powerpoint/2010/main" val="30514275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0D947-3AAA-2A4F-456E-4406DA35CE0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49B219F-10AD-9F0E-82C0-6D91C3EDA36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3FCD33C-2783-9945-1844-95C5E1EDEF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本研究所探討之問題為物流公司固定主線架構下的實務配送問題</a:t>
            </a:r>
            <a:endParaRPr lang="en-US" altLang="zh-TW"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相較於</a:t>
            </a:r>
            <a:r>
              <a:rPr lang="zh-TW" altLang="en-US" dirty="0"/>
              <a:t>現有的</a:t>
            </a:r>
            <a:r>
              <a:rPr lang="zh-TW" altLang="zh-TW" dirty="0"/>
              <a:t> VRP 可以自由進行全域路線重組，本研究僅能在既有主線架構下進行店舖抽取、店舖分配以及支援線規劃，因此問題結構存在明顯差異</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基於此限制</a:t>
            </a:r>
            <a:r>
              <a:rPr lang="zh-TW" altLang="zh-TW" dirty="0"/>
              <a:t>，</a:t>
            </a:r>
            <a:r>
              <a:rPr lang="zh-TW" altLang="en-US" dirty="0"/>
              <a:t>本研究</a:t>
            </a:r>
            <a:r>
              <a:rPr lang="zh-TW" altLang="zh-TW" dirty="0"/>
              <a:t>在標準測試案例的比較，主要聚焦於支援線規劃階段，</a:t>
            </a:r>
            <a:r>
              <a:rPr lang="zh-TW" altLang="en-US" dirty="0"/>
              <a:t>以</a:t>
            </a:r>
            <a:r>
              <a:rPr lang="zh-TW" altLang="zh-TW" dirty="0"/>
              <a:t>驗證所提出路徑規劃方法的能力</a:t>
            </a:r>
            <a:endParaRPr lang="en-US" altLang="zh-TW" sz="1200" kern="1200" dirty="0">
              <a:solidFill>
                <a:schemeClr val="tx1"/>
              </a:solidFill>
              <a:latin typeface="+mn-lt"/>
              <a:ea typeface="+mn-ea"/>
              <a:cs typeface="+mn-cs"/>
            </a:endParaRPr>
          </a:p>
        </p:txBody>
      </p:sp>
      <p:sp>
        <p:nvSpPr>
          <p:cNvPr id="4" name="投影片編號版面配置區 3">
            <a:extLst>
              <a:ext uri="{FF2B5EF4-FFF2-40B4-BE49-F238E27FC236}">
                <a16:creationId xmlns:a16="http://schemas.microsoft.com/office/drawing/2014/main" id="{9338CB47-BDF1-3A0A-E9BF-0931FAE12F0F}"/>
              </a:ext>
            </a:extLst>
          </p:cNvPr>
          <p:cNvSpPr>
            <a:spLocks noGrp="1"/>
          </p:cNvSpPr>
          <p:nvPr>
            <p:ph type="sldNum" sz="quarter" idx="5"/>
          </p:nvPr>
        </p:nvSpPr>
        <p:spPr/>
        <p:txBody>
          <a:bodyPr/>
          <a:lstStyle/>
          <a:p>
            <a:fld id="{C1134DBE-7CC5-4F23-841F-273EC3D50B7F}" type="slidenum">
              <a:rPr lang="zh-TW" altLang="en-US" smtClean="0"/>
              <a:t>40</a:t>
            </a:fld>
            <a:endParaRPr lang="zh-TW" altLang="en-US"/>
          </a:p>
        </p:txBody>
      </p:sp>
    </p:spTree>
    <p:extLst>
      <p:ext uri="{BB962C8B-B14F-4D97-AF65-F5344CB8AC3E}">
        <p14:creationId xmlns:p14="http://schemas.microsoft.com/office/powerpoint/2010/main" val="31164532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9396-5C3E-F4E3-6678-7B93124F51B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A4F90EA-0F91-B118-DA16-EA258DB836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40C814E-D669-9013-6F7C-7B018634F5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接下來介紹本研究的結論與未來研究方向</a:t>
            </a:r>
            <a:endParaRPr lang="en-US" altLang="zh-TW" dirty="0"/>
          </a:p>
        </p:txBody>
      </p:sp>
      <p:sp>
        <p:nvSpPr>
          <p:cNvPr id="4" name="投影片編號版面配置區 3">
            <a:extLst>
              <a:ext uri="{FF2B5EF4-FFF2-40B4-BE49-F238E27FC236}">
                <a16:creationId xmlns:a16="http://schemas.microsoft.com/office/drawing/2014/main" id="{181F462A-71CD-8010-063E-BCB927B4CCA4}"/>
              </a:ext>
            </a:extLst>
          </p:cNvPr>
          <p:cNvSpPr>
            <a:spLocks noGrp="1"/>
          </p:cNvSpPr>
          <p:nvPr>
            <p:ph type="sldNum" sz="quarter" idx="5"/>
          </p:nvPr>
        </p:nvSpPr>
        <p:spPr/>
        <p:txBody>
          <a:bodyPr/>
          <a:lstStyle/>
          <a:p>
            <a:fld id="{C1134DBE-7CC5-4F23-841F-273EC3D50B7F}" type="slidenum">
              <a:rPr lang="zh-TW" altLang="en-US" smtClean="0"/>
              <a:t>41</a:t>
            </a:fld>
            <a:endParaRPr lang="zh-TW" altLang="en-US"/>
          </a:p>
        </p:txBody>
      </p:sp>
    </p:spTree>
    <p:extLst>
      <p:ext uri="{BB962C8B-B14F-4D97-AF65-F5344CB8AC3E}">
        <p14:creationId xmlns:p14="http://schemas.microsoft.com/office/powerpoint/2010/main" val="11143158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63B5-5867-FB24-7F0E-5B6A24E2F7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2DE6DFE-3FCA-9F2D-A6A1-2DF55B99CB8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C0A78D7-20DF-63F4-8990-24B0E97781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本研究針對</a:t>
            </a:r>
            <a:r>
              <a:rPr lang="zh-TW" altLang="en-US" dirty="0"/>
              <a:t>物流公司</a:t>
            </a:r>
            <a:r>
              <a:rPr lang="zh-TW" altLang="zh-TW" dirty="0"/>
              <a:t>固定主線架構下之物流配送問題，提出一個多階段</a:t>
            </a:r>
            <a:r>
              <a:rPr lang="zh-TW" altLang="en-US" dirty="0"/>
              <a:t>符合營運</a:t>
            </a:r>
            <a:r>
              <a:rPr lang="zh-TW" altLang="zh-TW" dirty="0"/>
              <a:t>限制</a:t>
            </a:r>
            <a:r>
              <a:rPr lang="zh-TW" altLang="en-US" dirty="0"/>
              <a:t>的車輛路徑問題</a:t>
            </a:r>
            <a:r>
              <a:rPr lang="zh-TW" altLang="zh-TW" dirty="0"/>
              <a:t>模型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將問題分解成三個子問題，並</a:t>
            </a:r>
            <a:r>
              <a:rPr lang="zh-TW" altLang="zh-TW" dirty="0"/>
              <a:t>結合 CCGA、HACO 與 MACS 的混合式最佳化架構</a:t>
            </a:r>
            <a:r>
              <a:rPr lang="zh-TW" altLang="en-US" dirty="0"/>
              <a:t>解決此問題</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實驗結果顯示，本研究方法</a:t>
            </a:r>
            <a:r>
              <a:rPr lang="zh-TW" altLang="en-US" dirty="0"/>
              <a:t>於</a:t>
            </a:r>
            <a:r>
              <a:rPr lang="zh-TW" altLang="zh-TW" dirty="0"/>
              <a:t>實務資料中，能有效提升配送效率，並降低</a:t>
            </a:r>
            <a:r>
              <a:rPr lang="zh-TW" altLang="en-US" dirty="0"/>
              <a:t>整體配送成本</a:t>
            </a:r>
            <a:endParaRPr lang="en-US" altLang="zh-TW" dirty="0"/>
          </a:p>
        </p:txBody>
      </p:sp>
      <p:sp>
        <p:nvSpPr>
          <p:cNvPr id="4" name="投影片編號版面配置區 3">
            <a:extLst>
              <a:ext uri="{FF2B5EF4-FFF2-40B4-BE49-F238E27FC236}">
                <a16:creationId xmlns:a16="http://schemas.microsoft.com/office/drawing/2014/main" id="{F7A58BFF-24F9-DE08-B11D-23A1DD6AD70E}"/>
              </a:ext>
            </a:extLst>
          </p:cNvPr>
          <p:cNvSpPr>
            <a:spLocks noGrp="1"/>
          </p:cNvSpPr>
          <p:nvPr>
            <p:ph type="sldNum" sz="quarter" idx="5"/>
          </p:nvPr>
        </p:nvSpPr>
        <p:spPr/>
        <p:txBody>
          <a:bodyPr/>
          <a:lstStyle/>
          <a:p>
            <a:fld id="{C1134DBE-7CC5-4F23-841F-273EC3D50B7F}" type="slidenum">
              <a:rPr lang="zh-TW" altLang="en-US" smtClean="0"/>
              <a:t>42</a:t>
            </a:fld>
            <a:endParaRPr lang="zh-TW" altLang="en-US"/>
          </a:p>
        </p:txBody>
      </p:sp>
    </p:spTree>
    <p:extLst>
      <p:ext uri="{BB962C8B-B14F-4D97-AF65-F5344CB8AC3E}">
        <p14:creationId xmlns:p14="http://schemas.microsoft.com/office/powerpoint/2010/main" val="435959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FA125-3886-DA4B-61C9-E97A040C71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FA92B6-1FEC-1ADF-4F8C-AF74F845E8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EB330C-C401-B4D8-5414-832C144C1E80}"/>
              </a:ext>
            </a:extLst>
          </p:cNvPr>
          <p:cNvSpPr>
            <a:spLocks noGrp="1"/>
          </p:cNvSpPr>
          <p:nvPr>
            <p:ph type="body" idx="1"/>
          </p:nvPr>
        </p:nvSpPr>
        <p:spPr/>
        <p:txBody>
          <a:bodyPr/>
          <a:lstStyle/>
          <a:p>
            <a:r>
              <a:rPr lang="zh-TW" altLang="en-US" dirty="0"/>
              <a:t>未來研究方面</a:t>
            </a:r>
            <a:endParaRPr lang="en-US" altLang="zh-TW" dirty="0"/>
          </a:p>
          <a:p>
            <a:r>
              <a:rPr lang="zh-TW" altLang="en-US" dirty="0"/>
              <a:t>主要著重於兩個面向，分別為問題擴展以及方法強化</a:t>
            </a:r>
            <a:endParaRPr lang="en-US" altLang="zh-TW" dirty="0"/>
          </a:p>
          <a:p>
            <a:endParaRPr lang="en-US" altLang="zh-TW" dirty="0"/>
          </a:p>
          <a:p>
            <a:r>
              <a:rPr lang="zh-TW" altLang="zh-TW" dirty="0"/>
              <a:t>在問題擴展方面</a:t>
            </a:r>
            <a:endParaRPr lang="en-US" altLang="zh-TW" dirty="0"/>
          </a:p>
          <a:p>
            <a:r>
              <a:rPr lang="zh-TW" altLang="zh-TW" dirty="0"/>
              <a:t>未來可進一步將所提出的方法延伸至更多不同類型的車輛途程問題。例如，多類型異質車隊車輛路徑問題，不同車輛除了具有不同載重容量外，也可能具備不同的配送成本、服務特性。</a:t>
            </a:r>
          </a:p>
          <a:p>
            <a:r>
              <a:rPr lang="zh-TW" altLang="zh-TW" dirty="0"/>
              <a:t>此外，未來亦可將綠色物流相關考量納入模型之中，例如碳排放量、能源消耗，以及電動車配送等因素，使路徑規劃結果在兼顧配送效率的同時，也能符合永續發展與節能減碳的需求。</a:t>
            </a:r>
          </a:p>
          <a:p>
            <a:endParaRPr lang="zh-TW" altLang="zh-TW" dirty="0"/>
          </a:p>
          <a:p>
            <a:r>
              <a:rPr lang="zh-TW" altLang="zh-TW" dirty="0"/>
              <a:t>在方法方面</a:t>
            </a:r>
            <a:endParaRPr lang="en-US" altLang="zh-TW" dirty="0"/>
          </a:p>
          <a:p>
            <a:r>
              <a:rPr lang="zh-TW" altLang="zh-TW" dirty="0"/>
              <a:t>未來可進一步整合的人工智慧技術</a:t>
            </a:r>
            <a:endParaRPr lang="en-US" altLang="zh-TW" dirty="0"/>
          </a:p>
          <a:p>
            <a:r>
              <a:rPr lang="zh-TW" altLang="zh-TW" dirty="0"/>
              <a:t>例如結合深度學習與強化學習方法，學習</a:t>
            </a:r>
            <a:r>
              <a:rPr lang="zh-TW" altLang="en-US" dirty="0"/>
              <a:t>物流公司的</a:t>
            </a:r>
            <a:r>
              <a:rPr lang="zh-TW" altLang="zh-TW" dirty="0"/>
              <a:t>配送決策，進一步提升大規模物流問題的擴展能力、決策品質</a:t>
            </a:r>
          </a:p>
        </p:txBody>
      </p:sp>
      <p:sp>
        <p:nvSpPr>
          <p:cNvPr id="4" name="投影片編號版面配置區 3">
            <a:extLst>
              <a:ext uri="{FF2B5EF4-FFF2-40B4-BE49-F238E27FC236}">
                <a16:creationId xmlns:a16="http://schemas.microsoft.com/office/drawing/2014/main" id="{7308416B-DF2A-C7A8-918B-801F135F9073}"/>
              </a:ext>
            </a:extLst>
          </p:cNvPr>
          <p:cNvSpPr>
            <a:spLocks noGrp="1"/>
          </p:cNvSpPr>
          <p:nvPr>
            <p:ph type="sldNum" sz="quarter" idx="5"/>
          </p:nvPr>
        </p:nvSpPr>
        <p:spPr/>
        <p:txBody>
          <a:bodyPr/>
          <a:lstStyle/>
          <a:p>
            <a:fld id="{C1134DBE-7CC5-4F23-841F-273EC3D50B7F}" type="slidenum">
              <a:rPr lang="zh-TW" altLang="en-US" smtClean="0"/>
              <a:t>43</a:t>
            </a:fld>
            <a:endParaRPr lang="zh-TW" altLang="en-US"/>
          </a:p>
        </p:txBody>
      </p:sp>
    </p:spTree>
    <p:extLst>
      <p:ext uri="{BB962C8B-B14F-4D97-AF65-F5344CB8AC3E}">
        <p14:creationId xmlns:p14="http://schemas.microsoft.com/office/powerpoint/2010/main" val="21334381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1FF8-A54F-35B6-2FCF-978AFDC5EA5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4FEC18D-32CB-B808-7156-9130E163D0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87E7F8D-11EB-5DE8-7669-9C2E9606BCC3}"/>
              </a:ext>
            </a:extLst>
          </p:cNvPr>
          <p:cNvSpPr>
            <a:spLocks noGrp="1"/>
          </p:cNvSpPr>
          <p:nvPr>
            <p:ph type="body" idx="1"/>
          </p:nvPr>
        </p:nvSpPr>
        <p:spPr/>
        <p:txBody>
          <a:bodyPr/>
          <a:lstStyle/>
          <a:p>
            <a:r>
              <a:rPr lang="zh-TW" altLang="en-US" dirty="0"/>
              <a:t>我的報告到此結束，謝謝各位口試委員的聆聽。</a:t>
            </a:r>
          </a:p>
        </p:txBody>
      </p:sp>
      <p:sp>
        <p:nvSpPr>
          <p:cNvPr id="4" name="投影片編號版面配置區 3">
            <a:extLst>
              <a:ext uri="{FF2B5EF4-FFF2-40B4-BE49-F238E27FC236}">
                <a16:creationId xmlns:a16="http://schemas.microsoft.com/office/drawing/2014/main" id="{37935761-A00F-80CE-B28F-172EAB01429B}"/>
              </a:ext>
            </a:extLst>
          </p:cNvPr>
          <p:cNvSpPr>
            <a:spLocks noGrp="1"/>
          </p:cNvSpPr>
          <p:nvPr>
            <p:ph type="sldNum" sz="quarter" idx="10"/>
          </p:nvPr>
        </p:nvSpPr>
        <p:spPr/>
        <p:txBody>
          <a:bodyPr/>
          <a:lstStyle/>
          <a:p>
            <a:fld id="{504706DC-D834-4F28-8B12-F5017493D9BA}" type="slidenum">
              <a:rPr lang="zh-TW" altLang="en-US" smtClean="0"/>
              <a:t>44</a:t>
            </a:fld>
            <a:endParaRPr lang="zh-TW" altLang="en-US"/>
          </a:p>
        </p:txBody>
      </p:sp>
    </p:spTree>
    <p:extLst>
      <p:ext uri="{BB962C8B-B14F-4D97-AF65-F5344CB8AC3E}">
        <p14:creationId xmlns:p14="http://schemas.microsoft.com/office/powerpoint/2010/main" val="411032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4615597C-F572-4A2F-8DB3-4E70DD865481}" type="datetime1">
              <a:rPr lang="zh-TW" altLang="en-US" smtClean="0"/>
              <a:t>2026/6/10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041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3pPr>
              <a:spcBef>
                <a:spcPts val="600"/>
              </a:spcBef>
              <a:spcAft>
                <a:spcPts val="600"/>
              </a:spcAft>
              <a:buClr>
                <a:schemeClr val="accent1">
                  <a:lumMod val="50000"/>
                </a:schemeClr>
              </a:buClr>
              <a:defRPr/>
            </a:lvl3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10"/>
          </p:nvPr>
        </p:nvSpPr>
        <p:spPr/>
        <p:txBody>
          <a:bodyPr/>
          <a:lstStyle/>
          <a:p>
            <a:fld id="{37A0302E-DE4D-4787-9FB6-0B2A2A238E02}" type="datetime1">
              <a:rPr lang="zh-TW" altLang="en-US" smtClean="0"/>
              <a:t>2026/6/10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1727954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305B98BF-7504-47B1-8CFB-9D9962CBFE76}" type="datetime1">
              <a:rPr lang="zh-TW" altLang="en-US" smtClean="0"/>
              <a:t>2026/6/10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27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97278" y="1845734"/>
            <a:ext cx="4937760" cy="4023360"/>
          </a:xfrm>
        </p:spPr>
        <p:txBody>
          <a:bodyPr/>
          <a:lstStyle>
            <a:lvl1pPr>
              <a:defRPr sz="2400"/>
            </a:lvl1pPr>
            <a:lvl2pPr marL="384048" indent="-182880">
              <a:buFont typeface="Wingdings" panose="05000000000000000000" pitchFamily="2" charset="2"/>
              <a:buChar char="Ø"/>
              <a:defRPr/>
            </a:lvl2pPr>
            <a:lvl3pPr marL="566928" indent="-182880">
              <a:buFont typeface="Wingdings" panose="05000000000000000000" pitchFamily="2" charset="2"/>
              <a:buChar char="l"/>
              <a:defRPr/>
            </a:lvl3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Content Placeholder 3"/>
          <p:cNvSpPr>
            <a:spLocks noGrp="1"/>
          </p:cNvSpPr>
          <p:nvPr>
            <p:ph sz="half" idx="2"/>
          </p:nvPr>
        </p:nvSpPr>
        <p:spPr>
          <a:xfrm>
            <a:off x="6217920" y="1845735"/>
            <a:ext cx="4937760" cy="4023360"/>
          </a:xfrm>
        </p:spPr>
        <p:txBody>
          <a:bodyPr/>
          <a:lstStyle>
            <a:lvl1pPr>
              <a:defRPr sz="2400"/>
            </a:lvl1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5" name="Date Placeholder 4"/>
          <p:cNvSpPr>
            <a:spLocks noGrp="1"/>
          </p:cNvSpPr>
          <p:nvPr>
            <p:ph type="dt" sz="half" idx="10"/>
          </p:nvPr>
        </p:nvSpPr>
        <p:spPr/>
        <p:txBody>
          <a:bodyPr/>
          <a:lstStyle/>
          <a:p>
            <a:fld id="{3294B217-F04C-499F-B3C3-2495ADA884A1}" type="datetime1">
              <a:rPr lang="zh-TW" altLang="en-US" smtClean="0"/>
              <a:t>2026/6/10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947762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69589430-20CC-4CB6-8099-6D6F8AD9126B}" type="datetime1">
              <a:rPr lang="zh-TW" altLang="en-US" smtClean="0"/>
              <a:t>2026/6/10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2685966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0B64F23A-ADA9-4B81-BA25-B90A125A7E29}" type="datetime1">
              <a:rPr lang="zh-TW" altLang="en-US" smtClean="0"/>
              <a:t>2026/6/10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953415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73358DE-BAB7-43C6-B230-87048C96B64C}" type="datetime1">
              <a:rPr lang="zh-TW" altLang="en-US" smtClean="0"/>
              <a:t>2026/6/10</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89339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B69258C-861B-4A67-93B0-E5B8B2157AFE}" type="datetime1">
              <a:rPr lang="zh-TW" altLang="en-US" smtClean="0"/>
              <a:t>2026/6/10</a:t>
            </a:fld>
            <a:endParaRPr lang="zh-TW"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199355627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6B69258C-861B-4A67-93B0-E5B8B2157AFE}" type="datetime1">
              <a:rPr lang="zh-TW" altLang="en-US" smtClean="0"/>
              <a:t>2026/6/10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28900322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11B4937-A29C-4193-9DD1-4AB39B0FC9A5}" type="datetime1">
              <a:rPr lang="zh-TW" altLang="en-US" smtClean="0"/>
              <a:t>2026/6/10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1698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ABB3EA8-8FA6-47FB-B4CB-5B3095828625}" type="datetime1">
              <a:rPr lang="zh-TW" altLang="en-US" smtClean="0"/>
              <a:t>2026/6/10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38373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B69258C-861B-4A67-93B0-E5B8B2157AFE}" type="datetime1">
              <a:rPr lang="zh-TW" altLang="en-US" smtClean="0"/>
              <a:t>2026/6/10</a:t>
            </a:fld>
            <a:endParaRPr lang="zh-TW"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AC25633-CB68-4D6B-BEE8-144406895708}" type="slidenum">
              <a:rPr lang="zh-TW" altLang="en-US" smtClean="0"/>
              <a:t>‹#›</a:t>
            </a:fld>
            <a:endParaRPr lang="zh-TW"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09255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lumMod val="50000"/>
          </a:schemeClr>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l"/>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98A351-EA25-436B-B36F-4AF45C795F89}"/>
              </a:ext>
            </a:extLst>
          </p:cNvPr>
          <p:cNvSpPr>
            <a:spLocks noGrp="1"/>
          </p:cNvSpPr>
          <p:nvPr>
            <p:ph type="title"/>
          </p:nvPr>
        </p:nvSpPr>
        <p:spPr>
          <a:xfrm>
            <a:off x="515793" y="2008972"/>
            <a:ext cx="11221374" cy="1750588"/>
          </a:xfrm>
        </p:spPr>
        <p:txBody>
          <a:bodyPr>
            <a:noAutofit/>
          </a:bodyPr>
          <a:lstStyle/>
          <a:p>
            <a:pPr algn="ctr"/>
            <a:r>
              <a:rPr lang="en-US" altLang="zh-TW" sz="4800" b="1" dirty="0"/>
              <a:t>Multi-Stage Optimization for Supporting Lines in Logistics Companies</a:t>
            </a:r>
            <a:endParaRPr lang="zh-TW" altLang="en-US" sz="4800" b="1" dirty="0"/>
          </a:p>
        </p:txBody>
      </p:sp>
      <p:sp>
        <p:nvSpPr>
          <p:cNvPr id="4" name="投影片編號版面配置區 3">
            <a:extLst>
              <a:ext uri="{FF2B5EF4-FFF2-40B4-BE49-F238E27FC236}">
                <a16:creationId xmlns:a16="http://schemas.microsoft.com/office/drawing/2014/main" id="{3F9DE4A7-02C9-437F-8E5D-A0C80B45D072}"/>
              </a:ext>
            </a:extLst>
          </p:cNvPr>
          <p:cNvSpPr>
            <a:spLocks noGrp="1"/>
          </p:cNvSpPr>
          <p:nvPr>
            <p:ph type="sldNum" sz="quarter" idx="12"/>
          </p:nvPr>
        </p:nvSpPr>
        <p:spPr/>
        <p:txBody>
          <a:bodyPr/>
          <a:lstStyle/>
          <a:p>
            <a:fld id="{5AC25633-CB68-4D6B-BEE8-144406895708}" type="slidenum">
              <a:rPr lang="zh-TW" altLang="en-US" smtClean="0"/>
              <a:t>1</a:t>
            </a:fld>
            <a:endParaRPr lang="zh-TW" altLang="en-US"/>
          </a:p>
        </p:txBody>
      </p:sp>
      <p:sp>
        <p:nvSpPr>
          <p:cNvPr id="9" name="文字版面配置區 8">
            <a:extLst>
              <a:ext uri="{FF2B5EF4-FFF2-40B4-BE49-F238E27FC236}">
                <a16:creationId xmlns:a16="http://schemas.microsoft.com/office/drawing/2014/main" id="{C9626854-F57D-1205-9F35-ADDFB7CE8AA1}"/>
              </a:ext>
            </a:extLst>
          </p:cNvPr>
          <p:cNvSpPr txBox="1">
            <a:spLocks noGrp="1"/>
          </p:cNvSpPr>
          <p:nvPr>
            <p:ph type="body" idx="1"/>
          </p:nvPr>
        </p:nvSpPr>
        <p:spPr>
          <a:xfrm>
            <a:off x="3648176" y="4452938"/>
            <a:ext cx="4955972" cy="1963614"/>
          </a:xfrm>
          <a:prstGeom prst="rect">
            <a:avLst/>
          </a:prstGeom>
          <a:noFill/>
        </p:spPr>
        <p:txBody>
          <a:bodyPr wrap="none" rtlCol="0">
            <a:spAutoFit/>
          </a:bodyPr>
          <a:lstStyle/>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Student: Hong-Jie, Yang</a:t>
            </a:r>
            <a:endParaRPr lang="en-US" altLang="zh-TW" sz="18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Advisor: Jong-Yih Kuo, </a:t>
            </a:r>
            <a:r>
              <a:rPr lang="en-US" altLang="zh-TW" sz="1800" cap="none" spc="0" dirty="0" err="1">
                <a:solidFill>
                  <a:schemeClr val="dk1"/>
                </a:solidFill>
                <a:latin typeface="Times New Roman" panose="02020603050405020304" pitchFamily="18" charset="0"/>
                <a:ea typeface="Times New Roman"/>
                <a:cs typeface="Times New Roman" panose="02020603050405020304" pitchFamily="18" charset="0"/>
                <a:sym typeface="Times New Roman"/>
              </a:rPr>
              <a:t>Ph.D</a:t>
            </a:r>
            <a:endPar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Computer Science and Information Engineering</a:t>
            </a:r>
            <a:endParaRPr lang="en-US" altLang="zh-TW" sz="18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National Taipei University of Technology</a:t>
            </a:r>
            <a:endParaRPr lang="en-US" altLang="zh-TW" sz="18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2026/06/14</a:t>
            </a:r>
          </a:p>
          <a:p>
            <a:endParaRPr lang="zh-TW" altLang="en-US" dirty="0"/>
          </a:p>
        </p:txBody>
      </p:sp>
    </p:spTree>
    <p:extLst>
      <p:ext uri="{BB962C8B-B14F-4D97-AF65-F5344CB8AC3E}">
        <p14:creationId xmlns:p14="http://schemas.microsoft.com/office/powerpoint/2010/main" val="1114137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D77C9-E9AE-4295-A29B-C5B04C6C0F84}"/>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A3B7F4D-32A3-41E9-BD73-E34204462DB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t>Motivation</a:t>
            </a:r>
          </a:p>
          <a:p>
            <a:pPr>
              <a:buFont typeface="Wingdings" panose="05000000000000000000" pitchFamily="2" charset="2"/>
              <a:buChar char="Ø"/>
            </a:pPr>
            <a:r>
              <a:rPr lang="en-US" altLang="zh-TW" sz="3200" dirty="0"/>
              <a:t>The proposed approach</a:t>
            </a:r>
          </a:p>
          <a:p>
            <a:pPr>
              <a:buFont typeface="Wingdings" panose="05000000000000000000" pitchFamily="2" charset="2"/>
              <a:buChar char="Ø"/>
            </a:pPr>
            <a:r>
              <a:rPr lang="en-US" altLang="zh-TW" sz="3200" dirty="0"/>
              <a:t>Experiment</a:t>
            </a:r>
          </a:p>
          <a:p>
            <a:pPr>
              <a:buFont typeface="Wingdings" panose="05000000000000000000" pitchFamily="2" charset="2"/>
              <a:buChar char="Ø"/>
            </a:pPr>
            <a:r>
              <a:rPr lang="en-US" altLang="zh-TW" sz="3200" dirty="0"/>
              <a:t>Discussion</a:t>
            </a:r>
          </a:p>
          <a:p>
            <a:pPr>
              <a:buFont typeface="Wingdings" panose="05000000000000000000" pitchFamily="2" charset="2"/>
              <a:buChar char="Ø"/>
            </a:pPr>
            <a:r>
              <a:rPr lang="en-US" altLang="zh-TW" sz="3200" dirty="0"/>
              <a:t>Conclusion &amp; Future</a:t>
            </a:r>
          </a:p>
        </p:txBody>
      </p:sp>
      <p:sp>
        <p:nvSpPr>
          <p:cNvPr id="4" name="投影片編號版面配置區 3">
            <a:extLst>
              <a:ext uri="{FF2B5EF4-FFF2-40B4-BE49-F238E27FC236}">
                <a16:creationId xmlns:a16="http://schemas.microsoft.com/office/drawing/2014/main" id="{EC3E75BF-F0EA-4036-BF71-34C7F697411D}"/>
              </a:ext>
            </a:extLst>
          </p:cNvPr>
          <p:cNvSpPr>
            <a:spLocks noGrp="1"/>
          </p:cNvSpPr>
          <p:nvPr>
            <p:ph type="sldNum" sz="quarter" idx="12"/>
          </p:nvPr>
        </p:nvSpPr>
        <p:spPr/>
        <p:txBody>
          <a:bodyPr/>
          <a:lstStyle/>
          <a:p>
            <a:fld id="{5AC25633-CB68-4D6B-BEE8-144406895708}" type="slidenum">
              <a:rPr lang="zh-TW" altLang="en-US" smtClean="0"/>
              <a:t>2</a:t>
            </a:fld>
            <a:endParaRPr lang="zh-TW" altLang="en-US"/>
          </a:p>
        </p:txBody>
      </p:sp>
    </p:spTree>
    <p:extLst>
      <p:ext uri="{BB962C8B-B14F-4D97-AF65-F5344CB8AC3E}">
        <p14:creationId xmlns:p14="http://schemas.microsoft.com/office/powerpoint/2010/main" val="3158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D77C9-E9AE-4295-A29B-C5B04C6C0F84}"/>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A3B7F4D-32A3-41E9-BD73-E34204462DB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t>Motivation</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solidFill>
                  <a:schemeClr val="bg2">
                    <a:lumMod val="75000"/>
                  </a:schemeClr>
                </a:solidFill>
              </a:rPr>
              <a:t>Discussion</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EC3E75BF-F0EA-4036-BF71-34C7F697411D}"/>
              </a:ext>
            </a:extLst>
          </p:cNvPr>
          <p:cNvSpPr>
            <a:spLocks noGrp="1"/>
          </p:cNvSpPr>
          <p:nvPr>
            <p:ph type="sldNum" sz="quarter" idx="12"/>
          </p:nvPr>
        </p:nvSpPr>
        <p:spPr/>
        <p:txBody>
          <a:bodyPr/>
          <a:lstStyle/>
          <a:p>
            <a:fld id="{5AC25633-CB68-4D6B-BEE8-144406895708}" type="slidenum">
              <a:rPr lang="zh-TW" altLang="en-US" smtClean="0"/>
              <a:t>3</a:t>
            </a:fld>
            <a:endParaRPr lang="zh-TW" altLang="en-US"/>
          </a:p>
        </p:txBody>
      </p:sp>
    </p:spTree>
    <p:extLst>
      <p:ext uri="{BB962C8B-B14F-4D97-AF65-F5344CB8AC3E}">
        <p14:creationId xmlns:p14="http://schemas.microsoft.com/office/powerpoint/2010/main" val="1385974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3D1BB-6D12-4C72-81FB-7062B86D27A2}"/>
              </a:ext>
            </a:extLst>
          </p:cNvPr>
          <p:cNvSpPr>
            <a:spLocks noGrp="1"/>
          </p:cNvSpPr>
          <p:nvPr>
            <p:ph type="title"/>
          </p:nvPr>
        </p:nvSpPr>
        <p:spPr/>
        <p:txBody>
          <a:bodyPr/>
          <a:lstStyle/>
          <a:p>
            <a:r>
              <a:rPr lang="en-US" altLang="zh-TW" dirty="0"/>
              <a:t>Motivation</a:t>
            </a:r>
            <a:endParaRPr lang="zh-TW" altLang="en-US" dirty="0"/>
          </a:p>
        </p:txBody>
      </p:sp>
      <p:sp>
        <p:nvSpPr>
          <p:cNvPr id="3" name="內容版面配置區 2">
            <a:extLst>
              <a:ext uri="{FF2B5EF4-FFF2-40B4-BE49-F238E27FC236}">
                <a16:creationId xmlns:a16="http://schemas.microsoft.com/office/drawing/2014/main" id="{A3F0BA10-9BD8-44CF-8049-9A706AE1DDF4}"/>
              </a:ext>
            </a:extLst>
          </p:cNvPr>
          <p:cNvSpPr>
            <a:spLocks noGrp="1"/>
          </p:cNvSpPr>
          <p:nvPr>
            <p:ph idx="1"/>
          </p:nvPr>
        </p:nvSpPr>
        <p:spPr>
          <a:xfrm>
            <a:off x="1097280" y="1845734"/>
            <a:ext cx="10058400" cy="4492922"/>
          </a:xfrm>
        </p:spPr>
        <p:txBody>
          <a:bodyPr>
            <a:normAutofit/>
          </a:bodyPr>
          <a:lstStyle/>
          <a:p>
            <a:pPr>
              <a:buFont typeface="Wingdings" panose="05000000000000000000" pitchFamily="2" charset="2"/>
              <a:buChar char="Ø"/>
            </a:pPr>
            <a:r>
              <a:rPr lang="en-US" altLang="zh-TW" dirty="0"/>
              <a:t>Logistics distribution demand is continuously increasing</a:t>
            </a:r>
          </a:p>
          <a:p>
            <a:pPr marL="395478" lvl="1" indent="-285750">
              <a:buFont typeface="Arial" panose="020B0604020202020204" pitchFamily="34" charset="0"/>
              <a:buChar char="•"/>
            </a:pPr>
            <a:r>
              <a:rPr lang="zh-TW" altLang="zh-TW" dirty="0"/>
              <a:t>Growth of logistics and e-commerce increases delivery complexit</a:t>
            </a:r>
            <a:r>
              <a:rPr lang="en-US" altLang="zh-TW" dirty="0"/>
              <a:t>y</a:t>
            </a:r>
          </a:p>
          <a:p>
            <a:pPr marL="395478" lvl="1" indent="-285750">
              <a:buFont typeface="Arial" panose="020B0604020202020204" pitchFamily="34" charset="0"/>
              <a:buChar char="•"/>
            </a:pPr>
            <a:r>
              <a:rPr lang="zh-TW" altLang="zh-TW" dirty="0"/>
              <a:t>Efficient route planning is </a:t>
            </a:r>
            <a:r>
              <a:rPr lang="en-US" altLang="zh-TW" dirty="0"/>
              <a:t>critical</a:t>
            </a:r>
            <a:r>
              <a:rPr lang="zh-TW" altLang="zh-TW" dirty="0"/>
              <a:t> for reducing operational cost</a:t>
            </a:r>
            <a:r>
              <a:rPr lang="en-US" altLang="zh-TW" dirty="0"/>
              <a:t>s</a:t>
            </a:r>
          </a:p>
          <a:p>
            <a:pPr marL="109728" lvl="1" indent="0">
              <a:buNone/>
            </a:pPr>
            <a:endParaRPr lang="en-US" altLang="zh-TW" dirty="0"/>
          </a:p>
          <a:p>
            <a:pPr>
              <a:buFont typeface="Wingdings" panose="05000000000000000000" pitchFamily="2" charset="2"/>
              <a:buChar char="Ø"/>
            </a:pPr>
            <a:r>
              <a:rPr lang="zh-TW" altLang="zh-TW" dirty="0"/>
              <a:t>Real-world logistics operations differ from </a:t>
            </a:r>
            <a:r>
              <a:rPr lang="en-US" altLang="zh-TW" dirty="0"/>
              <a:t>Vehicle Routing Problem (</a:t>
            </a:r>
            <a:r>
              <a:rPr lang="zh-TW" altLang="zh-TW" dirty="0"/>
              <a:t>VRP</a:t>
            </a:r>
            <a:r>
              <a:rPr lang="en-US" altLang="zh-TW" dirty="0"/>
              <a:t>) models</a:t>
            </a:r>
          </a:p>
          <a:p>
            <a:pPr lvl="1">
              <a:buFont typeface="Arial" panose="020B0604020202020204" pitchFamily="34" charset="0"/>
              <a:buChar char="•"/>
            </a:pPr>
            <a:r>
              <a:rPr lang="zh-TW" altLang="zh-TW" dirty="0"/>
              <a:t>Fixed-route structures and service restrictions are rarely considered</a:t>
            </a:r>
            <a:r>
              <a:rPr lang="en-US" altLang="zh-TW" dirty="0"/>
              <a:t> in VRP studies</a:t>
            </a:r>
          </a:p>
          <a:p>
            <a:pPr marL="201168" lvl="1" indent="0">
              <a:buNone/>
            </a:pPr>
            <a:endParaRPr lang="en-US" altLang="zh-TW" dirty="0"/>
          </a:p>
          <a:p>
            <a:pPr>
              <a:buFont typeface="Wingdings" panose="05000000000000000000" pitchFamily="2" charset="2"/>
              <a:buChar char="Ø"/>
            </a:pPr>
            <a:r>
              <a:rPr lang="en-US" altLang="zh-TW" dirty="0"/>
              <a:t>Route planning is performed manually</a:t>
            </a:r>
          </a:p>
          <a:p>
            <a:pPr lvl="1">
              <a:buFont typeface="Arial" panose="020B0604020202020204" pitchFamily="34" charset="0"/>
              <a:buChar char="•"/>
            </a:pPr>
            <a:r>
              <a:rPr lang="zh-TW" altLang="zh-TW" dirty="0"/>
              <a:t>Route planning is a time-consuming</a:t>
            </a:r>
            <a:endParaRPr lang="en-US" altLang="zh-TW" dirty="0"/>
          </a:p>
          <a:p>
            <a:pPr lvl="1">
              <a:buFont typeface="Arial" panose="020B0604020202020204" pitchFamily="34" charset="0"/>
              <a:buChar char="•"/>
            </a:pPr>
            <a:r>
              <a:rPr lang="en-US" altLang="zh-TW" dirty="0"/>
              <a:t>Route planning is highly dependent on human experience</a:t>
            </a:r>
          </a:p>
        </p:txBody>
      </p:sp>
      <p:sp>
        <p:nvSpPr>
          <p:cNvPr id="4" name="投影片編號版面配置區 3">
            <a:extLst>
              <a:ext uri="{FF2B5EF4-FFF2-40B4-BE49-F238E27FC236}">
                <a16:creationId xmlns:a16="http://schemas.microsoft.com/office/drawing/2014/main" id="{CBCC8382-3E42-4175-A9E0-F9F79B8357E0}"/>
              </a:ext>
            </a:extLst>
          </p:cNvPr>
          <p:cNvSpPr>
            <a:spLocks noGrp="1"/>
          </p:cNvSpPr>
          <p:nvPr>
            <p:ph type="sldNum" sz="quarter" idx="12"/>
          </p:nvPr>
        </p:nvSpPr>
        <p:spPr/>
        <p:txBody>
          <a:bodyPr/>
          <a:lstStyle/>
          <a:p>
            <a:fld id="{5AC25633-CB68-4D6B-BEE8-144406895708}" type="slidenum">
              <a:rPr lang="zh-TW" altLang="en-US" smtClean="0"/>
              <a:t>4</a:t>
            </a:fld>
            <a:endParaRPr lang="zh-TW" altLang="en-US"/>
          </a:p>
        </p:txBody>
      </p:sp>
    </p:spTree>
    <p:extLst>
      <p:ext uri="{BB962C8B-B14F-4D97-AF65-F5344CB8AC3E}">
        <p14:creationId xmlns:p14="http://schemas.microsoft.com/office/powerpoint/2010/main" val="371286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D77C9-E9AE-4295-A29B-C5B04C6C0F84}"/>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A3B7F4D-32A3-41E9-BD73-E34204462DB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solidFill>
                  <a:schemeClr val="bg2">
                    <a:lumMod val="75000"/>
                  </a:schemeClr>
                </a:solidFill>
              </a:rPr>
              <a:t>Discussion</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EC3E75BF-F0EA-4036-BF71-34C7F697411D}"/>
              </a:ext>
            </a:extLst>
          </p:cNvPr>
          <p:cNvSpPr>
            <a:spLocks noGrp="1"/>
          </p:cNvSpPr>
          <p:nvPr>
            <p:ph type="sldNum" sz="quarter" idx="12"/>
          </p:nvPr>
        </p:nvSpPr>
        <p:spPr/>
        <p:txBody>
          <a:bodyPr/>
          <a:lstStyle/>
          <a:p>
            <a:fld id="{5AC25633-CB68-4D6B-BEE8-144406895708}" type="slidenum">
              <a:rPr lang="zh-TW" altLang="en-US" smtClean="0"/>
              <a:t>5</a:t>
            </a:fld>
            <a:endParaRPr lang="zh-TW" altLang="en-US"/>
          </a:p>
        </p:txBody>
      </p:sp>
    </p:spTree>
    <p:extLst>
      <p:ext uri="{BB962C8B-B14F-4D97-AF65-F5344CB8AC3E}">
        <p14:creationId xmlns:p14="http://schemas.microsoft.com/office/powerpoint/2010/main" val="2944705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25F604-5187-444F-BBAA-92953D6FC196}"/>
              </a:ext>
            </a:extLst>
          </p:cNvPr>
          <p:cNvSpPr>
            <a:spLocks noGrp="1"/>
          </p:cNvSpPr>
          <p:nvPr>
            <p:ph type="title"/>
          </p:nvPr>
        </p:nvSpPr>
        <p:spPr/>
        <p:txBody>
          <a:bodyPr/>
          <a:lstStyle/>
          <a:p>
            <a:r>
              <a:rPr lang="en-US" altLang="zh-TW" dirty="0"/>
              <a:t>The proposed approach</a:t>
            </a:r>
            <a:endParaRPr lang="zh-TW" altLang="en-US" dirty="0"/>
          </a:p>
        </p:txBody>
      </p:sp>
      <p:sp>
        <p:nvSpPr>
          <p:cNvPr id="3" name="內容版面配置區 2">
            <a:extLst>
              <a:ext uri="{FF2B5EF4-FFF2-40B4-BE49-F238E27FC236}">
                <a16:creationId xmlns:a16="http://schemas.microsoft.com/office/drawing/2014/main" id="{F3F3023D-8FAB-45FA-9088-07342E8DDB88}"/>
              </a:ext>
            </a:extLst>
          </p:cNvPr>
          <p:cNvSpPr>
            <a:spLocks noGrp="1"/>
          </p:cNvSpPr>
          <p:nvPr>
            <p:ph idx="1"/>
          </p:nvPr>
        </p:nvSpPr>
        <p:spPr>
          <a:xfrm>
            <a:off x="1097279" y="1845734"/>
            <a:ext cx="10350533" cy="4023360"/>
          </a:xfrm>
        </p:spPr>
        <p:txBody>
          <a:bodyPr>
            <a:normAutofit/>
          </a:bodyPr>
          <a:lstStyle/>
          <a:p>
            <a:pPr marL="0" indent="0">
              <a:buNone/>
            </a:pPr>
            <a:r>
              <a:rPr lang="en-US" altLang="zh-TW" dirty="0"/>
              <a:t>Multi-stage Operationally Constrained VRP Framework composed of four main modules</a:t>
            </a:r>
          </a:p>
          <a:p>
            <a:pPr marL="457200" indent="-457200">
              <a:buClr>
                <a:schemeClr val="accent1">
                  <a:lumMod val="50000"/>
                </a:schemeClr>
              </a:buClr>
              <a:buFont typeface="+mj-lt"/>
              <a:buAutoNum type="arabicPeriod"/>
            </a:pPr>
            <a:r>
              <a:rPr lang="en-US" altLang="zh-TW" dirty="0"/>
              <a:t>API Module</a:t>
            </a:r>
          </a:p>
          <a:p>
            <a:pPr marL="749808" lvl="1" indent="-457200"/>
            <a:r>
              <a:rPr lang="zh-TW" altLang="zh-TW" dirty="0"/>
              <a:t>Provide distance and travel-time data through </a:t>
            </a:r>
            <a:r>
              <a:rPr lang="en-US" altLang="zh-TW" dirty="0"/>
              <a:t>Open Source Routing Machine (OSRM)</a:t>
            </a:r>
            <a:r>
              <a:rPr lang="zh-TW" altLang="zh-TW" dirty="0"/>
              <a:t> and Routes API</a:t>
            </a:r>
            <a:endParaRPr lang="en-US" altLang="zh-TW" dirty="0"/>
          </a:p>
          <a:p>
            <a:pPr marL="457200" indent="-457200">
              <a:buClr>
                <a:schemeClr val="accent1">
                  <a:lumMod val="50000"/>
                </a:schemeClr>
              </a:buClr>
              <a:buFont typeface="+mj-lt"/>
              <a:buAutoNum type="arabicPeriod"/>
            </a:pPr>
            <a:r>
              <a:rPr lang="en-US" altLang="zh-TW" dirty="0"/>
              <a:t>Data Module</a:t>
            </a:r>
          </a:p>
          <a:p>
            <a:pPr marL="749808" lvl="1" indent="-457200"/>
            <a:r>
              <a:rPr lang="zh-TW" altLang="zh-TW" dirty="0"/>
              <a:t>Preprocess raw routing data for route planning</a:t>
            </a:r>
            <a:endParaRPr lang="en-US" altLang="zh-TW" dirty="0"/>
          </a:p>
          <a:p>
            <a:pPr marL="457200" indent="-457200">
              <a:buClr>
                <a:schemeClr val="accent1">
                  <a:lumMod val="50000"/>
                </a:schemeClr>
              </a:buClr>
              <a:buFont typeface="+mj-lt"/>
              <a:buAutoNum type="arabicPeriod"/>
            </a:pPr>
            <a:r>
              <a:rPr lang="en-US" altLang="zh-TW" dirty="0"/>
              <a:t>Routing Module</a:t>
            </a:r>
          </a:p>
          <a:p>
            <a:pPr marL="749808" lvl="1" indent="-457200"/>
            <a:r>
              <a:rPr lang="en-US" altLang="zh-TW" dirty="0"/>
              <a:t>Perform store extraction, assignment, and support route planning under operational constraints</a:t>
            </a:r>
          </a:p>
          <a:p>
            <a:pPr marL="457200" indent="-457200">
              <a:buClr>
                <a:schemeClr val="accent1">
                  <a:lumMod val="50000"/>
                </a:schemeClr>
              </a:buClr>
              <a:buFont typeface="+mj-lt"/>
              <a:buAutoNum type="arabicPeriod"/>
            </a:pPr>
            <a:r>
              <a:rPr lang="en-US" altLang="zh-TW" dirty="0"/>
              <a:t>Evaluation Module</a:t>
            </a:r>
          </a:p>
          <a:p>
            <a:pPr marL="749808" lvl="1" indent="-457200"/>
            <a:r>
              <a:rPr lang="en-US" altLang="zh-TW" dirty="0"/>
              <a:t>Provide route visualization and performance evaluation using multiple routing metrics</a:t>
            </a:r>
          </a:p>
        </p:txBody>
      </p:sp>
      <p:sp>
        <p:nvSpPr>
          <p:cNvPr id="4" name="投影片編號版面配置區 3">
            <a:extLst>
              <a:ext uri="{FF2B5EF4-FFF2-40B4-BE49-F238E27FC236}">
                <a16:creationId xmlns:a16="http://schemas.microsoft.com/office/drawing/2014/main" id="{890DAC88-58ED-4794-BEB6-6B1FAFD1C7D7}"/>
              </a:ext>
            </a:extLst>
          </p:cNvPr>
          <p:cNvSpPr>
            <a:spLocks noGrp="1"/>
          </p:cNvSpPr>
          <p:nvPr>
            <p:ph type="sldNum" sz="quarter" idx="12"/>
          </p:nvPr>
        </p:nvSpPr>
        <p:spPr/>
        <p:txBody>
          <a:bodyPr/>
          <a:lstStyle/>
          <a:p>
            <a:fld id="{5AC25633-CB68-4D6B-BEE8-144406895708}" type="slidenum">
              <a:rPr lang="zh-TW" altLang="en-US" smtClean="0"/>
              <a:t>6</a:t>
            </a:fld>
            <a:endParaRPr lang="zh-TW" altLang="en-US"/>
          </a:p>
        </p:txBody>
      </p:sp>
    </p:spTree>
    <p:extLst>
      <p:ext uri="{BB962C8B-B14F-4D97-AF65-F5344CB8AC3E}">
        <p14:creationId xmlns:p14="http://schemas.microsoft.com/office/powerpoint/2010/main" val="1112248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3D1BB-6D12-4C72-81FB-7062B86D27A2}"/>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4A4BCDA3-19D4-4822-9389-695E95BCED00}"/>
              </a:ext>
            </a:extLst>
          </p:cNvPr>
          <p:cNvSpPr>
            <a:spLocks noGrp="1"/>
          </p:cNvSpPr>
          <p:nvPr>
            <p:ph type="sldNum" sz="quarter" idx="12"/>
          </p:nvPr>
        </p:nvSpPr>
        <p:spPr/>
        <p:txBody>
          <a:bodyPr/>
          <a:lstStyle/>
          <a:p>
            <a:fld id="{5AC25633-CB68-4D6B-BEE8-144406895708}" type="slidenum">
              <a:rPr lang="zh-TW" altLang="en-US" smtClean="0"/>
              <a:t>7</a:t>
            </a:fld>
            <a:endParaRPr lang="zh-TW" altLang="en-US"/>
          </a:p>
        </p:txBody>
      </p:sp>
      <p:sp>
        <p:nvSpPr>
          <p:cNvPr id="172" name="矩形 171">
            <a:extLst>
              <a:ext uri="{FF2B5EF4-FFF2-40B4-BE49-F238E27FC236}">
                <a16:creationId xmlns:a16="http://schemas.microsoft.com/office/drawing/2014/main" id="{9D69D38C-44A0-14DE-E1EA-D315DBF6C776}"/>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3" name="矩形 172">
            <a:extLst>
              <a:ext uri="{FF2B5EF4-FFF2-40B4-BE49-F238E27FC236}">
                <a16:creationId xmlns:a16="http://schemas.microsoft.com/office/drawing/2014/main" id="{8E71A7A6-572D-3CDA-988F-CE3694C9990E}"/>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174" name="矩形 173">
            <a:extLst>
              <a:ext uri="{FF2B5EF4-FFF2-40B4-BE49-F238E27FC236}">
                <a16:creationId xmlns:a16="http://schemas.microsoft.com/office/drawing/2014/main" id="{D69977D4-7D5B-75F1-0F12-CCDAB92D70C6}"/>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175" name="矩形 174">
            <a:extLst>
              <a:ext uri="{FF2B5EF4-FFF2-40B4-BE49-F238E27FC236}">
                <a16:creationId xmlns:a16="http://schemas.microsoft.com/office/drawing/2014/main" id="{EAFC525D-25CD-B081-3B05-E329107B02BF}"/>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176" name="矩形 175">
            <a:extLst>
              <a:ext uri="{FF2B5EF4-FFF2-40B4-BE49-F238E27FC236}">
                <a16:creationId xmlns:a16="http://schemas.microsoft.com/office/drawing/2014/main" id="{66F1F7C1-F5D7-5FA0-113A-7E32F3B92E42}"/>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177" name="矩形 176">
            <a:extLst>
              <a:ext uri="{FF2B5EF4-FFF2-40B4-BE49-F238E27FC236}">
                <a16:creationId xmlns:a16="http://schemas.microsoft.com/office/drawing/2014/main" id="{6CA444DA-B87E-929F-C983-8D83E00EA694}"/>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178" name="矩形 177">
            <a:extLst>
              <a:ext uri="{FF2B5EF4-FFF2-40B4-BE49-F238E27FC236}">
                <a16:creationId xmlns:a16="http://schemas.microsoft.com/office/drawing/2014/main" id="{BF6D9718-6BF4-F6A9-C9FA-C51CD2C5BC6E}"/>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179" name="直線單箭頭接點 178">
            <a:extLst>
              <a:ext uri="{FF2B5EF4-FFF2-40B4-BE49-F238E27FC236}">
                <a16:creationId xmlns:a16="http://schemas.microsoft.com/office/drawing/2014/main" id="{CA3C18F4-EFB4-1E80-265A-CF190E40F26C}"/>
              </a:ext>
            </a:extLst>
          </p:cNvPr>
          <p:cNvCxnSpPr>
            <a:cxnSpLocks/>
            <a:endCxn id="173"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0" name="直線單箭頭接點 179">
            <a:extLst>
              <a:ext uri="{FF2B5EF4-FFF2-40B4-BE49-F238E27FC236}">
                <a16:creationId xmlns:a16="http://schemas.microsoft.com/office/drawing/2014/main" id="{8251C3D4-530D-E3B1-48F1-1C959DC59BFB}"/>
              </a:ext>
            </a:extLst>
          </p:cNvPr>
          <p:cNvCxnSpPr>
            <a:cxnSpLocks/>
            <a:stCxn id="176"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1" name="文字方塊 180">
            <a:extLst>
              <a:ext uri="{FF2B5EF4-FFF2-40B4-BE49-F238E27FC236}">
                <a16:creationId xmlns:a16="http://schemas.microsoft.com/office/drawing/2014/main" id="{E8F55DD7-6C66-2FD7-7AF1-FC92EE6CB5D0}"/>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182" name="直線單箭頭接點 181">
            <a:extLst>
              <a:ext uri="{FF2B5EF4-FFF2-40B4-BE49-F238E27FC236}">
                <a16:creationId xmlns:a16="http://schemas.microsoft.com/office/drawing/2014/main" id="{10930DB9-9129-F325-4DD2-092A349452E6}"/>
              </a:ext>
            </a:extLst>
          </p:cNvPr>
          <p:cNvCxnSpPr>
            <a:cxnSpLocks/>
            <a:stCxn id="173" idx="3"/>
            <a:endCxn id="174"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a:extLst>
              <a:ext uri="{FF2B5EF4-FFF2-40B4-BE49-F238E27FC236}">
                <a16:creationId xmlns:a16="http://schemas.microsoft.com/office/drawing/2014/main" id="{06538F09-9AB6-7CE9-55AA-07842A0BF988}"/>
              </a:ext>
            </a:extLst>
          </p:cNvPr>
          <p:cNvCxnSpPr>
            <a:cxnSpLocks/>
            <a:stCxn id="174" idx="3"/>
            <a:endCxn id="175"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 name="矩形 183">
            <a:extLst>
              <a:ext uri="{FF2B5EF4-FFF2-40B4-BE49-F238E27FC236}">
                <a16:creationId xmlns:a16="http://schemas.microsoft.com/office/drawing/2014/main" id="{6AA396CE-99DA-E3D5-0565-85AA2A15ACAF}"/>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5" name="矩形 184">
            <a:extLst>
              <a:ext uri="{FF2B5EF4-FFF2-40B4-BE49-F238E27FC236}">
                <a16:creationId xmlns:a16="http://schemas.microsoft.com/office/drawing/2014/main" id="{673AC6C1-9D38-9289-76F6-86C70A399375}"/>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6" name="文字方塊 185">
            <a:extLst>
              <a:ext uri="{FF2B5EF4-FFF2-40B4-BE49-F238E27FC236}">
                <a16:creationId xmlns:a16="http://schemas.microsoft.com/office/drawing/2014/main" id="{5BCC180E-59BB-ED92-DDCB-599EDA1DE7C6}"/>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187" name="矩形 186">
            <a:extLst>
              <a:ext uri="{FF2B5EF4-FFF2-40B4-BE49-F238E27FC236}">
                <a16:creationId xmlns:a16="http://schemas.microsoft.com/office/drawing/2014/main" id="{3786ECA4-8B90-411B-6160-C70F7FBED422}"/>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188" name="直線單箭頭接點 187">
            <a:extLst>
              <a:ext uri="{FF2B5EF4-FFF2-40B4-BE49-F238E27FC236}">
                <a16:creationId xmlns:a16="http://schemas.microsoft.com/office/drawing/2014/main" id="{33691792-869A-FD61-6A37-8C1D38401A2B}"/>
              </a:ext>
            </a:extLst>
          </p:cNvPr>
          <p:cNvCxnSpPr>
            <a:cxnSpLocks/>
            <a:stCxn id="175" idx="3"/>
            <a:endCxn id="187"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9" name="文字方塊 188">
            <a:extLst>
              <a:ext uri="{FF2B5EF4-FFF2-40B4-BE49-F238E27FC236}">
                <a16:creationId xmlns:a16="http://schemas.microsoft.com/office/drawing/2014/main" id="{528B902F-5983-DAB6-8CD4-D16446BBB166}"/>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190" name="矩形 189">
            <a:extLst>
              <a:ext uri="{FF2B5EF4-FFF2-40B4-BE49-F238E27FC236}">
                <a16:creationId xmlns:a16="http://schemas.microsoft.com/office/drawing/2014/main" id="{48571EB6-1E29-0A1A-C34D-143A761FA26F}"/>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1" name="文字方塊 190">
            <a:extLst>
              <a:ext uri="{FF2B5EF4-FFF2-40B4-BE49-F238E27FC236}">
                <a16:creationId xmlns:a16="http://schemas.microsoft.com/office/drawing/2014/main" id="{DECD945B-ECFB-58B7-6987-95518587A91A}"/>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192" name="接點: 肘形 191">
            <a:extLst>
              <a:ext uri="{FF2B5EF4-FFF2-40B4-BE49-F238E27FC236}">
                <a16:creationId xmlns:a16="http://schemas.microsoft.com/office/drawing/2014/main" id="{671B1BB2-48FF-E726-9979-A55001841824}"/>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接點: 肘形 192">
            <a:extLst>
              <a:ext uri="{FF2B5EF4-FFF2-40B4-BE49-F238E27FC236}">
                <a16:creationId xmlns:a16="http://schemas.microsoft.com/office/drawing/2014/main" id="{88F97789-B714-CFA8-DF3E-556F2A297133}"/>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195" name="流程圖: 磁碟 194">
            <a:extLst>
              <a:ext uri="{FF2B5EF4-FFF2-40B4-BE49-F238E27FC236}">
                <a16:creationId xmlns:a16="http://schemas.microsoft.com/office/drawing/2014/main" id="{D0B2F0AB-6326-F82A-A214-76CCC7BADA54}"/>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197" name="流程圖: 磁碟 196">
            <a:extLst>
              <a:ext uri="{FF2B5EF4-FFF2-40B4-BE49-F238E27FC236}">
                <a16:creationId xmlns:a16="http://schemas.microsoft.com/office/drawing/2014/main" id="{C19FFD95-30B9-BF1D-8B12-7F1F0F0859D9}"/>
              </a:ext>
            </a:extLst>
          </p:cNvPr>
          <p:cNvSpPr/>
          <p:nvPr/>
        </p:nvSpPr>
        <p:spPr>
          <a:xfrm>
            <a:off x="901102"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201" name="文字方塊 8">
            <a:extLst>
              <a:ext uri="{FF2B5EF4-FFF2-40B4-BE49-F238E27FC236}">
                <a16:creationId xmlns:a16="http://schemas.microsoft.com/office/drawing/2014/main" id="{D38F179D-C93A-F49D-80D3-D90579D0558E}"/>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202" name="文字方塊 8">
            <a:extLst>
              <a:ext uri="{FF2B5EF4-FFF2-40B4-BE49-F238E27FC236}">
                <a16:creationId xmlns:a16="http://schemas.microsoft.com/office/drawing/2014/main" id="{A0444FB2-FEBE-7883-C0AA-74EA17B7BD8A}"/>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203" name="直線單箭頭接點 202">
            <a:extLst>
              <a:ext uri="{FF2B5EF4-FFF2-40B4-BE49-F238E27FC236}">
                <a16:creationId xmlns:a16="http://schemas.microsoft.com/office/drawing/2014/main" id="{FDA3CF09-A957-D659-C7C4-AFBA9CE987E6}"/>
              </a:ext>
            </a:extLst>
          </p:cNvPr>
          <p:cNvCxnSpPr>
            <a:cxnSpLocks/>
            <a:stCxn id="187" idx="3"/>
            <a:endCxn id="176"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 name="接點: 肘形 204">
            <a:extLst>
              <a:ext uri="{FF2B5EF4-FFF2-40B4-BE49-F238E27FC236}">
                <a16:creationId xmlns:a16="http://schemas.microsoft.com/office/drawing/2014/main" id="{C56053C4-9DFD-1BB4-540D-3EFB513B48A4}"/>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接點: 肘形 205">
            <a:extLst>
              <a:ext uri="{FF2B5EF4-FFF2-40B4-BE49-F238E27FC236}">
                <a16:creationId xmlns:a16="http://schemas.microsoft.com/office/drawing/2014/main" id="{BE174483-93A4-CC5D-C1D4-EEFFA8641E2A}"/>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BB972648-97FF-E8C8-9E25-A7DE60B97E90}"/>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a:extLst>
              <a:ext uri="{FF2B5EF4-FFF2-40B4-BE49-F238E27FC236}">
                <a16:creationId xmlns:a16="http://schemas.microsoft.com/office/drawing/2014/main" id="{A3A2E296-B4C0-37A0-ABF4-81088E069F5F}"/>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13F30499-215B-519E-0386-4105B16A9AE7}"/>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10" name="文字方塊 8">
            <a:extLst>
              <a:ext uri="{FF2B5EF4-FFF2-40B4-BE49-F238E27FC236}">
                <a16:creationId xmlns:a16="http://schemas.microsoft.com/office/drawing/2014/main" id="{A861499A-696B-5518-FE9F-FF42C47E7ABF}"/>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345824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7427FF-3E2F-DAB7-3290-3BE6F49EE00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AA07354-3D22-65E1-3B22-54C1F4E9B16C}"/>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42379682-85ED-E6EB-B13D-083A40FA97D9}"/>
              </a:ext>
            </a:extLst>
          </p:cNvPr>
          <p:cNvSpPr>
            <a:spLocks noGrp="1"/>
          </p:cNvSpPr>
          <p:nvPr>
            <p:ph type="sldNum" sz="quarter" idx="12"/>
          </p:nvPr>
        </p:nvSpPr>
        <p:spPr/>
        <p:txBody>
          <a:bodyPr/>
          <a:lstStyle/>
          <a:p>
            <a:fld id="{5AC25633-CB68-4D6B-BEE8-144406895708}" type="slidenum">
              <a:rPr lang="zh-TW" altLang="en-US" smtClean="0"/>
              <a:t>8</a:t>
            </a:fld>
            <a:endParaRPr lang="zh-TW" altLang="en-US"/>
          </a:p>
        </p:txBody>
      </p:sp>
      <p:sp>
        <p:nvSpPr>
          <p:cNvPr id="19" name="矩形 18">
            <a:extLst>
              <a:ext uri="{FF2B5EF4-FFF2-40B4-BE49-F238E27FC236}">
                <a16:creationId xmlns:a16="http://schemas.microsoft.com/office/drawing/2014/main" id="{33D42A98-0C85-DC6E-94F4-9C6AAC792EFF}"/>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D8C786D5-9660-B05B-EFEF-FF46CC5AE08F}"/>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21" name="矩形 20">
            <a:extLst>
              <a:ext uri="{FF2B5EF4-FFF2-40B4-BE49-F238E27FC236}">
                <a16:creationId xmlns:a16="http://schemas.microsoft.com/office/drawing/2014/main" id="{FECF1497-4CD5-4C49-AB03-BB5A595AF5CE}"/>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22" name="矩形 21">
            <a:extLst>
              <a:ext uri="{FF2B5EF4-FFF2-40B4-BE49-F238E27FC236}">
                <a16:creationId xmlns:a16="http://schemas.microsoft.com/office/drawing/2014/main" id="{7D4AF265-282B-8470-39B9-97223F186D80}"/>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23" name="矩形 22">
            <a:extLst>
              <a:ext uri="{FF2B5EF4-FFF2-40B4-BE49-F238E27FC236}">
                <a16:creationId xmlns:a16="http://schemas.microsoft.com/office/drawing/2014/main" id="{50F108C5-496A-A1A7-482F-9539BBDF08FF}"/>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24" name="矩形 23">
            <a:extLst>
              <a:ext uri="{FF2B5EF4-FFF2-40B4-BE49-F238E27FC236}">
                <a16:creationId xmlns:a16="http://schemas.microsoft.com/office/drawing/2014/main" id="{146D040A-9EC4-A35D-AF37-19AC795BAE91}"/>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25" name="矩形 24">
            <a:extLst>
              <a:ext uri="{FF2B5EF4-FFF2-40B4-BE49-F238E27FC236}">
                <a16:creationId xmlns:a16="http://schemas.microsoft.com/office/drawing/2014/main" id="{7A6C219F-AD48-2F4E-32E4-03B708DD2347}"/>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26" name="直線單箭頭接點 25">
            <a:extLst>
              <a:ext uri="{FF2B5EF4-FFF2-40B4-BE49-F238E27FC236}">
                <a16:creationId xmlns:a16="http://schemas.microsoft.com/office/drawing/2014/main" id="{80D2F1E9-7642-A5F0-AD45-9E5854068823}"/>
              </a:ext>
            </a:extLst>
          </p:cNvPr>
          <p:cNvCxnSpPr>
            <a:cxnSpLocks/>
            <a:endCxn id="20"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723CD18D-D78D-6F08-EC70-8E4A8F794510}"/>
              </a:ext>
            </a:extLst>
          </p:cNvPr>
          <p:cNvCxnSpPr>
            <a:cxnSpLocks/>
            <a:stCxn id="23"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B315D609-7A8E-6735-733C-98E020DCC39F}"/>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29" name="直線單箭頭接點 28">
            <a:extLst>
              <a:ext uri="{FF2B5EF4-FFF2-40B4-BE49-F238E27FC236}">
                <a16:creationId xmlns:a16="http://schemas.microsoft.com/office/drawing/2014/main" id="{55411CC5-7666-9BAB-5111-0DFA48D8D9F4}"/>
              </a:ext>
            </a:extLst>
          </p:cNvPr>
          <p:cNvCxnSpPr>
            <a:cxnSpLocks/>
            <a:stCxn id="20" idx="3"/>
            <a:endCxn id="21"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A3C861E2-3EFC-BCB6-FF54-92DE7F9A40FB}"/>
              </a:ext>
            </a:extLst>
          </p:cNvPr>
          <p:cNvCxnSpPr>
            <a:cxnSpLocks/>
            <a:stCxn id="21" idx="3"/>
            <a:endCxn id="22"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35C36FAD-75AE-CD7F-73D5-57CB5AAA1AA2}"/>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2F7E82B5-9F85-2BF4-455B-45BE584C00FD}"/>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A1E88D47-09B5-18B1-068A-89BDBE36DF85}"/>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37" name="矩形 36">
            <a:extLst>
              <a:ext uri="{FF2B5EF4-FFF2-40B4-BE49-F238E27FC236}">
                <a16:creationId xmlns:a16="http://schemas.microsoft.com/office/drawing/2014/main" id="{9F5B8023-8903-2FFB-B168-2838E7A2A3F6}"/>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38" name="直線單箭頭接點 37">
            <a:extLst>
              <a:ext uri="{FF2B5EF4-FFF2-40B4-BE49-F238E27FC236}">
                <a16:creationId xmlns:a16="http://schemas.microsoft.com/office/drawing/2014/main" id="{1FC2BD2B-53FB-4366-674C-B05A77DDCAFB}"/>
              </a:ext>
            </a:extLst>
          </p:cNvPr>
          <p:cNvCxnSpPr>
            <a:cxnSpLocks/>
            <a:stCxn id="22" idx="3"/>
            <a:endCxn id="37"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224C6FC8-ED8B-9591-77CB-65F6E7F02FBD}"/>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40" name="矩形 39">
            <a:extLst>
              <a:ext uri="{FF2B5EF4-FFF2-40B4-BE49-F238E27FC236}">
                <a16:creationId xmlns:a16="http://schemas.microsoft.com/office/drawing/2014/main" id="{4394D476-2795-6B86-44E7-3A9F73729294}"/>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文字方塊 40">
            <a:extLst>
              <a:ext uri="{FF2B5EF4-FFF2-40B4-BE49-F238E27FC236}">
                <a16:creationId xmlns:a16="http://schemas.microsoft.com/office/drawing/2014/main" id="{E1CBF46A-09C4-23ED-0985-16515DB29220}"/>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42" name="接點: 肘形 41">
            <a:extLst>
              <a:ext uri="{FF2B5EF4-FFF2-40B4-BE49-F238E27FC236}">
                <a16:creationId xmlns:a16="http://schemas.microsoft.com/office/drawing/2014/main" id="{78B63CF8-5164-598C-95BA-768B17D0D8CB}"/>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接點: 肘形 42">
            <a:extLst>
              <a:ext uri="{FF2B5EF4-FFF2-40B4-BE49-F238E27FC236}">
                <a16:creationId xmlns:a16="http://schemas.microsoft.com/office/drawing/2014/main" id="{42CE0211-A15F-80E9-AC4A-113BE18DEE58}"/>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流程圖: 磁碟 45">
            <a:extLst>
              <a:ext uri="{FF2B5EF4-FFF2-40B4-BE49-F238E27FC236}">
                <a16:creationId xmlns:a16="http://schemas.microsoft.com/office/drawing/2014/main" id="{7B17E985-88B2-883B-926E-E933C5B3859F}"/>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53" name="文字方塊 8">
            <a:extLst>
              <a:ext uri="{FF2B5EF4-FFF2-40B4-BE49-F238E27FC236}">
                <a16:creationId xmlns:a16="http://schemas.microsoft.com/office/drawing/2014/main" id="{5A44E232-1303-A330-D292-D8B7284DCFBD}"/>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54" name="文字方塊 8">
            <a:extLst>
              <a:ext uri="{FF2B5EF4-FFF2-40B4-BE49-F238E27FC236}">
                <a16:creationId xmlns:a16="http://schemas.microsoft.com/office/drawing/2014/main" id="{E6E17B25-2B07-47FF-A8BE-65FE08AFFEE7}"/>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55" name="直線單箭頭接點 54">
            <a:extLst>
              <a:ext uri="{FF2B5EF4-FFF2-40B4-BE49-F238E27FC236}">
                <a16:creationId xmlns:a16="http://schemas.microsoft.com/office/drawing/2014/main" id="{FE9F2901-AD61-4228-AA95-ADEE0BDDD15D}"/>
              </a:ext>
            </a:extLst>
          </p:cNvPr>
          <p:cNvCxnSpPr>
            <a:cxnSpLocks/>
            <a:stCxn id="37" idx="3"/>
            <a:endCxn id="23"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接點: 肘形 56">
            <a:extLst>
              <a:ext uri="{FF2B5EF4-FFF2-40B4-BE49-F238E27FC236}">
                <a16:creationId xmlns:a16="http://schemas.microsoft.com/office/drawing/2014/main" id="{A6CC9D86-3C6B-3D74-D06B-62CDF4D31141}"/>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接點: 肘形 57">
            <a:extLst>
              <a:ext uri="{FF2B5EF4-FFF2-40B4-BE49-F238E27FC236}">
                <a16:creationId xmlns:a16="http://schemas.microsoft.com/office/drawing/2014/main" id="{0EFC66F2-D0A9-CAB3-E81F-CC241CE16470}"/>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F03662E9-DF26-C719-6563-EA396AD07BC3}"/>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a:extLst>
              <a:ext uri="{FF2B5EF4-FFF2-40B4-BE49-F238E27FC236}">
                <a16:creationId xmlns:a16="http://schemas.microsoft.com/office/drawing/2014/main" id="{7088894B-6511-3F1B-ABEE-5C00AA1AEBA2}"/>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流程圖: 磁碟 8">
            <a:extLst>
              <a:ext uri="{FF2B5EF4-FFF2-40B4-BE49-F238E27FC236}">
                <a16:creationId xmlns:a16="http://schemas.microsoft.com/office/drawing/2014/main" id="{0AF766AF-1CCD-05C9-46A3-56B1998B596F}"/>
              </a:ext>
            </a:extLst>
          </p:cNvPr>
          <p:cNvSpPr/>
          <p:nvPr/>
        </p:nvSpPr>
        <p:spPr>
          <a:xfrm>
            <a:off x="901102" y="3823855"/>
            <a:ext cx="792480" cy="896431"/>
          </a:xfrm>
          <a:prstGeom prst="flowChartMagneticDisk">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10" name="文字方塊 9">
            <a:extLst>
              <a:ext uri="{FF2B5EF4-FFF2-40B4-BE49-F238E27FC236}">
                <a16:creationId xmlns:a16="http://schemas.microsoft.com/office/drawing/2014/main" id="{A9EF1F1F-160C-5583-2199-686A4D8DD536}"/>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11" name="文字方塊 8">
            <a:extLst>
              <a:ext uri="{FF2B5EF4-FFF2-40B4-BE49-F238E27FC236}">
                <a16:creationId xmlns:a16="http://schemas.microsoft.com/office/drawing/2014/main" id="{140109E7-D67B-49AC-F5EC-70B8E8BDAA70}"/>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974462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64F368-B436-09D1-ABB9-FF2C3801FDCE}"/>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B1B6B781-BDFC-BFCB-0BF5-FFE5ABD536FB}"/>
              </a:ext>
            </a:extLst>
          </p:cNvPr>
          <p:cNvPicPr>
            <a:picLocks noChangeAspect="1"/>
          </p:cNvPicPr>
          <p:nvPr/>
        </p:nvPicPr>
        <p:blipFill>
          <a:blip r:embed="rId3"/>
          <a:stretch>
            <a:fillRect/>
          </a:stretch>
        </p:blipFill>
        <p:spPr>
          <a:xfrm>
            <a:off x="1083167" y="2441879"/>
            <a:ext cx="9594394" cy="3503835"/>
          </a:xfrm>
          <a:prstGeom prst="rect">
            <a:avLst/>
          </a:prstGeom>
        </p:spPr>
      </p:pic>
      <p:sp>
        <p:nvSpPr>
          <p:cNvPr id="2" name="標題 1">
            <a:extLst>
              <a:ext uri="{FF2B5EF4-FFF2-40B4-BE49-F238E27FC236}">
                <a16:creationId xmlns:a16="http://schemas.microsoft.com/office/drawing/2014/main" id="{0C688DDC-89F3-45C4-956B-0800C9F474CC}"/>
              </a:ext>
            </a:extLst>
          </p:cNvPr>
          <p:cNvSpPr>
            <a:spLocks noGrp="1"/>
          </p:cNvSpPr>
          <p:nvPr>
            <p:ph type="title"/>
          </p:nvPr>
        </p:nvSpPr>
        <p:spPr/>
        <p:txBody>
          <a:bodyPr/>
          <a:lstStyle/>
          <a:p>
            <a:r>
              <a:rPr lang="en-US" altLang="zh-TW" dirty="0"/>
              <a:t>Original Route Data</a:t>
            </a:r>
            <a:endParaRPr lang="zh-TW" altLang="en-US" dirty="0"/>
          </a:p>
        </p:txBody>
      </p:sp>
      <p:sp>
        <p:nvSpPr>
          <p:cNvPr id="3" name="內容版面配置區 2">
            <a:extLst>
              <a:ext uri="{FF2B5EF4-FFF2-40B4-BE49-F238E27FC236}">
                <a16:creationId xmlns:a16="http://schemas.microsoft.com/office/drawing/2014/main" id="{8B38213A-E731-BDCE-CC60-02A95818F737}"/>
              </a:ext>
            </a:extLst>
          </p:cNvPr>
          <p:cNvSpPr>
            <a:spLocks noGrp="1"/>
          </p:cNvSpPr>
          <p:nvPr>
            <p:ph idx="1"/>
          </p:nvPr>
        </p:nvSpPr>
        <p:spPr>
          <a:xfrm>
            <a:off x="1154083" y="1922354"/>
            <a:ext cx="10058400" cy="4023360"/>
          </a:xfrm>
        </p:spPr>
        <p:txBody>
          <a:bodyPr>
            <a:normAutofit/>
          </a:bodyPr>
          <a:lstStyle/>
          <a:p>
            <a:pPr marL="0" indent="0">
              <a:buNone/>
            </a:pPr>
            <a:r>
              <a:rPr lang="en-US" altLang="zh-TW" dirty="0"/>
              <a:t>The experimental dataset consists of 26 working days of original route data</a:t>
            </a:r>
          </a:p>
        </p:txBody>
      </p:sp>
      <p:sp>
        <p:nvSpPr>
          <p:cNvPr id="4" name="投影片編號版面配置區 3">
            <a:extLst>
              <a:ext uri="{FF2B5EF4-FFF2-40B4-BE49-F238E27FC236}">
                <a16:creationId xmlns:a16="http://schemas.microsoft.com/office/drawing/2014/main" id="{740735A7-4670-F5BF-4AA2-CF1D474A2A6B}"/>
              </a:ext>
            </a:extLst>
          </p:cNvPr>
          <p:cNvSpPr>
            <a:spLocks noGrp="1"/>
          </p:cNvSpPr>
          <p:nvPr>
            <p:ph type="sldNum" sz="quarter" idx="12"/>
          </p:nvPr>
        </p:nvSpPr>
        <p:spPr/>
        <p:txBody>
          <a:bodyPr/>
          <a:lstStyle/>
          <a:p>
            <a:fld id="{5AC25633-CB68-4D6B-BEE8-144406895708}" type="slidenum">
              <a:rPr lang="zh-TW" altLang="en-US" smtClean="0"/>
              <a:t>9</a:t>
            </a:fld>
            <a:endParaRPr lang="zh-TW" altLang="en-US"/>
          </a:p>
        </p:txBody>
      </p:sp>
      <p:sp>
        <p:nvSpPr>
          <p:cNvPr id="6" name="矩形 5">
            <a:extLst>
              <a:ext uri="{FF2B5EF4-FFF2-40B4-BE49-F238E27FC236}">
                <a16:creationId xmlns:a16="http://schemas.microsoft.com/office/drawing/2014/main" id="{FC1C9E0A-A96B-1757-1AB9-E365A6374141}"/>
              </a:ext>
            </a:extLst>
          </p:cNvPr>
          <p:cNvSpPr/>
          <p:nvPr/>
        </p:nvSpPr>
        <p:spPr>
          <a:xfrm>
            <a:off x="2465069" y="2626995"/>
            <a:ext cx="8212491" cy="8020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15867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E9F67-42A0-1946-C7D5-885B588B16CC}"/>
            </a:ext>
          </a:extLst>
        </p:cNvPr>
        <p:cNvGrpSpPr/>
        <p:nvPr/>
      </p:nvGrpSpPr>
      <p:grpSpPr>
        <a:xfrm>
          <a:off x="0" y="0"/>
          <a:ext cx="0" cy="0"/>
          <a:chOff x="0" y="0"/>
          <a:chExt cx="0" cy="0"/>
        </a:xfrm>
      </p:grpSpPr>
      <p:sp>
        <p:nvSpPr>
          <p:cNvPr id="42" name="矩形 41">
            <a:extLst>
              <a:ext uri="{FF2B5EF4-FFF2-40B4-BE49-F238E27FC236}">
                <a16:creationId xmlns:a16="http://schemas.microsoft.com/office/drawing/2014/main" id="{4DE34C45-7884-2B19-53A3-257DEDBE0F39}"/>
              </a:ext>
            </a:extLst>
          </p:cNvPr>
          <p:cNvSpPr/>
          <p:nvPr/>
        </p:nvSpPr>
        <p:spPr>
          <a:xfrm>
            <a:off x="3814907" y="2221202"/>
            <a:ext cx="2757055" cy="1246908"/>
          </a:xfrm>
          <a:prstGeom prst="rect">
            <a:avLst/>
          </a:prstGeom>
          <a:solidFill>
            <a:schemeClr val="tx2">
              <a:lumMod val="10000"/>
              <a:lumOff val="90000"/>
            </a:schemeClr>
          </a:solid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D4A3E128-97F4-B35E-7800-22BCB28C9E4C}"/>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B29CA8E0-62EE-A2B5-2A39-404CD35F7469}"/>
              </a:ext>
            </a:extLst>
          </p:cNvPr>
          <p:cNvSpPr>
            <a:spLocks noGrp="1"/>
          </p:cNvSpPr>
          <p:nvPr>
            <p:ph type="sldNum" sz="quarter" idx="12"/>
          </p:nvPr>
        </p:nvSpPr>
        <p:spPr/>
        <p:txBody>
          <a:bodyPr/>
          <a:lstStyle/>
          <a:p>
            <a:fld id="{5AC25633-CB68-4D6B-BEE8-144406895708}" type="slidenum">
              <a:rPr lang="zh-TW" altLang="en-US" smtClean="0"/>
              <a:t>10</a:t>
            </a:fld>
            <a:endParaRPr lang="zh-TW" altLang="en-US" dirty="0"/>
          </a:p>
        </p:txBody>
      </p:sp>
      <p:sp>
        <p:nvSpPr>
          <p:cNvPr id="21" name="矩形 20">
            <a:extLst>
              <a:ext uri="{FF2B5EF4-FFF2-40B4-BE49-F238E27FC236}">
                <a16:creationId xmlns:a16="http://schemas.microsoft.com/office/drawing/2014/main" id="{8B1E76D2-6668-B33E-B93C-CF4187003DD9}"/>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50A2DE06-6A4E-5621-1488-5714FF043EFB}"/>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23" name="矩形 22">
            <a:extLst>
              <a:ext uri="{FF2B5EF4-FFF2-40B4-BE49-F238E27FC236}">
                <a16:creationId xmlns:a16="http://schemas.microsoft.com/office/drawing/2014/main" id="{7632BD4B-B5AC-8302-1B37-CD92DA6DB1F2}"/>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24" name="矩形 23">
            <a:extLst>
              <a:ext uri="{FF2B5EF4-FFF2-40B4-BE49-F238E27FC236}">
                <a16:creationId xmlns:a16="http://schemas.microsoft.com/office/drawing/2014/main" id="{27C3B73A-096E-B7FA-1999-1CF1326456A5}"/>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25" name="矩形 24">
            <a:extLst>
              <a:ext uri="{FF2B5EF4-FFF2-40B4-BE49-F238E27FC236}">
                <a16:creationId xmlns:a16="http://schemas.microsoft.com/office/drawing/2014/main" id="{6E132534-0D1D-9BA4-C526-75FF6FAC9359}"/>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26" name="矩形 25">
            <a:extLst>
              <a:ext uri="{FF2B5EF4-FFF2-40B4-BE49-F238E27FC236}">
                <a16:creationId xmlns:a16="http://schemas.microsoft.com/office/drawing/2014/main" id="{8FEE3DCA-5C48-EF32-9F91-A0800284B161}"/>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27" name="矩形 26">
            <a:extLst>
              <a:ext uri="{FF2B5EF4-FFF2-40B4-BE49-F238E27FC236}">
                <a16:creationId xmlns:a16="http://schemas.microsoft.com/office/drawing/2014/main" id="{984110D7-298C-3AEC-2A1B-58F928E58C33}"/>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28" name="直線單箭頭接點 27">
            <a:extLst>
              <a:ext uri="{FF2B5EF4-FFF2-40B4-BE49-F238E27FC236}">
                <a16:creationId xmlns:a16="http://schemas.microsoft.com/office/drawing/2014/main" id="{A10F9F39-CA95-44FE-01F1-B0FE1CD124FA}"/>
              </a:ext>
            </a:extLst>
          </p:cNvPr>
          <p:cNvCxnSpPr>
            <a:cxnSpLocks/>
            <a:endCxn id="22"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2E86EE81-8515-3E13-1410-F2F508132810}"/>
              </a:ext>
            </a:extLst>
          </p:cNvPr>
          <p:cNvCxnSpPr>
            <a:cxnSpLocks/>
            <a:stCxn id="25"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35D09B4E-2498-F289-0636-536DD9E45D65}"/>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32" name="直線單箭頭接點 31">
            <a:extLst>
              <a:ext uri="{FF2B5EF4-FFF2-40B4-BE49-F238E27FC236}">
                <a16:creationId xmlns:a16="http://schemas.microsoft.com/office/drawing/2014/main" id="{70775EB4-8F87-8B95-FF86-5C8E8CB06D55}"/>
              </a:ext>
            </a:extLst>
          </p:cNvPr>
          <p:cNvCxnSpPr>
            <a:cxnSpLocks/>
            <a:stCxn id="22" idx="3"/>
            <a:endCxn id="23"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F34BCE55-C565-43A9-EFFA-33DCF9A6AD2D}"/>
              </a:ext>
            </a:extLst>
          </p:cNvPr>
          <p:cNvCxnSpPr>
            <a:cxnSpLocks/>
            <a:stCxn id="23" idx="3"/>
            <a:endCxn id="24"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43FE14F3-E099-6C67-DE05-F06AF91D3530}"/>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E6796C75-D59C-A16C-CF45-513289E6673E}"/>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C8A47E66-A424-0ACB-ED09-FBC960B82122}"/>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39" name="矩形 38">
            <a:extLst>
              <a:ext uri="{FF2B5EF4-FFF2-40B4-BE49-F238E27FC236}">
                <a16:creationId xmlns:a16="http://schemas.microsoft.com/office/drawing/2014/main" id="{E65DE6C4-78BE-FAD0-034B-6BD6B1EE2AD3}"/>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40" name="直線單箭頭接點 39">
            <a:extLst>
              <a:ext uri="{FF2B5EF4-FFF2-40B4-BE49-F238E27FC236}">
                <a16:creationId xmlns:a16="http://schemas.microsoft.com/office/drawing/2014/main" id="{B422E84B-BB3C-1E6B-2CF7-FAEB820E71A3}"/>
              </a:ext>
            </a:extLst>
          </p:cNvPr>
          <p:cNvCxnSpPr>
            <a:cxnSpLocks/>
            <a:stCxn id="24" idx="3"/>
            <a:endCxn id="39"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30F9379F-72D6-A3E9-4B91-CCD9B3C4355B}"/>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43" name="文字方塊 42">
            <a:extLst>
              <a:ext uri="{FF2B5EF4-FFF2-40B4-BE49-F238E27FC236}">
                <a16:creationId xmlns:a16="http://schemas.microsoft.com/office/drawing/2014/main" id="{B36E7CF0-26B0-3F07-D95E-13FAA005737C}"/>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45" name="接點: 肘形 44">
            <a:extLst>
              <a:ext uri="{FF2B5EF4-FFF2-40B4-BE49-F238E27FC236}">
                <a16:creationId xmlns:a16="http://schemas.microsoft.com/office/drawing/2014/main" id="{9BBF8663-AF33-9A4F-47A0-71AD7582C4CD}"/>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接點: 肘形 45">
            <a:extLst>
              <a:ext uri="{FF2B5EF4-FFF2-40B4-BE49-F238E27FC236}">
                <a16:creationId xmlns:a16="http://schemas.microsoft.com/office/drawing/2014/main" id="{B100FBD4-A1F6-84E9-A97E-772D765F66E9}"/>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流程圖: 磁碟 48">
            <a:extLst>
              <a:ext uri="{FF2B5EF4-FFF2-40B4-BE49-F238E27FC236}">
                <a16:creationId xmlns:a16="http://schemas.microsoft.com/office/drawing/2014/main" id="{F409F682-A017-F5A7-9DAD-207C87FF5009}"/>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55" name="文字方塊 8">
            <a:extLst>
              <a:ext uri="{FF2B5EF4-FFF2-40B4-BE49-F238E27FC236}">
                <a16:creationId xmlns:a16="http://schemas.microsoft.com/office/drawing/2014/main" id="{24A99D8B-E4E8-85F0-A4D2-1C39D269BDD2}"/>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56" name="文字方塊 8">
            <a:extLst>
              <a:ext uri="{FF2B5EF4-FFF2-40B4-BE49-F238E27FC236}">
                <a16:creationId xmlns:a16="http://schemas.microsoft.com/office/drawing/2014/main" id="{DD335CC4-2351-F11E-C85B-A4DC04E3B78E}"/>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57" name="直線單箭頭接點 56">
            <a:extLst>
              <a:ext uri="{FF2B5EF4-FFF2-40B4-BE49-F238E27FC236}">
                <a16:creationId xmlns:a16="http://schemas.microsoft.com/office/drawing/2014/main" id="{B0F3BBD8-FCCF-BB99-CDD4-630934B61F3B}"/>
              </a:ext>
            </a:extLst>
          </p:cNvPr>
          <p:cNvCxnSpPr>
            <a:cxnSpLocks/>
            <a:stCxn id="39" idx="3"/>
            <a:endCxn id="25"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接點: 肘形 63">
            <a:extLst>
              <a:ext uri="{FF2B5EF4-FFF2-40B4-BE49-F238E27FC236}">
                <a16:creationId xmlns:a16="http://schemas.microsoft.com/office/drawing/2014/main" id="{E6AC299C-BE1F-5B68-B4C8-0F3250E8C572}"/>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接點: 肘形 64">
            <a:extLst>
              <a:ext uri="{FF2B5EF4-FFF2-40B4-BE49-F238E27FC236}">
                <a16:creationId xmlns:a16="http://schemas.microsoft.com/office/drawing/2014/main" id="{992B4A75-4552-BA7B-9245-DC83F82BCB2C}"/>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C92114A5-D451-F032-9DAF-9C0E0C09B72E}"/>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a:extLst>
              <a:ext uri="{FF2B5EF4-FFF2-40B4-BE49-F238E27FC236}">
                <a16:creationId xmlns:a16="http://schemas.microsoft.com/office/drawing/2014/main" id="{2CCB469C-566E-E2CE-A772-F2A197EA9FB3}"/>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流程圖: 磁碟 5">
            <a:extLst>
              <a:ext uri="{FF2B5EF4-FFF2-40B4-BE49-F238E27FC236}">
                <a16:creationId xmlns:a16="http://schemas.microsoft.com/office/drawing/2014/main" id="{1C0CD1E2-CD28-636E-60EF-DE53E59F768B}"/>
              </a:ext>
            </a:extLst>
          </p:cNvPr>
          <p:cNvSpPr/>
          <p:nvPr/>
        </p:nvSpPr>
        <p:spPr>
          <a:xfrm>
            <a:off x="901102"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7" name="文字方塊 6">
            <a:extLst>
              <a:ext uri="{FF2B5EF4-FFF2-40B4-BE49-F238E27FC236}">
                <a16:creationId xmlns:a16="http://schemas.microsoft.com/office/drawing/2014/main" id="{3424B553-62E2-6CA3-8214-28E89F40352E}"/>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8" name="文字方塊 8">
            <a:extLst>
              <a:ext uri="{FF2B5EF4-FFF2-40B4-BE49-F238E27FC236}">
                <a16:creationId xmlns:a16="http://schemas.microsoft.com/office/drawing/2014/main" id="{1809D396-1F58-1E48-4044-A9B39B357829}"/>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372795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CBF164-222A-550A-F947-B6A2F595800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DBF1CB7-E22F-AC32-65B0-9C45B05EEDD5}"/>
              </a:ext>
            </a:extLst>
          </p:cNvPr>
          <p:cNvSpPr>
            <a:spLocks noGrp="1"/>
          </p:cNvSpPr>
          <p:nvPr>
            <p:ph type="title"/>
          </p:nvPr>
        </p:nvSpPr>
        <p:spPr/>
        <p:txBody>
          <a:bodyPr/>
          <a:lstStyle/>
          <a:p>
            <a:r>
              <a:rPr lang="en-US" altLang="zh-TW" dirty="0"/>
              <a:t>API Module</a:t>
            </a:r>
          </a:p>
        </p:txBody>
      </p:sp>
      <p:sp>
        <p:nvSpPr>
          <p:cNvPr id="4" name="投影片編號版面配置區 3">
            <a:extLst>
              <a:ext uri="{FF2B5EF4-FFF2-40B4-BE49-F238E27FC236}">
                <a16:creationId xmlns:a16="http://schemas.microsoft.com/office/drawing/2014/main" id="{2878BCB0-E8D5-7FCA-0A39-23E9DF9EEA12}"/>
              </a:ext>
            </a:extLst>
          </p:cNvPr>
          <p:cNvSpPr>
            <a:spLocks noGrp="1"/>
          </p:cNvSpPr>
          <p:nvPr>
            <p:ph type="sldNum" sz="quarter" idx="12"/>
          </p:nvPr>
        </p:nvSpPr>
        <p:spPr/>
        <p:txBody>
          <a:bodyPr/>
          <a:lstStyle/>
          <a:p>
            <a:fld id="{5AC25633-CB68-4D6B-BEE8-144406895708}" type="slidenum">
              <a:rPr lang="zh-TW" altLang="en-US" smtClean="0"/>
              <a:t>11</a:t>
            </a:fld>
            <a:endParaRPr lang="zh-TW" altLang="en-US"/>
          </a:p>
        </p:txBody>
      </p:sp>
      <p:sp>
        <p:nvSpPr>
          <p:cNvPr id="3" name="內容版面配置區 2">
            <a:extLst>
              <a:ext uri="{FF2B5EF4-FFF2-40B4-BE49-F238E27FC236}">
                <a16:creationId xmlns:a16="http://schemas.microsoft.com/office/drawing/2014/main" id="{9BBF2121-AB3E-BBB2-F2CF-950FCA41383C}"/>
              </a:ext>
            </a:extLst>
          </p:cNvPr>
          <p:cNvSpPr>
            <a:spLocks noGrp="1"/>
          </p:cNvSpPr>
          <p:nvPr>
            <p:ph idx="1"/>
          </p:nvPr>
        </p:nvSpPr>
        <p:spPr>
          <a:xfrm>
            <a:off x="1097280" y="1845734"/>
            <a:ext cx="10058400" cy="4023360"/>
          </a:xfrm>
        </p:spPr>
        <p:txBody>
          <a:bodyPr>
            <a:normAutofit/>
          </a:bodyPr>
          <a:lstStyle/>
          <a:p>
            <a:pPr marL="457200" indent="-457200">
              <a:buClr>
                <a:schemeClr val="accent1">
                  <a:lumMod val="50000"/>
                </a:schemeClr>
              </a:buClr>
              <a:buFont typeface="+mj-lt"/>
              <a:buAutoNum type="arabicPeriod"/>
            </a:pPr>
            <a:r>
              <a:rPr lang="en-US" altLang="zh-TW" dirty="0">
                <a:solidFill>
                  <a:schemeClr val="tx1"/>
                </a:solidFill>
              </a:rPr>
              <a:t>Open Source Routing Machine (OSRM)</a:t>
            </a:r>
          </a:p>
          <a:p>
            <a:pPr marL="749808" lvl="1" indent="-457200">
              <a:lnSpc>
                <a:spcPct val="150000"/>
              </a:lnSpc>
            </a:pPr>
            <a:r>
              <a:rPr lang="en-US" altLang="zh-TW" dirty="0"/>
              <a:t>Provides distance and travel time matrices for efficient route planning and optimization</a:t>
            </a:r>
            <a:endParaRPr lang="en-US" altLang="zh-TW" dirty="0">
              <a:solidFill>
                <a:schemeClr val="tx1"/>
              </a:solidFill>
            </a:endParaRPr>
          </a:p>
          <a:p>
            <a:pPr marL="457200" indent="-457200">
              <a:buClr>
                <a:schemeClr val="accent1">
                  <a:lumMod val="50000"/>
                </a:schemeClr>
              </a:buClr>
              <a:buFont typeface="+mj-lt"/>
              <a:buAutoNum type="arabicPeriod"/>
            </a:pPr>
            <a:r>
              <a:rPr lang="en-US" altLang="zh-TW" dirty="0">
                <a:solidFill>
                  <a:schemeClr val="tx1"/>
                </a:solidFill>
              </a:rPr>
              <a:t>Google Maps Routes API</a:t>
            </a:r>
          </a:p>
          <a:p>
            <a:pPr marL="749808" lvl="1" indent="-457200">
              <a:lnSpc>
                <a:spcPct val="150000"/>
              </a:lnSpc>
            </a:pPr>
            <a:r>
              <a:rPr lang="en-US" altLang="zh-TW" dirty="0"/>
              <a:t>Validate and evaluate routing results using real-world road network data</a:t>
            </a:r>
            <a:endParaRPr lang="en-US" altLang="zh-TW" dirty="0">
              <a:solidFill>
                <a:schemeClr val="tx1"/>
              </a:solidFill>
            </a:endParaRPr>
          </a:p>
        </p:txBody>
      </p:sp>
    </p:spTree>
    <p:extLst>
      <p:ext uri="{BB962C8B-B14F-4D97-AF65-F5344CB8AC3E}">
        <p14:creationId xmlns:p14="http://schemas.microsoft.com/office/powerpoint/2010/main" val="1094491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39C1CA-DD24-4A12-5D5F-3A82C96C9BC6}"/>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29A02197-68A9-A4FD-D546-DE3598D28A89}"/>
              </a:ext>
            </a:extLst>
          </p:cNvPr>
          <p:cNvSpPr/>
          <p:nvPr/>
        </p:nvSpPr>
        <p:spPr>
          <a:xfrm>
            <a:off x="2207260" y="3713020"/>
            <a:ext cx="1372770" cy="1246908"/>
          </a:xfrm>
          <a:prstGeom prst="rect">
            <a:avLst/>
          </a:prstGeom>
          <a:solidFill>
            <a:schemeClr val="tx2">
              <a:lumMod val="10000"/>
              <a:lumOff val="90000"/>
            </a:schemeClr>
          </a:solid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F9EB62B6-C05B-B826-3AD0-8E789DB586F6}"/>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55DF2276-5FE8-2AF5-E14A-71839C0B500C}"/>
              </a:ext>
            </a:extLst>
          </p:cNvPr>
          <p:cNvSpPr>
            <a:spLocks noGrp="1"/>
          </p:cNvSpPr>
          <p:nvPr>
            <p:ph type="sldNum" sz="quarter" idx="12"/>
          </p:nvPr>
        </p:nvSpPr>
        <p:spPr/>
        <p:txBody>
          <a:bodyPr/>
          <a:lstStyle/>
          <a:p>
            <a:fld id="{5AC25633-CB68-4D6B-BEE8-144406895708}" type="slidenum">
              <a:rPr lang="zh-TW" altLang="en-US" smtClean="0"/>
              <a:t>12</a:t>
            </a:fld>
            <a:endParaRPr lang="zh-TW" altLang="en-US"/>
          </a:p>
        </p:txBody>
      </p:sp>
      <p:sp>
        <p:nvSpPr>
          <p:cNvPr id="70" name="矩形 69">
            <a:extLst>
              <a:ext uri="{FF2B5EF4-FFF2-40B4-BE49-F238E27FC236}">
                <a16:creationId xmlns:a16="http://schemas.microsoft.com/office/drawing/2014/main" id="{6D433C4F-C116-D753-F10C-2ACE65D08501}"/>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71" name="矩形 70">
            <a:extLst>
              <a:ext uri="{FF2B5EF4-FFF2-40B4-BE49-F238E27FC236}">
                <a16:creationId xmlns:a16="http://schemas.microsoft.com/office/drawing/2014/main" id="{7C9FC527-0D13-C3D0-98DB-092E8E243681}"/>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72" name="矩形 71">
            <a:extLst>
              <a:ext uri="{FF2B5EF4-FFF2-40B4-BE49-F238E27FC236}">
                <a16:creationId xmlns:a16="http://schemas.microsoft.com/office/drawing/2014/main" id="{2256E83E-13B4-D1C5-00C6-7E924A8F8126}"/>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74" name="矩形 73">
            <a:extLst>
              <a:ext uri="{FF2B5EF4-FFF2-40B4-BE49-F238E27FC236}">
                <a16:creationId xmlns:a16="http://schemas.microsoft.com/office/drawing/2014/main" id="{44403AE3-C179-8837-098B-1CB13A284159}"/>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75" name="矩形 74">
            <a:extLst>
              <a:ext uri="{FF2B5EF4-FFF2-40B4-BE49-F238E27FC236}">
                <a16:creationId xmlns:a16="http://schemas.microsoft.com/office/drawing/2014/main" id="{05C9C2D2-4C78-41ED-22C4-1362FD0A5173}"/>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76" name="矩形 75">
            <a:extLst>
              <a:ext uri="{FF2B5EF4-FFF2-40B4-BE49-F238E27FC236}">
                <a16:creationId xmlns:a16="http://schemas.microsoft.com/office/drawing/2014/main" id="{CD586774-D59E-E108-CC7A-DF11509C22C3}"/>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8" name="直線單箭頭接點 7">
            <a:extLst>
              <a:ext uri="{FF2B5EF4-FFF2-40B4-BE49-F238E27FC236}">
                <a16:creationId xmlns:a16="http://schemas.microsoft.com/office/drawing/2014/main" id="{EADE8EE8-4BCC-DA45-8205-9238E3425C84}"/>
              </a:ext>
            </a:extLst>
          </p:cNvPr>
          <p:cNvCxnSpPr>
            <a:cxnSpLocks/>
            <a:endCxn id="70"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8C21C82C-A38A-CF8A-22A3-3954A785B804}"/>
              </a:ext>
            </a:extLst>
          </p:cNvPr>
          <p:cNvCxnSpPr>
            <a:cxnSpLocks/>
            <a:stCxn id="74"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文字方塊 34">
            <a:extLst>
              <a:ext uri="{FF2B5EF4-FFF2-40B4-BE49-F238E27FC236}">
                <a16:creationId xmlns:a16="http://schemas.microsoft.com/office/drawing/2014/main" id="{D6689092-10C8-3F9A-9985-F5B8D94A3FB9}"/>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44" name="直線單箭頭接點 43">
            <a:extLst>
              <a:ext uri="{FF2B5EF4-FFF2-40B4-BE49-F238E27FC236}">
                <a16:creationId xmlns:a16="http://schemas.microsoft.com/office/drawing/2014/main" id="{0D406E31-B4FC-DF48-55B3-5841648A58FC}"/>
              </a:ext>
            </a:extLst>
          </p:cNvPr>
          <p:cNvCxnSpPr>
            <a:cxnSpLocks/>
            <a:stCxn id="70" idx="3"/>
            <a:endCxn id="71"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57F2F843-4E20-1BD7-F2FE-95BBDEE32CAC}"/>
              </a:ext>
            </a:extLst>
          </p:cNvPr>
          <p:cNvCxnSpPr>
            <a:cxnSpLocks/>
            <a:stCxn id="71" idx="3"/>
            <a:endCxn id="72"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138ECD51-95EE-D28D-86FC-F8D2807A2A35}"/>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a:extLst>
              <a:ext uri="{FF2B5EF4-FFF2-40B4-BE49-F238E27FC236}">
                <a16:creationId xmlns:a16="http://schemas.microsoft.com/office/drawing/2014/main" id="{0CDEF641-C9F3-0D29-D3E0-45BEC5CCA826}"/>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文字方塊 80">
            <a:extLst>
              <a:ext uri="{FF2B5EF4-FFF2-40B4-BE49-F238E27FC236}">
                <a16:creationId xmlns:a16="http://schemas.microsoft.com/office/drawing/2014/main" id="{290E37EA-476E-3318-71F6-66515E756E90}"/>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90" name="矩形 89">
            <a:extLst>
              <a:ext uri="{FF2B5EF4-FFF2-40B4-BE49-F238E27FC236}">
                <a16:creationId xmlns:a16="http://schemas.microsoft.com/office/drawing/2014/main" id="{CD84B0AC-7937-98FF-B926-0BEEB31009B9}"/>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91" name="直線單箭頭接點 90">
            <a:extLst>
              <a:ext uri="{FF2B5EF4-FFF2-40B4-BE49-F238E27FC236}">
                <a16:creationId xmlns:a16="http://schemas.microsoft.com/office/drawing/2014/main" id="{F7003A2E-AF3B-57D3-4FD7-A007BB7CC2AF}"/>
              </a:ext>
            </a:extLst>
          </p:cNvPr>
          <p:cNvCxnSpPr>
            <a:cxnSpLocks/>
            <a:stCxn id="72" idx="3"/>
            <a:endCxn id="90"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文字方塊 93">
            <a:extLst>
              <a:ext uri="{FF2B5EF4-FFF2-40B4-BE49-F238E27FC236}">
                <a16:creationId xmlns:a16="http://schemas.microsoft.com/office/drawing/2014/main" id="{10E7B7B2-90FC-5EBE-E056-386470EF927C}"/>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104" name="矩形 103">
            <a:extLst>
              <a:ext uri="{FF2B5EF4-FFF2-40B4-BE49-F238E27FC236}">
                <a16:creationId xmlns:a16="http://schemas.microsoft.com/office/drawing/2014/main" id="{99F50C1B-B115-4887-6882-5B6836AE2C95}"/>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文字方塊 106">
            <a:extLst>
              <a:ext uri="{FF2B5EF4-FFF2-40B4-BE49-F238E27FC236}">
                <a16:creationId xmlns:a16="http://schemas.microsoft.com/office/drawing/2014/main" id="{03140A68-8EED-9682-60AC-861D8A5A46A3}"/>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140" name="接點: 肘形 139">
            <a:extLst>
              <a:ext uri="{FF2B5EF4-FFF2-40B4-BE49-F238E27FC236}">
                <a16:creationId xmlns:a16="http://schemas.microsoft.com/office/drawing/2014/main" id="{C3F899A0-D982-68B2-8632-F2417DCAEC8A}"/>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接點: 肘形 144">
            <a:extLst>
              <a:ext uri="{FF2B5EF4-FFF2-40B4-BE49-F238E27FC236}">
                <a16:creationId xmlns:a16="http://schemas.microsoft.com/office/drawing/2014/main" id="{A425C25F-D584-4BB8-82FA-89DA25A9213B}"/>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流程圖: 磁碟 12">
            <a:extLst>
              <a:ext uri="{FF2B5EF4-FFF2-40B4-BE49-F238E27FC236}">
                <a16:creationId xmlns:a16="http://schemas.microsoft.com/office/drawing/2014/main" id="{EC19F867-725C-021C-7FE6-5E45B3AAE183}"/>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19" name="文字方塊 8">
            <a:extLst>
              <a:ext uri="{FF2B5EF4-FFF2-40B4-BE49-F238E27FC236}">
                <a16:creationId xmlns:a16="http://schemas.microsoft.com/office/drawing/2014/main" id="{D4930C9A-8C8F-9189-046B-C7D99C931A92}"/>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20" name="文字方塊 8">
            <a:extLst>
              <a:ext uri="{FF2B5EF4-FFF2-40B4-BE49-F238E27FC236}">
                <a16:creationId xmlns:a16="http://schemas.microsoft.com/office/drawing/2014/main" id="{FEFD8DD3-0ABA-3EC3-61FD-44F2CE86ED68}"/>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21" name="直線單箭頭接點 20">
            <a:extLst>
              <a:ext uri="{FF2B5EF4-FFF2-40B4-BE49-F238E27FC236}">
                <a16:creationId xmlns:a16="http://schemas.microsoft.com/office/drawing/2014/main" id="{97BC4CD7-1BAA-FDE9-601E-B8CCD6327E39}"/>
              </a:ext>
            </a:extLst>
          </p:cNvPr>
          <p:cNvCxnSpPr>
            <a:cxnSpLocks/>
            <a:stCxn id="90" idx="3"/>
            <a:endCxn id="74"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接點: 肘形 39">
            <a:extLst>
              <a:ext uri="{FF2B5EF4-FFF2-40B4-BE49-F238E27FC236}">
                <a16:creationId xmlns:a16="http://schemas.microsoft.com/office/drawing/2014/main" id="{6D8C7326-BD4D-73DE-B003-F516F5FE7A42}"/>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接點: 肘形 47">
            <a:extLst>
              <a:ext uri="{FF2B5EF4-FFF2-40B4-BE49-F238E27FC236}">
                <a16:creationId xmlns:a16="http://schemas.microsoft.com/office/drawing/2014/main" id="{792AFDE7-7349-695C-D56A-02AC8AFB9835}"/>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2377B2C2-A331-04B8-AEB4-ED04D4ED7B27}"/>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a:extLst>
              <a:ext uri="{FF2B5EF4-FFF2-40B4-BE49-F238E27FC236}">
                <a16:creationId xmlns:a16="http://schemas.microsoft.com/office/drawing/2014/main" id="{CF8ED433-9397-66EF-FE12-AC70FFA589A7}"/>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流程圖: 磁碟 8">
            <a:extLst>
              <a:ext uri="{FF2B5EF4-FFF2-40B4-BE49-F238E27FC236}">
                <a16:creationId xmlns:a16="http://schemas.microsoft.com/office/drawing/2014/main" id="{5E2181D1-8613-B60F-5F0F-B4223DABACDA}"/>
              </a:ext>
            </a:extLst>
          </p:cNvPr>
          <p:cNvSpPr/>
          <p:nvPr/>
        </p:nvSpPr>
        <p:spPr>
          <a:xfrm>
            <a:off x="901102"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10" name="文字方塊 9">
            <a:extLst>
              <a:ext uri="{FF2B5EF4-FFF2-40B4-BE49-F238E27FC236}">
                <a16:creationId xmlns:a16="http://schemas.microsoft.com/office/drawing/2014/main" id="{27D31FDA-518F-4DEE-A9AD-DB2FFC2F32B3}"/>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11" name="文字方塊 8">
            <a:extLst>
              <a:ext uri="{FF2B5EF4-FFF2-40B4-BE49-F238E27FC236}">
                <a16:creationId xmlns:a16="http://schemas.microsoft.com/office/drawing/2014/main" id="{EC415E7D-136C-E691-2683-3353E7658532}"/>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3642292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5D5740-47DF-0445-B214-A9CA7FC9B27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D586047-D1EB-B261-6175-FC49FBE48FE7}"/>
              </a:ext>
            </a:extLst>
          </p:cNvPr>
          <p:cNvSpPr>
            <a:spLocks noGrp="1"/>
          </p:cNvSpPr>
          <p:nvPr>
            <p:ph type="title"/>
          </p:nvPr>
        </p:nvSpPr>
        <p:spPr/>
        <p:txBody>
          <a:bodyPr/>
          <a:lstStyle/>
          <a:p>
            <a:r>
              <a:rPr lang="en-US" altLang="zh-TW" dirty="0"/>
              <a:t>Data Preprocessing</a:t>
            </a:r>
            <a:endParaRPr lang="zh-TW" altLang="en-US" dirty="0"/>
          </a:p>
        </p:txBody>
      </p:sp>
      <p:sp>
        <p:nvSpPr>
          <p:cNvPr id="3" name="內容版面配置區 2">
            <a:extLst>
              <a:ext uri="{FF2B5EF4-FFF2-40B4-BE49-F238E27FC236}">
                <a16:creationId xmlns:a16="http://schemas.microsoft.com/office/drawing/2014/main" id="{BAA90961-2B7B-ABEF-C5B4-6C4099DD6FEB}"/>
              </a:ext>
            </a:extLst>
          </p:cNvPr>
          <p:cNvSpPr>
            <a:spLocks noGrp="1"/>
          </p:cNvSpPr>
          <p:nvPr>
            <p:ph idx="1"/>
          </p:nvPr>
        </p:nvSpPr>
        <p:spPr>
          <a:xfrm>
            <a:off x="1154083" y="1922354"/>
            <a:ext cx="10058400" cy="4023360"/>
          </a:xfrm>
        </p:spPr>
        <p:txBody>
          <a:bodyPr>
            <a:normAutofit/>
          </a:bodyPr>
          <a:lstStyle/>
          <a:p>
            <a:pPr marL="0" indent="0">
              <a:buNone/>
            </a:pPr>
            <a:r>
              <a:rPr lang="zh-TW" altLang="zh-TW" dirty="0"/>
              <a:t>Data preprocessing consists of data cleaning and data transformation processes</a:t>
            </a:r>
            <a:endParaRPr lang="en-US" altLang="zh-TW" dirty="0"/>
          </a:p>
          <a:p>
            <a:pPr marL="457200" indent="-457200">
              <a:buClr>
                <a:schemeClr val="accent1">
                  <a:lumMod val="50000"/>
                </a:schemeClr>
              </a:buClr>
              <a:buFont typeface="+mj-lt"/>
              <a:buAutoNum type="arabicPeriod"/>
            </a:pPr>
            <a:r>
              <a:rPr lang="en-US" altLang="zh-TW" dirty="0">
                <a:solidFill>
                  <a:schemeClr val="tx1"/>
                </a:solidFill>
              </a:rPr>
              <a:t>Data Cleaning</a:t>
            </a:r>
          </a:p>
          <a:p>
            <a:pPr marL="749808" lvl="1" indent="-457200">
              <a:lnSpc>
                <a:spcPct val="150000"/>
              </a:lnSpc>
            </a:pPr>
            <a:r>
              <a:rPr lang="en-US" altLang="zh-TW" dirty="0"/>
              <a:t>Handle missing or incomplete store attributes</a:t>
            </a:r>
            <a:endParaRPr lang="en-US" altLang="zh-TW" dirty="0">
              <a:solidFill>
                <a:schemeClr val="tx1"/>
              </a:solidFill>
            </a:endParaRPr>
          </a:p>
          <a:p>
            <a:pPr marL="457200" indent="-457200">
              <a:buClr>
                <a:schemeClr val="accent1">
                  <a:lumMod val="50000"/>
                </a:schemeClr>
              </a:buClr>
              <a:buFont typeface="+mj-lt"/>
              <a:buAutoNum type="arabicPeriod"/>
            </a:pPr>
            <a:r>
              <a:rPr lang="en-US" altLang="zh-TW" dirty="0">
                <a:solidFill>
                  <a:schemeClr val="tx1"/>
                </a:solidFill>
              </a:rPr>
              <a:t>Data Transformation</a:t>
            </a:r>
          </a:p>
          <a:p>
            <a:pPr marL="749808" lvl="1" indent="-457200">
              <a:lnSpc>
                <a:spcPct val="150000"/>
              </a:lnSpc>
            </a:pPr>
            <a:r>
              <a:rPr lang="en-US" altLang="zh-TW" dirty="0"/>
              <a:t>Convert the </a:t>
            </a:r>
            <a:r>
              <a:rPr lang="zh-TW" altLang="zh-TW" dirty="0"/>
              <a:t>data</a:t>
            </a:r>
            <a:r>
              <a:rPr lang="en-US" altLang="zh-TW" dirty="0"/>
              <a:t> into a structured format for routing optimization</a:t>
            </a:r>
          </a:p>
        </p:txBody>
      </p:sp>
      <p:sp>
        <p:nvSpPr>
          <p:cNvPr id="4" name="投影片編號版面配置區 3">
            <a:extLst>
              <a:ext uri="{FF2B5EF4-FFF2-40B4-BE49-F238E27FC236}">
                <a16:creationId xmlns:a16="http://schemas.microsoft.com/office/drawing/2014/main" id="{A3F0DF4D-A988-76A4-1C40-A2604F798E5C}"/>
              </a:ext>
            </a:extLst>
          </p:cNvPr>
          <p:cNvSpPr>
            <a:spLocks noGrp="1"/>
          </p:cNvSpPr>
          <p:nvPr>
            <p:ph type="sldNum" sz="quarter" idx="12"/>
          </p:nvPr>
        </p:nvSpPr>
        <p:spPr/>
        <p:txBody>
          <a:bodyPr/>
          <a:lstStyle/>
          <a:p>
            <a:fld id="{5AC25633-CB68-4D6B-BEE8-144406895708}" type="slidenum">
              <a:rPr lang="zh-TW" altLang="en-US" smtClean="0"/>
              <a:t>13</a:t>
            </a:fld>
            <a:endParaRPr lang="zh-TW" altLang="en-US"/>
          </a:p>
        </p:txBody>
      </p:sp>
    </p:spTree>
    <p:extLst>
      <p:ext uri="{BB962C8B-B14F-4D97-AF65-F5344CB8AC3E}">
        <p14:creationId xmlns:p14="http://schemas.microsoft.com/office/powerpoint/2010/main" val="1137932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917184-93EA-DDB1-3A13-4F2AB2A1AEFA}"/>
            </a:ext>
          </a:extLst>
        </p:cNvPr>
        <p:cNvGrpSpPr/>
        <p:nvPr/>
      </p:nvGrpSpPr>
      <p:grpSpPr>
        <a:xfrm>
          <a:off x="0" y="0"/>
          <a:ext cx="0" cy="0"/>
          <a:chOff x="0" y="0"/>
          <a:chExt cx="0" cy="0"/>
        </a:xfrm>
      </p:grpSpPr>
      <p:sp>
        <p:nvSpPr>
          <p:cNvPr id="37" name="矩形 36">
            <a:extLst>
              <a:ext uri="{FF2B5EF4-FFF2-40B4-BE49-F238E27FC236}">
                <a16:creationId xmlns:a16="http://schemas.microsoft.com/office/drawing/2014/main" id="{09159969-96DE-2414-7C04-685AFF1892A0}"/>
              </a:ext>
            </a:extLst>
          </p:cNvPr>
          <p:cNvSpPr/>
          <p:nvPr/>
        </p:nvSpPr>
        <p:spPr>
          <a:xfrm>
            <a:off x="3814907" y="3713020"/>
            <a:ext cx="4144530" cy="1246908"/>
          </a:xfrm>
          <a:prstGeom prst="rect">
            <a:avLst/>
          </a:prstGeom>
          <a:solidFill>
            <a:schemeClr val="tx2">
              <a:lumMod val="10000"/>
              <a:lumOff val="90000"/>
            </a:schemeClr>
          </a:solid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0A833890-DA4C-BD15-26ED-DE6D81557D49}"/>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695D1273-A037-C083-AC5B-6DF320A10F90}"/>
              </a:ext>
            </a:extLst>
          </p:cNvPr>
          <p:cNvSpPr>
            <a:spLocks noGrp="1"/>
          </p:cNvSpPr>
          <p:nvPr>
            <p:ph type="sldNum" sz="quarter" idx="12"/>
          </p:nvPr>
        </p:nvSpPr>
        <p:spPr/>
        <p:txBody>
          <a:bodyPr/>
          <a:lstStyle/>
          <a:p>
            <a:fld id="{5AC25633-CB68-4D6B-BEE8-144406895708}" type="slidenum">
              <a:rPr lang="zh-TW" altLang="en-US" smtClean="0"/>
              <a:t>14</a:t>
            </a:fld>
            <a:endParaRPr lang="zh-TW" altLang="en-US"/>
          </a:p>
        </p:txBody>
      </p:sp>
      <p:sp>
        <p:nvSpPr>
          <p:cNvPr id="21" name="矩形 20">
            <a:extLst>
              <a:ext uri="{FF2B5EF4-FFF2-40B4-BE49-F238E27FC236}">
                <a16:creationId xmlns:a16="http://schemas.microsoft.com/office/drawing/2014/main" id="{7DF78278-D091-96ED-BCFD-F9A62F2A0CFA}"/>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2AB1863C-77FF-8B05-CFF3-0E5CA7E884FF}"/>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23" name="矩形 22">
            <a:extLst>
              <a:ext uri="{FF2B5EF4-FFF2-40B4-BE49-F238E27FC236}">
                <a16:creationId xmlns:a16="http://schemas.microsoft.com/office/drawing/2014/main" id="{D18E3EF6-E867-FA00-D24A-648C48355F48}"/>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24" name="矩形 23">
            <a:extLst>
              <a:ext uri="{FF2B5EF4-FFF2-40B4-BE49-F238E27FC236}">
                <a16:creationId xmlns:a16="http://schemas.microsoft.com/office/drawing/2014/main" id="{703E00C2-917A-CC9E-EBAB-96F38F1DBED5}"/>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25" name="矩形 24">
            <a:extLst>
              <a:ext uri="{FF2B5EF4-FFF2-40B4-BE49-F238E27FC236}">
                <a16:creationId xmlns:a16="http://schemas.microsoft.com/office/drawing/2014/main" id="{9DF65256-92EB-FFF4-9CEB-4F1F110CD6A2}"/>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26" name="矩形 25">
            <a:extLst>
              <a:ext uri="{FF2B5EF4-FFF2-40B4-BE49-F238E27FC236}">
                <a16:creationId xmlns:a16="http://schemas.microsoft.com/office/drawing/2014/main" id="{57994DE3-112C-F927-64F6-6C69F57BFFF0}"/>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27" name="矩形 26">
            <a:extLst>
              <a:ext uri="{FF2B5EF4-FFF2-40B4-BE49-F238E27FC236}">
                <a16:creationId xmlns:a16="http://schemas.microsoft.com/office/drawing/2014/main" id="{BB094508-D559-AD4C-03D5-AA2703CE8849}"/>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28" name="直線單箭頭接點 27">
            <a:extLst>
              <a:ext uri="{FF2B5EF4-FFF2-40B4-BE49-F238E27FC236}">
                <a16:creationId xmlns:a16="http://schemas.microsoft.com/office/drawing/2014/main" id="{18C7852B-220E-3E57-EEB6-82C5580F9183}"/>
              </a:ext>
            </a:extLst>
          </p:cNvPr>
          <p:cNvCxnSpPr>
            <a:cxnSpLocks/>
            <a:endCxn id="22"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38194188-B3B9-5B6F-ECE7-9F8E4BAC6F08}"/>
              </a:ext>
            </a:extLst>
          </p:cNvPr>
          <p:cNvCxnSpPr>
            <a:cxnSpLocks/>
            <a:stCxn id="25"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85A96671-9275-D83F-667E-E61F65070E70}"/>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32" name="直線單箭頭接點 31">
            <a:extLst>
              <a:ext uri="{FF2B5EF4-FFF2-40B4-BE49-F238E27FC236}">
                <a16:creationId xmlns:a16="http://schemas.microsoft.com/office/drawing/2014/main" id="{3FFEEE69-A0E6-EBB2-8D18-1572135C6486}"/>
              </a:ext>
            </a:extLst>
          </p:cNvPr>
          <p:cNvCxnSpPr>
            <a:cxnSpLocks/>
            <a:stCxn id="22" idx="3"/>
            <a:endCxn id="23"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4C733326-DFE0-7B1A-B48B-21D5497D74F0}"/>
              </a:ext>
            </a:extLst>
          </p:cNvPr>
          <p:cNvCxnSpPr>
            <a:cxnSpLocks/>
            <a:stCxn id="23" idx="3"/>
            <a:endCxn id="24"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856AA079-8038-06AE-55B2-420632127194}"/>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120709D5-CB70-82AB-BFF1-0C038C5AF01A}"/>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39" name="矩形 38">
            <a:extLst>
              <a:ext uri="{FF2B5EF4-FFF2-40B4-BE49-F238E27FC236}">
                <a16:creationId xmlns:a16="http://schemas.microsoft.com/office/drawing/2014/main" id="{5308B44A-D481-D1FC-B7C2-5D1A21D6E9EC}"/>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40" name="直線單箭頭接點 39">
            <a:extLst>
              <a:ext uri="{FF2B5EF4-FFF2-40B4-BE49-F238E27FC236}">
                <a16:creationId xmlns:a16="http://schemas.microsoft.com/office/drawing/2014/main" id="{9431D27C-BCC4-0ECB-00F2-4C046AE2287A}"/>
              </a:ext>
            </a:extLst>
          </p:cNvPr>
          <p:cNvCxnSpPr>
            <a:cxnSpLocks/>
            <a:stCxn id="24" idx="3"/>
            <a:endCxn id="39"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字方塊 40">
            <a:extLst>
              <a:ext uri="{FF2B5EF4-FFF2-40B4-BE49-F238E27FC236}">
                <a16:creationId xmlns:a16="http://schemas.microsoft.com/office/drawing/2014/main" id="{D79E2643-3509-6294-7390-46434BDE960D}"/>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42" name="矩形 41">
            <a:extLst>
              <a:ext uri="{FF2B5EF4-FFF2-40B4-BE49-F238E27FC236}">
                <a16:creationId xmlns:a16="http://schemas.microsoft.com/office/drawing/2014/main" id="{ADDCF806-5380-C025-4D3C-8996566C9E2F}"/>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文字方塊 42">
            <a:extLst>
              <a:ext uri="{FF2B5EF4-FFF2-40B4-BE49-F238E27FC236}">
                <a16:creationId xmlns:a16="http://schemas.microsoft.com/office/drawing/2014/main" id="{6ECD02AE-D2E1-4E5D-B8B1-3C23650DB426}"/>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45" name="接點: 肘形 44">
            <a:extLst>
              <a:ext uri="{FF2B5EF4-FFF2-40B4-BE49-F238E27FC236}">
                <a16:creationId xmlns:a16="http://schemas.microsoft.com/office/drawing/2014/main" id="{D2457337-DE23-9B59-AD66-44054787D36B}"/>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接點: 肘形 45">
            <a:extLst>
              <a:ext uri="{FF2B5EF4-FFF2-40B4-BE49-F238E27FC236}">
                <a16:creationId xmlns:a16="http://schemas.microsoft.com/office/drawing/2014/main" id="{7EED67C6-2581-78E9-6165-6EE01856A709}"/>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流程圖: 磁碟 48">
            <a:extLst>
              <a:ext uri="{FF2B5EF4-FFF2-40B4-BE49-F238E27FC236}">
                <a16:creationId xmlns:a16="http://schemas.microsoft.com/office/drawing/2014/main" id="{67A26891-6175-B0FA-5C0A-69E45EE57F7B}"/>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55" name="文字方塊 8">
            <a:extLst>
              <a:ext uri="{FF2B5EF4-FFF2-40B4-BE49-F238E27FC236}">
                <a16:creationId xmlns:a16="http://schemas.microsoft.com/office/drawing/2014/main" id="{430873D7-7A2C-E997-42EC-3A8EDD5EC264}"/>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56" name="文字方塊 8">
            <a:extLst>
              <a:ext uri="{FF2B5EF4-FFF2-40B4-BE49-F238E27FC236}">
                <a16:creationId xmlns:a16="http://schemas.microsoft.com/office/drawing/2014/main" id="{D68C66C5-6F5B-B0E7-2154-CCE6C7842AA0}"/>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57" name="直線單箭頭接點 56">
            <a:extLst>
              <a:ext uri="{FF2B5EF4-FFF2-40B4-BE49-F238E27FC236}">
                <a16:creationId xmlns:a16="http://schemas.microsoft.com/office/drawing/2014/main" id="{CD2563A3-EA51-3B31-EDA6-F41B16878C6F}"/>
              </a:ext>
            </a:extLst>
          </p:cNvPr>
          <p:cNvCxnSpPr>
            <a:cxnSpLocks/>
            <a:stCxn id="39" idx="3"/>
            <a:endCxn id="25"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接點: 肘形 63">
            <a:extLst>
              <a:ext uri="{FF2B5EF4-FFF2-40B4-BE49-F238E27FC236}">
                <a16:creationId xmlns:a16="http://schemas.microsoft.com/office/drawing/2014/main" id="{2F814A8B-385D-9DB5-3A8D-15FB79689CC4}"/>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接點: 肘形 64">
            <a:extLst>
              <a:ext uri="{FF2B5EF4-FFF2-40B4-BE49-F238E27FC236}">
                <a16:creationId xmlns:a16="http://schemas.microsoft.com/office/drawing/2014/main" id="{94D4A820-31C8-11C6-E819-AAB5B95DA631}"/>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2420C91C-11B3-D738-7A14-D9F4E84E320F}"/>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a:extLst>
              <a:ext uri="{FF2B5EF4-FFF2-40B4-BE49-F238E27FC236}">
                <a16:creationId xmlns:a16="http://schemas.microsoft.com/office/drawing/2014/main" id="{E291AE6E-D216-1184-4257-1244FC086C38}"/>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流程圖: 磁碟 5">
            <a:extLst>
              <a:ext uri="{FF2B5EF4-FFF2-40B4-BE49-F238E27FC236}">
                <a16:creationId xmlns:a16="http://schemas.microsoft.com/office/drawing/2014/main" id="{9F9D287D-DE48-AB50-B06B-C320B6A023D5}"/>
              </a:ext>
            </a:extLst>
          </p:cNvPr>
          <p:cNvSpPr/>
          <p:nvPr/>
        </p:nvSpPr>
        <p:spPr>
          <a:xfrm>
            <a:off x="901102"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7" name="文字方塊 6">
            <a:extLst>
              <a:ext uri="{FF2B5EF4-FFF2-40B4-BE49-F238E27FC236}">
                <a16:creationId xmlns:a16="http://schemas.microsoft.com/office/drawing/2014/main" id="{6F02E731-8806-0F3F-45E5-B684542DB213}"/>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8" name="文字方塊 8">
            <a:extLst>
              <a:ext uri="{FF2B5EF4-FFF2-40B4-BE49-F238E27FC236}">
                <a16:creationId xmlns:a16="http://schemas.microsoft.com/office/drawing/2014/main" id="{E90EDB7E-B456-2E43-1C4D-62A11B6C91B7}"/>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868231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0607BA-65E0-9671-82C1-A3D835CD0A1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E4DB061-6C80-17AF-4B5E-84CB8C1F8A56}"/>
              </a:ext>
            </a:extLst>
          </p:cNvPr>
          <p:cNvSpPr>
            <a:spLocks noGrp="1"/>
          </p:cNvSpPr>
          <p:nvPr>
            <p:ph type="title"/>
          </p:nvPr>
        </p:nvSpPr>
        <p:spPr/>
        <p:txBody>
          <a:bodyPr/>
          <a:lstStyle/>
          <a:p>
            <a:r>
              <a:rPr lang="en-US" altLang="zh-TW" dirty="0"/>
              <a:t>Routing Module</a:t>
            </a:r>
            <a:endParaRPr lang="zh-TW" altLang="en-US" dirty="0"/>
          </a:p>
        </p:txBody>
      </p:sp>
      <p:sp>
        <p:nvSpPr>
          <p:cNvPr id="3" name="內容版面配置區 2">
            <a:extLst>
              <a:ext uri="{FF2B5EF4-FFF2-40B4-BE49-F238E27FC236}">
                <a16:creationId xmlns:a16="http://schemas.microsoft.com/office/drawing/2014/main" id="{6523EA98-4841-AB80-5022-30741AC4A77C}"/>
              </a:ext>
            </a:extLst>
          </p:cNvPr>
          <p:cNvSpPr>
            <a:spLocks noGrp="1"/>
          </p:cNvSpPr>
          <p:nvPr>
            <p:ph idx="1"/>
          </p:nvPr>
        </p:nvSpPr>
        <p:spPr>
          <a:xfrm>
            <a:off x="1097280" y="1845734"/>
            <a:ext cx="10718668" cy="4023360"/>
          </a:xfrm>
        </p:spPr>
        <p:txBody>
          <a:bodyPr>
            <a:normAutofit/>
          </a:bodyPr>
          <a:lstStyle/>
          <a:p>
            <a:pPr marL="0" indent="0">
              <a:buNone/>
            </a:pPr>
            <a:r>
              <a:rPr lang="zh-TW" altLang="zh-TW" dirty="0"/>
              <a:t>The proposed framework is developed by considering the constraints of the logistics company, and mainly consists of three stage</a:t>
            </a:r>
            <a:r>
              <a:rPr lang="en-US" altLang="zh-TW" dirty="0"/>
              <a:t>s</a:t>
            </a:r>
          </a:p>
          <a:p>
            <a:pPr marL="457200" indent="-457200">
              <a:buClr>
                <a:schemeClr val="accent1">
                  <a:lumMod val="50000"/>
                </a:schemeClr>
              </a:buClr>
              <a:buFont typeface="+mj-lt"/>
              <a:buAutoNum type="arabicPeriod"/>
            </a:pPr>
            <a:r>
              <a:rPr lang="en-US" altLang="zh-TW" dirty="0"/>
              <a:t>Store Extraction</a:t>
            </a:r>
          </a:p>
          <a:p>
            <a:pPr marL="457200" indent="-457200">
              <a:buClr>
                <a:schemeClr val="accent1">
                  <a:lumMod val="50000"/>
                </a:schemeClr>
              </a:buClr>
              <a:buFont typeface="+mj-lt"/>
              <a:buAutoNum type="arabicPeriod"/>
            </a:pPr>
            <a:r>
              <a:rPr lang="en-US" altLang="zh-TW" dirty="0"/>
              <a:t>Store Assignment</a:t>
            </a:r>
          </a:p>
          <a:p>
            <a:pPr marL="457200" indent="-457200">
              <a:buClr>
                <a:schemeClr val="accent1">
                  <a:lumMod val="50000"/>
                </a:schemeClr>
              </a:buClr>
              <a:buFont typeface="+mj-lt"/>
              <a:buAutoNum type="arabicPeriod"/>
            </a:pPr>
            <a:r>
              <a:rPr lang="en-US" altLang="zh-TW" dirty="0"/>
              <a:t>Support Route Planning</a:t>
            </a:r>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r>
              <a:rPr lang="en-US" altLang="zh-TW" dirty="0"/>
              <a:t>The routing process in the proposed framework is </a:t>
            </a:r>
            <a:r>
              <a:rPr lang="zh-TW" altLang="zh-TW" dirty="0"/>
              <a:t>formulated as a Vehicle Routing Problem (VRP)</a:t>
            </a:r>
            <a:endParaRPr lang="en-US" altLang="zh-TW" dirty="0"/>
          </a:p>
        </p:txBody>
      </p:sp>
      <p:sp>
        <p:nvSpPr>
          <p:cNvPr id="4" name="投影片編號版面配置區 3">
            <a:extLst>
              <a:ext uri="{FF2B5EF4-FFF2-40B4-BE49-F238E27FC236}">
                <a16:creationId xmlns:a16="http://schemas.microsoft.com/office/drawing/2014/main" id="{FC74B726-3822-BF3C-0167-C409891BECC7}"/>
              </a:ext>
            </a:extLst>
          </p:cNvPr>
          <p:cNvSpPr>
            <a:spLocks noGrp="1"/>
          </p:cNvSpPr>
          <p:nvPr>
            <p:ph type="sldNum" sz="quarter" idx="12"/>
          </p:nvPr>
        </p:nvSpPr>
        <p:spPr/>
        <p:txBody>
          <a:bodyPr/>
          <a:lstStyle/>
          <a:p>
            <a:fld id="{5AC25633-CB68-4D6B-BEE8-144406895708}" type="slidenum">
              <a:rPr lang="zh-TW" altLang="en-US" smtClean="0"/>
              <a:t>15</a:t>
            </a:fld>
            <a:endParaRPr lang="zh-TW" altLang="en-US"/>
          </a:p>
        </p:txBody>
      </p:sp>
    </p:spTree>
    <p:extLst>
      <p:ext uri="{BB962C8B-B14F-4D97-AF65-F5344CB8AC3E}">
        <p14:creationId xmlns:p14="http://schemas.microsoft.com/office/powerpoint/2010/main" val="319004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E61BFB-70A7-6BB9-36E2-8F0073A3B00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1D6FF3-8321-6BA7-AE4C-8A998842A8EA}"/>
              </a:ext>
            </a:extLst>
          </p:cNvPr>
          <p:cNvSpPr>
            <a:spLocks noGrp="1"/>
          </p:cNvSpPr>
          <p:nvPr>
            <p:ph type="title"/>
          </p:nvPr>
        </p:nvSpPr>
        <p:spPr/>
        <p:txBody>
          <a:bodyPr/>
          <a:lstStyle/>
          <a:p>
            <a:r>
              <a:rPr lang="en-US" altLang="zh-TW" dirty="0"/>
              <a:t>VRP</a:t>
            </a:r>
            <a:endParaRPr lang="zh-TW" altLang="en-US" dirty="0"/>
          </a:p>
        </p:txBody>
      </p:sp>
      <p:sp>
        <p:nvSpPr>
          <p:cNvPr id="3" name="內容版面配置區 2">
            <a:extLst>
              <a:ext uri="{FF2B5EF4-FFF2-40B4-BE49-F238E27FC236}">
                <a16:creationId xmlns:a16="http://schemas.microsoft.com/office/drawing/2014/main" id="{B8C8CF03-1754-8007-99D3-9DA64B4A4C36}"/>
              </a:ext>
            </a:extLst>
          </p:cNvPr>
          <p:cNvSpPr>
            <a:spLocks noGrp="1"/>
          </p:cNvSpPr>
          <p:nvPr>
            <p:ph idx="1"/>
          </p:nvPr>
        </p:nvSpPr>
        <p:spPr/>
        <p:txBody>
          <a:bodyPr>
            <a:normAutofit/>
          </a:bodyPr>
          <a:lstStyle/>
          <a:p>
            <a:pPr marL="0" indent="0">
              <a:buClr>
                <a:schemeClr val="accent1">
                  <a:lumMod val="50000"/>
                </a:schemeClr>
              </a:buClr>
              <a:buNone/>
            </a:pPr>
            <a:r>
              <a:rPr lang="en-US" altLang="zh-TW" dirty="0"/>
              <a:t>Vehicle Routing Problem</a:t>
            </a:r>
            <a:r>
              <a:rPr lang="zh-TW" altLang="en-US" dirty="0"/>
              <a:t> </a:t>
            </a:r>
            <a:r>
              <a:rPr lang="en-US" altLang="zh-TW" dirty="0"/>
              <a:t>(VRP)[1]</a:t>
            </a:r>
          </a:p>
          <a:p>
            <a:pPr>
              <a:buClr>
                <a:schemeClr val="accent1">
                  <a:lumMod val="50000"/>
                </a:schemeClr>
              </a:buClr>
              <a:buFont typeface="Wingdings" panose="05000000000000000000" pitchFamily="2" charset="2"/>
              <a:buChar char="Ø"/>
            </a:pPr>
            <a:r>
              <a:rPr lang="en-US" altLang="zh-TW" dirty="0"/>
              <a:t>NP-hard problem in combinatorial optimization and integer programming</a:t>
            </a:r>
          </a:p>
          <a:p>
            <a:pPr>
              <a:buClr>
                <a:schemeClr val="accent1">
                  <a:lumMod val="50000"/>
                </a:schemeClr>
              </a:buClr>
              <a:buFont typeface="Wingdings" panose="05000000000000000000" pitchFamily="2" charset="2"/>
              <a:buChar char="Ø"/>
            </a:pPr>
            <a:r>
              <a:rPr lang="en-US" altLang="zh-TW" dirty="0"/>
              <a:t>The objective is to ensure that all customer demands are satisfied while complying with operational constraints and minimizing the overall cost</a:t>
            </a:r>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r>
              <a:rPr lang="en-US" altLang="zh-TW" dirty="0"/>
              <a:t>Constraints</a:t>
            </a:r>
          </a:p>
          <a:p>
            <a:pPr lvl="1">
              <a:buFont typeface="Arial" panose="020B0604020202020204" pitchFamily="34" charset="0"/>
              <a:buChar char="•"/>
            </a:pPr>
            <a:r>
              <a:rPr lang="en-US" altLang="zh-TW" sz="2000" dirty="0"/>
              <a:t>Each vehicle starts and ends its route at the depot</a:t>
            </a:r>
          </a:p>
          <a:p>
            <a:pPr lvl="1">
              <a:buFont typeface="Arial" panose="020B0604020202020204" pitchFamily="34" charset="0"/>
              <a:buChar char="•"/>
            </a:pPr>
            <a:r>
              <a:rPr lang="en-US" altLang="zh-TW" sz="2000" dirty="0"/>
              <a:t>Each customer is visited exactly once and served by exactly one vehicle</a:t>
            </a:r>
          </a:p>
          <a:p>
            <a:pPr lvl="1">
              <a:buFont typeface="Arial" panose="020B0604020202020204" pitchFamily="34" charset="0"/>
              <a:buChar char="•"/>
            </a:pPr>
            <a:r>
              <a:rPr lang="en-US" altLang="zh-TW" sz="2000" dirty="0"/>
              <a:t>The demand of every customer must be satisfied</a:t>
            </a:r>
          </a:p>
        </p:txBody>
      </p:sp>
      <p:sp>
        <p:nvSpPr>
          <p:cNvPr id="4" name="投影片編號版面配置區 3">
            <a:extLst>
              <a:ext uri="{FF2B5EF4-FFF2-40B4-BE49-F238E27FC236}">
                <a16:creationId xmlns:a16="http://schemas.microsoft.com/office/drawing/2014/main" id="{02E53523-D08A-59D4-99E5-9EFFBBF165E4}"/>
              </a:ext>
            </a:extLst>
          </p:cNvPr>
          <p:cNvSpPr>
            <a:spLocks noGrp="1"/>
          </p:cNvSpPr>
          <p:nvPr>
            <p:ph type="sldNum" sz="quarter" idx="12"/>
          </p:nvPr>
        </p:nvSpPr>
        <p:spPr/>
        <p:txBody>
          <a:bodyPr/>
          <a:lstStyle/>
          <a:p>
            <a:fld id="{5AC25633-CB68-4D6B-BEE8-144406895708}" type="slidenum">
              <a:rPr lang="zh-TW" altLang="en-US" smtClean="0"/>
              <a:t>16</a:t>
            </a:fld>
            <a:endParaRPr lang="zh-TW" altLang="en-US"/>
          </a:p>
        </p:txBody>
      </p:sp>
      <p:sp>
        <p:nvSpPr>
          <p:cNvPr id="6" name="文字方塊 5">
            <a:extLst>
              <a:ext uri="{FF2B5EF4-FFF2-40B4-BE49-F238E27FC236}">
                <a16:creationId xmlns:a16="http://schemas.microsoft.com/office/drawing/2014/main" id="{066D4813-1FB8-4F04-92C2-DBEDECC35DA1}"/>
              </a:ext>
            </a:extLst>
          </p:cNvPr>
          <p:cNvSpPr txBox="1"/>
          <p:nvPr/>
        </p:nvSpPr>
        <p:spPr>
          <a:xfrm>
            <a:off x="979517" y="6365348"/>
            <a:ext cx="6096000" cy="276999"/>
          </a:xfrm>
          <a:prstGeom prst="rect">
            <a:avLst/>
          </a:prstGeom>
          <a:noFill/>
        </p:spPr>
        <p:txBody>
          <a:bodyPr wrap="square">
            <a:spAutoFit/>
          </a:bodyPr>
          <a:lstStyle/>
          <a:p>
            <a:pPr marL="457200" indent="-457200">
              <a:spcAft>
                <a:spcPts val="800"/>
              </a:spcAft>
              <a:buNone/>
            </a:pPr>
            <a:r>
              <a:rPr lang="en-US" altLang="zh-TW" sz="1200" kern="100" dirty="0">
                <a:solidFill>
                  <a:schemeClr val="bg1"/>
                </a:solidFill>
                <a:effectLst/>
                <a:latin typeface="Times New Roman" panose="02020603050405020304" pitchFamily="18" charset="0"/>
                <a:ea typeface="新細明體" panose="02020500000000000000" pitchFamily="18" charset="-120"/>
              </a:rPr>
              <a:t>[1]</a:t>
            </a:r>
            <a:r>
              <a:rPr lang="zh-TW" altLang="en-US" sz="1200" kern="100" dirty="0">
                <a:solidFill>
                  <a:schemeClr val="bg1"/>
                </a:solidFill>
                <a:effectLst/>
                <a:latin typeface="Times New Roman" panose="02020603050405020304" pitchFamily="18" charset="0"/>
                <a:ea typeface="新細明體" panose="02020500000000000000" pitchFamily="18" charset="-120"/>
              </a:rPr>
              <a:t>  </a:t>
            </a:r>
            <a:r>
              <a:rPr lang="en-US" altLang="zh-TW" sz="1200" kern="100" dirty="0">
                <a:solidFill>
                  <a:schemeClr val="bg1"/>
                </a:solidFill>
                <a:effectLst/>
                <a:latin typeface="Times New Roman" panose="02020603050405020304" pitchFamily="18" charset="0"/>
                <a:ea typeface="新細明體" panose="02020500000000000000" pitchFamily="18" charset="-120"/>
              </a:rPr>
              <a:t>P. Toth and D. Vigo, </a:t>
            </a:r>
            <a:r>
              <a:rPr lang="en-US" altLang="zh-TW" sz="1200" i="1" kern="100" dirty="0">
                <a:solidFill>
                  <a:schemeClr val="bg1"/>
                </a:solidFill>
                <a:effectLst/>
                <a:latin typeface="Times New Roman" panose="02020603050405020304" pitchFamily="18" charset="0"/>
                <a:ea typeface="新細明體" panose="02020500000000000000" pitchFamily="18" charset="-120"/>
              </a:rPr>
              <a:t>The vehicle routing problem</a:t>
            </a:r>
            <a:r>
              <a:rPr lang="en-US" altLang="zh-TW" sz="1200" kern="100" dirty="0">
                <a:solidFill>
                  <a:schemeClr val="bg1"/>
                </a:solidFill>
                <a:effectLst/>
                <a:latin typeface="Times New Roman" panose="02020603050405020304" pitchFamily="18" charset="0"/>
                <a:ea typeface="新細明體" panose="02020500000000000000" pitchFamily="18" charset="-120"/>
              </a:rPr>
              <a:t>. SIAM, 2002.</a:t>
            </a:r>
            <a:endParaRPr lang="zh-TW" altLang="zh-TW" sz="1200" kern="100" dirty="0">
              <a:solidFill>
                <a:schemeClr val="bg1"/>
              </a:solidFill>
              <a:effectLst/>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2223490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8104D2-0CE3-C978-B9C9-0773B24D5B3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D79EAB-D062-209B-78B8-12963C7A691B}"/>
              </a:ext>
            </a:extLst>
          </p:cNvPr>
          <p:cNvSpPr>
            <a:spLocks noGrp="1"/>
          </p:cNvSpPr>
          <p:nvPr>
            <p:ph type="title"/>
          </p:nvPr>
        </p:nvSpPr>
        <p:spPr/>
        <p:txBody>
          <a:bodyPr/>
          <a:lstStyle/>
          <a:p>
            <a:r>
              <a:rPr lang="en-US" altLang="zh-TW" dirty="0"/>
              <a:t>VRP</a:t>
            </a:r>
            <a:endParaRPr lang="zh-TW" altLang="en-US" dirty="0"/>
          </a:p>
        </p:txBody>
      </p:sp>
      <p:sp>
        <p:nvSpPr>
          <p:cNvPr id="3" name="內容版面配置區 2">
            <a:extLst>
              <a:ext uri="{FF2B5EF4-FFF2-40B4-BE49-F238E27FC236}">
                <a16:creationId xmlns:a16="http://schemas.microsoft.com/office/drawing/2014/main" id="{DD3524AB-C7F0-330E-01E5-DC326524A3FC}"/>
              </a:ext>
            </a:extLst>
          </p:cNvPr>
          <p:cNvSpPr>
            <a:spLocks noGrp="1"/>
          </p:cNvSpPr>
          <p:nvPr>
            <p:ph idx="1"/>
          </p:nvPr>
        </p:nvSpPr>
        <p:spPr/>
        <p:txBody>
          <a:bodyPr>
            <a:normAutofit/>
          </a:bodyPr>
          <a:lstStyle/>
          <a:p>
            <a:pPr>
              <a:lnSpc>
                <a:spcPct val="150000"/>
              </a:lnSpc>
              <a:buClr>
                <a:schemeClr val="accent1">
                  <a:lumMod val="50000"/>
                </a:schemeClr>
              </a:buClr>
              <a:buFont typeface="Wingdings" panose="05000000000000000000" pitchFamily="2" charset="2"/>
              <a:buChar char="Ø"/>
            </a:pPr>
            <a:r>
              <a:rPr lang="en-US" altLang="zh-TW" dirty="0"/>
              <a:t>Variants</a:t>
            </a:r>
          </a:p>
          <a:p>
            <a:pPr lvl="1">
              <a:lnSpc>
                <a:spcPct val="150000"/>
              </a:lnSpc>
              <a:buFont typeface="Arial" panose="020B0604020202020204" pitchFamily="34" charset="0"/>
              <a:buChar char="•"/>
            </a:pPr>
            <a:r>
              <a:rPr lang="en-US" altLang="zh-TW" sz="2000" dirty="0"/>
              <a:t>Capacitated Vehicle Routing Problem</a:t>
            </a:r>
            <a:r>
              <a:rPr lang="zh-TW" altLang="en-US" sz="2000" dirty="0"/>
              <a:t> </a:t>
            </a:r>
            <a:r>
              <a:rPr lang="en-US" altLang="zh-TW" sz="2000" dirty="0"/>
              <a:t>(CVRP)</a:t>
            </a:r>
          </a:p>
          <a:p>
            <a:pPr lvl="1">
              <a:lnSpc>
                <a:spcPct val="150000"/>
              </a:lnSpc>
              <a:buFont typeface="Arial" panose="020B0604020202020204" pitchFamily="34" charset="0"/>
              <a:buChar char="•"/>
            </a:pPr>
            <a:r>
              <a:rPr lang="en-US" altLang="zh-TW" sz="2000" dirty="0"/>
              <a:t>Vehicle Routing Problem with Time Windows</a:t>
            </a:r>
            <a:r>
              <a:rPr lang="zh-TW" altLang="en-US" sz="2000" dirty="0"/>
              <a:t> </a:t>
            </a:r>
            <a:r>
              <a:rPr lang="en-US" altLang="zh-TW" sz="2000" dirty="0"/>
              <a:t>(VRPTW)</a:t>
            </a:r>
          </a:p>
          <a:p>
            <a:pPr lvl="1">
              <a:lnSpc>
                <a:spcPct val="150000"/>
              </a:lnSpc>
              <a:buFont typeface="Arial" panose="020B0604020202020204" pitchFamily="34" charset="0"/>
              <a:buChar char="•"/>
            </a:pPr>
            <a:r>
              <a:rPr lang="en-US" altLang="zh-TW" sz="2000" dirty="0"/>
              <a:t>Vehicle Routing Problem with Private Fleet and Common Carrier (VRPPC)</a:t>
            </a:r>
          </a:p>
          <a:p>
            <a:pPr lvl="1">
              <a:lnSpc>
                <a:spcPct val="150000"/>
              </a:lnSpc>
              <a:buFont typeface="Arial" panose="020B0604020202020204" pitchFamily="34" charset="0"/>
              <a:buChar char="•"/>
            </a:pPr>
            <a:r>
              <a:rPr lang="en-US" altLang="zh-TW" sz="2000" dirty="0"/>
              <a:t>etc.</a:t>
            </a:r>
          </a:p>
          <a:p>
            <a:pPr lvl="1">
              <a:buFont typeface="Arial" panose="020B0604020202020204" pitchFamily="34" charset="0"/>
              <a:buChar char="•"/>
            </a:pPr>
            <a:endParaRPr lang="en-US" altLang="zh-TW" sz="2000" dirty="0"/>
          </a:p>
          <a:p>
            <a:pPr lvl="1">
              <a:buFont typeface="Arial" panose="020B0604020202020204" pitchFamily="34" charset="0"/>
              <a:buChar char="•"/>
            </a:pPr>
            <a:endParaRPr lang="en-US" altLang="zh-TW" sz="2200" dirty="0"/>
          </a:p>
          <a:p>
            <a:pPr>
              <a:buFont typeface="Arial" panose="020B0604020202020204" pitchFamily="34" charset="0"/>
              <a:buChar char="•"/>
            </a:pPr>
            <a:endParaRPr lang="en-US" altLang="zh-TW" sz="2200" dirty="0"/>
          </a:p>
        </p:txBody>
      </p:sp>
      <p:sp>
        <p:nvSpPr>
          <p:cNvPr id="4" name="投影片編號版面配置區 3">
            <a:extLst>
              <a:ext uri="{FF2B5EF4-FFF2-40B4-BE49-F238E27FC236}">
                <a16:creationId xmlns:a16="http://schemas.microsoft.com/office/drawing/2014/main" id="{5A70888C-E0D4-917B-D15D-FCA24FDBA5E8}"/>
              </a:ext>
            </a:extLst>
          </p:cNvPr>
          <p:cNvSpPr>
            <a:spLocks noGrp="1"/>
          </p:cNvSpPr>
          <p:nvPr>
            <p:ph type="sldNum" sz="quarter" idx="12"/>
          </p:nvPr>
        </p:nvSpPr>
        <p:spPr/>
        <p:txBody>
          <a:bodyPr/>
          <a:lstStyle/>
          <a:p>
            <a:fld id="{5AC25633-CB68-4D6B-BEE8-144406895708}" type="slidenum">
              <a:rPr lang="zh-TW" altLang="en-US" smtClean="0"/>
              <a:t>17</a:t>
            </a:fld>
            <a:endParaRPr lang="zh-TW" altLang="en-US"/>
          </a:p>
        </p:txBody>
      </p:sp>
    </p:spTree>
    <p:extLst>
      <p:ext uri="{BB962C8B-B14F-4D97-AF65-F5344CB8AC3E}">
        <p14:creationId xmlns:p14="http://schemas.microsoft.com/office/powerpoint/2010/main" val="2165522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D0D9C9-1226-5928-9AC5-C733B5B82CA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D2B7E8-D721-B4FB-7980-ED219E63E453}"/>
              </a:ext>
            </a:extLst>
          </p:cNvPr>
          <p:cNvSpPr>
            <a:spLocks noGrp="1"/>
          </p:cNvSpPr>
          <p:nvPr>
            <p:ph type="title"/>
          </p:nvPr>
        </p:nvSpPr>
        <p:spPr/>
        <p:txBody>
          <a:bodyPr/>
          <a:lstStyle/>
          <a:p>
            <a:r>
              <a:rPr lang="en-US" altLang="zh-TW" dirty="0"/>
              <a:t>Constraints</a:t>
            </a:r>
            <a:endParaRPr lang="zh-TW" altLang="en-US" dirty="0"/>
          </a:p>
        </p:txBody>
      </p:sp>
      <p:sp>
        <p:nvSpPr>
          <p:cNvPr id="3" name="內容版面配置區 2">
            <a:extLst>
              <a:ext uri="{FF2B5EF4-FFF2-40B4-BE49-F238E27FC236}">
                <a16:creationId xmlns:a16="http://schemas.microsoft.com/office/drawing/2014/main" id="{5825CA7F-EA6B-FE92-128D-61F40ABC8A14}"/>
              </a:ext>
            </a:extLst>
          </p:cNvPr>
          <p:cNvSpPr>
            <a:spLocks noGrp="1"/>
          </p:cNvSpPr>
          <p:nvPr>
            <p:ph idx="1"/>
          </p:nvPr>
        </p:nvSpPr>
        <p:spPr>
          <a:xfrm>
            <a:off x="1066800" y="1857610"/>
            <a:ext cx="10058400" cy="4023360"/>
          </a:xfrm>
        </p:spPr>
        <p:txBody>
          <a:bodyPr>
            <a:normAutofit/>
          </a:bodyPr>
          <a:lstStyle/>
          <a:p>
            <a:pPr marL="0" indent="0">
              <a:buClr>
                <a:schemeClr val="accent1">
                  <a:lumMod val="50000"/>
                </a:schemeClr>
              </a:buClr>
              <a:buNone/>
            </a:pPr>
            <a:r>
              <a:rPr lang="en-US" altLang="zh-TW" dirty="0">
                <a:solidFill>
                  <a:schemeClr val="tx1"/>
                </a:solidFill>
              </a:rPr>
              <a:t>The constraints considered in this study</a:t>
            </a:r>
            <a:r>
              <a:rPr lang="zh-TW" altLang="en-US" dirty="0">
                <a:solidFill>
                  <a:schemeClr val="tx1"/>
                </a:solidFill>
              </a:rPr>
              <a:t> </a:t>
            </a:r>
            <a:r>
              <a:rPr lang="en-US" altLang="zh-TW" dirty="0">
                <a:solidFill>
                  <a:schemeClr val="tx1"/>
                </a:solidFill>
              </a:rPr>
              <a:t>are defined as follows</a:t>
            </a:r>
          </a:p>
          <a:p>
            <a:pPr marL="457200" indent="-457200">
              <a:buClr>
                <a:schemeClr val="accent1">
                  <a:lumMod val="50000"/>
                </a:schemeClr>
              </a:buClr>
              <a:buFont typeface="+mj-lt"/>
              <a:buAutoNum type="arabicPeriod"/>
            </a:pPr>
            <a:r>
              <a:rPr lang="en-US" altLang="zh-TW" dirty="0"/>
              <a:t>The main routes are defined with a fixed sequence of stores, and the ordering cannot be modified</a:t>
            </a:r>
          </a:p>
          <a:p>
            <a:pPr marL="457200" indent="-457200">
              <a:buClr>
                <a:schemeClr val="accent1">
                  <a:lumMod val="50000"/>
                </a:schemeClr>
              </a:buClr>
              <a:buFont typeface="+mj-lt"/>
              <a:buAutoNum type="arabicPeriod"/>
            </a:pPr>
            <a:r>
              <a:rPr lang="zh-TW" altLang="zh-TW" dirty="0"/>
              <a:t>The extent of route modification is minimized while preserving the main</a:t>
            </a:r>
            <a:r>
              <a:rPr lang="zh-TW" altLang="en-US" dirty="0"/>
              <a:t> </a:t>
            </a:r>
            <a:r>
              <a:rPr lang="zh-TW" altLang="zh-TW" dirty="0"/>
              <a:t>route structure</a:t>
            </a:r>
            <a:endParaRPr lang="en-US" altLang="zh-TW" dirty="0"/>
          </a:p>
          <a:p>
            <a:pPr marL="457200" indent="-457200">
              <a:buClr>
                <a:schemeClr val="accent1">
                  <a:lumMod val="50000"/>
                </a:schemeClr>
              </a:buClr>
              <a:buFont typeface="+mj-lt"/>
              <a:buAutoNum type="arabicPeriod"/>
            </a:pPr>
            <a:r>
              <a:rPr lang="zh-TW" altLang="zh-TW" dirty="0"/>
              <a:t>The vehicle capacity must not be exceeded</a:t>
            </a:r>
            <a:endParaRPr lang="en-US" altLang="zh-TW" dirty="0">
              <a:solidFill>
                <a:schemeClr val="tx1"/>
              </a:solidFill>
            </a:endParaRPr>
          </a:p>
          <a:p>
            <a:pPr marL="457200" indent="-457200">
              <a:buClr>
                <a:schemeClr val="accent1">
                  <a:lumMod val="50000"/>
                </a:schemeClr>
              </a:buClr>
              <a:buFont typeface="+mj-lt"/>
              <a:buAutoNum type="arabicPeriod"/>
            </a:pPr>
            <a:r>
              <a:rPr lang="en-US" altLang="zh-TW" dirty="0">
                <a:solidFill>
                  <a:schemeClr val="tx1"/>
                </a:solidFill>
              </a:rPr>
              <a:t>The time window is defined as 1 hour before and 30 minutes after the scheduled time</a:t>
            </a:r>
          </a:p>
          <a:p>
            <a:pPr marL="457200" indent="-457200">
              <a:buClr>
                <a:schemeClr val="accent1">
                  <a:lumMod val="50000"/>
                </a:schemeClr>
              </a:buClr>
              <a:buFont typeface="+mj-lt"/>
              <a:buAutoNum type="arabicPeriod"/>
            </a:pPr>
            <a:r>
              <a:rPr lang="zh-TW" altLang="zh-TW" dirty="0"/>
              <a:t>The total route duration must not exceed 5 hours</a:t>
            </a:r>
            <a:endParaRPr lang="en-US" altLang="zh-TW" dirty="0"/>
          </a:p>
          <a:p>
            <a:pPr marL="457200" indent="-457200">
              <a:buClr>
                <a:schemeClr val="accent1">
                  <a:lumMod val="50000"/>
                </a:schemeClr>
              </a:buClr>
              <a:buFont typeface="+mj-lt"/>
              <a:buAutoNum type="arabicPeriod"/>
            </a:pPr>
            <a:endParaRPr lang="en-US" altLang="zh-TW" dirty="0">
              <a:solidFill>
                <a:schemeClr val="tx1"/>
              </a:solidFill>
            </a:endParaRPr>
          </a:p>
        </p:txBody>
      </p:sp>
      <p:sp>
        <p:nvSpPr>
          <p:cNvPr id="4" name="投影片編號版面配置區 3">
            <a:extLst>
              <a:ext uri="{FF2B5EF4-FFF2-40B4-BE49-F238E27FC236}">
                <a16:creationId xmlns:a16="http://schemas.microsoft.com/office/drawing/2014/main" id="{DC2F935B-D19E-E040-DC20-3B30AF02B510}"/>
              </a:ext>
            </a:extLst>
          </p:cNvPr>
          <p:cNvSpPr>
            <a:spLocks noGrp="1"/>
          </p:cNvSpPr>
          <p:nvPr>
            <p:ph type="sldNum" sz="quarter" idx="12"/>
          </p:nvPr>
        </p:nvSpPr>
        <p:spPr/>
        <p:txBody>
          <a:bodyPr/>
          <a:lstStyle/>
          <a:p>
            <a:fld id="{5AC25633-CB68-4D6B-BEE8-144406895708}" type="slidenum">
              <a:rPr lang="zh-TW" altLang="en-US" smtClean="0"/>
              <a:t>18</a:t>
            </a:fld>
            <a:endParaRPr lang="zh-TW" altLang="en-US"/>
          </a:p>
        </p:txBody>
      </p:sp>
    </p:spTree>
    <p:extLst>
      <p:ext uri="{BB962C8B-B14F-4D97-AF65-F5344CB8AC3E}">
        <p14:creationId xmlns:p14="http://schemas.microsoft.com/office/powerpoint/2010/main" val="2117488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E3C3B2-2A84-30FC-3E24-FCD661D51B9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9766BD8-6B89-AC9C-68DB-C51037D518A2}"/>
              </a:ext>
            </a:extLst>
          </p:cNvPr>
          <p:cNvSpPr>
            <a:spLocks noGrp="1"/>
          </p:cNvSpPr>
          <p:nvPr>
            <p:ph type="title"/>
          </p:nvPr>
        </p:nvSpPr>
        <p:spPr/>
        <p:txBody>
          <a:bodyPr/>
          <a:lstStyle/>
          <a:p>
            <a:r>
              <a:rPr lang="zh-TW" altLang="zh-TW" dirty="0"/>
              <a:t>Objective Function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E3BE9A6-9026-B190-CFE2-00DB532533B2}"/>
                  </a:ext>
                </a:extLst>
              </p:cNvPr>
              <p:cNvSpPr>
                <a:spLocks noGrp="1"/>
              </p:cNvSpPr>
              <p:nvPr>
                <p:ph idx="1"/>
              </p:nvPr>
            </p:nvSpPr>
            <p:spPr/>
            <p:txBody>
              <a:bodyPr>
                <a:normAutofit/>
              </a:bodyPr>
              <a:lstStyle/>
              <a:p>
                <a:pPr>
                  <a:lnSpc>
                    <a:spcPct val="150000"/>
                  </a:lnSpc>
                  <a:buClr>
                    <a:schemeClr val="accent1">
                      <a:lumMod val="50000"/>
                    </a:schemeClr>
                  </a:buClr>
                  <a:buFont typeface="Wingdings" panose="05000000000000000000" pitchFamily="2" charset="2"/>
                  <a:buChar char="Ø"/>
                </a:pPr>
                <a:r>
                  <a:rPr lang="en-US" altLang="zh-TW" dirty="0"/>
                  <a:t>The objective function is formulated as a hierarchical objective</a:t>
                </a:r>
              </a:p>
              <a:p>
                <a:pPr lvl="1">
                  <a:lnSpc>
                    <a:spcPct val="150000"/>
                  </a:lnSpc>
                  <a:buFont typeface="Arial" panose="020B0604020202020204" pitchFamily="34" charset="0"/>
                  <a:buChar char="•"/>
                </a:pPr>
                <a:r>
                  <a:rPr lang="zh-TW" altLang="zh-TW" dirty="0"/>
                  <a:t>Minimize Number of Support Routes</a:t>
                </a:r>
                <a:endParaRPr lang="en-US" altLang="zh-TW" dirty="0"/>
              </a:p>
              <a:p>
                <a:pPr marL="201168" lvl="1" indent="0">
                  <a:buNone/>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𝑣𝑒</m:t>
                          </m:r>
                          <m:r>
                            <a:rPr lang="en-US" altLang="zh-TW" i="1">
                              <a:latin typeface="Cambria Math" panose="02040503050406030204" pitchFamily="18" charset="0"/>
                            </a:rPr>
                            <m:t>h</m:t>
                          </m:r>
                          <m:r>
                            <a:rPr lang="zh-TW" altLang="en-US" i="1">
                              <a:latin typeface="Cambria Math" panose="02040503050406030204" pitchFamily="18" charset="0"/>
                            </a:rPr>
                            <m:t>𝑖𝑐𝑙𝑒</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𝑆</m:t>
                          </m:r>
                        </m:e>
                      </m:d>
                      <m:r>
                        <a:rPr lang="en-US" altLang="zh-TW" i="1">
                          <a:latin typeface="Cambria Math" panose="02040503050406030204" pitchFamily="18" charset="0"/>
                        </a:rPr>
                        <m:t>=</m:t>
                      </m:r>
                      <m:nary>
                        <m:naryPr>
                          <m:chr m:val="∑"/>
                          <m:limLoc m:val="undOvr"/>
                          <m:supHide m:val="on"/>
                          <m:ctrlPr>
                            <a:rPr lang="zh-TW" altLang="en-US" i="1">
                              <a:latin typeface="Cambria Math" panose="02040503050406030204" pitchFamily="18" charset="0"/>
                            </a:rPr>
                          </m:ctrlPr>
                        </m:naryPr>
                        <m:sub>
                          <m:r>
                            <a:rPr lang="en-US" altLang="zh-TW" i="1">
                              <a:latin typeface="Cambria Math" panose="02040503050406030204" pitchFamily="18" charset="0"/>
                            </a:rPr>
                            <m:t>h</m:t>
                          </m:r>
                          <m:r>
                            <a:rPr lang="en-US" altLang="zh-TW" i="1">
                              <a:latin typeface="Cambria Math" panose="02040503050406030204" pitchFamily="18" charset="0"/>
                            </a:rPr>
                            <m:t>∈</m:t>
                          </m:r>
                          <m:r>
                            <a:rPr lang="zh-TW" altLang="en-US" i="1">
                              <a:latin typeface="Cambria Math" panose="02040503050406030204" pitchFamily="18" charset="0"/>
                            </a:rPr>
                            <m:t>𝐻</m:t>
                          </m:r>
                        </m:sub>
                        <m:sup/>
                        <m:e>
                          <m:nary>
                            <m:naryPr>
                              <m:chr m:val="∑"/>
                              <m:supHide m:val="on"/>
                              <m:ctrlPr>
                                <a:rPr lang="zh-TW" altLang="en-US" i="1">
                                  <a:latin typeface="Cambria Math" panose="02040503050406030204" pitchFamily="18" charset="0"/>
                                </a:rPr>
                              </m:ctrlPr>
                            </m:naryPr>
                            <m:sub>
                              <m:eqArr>
                                <m:eqArrPr>
                                  <m:ctrlPr>
                                    <a:rPr lang="zh-TW" altLang="en-US" i="1">
                                      <a:latin typeface="Cambria Math" panose="02040503050406030204" pitchFamily="18" charset="0"/>
                                    </a:rPr>
                                  </m:ctrlPr>
                                </m:eqArrPr>
                                <m:e>
                                  <m:r>
                                    <a:rPr lang="zh-TW" altLang="en-US" i="1">
                                      <a:latin typeface="Cambria Math" panose="02040503050406030204" pitchFamily="18" charset="0"/>
                                    </a:rPr>
                                    <m:t>𝑗</m:t>
                                  </m:r>
                                  <m:r>
                                    <a:rPr lang="zh-TW" altLang="en-US" i="1">
                                      <a:latin typeface="Cambria Math" panose="02040503050406030204" pitchFamily="18" charset="0"/>
                                    </a:rPr>
                                    <m:t>∈</m:t>
                                  </m:r>
                                  <m:r>
                                    <a:rPr lang="zh-TW" altLang="en-US" i="1">
                                      <a:latin typeface="Cambria Math" panose="02040503050406030204" pitchFamily="18" charset="0"/>
                                    </a:rPr>
                                    <m:t>𝑁</m:t>
                                  </m:r>
                                </m:e>
                                <m:e>
                                  <m:r>
                                    <a:rPr lang="en-US" altLang="zh-TW" i="1">
                                      <a:latin typeface="Cambria Math" panose="02040503050406030204" pitchFamily="18" charset="0"/>
                                    </a:rPr>
                                    <m:t>(</m:t>
                                  </m:r>
                                  <m:r>
                                    <a:rPr lang="zh-TW" altLang="en-US" i="1">
                                      <a:latin typeface="Cambria Math" panose="02040503050406030204" pitchFamily="18" charset="0"/>
                                    </a:rPr>
                                    <m:t>𝑗</m:t>
                                  </m:r>
                                  <m:r>
                                    <a:rPr lang="zh-TW" altLang="en-US" i="1">
                                      <a:latin typeface="Cambria Math" panose="02040503050406030204" pitchFamily="18" charset="0"/>
                                    </a:rPr>
                                    <m:t>≠0)</m:t>
                                  </m:r>
                                </m:e>
                              </m:eqArr>
                            </m:sub>
                            <m:sup/>
                            <m:e>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𝑥</m:t>
                                  </m:r>
                                </m:e>
                                <m:sub>
                                  <m:r>
                                    <a:rPr lang="en-US" altLang="zh-TW" i="1">
                                      <a:latin typeface="Cambria Math" panose="02040503050406030204" pitchFamily="18" charset="0"/>
                                    </a:rPr>
                                    <m:t>0,</m:t>
                                  </m:r>
                                  <m:r>
                                    <a:rPr lang="zh-TW" altLang="en-US" i="1">
                                      <a:latin typeface="Cambria Math" panose="02040503050406030204" pitchFamily="18" charset="0"/>
                                    </a:rPr>
                                    <m:t>𝑗</m:t>
                                  </m:r>
                                </m:sub>
                                <m:sup>
                                  <m:r>
                                    <a:rPr lang="en-US" altLang="zh-TW" i="1">
                                      <a:latin typeface="Cambria Math" panose="02040503050406030204" pitchFamily="18" charset="0"/>
                                    </a:rPr>
                                    <m:t>h</m:t>
                                  </m:r>
                                </m:sup>
                              </m:sSubSup>
                            </m:e>
                          </m:nary>
                        </m:e>
                      </m:nary>
                    </m:oMath>
                  </m:oMathPara>
                </a14:m>
                <a:endParaRPr lang="en-US" altLang="zh-TW" dirty="0"/>
              </a:p>
              <a:p>
                <a:pPr lvl="1">
                  <a:buFont typeface="Arial" panose="020B0604020202020204" pitchFamily="34" charset="0"/>
                  <a:buChar char="•"/>
                </a:pPr>
                <a:r>
                  <a:rPr lang="zh-TW" altLang="zh-TW" dirty="0"/>
                  <a:t>Minimize Total Distance</a:t>
                </a:r>
                <a:endParaRPr lang="en-US" altLang="zh-TW" dirty="0"/>
              </a:p>
              <a:p>
                <a:pPr marL="201168" lvl="1" indent="0">
                  <a:buNone/>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𝑡𝑟𝑎𝑣𝑒𝑙</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𝑆</m:t>
                          </m:r>
                        </m:e>
                      </m:d>
                      <m:r>
                        <a:rPr lang="en-US" altLang="zh-TW" i="1">
                          <a:latin typeface="Cambria Math" panose="02040503050406030204" pitchFamily="18" charset="0"/>
                        </a:rPr>
                        <m:t>=</m:t>
                      </m:r>
                      <m:nary>
                        <m:naryPr>
                          <m:chr m:val="∑"/>
                          <m:limLoc m:val="undOvr"/>
                          <m:supHide m:val="on"/>
                          <m:ctrlPr>
                            <a:rPr lang="zh-TW" altLang="en-US" i="1">
                              <a:latin typeface="Cambria Math" panose="02040503050406030204" pitchFamily="18" charset="0"/>
                            </a:rPr>
                          </m:ctrlPr>
                        </m:naryPr>
                        <m:sub>
                          <m:r>
                            <a:rPr lang="zh-TW" altLang="en-US" i="1">
                              <a:latin typeface="Cambria Math" panose="02040503050406030204" pitchFamily="18" charset="0"/>
                            </a:rPr>
                            <m:t>𝑘</m:t>
                          </m:r>
                          <m:r>
                            <a:rPr lang="zh-TW" altLang="en-US" i="1">
                              <a:latin typeface="Cambria Math" panose="02040503050406030204" pitchFamily="18" charset="0"/>
                            </a:rPr>
                            <m:t>∈</m:t>
                          </m:r>
                          <m:r>
                            <a:rPr lang="zh-TW" altLang="en-US" i="1">
                              <a:latin typeface="Cambria Math" panose="02040503050406030204" pitchFamily="18" charset="0"/>
                            </a:rPr>
                            <m:t>𝐾</m:t>
                          </m:r>
                        </m:sub>
                        <m:sup/>
                        <m:e>
                          <m:nary>
                            <m:naryPr>
                              <m:chr m:val="∑"/>
                              <m:supHide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1">
                                  <a:latin typeface="Cambria Math" panose="02040503050406030204" pitchFamily="18" charset="0"/>
                                </a:rPr>
                                <m:t>∈</m:t>
                              </m:r>
                              <m:r>
                                <a:rPr lang="zh-TW" altLang="en-US" i="1">
                                  <a:latin typeface="Cambria Math" panose="02040503050406030204" pitchFamily="18" charset="0"/>
                                </a:rPr>
                                <m:t>𝑁</m:t>
                              </m:r>
                            </m:sub>
                            <m:sup/>
                            <m:e>
                              <m:nary>
                                <m:naryPr>
                                  <m:chr m:val="∑"/>
                                  <m:supHide m:val="on"/>
                                  <m:ctrlPr>
                                    <a:rPr lang="zh-TW" altLang="en-US" i="1">
                                      <a:latin typeface="Cambria Math" panose="02040503050406030204" pitchFamily="18" charset="0"/>
                                    </a:rPr>
                                  </m:ctrlPr>
                                </m:naryPr>
                                <m:sub>
                                  <m:eqArr>
                                    <m:eqArrPr>
                                      <m:ctrlPr>
                                        <a:rPr lang="zh-TW" altLang="en-US" i="1">
                                          <a:latin typeface="Cambria Math" panose="02040503050406030204" pitchFamily="18" charset="0"/>
                                        </a:rPr>
                                      </m:ctrlPr>
                                    </m:eqArrPr>
                                    <m:e>
                                      <m:r>
                                        <a:rPr lang="zh-TW" altLang="en-US" i="1">
                                          <a:latin typeface="Cambria Math" panose="02040503050406030204" pitchFamily="18" charset="0"/>
                                        </a:rPr>
                                        <m:t>𝑗</m:t>
                                      </m:r>
                                      <m:r>
                                        <a:rPr lang="zh-TW" altLang="en-US" i="1">
                                          <a:latin typeface="Cambria Math" panose="02040503050406030204" pitchFamily="18" charset="0"/>
                                        </a:rPr>
                                        <m:t>∈</m:t>
                                      </m:r>
                                      <m:r>
                                        <a:rPr lang="zh-TW" altLang="en-US" i="1">
                                          <a:latin typeface="Cambria Math" panose="02040503050406030204" pitchFamily="18" charset="0"/>
                                        </a:rPr>
                                        <m:t>𝑁</m:t>
                                      </m:r>
                                    </m:e>
                                    <m:e>
                                      <m:r>
                                        <a:rPr lang="en-US" altLang="zh-TW" i="1">
                                          <a:latin typeface="Cambria Math" panose="02040503050406030204" pitchFamily="18" charset="0"/>
                                        </a:rPr>
                                        <m:t>(</m:t>
                                      </m:r>
                                      <m:r>
                                        <a:rPr lang="zh-TW" altLang="en-US" i="1">
                                          <a:latin typeface="Cambria Math" panose="02040503050406030204" pitchFamily="18" charset="0"/>
                                        </a:rPr>
                                        <m:t>𝑗</m:t>
                                      </m:r>
                                      <m:r>
                                        <a:rPr lang="zh-TW" altLang="en-US" i="1">
                                          <a:latin typeface="Cambria Math" panose="02040503050406030204" pitchFamily="18" charset="0"/>
                                        </a:rPr>
                                        <m:t>≠</m:t>
                                      </m:r>
                                      <m:r>
                                        <a:rPr lang="zh-TW" altLang="en-US" i="1">
                                          <a:latin typeface="Cambria Math" panose="02040503050406030204" pitchFamily="18" charset="0"/>
                                        </a:rPr>
                                        <m:t>𝑖</m:t>
                                      </m:r>
                                      <m:r>
                                        <a:rPr lang="en-US" altLang="zh-TW" i="1">
                                          <a:latin typeface="Cambria Math" panose="02040503050406030204" pitchFamily="18" charset="0"/>
                                        </a:rPr>
                                        <m:t>)</m:t>
                                      </m:r>
                                    </m:e>
                                  </m:eqArr>
                                </m:sub>
                                <m:sup/>
                                <m:e>
                                  <m:sSub>
                                    <m:sSubPr>
                                      <m:ctrlPr>
                                        <a:rPr lang="zh-TW" altLang="en-US" i="1">
                                          <a:latin typeface="Cambria Math" panose="02040503050406030204" pitchFamily="18" charset="0"/>
                                        </a:rPr>
                                      </m:ctrlPr>
                                    </m:sSubPr>
                                    <m:e>
                                      <m:r>
                                        <a:rPr lang="zh-TW" altLang="en-US" i="1">
                                          <a:latin typeface="Cambria Math" panose="02040503050406030204" pitchFamily="18" charset="0"/>
                                        </a:rPr>
                                        <m:t>𝑑</m:t>
                                      </m:r>
                                    </m:e>
                                    <m:sub>
                                      <m:r>
                                        <a:rPr lang="zh-TW" altLang="en-US" i="1">
                                          <a:latin typeface="Cambria Math" panose="02040503050406030204" pitchFamily="18" charset="0"/>
                                        </a:rPr>
                                        <m:t>𝑖</m:t>
                                      </m:r>
                                      <m:r>
                                        <a:rPr lang="en-US" altLang="zh-TW" i="1">
                                          <a:latin typeface="Cambria Math" panose="02040503050406030204" pitchFamily="18" charset="0"/>
                                        </a:rPr>
                                        <m:t>,</m:t>
                                      </m:r>
                                      <m:r>
                                        <a:rPr lang="zh-TW" altLang="en-US" i="1">
                                          <a:latin typeface="Cambria Math" panose="02040503050406030204" pitchFamily="18" charset="0"/>
                                        </a:rPr>
                                        <m:t>𝑗</m:t>
                                      </m:r>
                                    </m:sub>
                                  </m:sSub>
                                  <m:r>
                                    <a:rPr lang="zh-TW" altLang="en-US" i="1">
                                      <a:latin typeface="Cambria Math" panose="02040503050406030204" pitchFamily="18" charset="0"/>
                                    </a:rPr>
                                    <m:t>⋅</m:t>
                                  </m:r>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𝑥</m:t>
                                      </m:r>
                                    </m:e>
                                    <m:sub>
                                      <m:r>
                                        <a:rPr lang="zh-TW" altLang="en-US" i="1">
                                          <a:latin typeface="Cambria Math" panose="02040503050406030204" pitchFamily="18" charset="0"/>
                                        </a:rPr>
                                        <m:t>𝑖</m:t>
                                      </m:r>
                                      <m:r>
                                        <a:rPr lang="en-US" altLang="zh-TW" i="1">
                                          <a:latin typeface="Cambria Math" panose="02040503050406030204" pitchFamily="18" charset="0"/>
                                        </a:rPr>
                                        <m:t>,</m:t>
                                      </m:r>
                                      <m:r>
                                        <a:rPr lang="zh-TW" altLang="en-US" i="1">
                                          <a:latin typeface="Cambria Math" panose="02040503050406030204" pitchFamily="18" charset="0"/>
                                        </a:rPr>
                                        <m:t>𝑗</m:t>
                                      </m:r>
                                    </m:sub>
                                    <m:sup>
                                      <m:r>
                                        <a:rPr lang="zh-TW" altLang="en-US" i="1">
                                          <a:latin typeface="Cambria Math" panose="02040503050406030204" pitchFamily="18" charset="0"/>
                                        </a:rPr>
                                        <m:t>𝑘</m:t>
                                      </m:r>
                                    </m:sup>
                                  </m:sSubSup>
                                </m:e>
                              </m:nary>
                            </m:e>
                          </m:nary>
                        </m:e>
                      </m:nary>
                    </m:oMath>
                  </m:oMathPara>
                </a14:m>
                <a:endParaRPr lang="en-US" altLang="zh-TW" dirty="0">
                  <a:solidFill>
                    <a:schemeClr val="tx1"/>
                  </a:solidFill>
                </a:endParaRPr>
              </a:p>
            </p:txBody>
          </p:sp>
        </mc:Choice>
        <mc:Fallback xmlns="">
          <p:sp>
            <p:nvSpPr>
              <p:cNvPr id="3" name="內容版面配置區 2">
                <a:extLst>
                  <a:ext uri="{FF2B5EF4-FFF2-40B4-BE49-F238E27FC236}">
                    <a16:creationId xmlns:a16="http://schemas.microsoft.com/office/drawing/2014/main" id="{6E3BE9A6-9026-B190-CFE2-00DB532533B2}"/>
                  </a:ext>
                </a:extLst>
              </p:cNvPr>
              <p:cNvSpPr>
                <a:spLocks noGrp="1" noRot="1" noChangeAspect="1" noMove="1" noResize="1" noEditPoints="1" noAdjustHandles="1" noChangeArrowheads="1" noChangeShapeType="1" noTextEdit="1"/>
              </p:cNvSpPr>
              <p:nvPr>
                <p:ph idx="1"/>
              </p:nvPr>
            </p:nvSpPr>
            <p:spPr>
              <a:blipFill>
                <a:blip r:embed="rId3"/>
                <a:stretch>
                  <a:fillRect l="-1455"/>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861939F-C541-3267-E13A-7960BD01B0FB}"/>
              </a:ext>
            </a:extLst>
          </p:cNvPr>
          <p:cNvSpPr>
            <a:spLocks noGrp="1"/>
          </p:cNvSpPr>
          <p:nvPr>
            <p:ph type="sldNum" sz="quarter" idx="12"/>
          </p:nvPr>
        </p:nvSpPr>
        <p:spPr/>
        <p:txBody>
          <a:bodyPr/>
          <a:lstStyle/>
          <a:p>
            <a:fld id="{5AC25633-CB68-4D6B-BEE8-144406895708}" type="slidenum">
              <a:rPr lang="zh-TW" altLang="en-US" smtClean="0"/>
              <a:t>19</a:t>
            </a:fld>
            <a:endParaRPr lang="zh-TW" altLang="en-US"/>
          </a:p>
        </p:txBody>
      </p:sp>
    </p:spTree>
    <p:extLst>
      <p:ext uri="{BB962C8B-B14F-4D97-AF65-F5344CB8AC3E}">
        <p14:creationId xmlns:p14="http://schemas.microsoft.com/office/powerpoint/2010/main" val="128540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044FBE-870B-6CE6-D0E2-6496330753D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AB3E21-8E5F-D6B8-7F35-98A15BDDE328}"/>
              </a:ext>
            </a:extLst>
          </p:cNvPr>
          <p:cNvSpPr>
            <a:spLocks noGrp="1"/>
          </p:cNvSpPr>
          <p:nvPr>
            <p:ph type="title"/>
          </p:nvPr>
        </p:nvSpPr>
        <p:spPr/>
        <p:txBody>
          <a:bodyPr/>
          <a:lstStyle/>
          <a:p>
            <a:r>
              <a:rPr lang="en-US" altLang="zh-TW" dirty="0"/>
              <a:t>Store Extraction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A78B2D5-FD0C-4825-3993-15B67F0BCAEC}"/>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altLang="zh-TW" dirty="0"/>
                  <a:t>A</a:t>
                </a:r>
                <a:r>
                  <a:rPr lang="zh-TW" altLang="zh-TW" dirty="0"/>
                  <a:t>ddress vehicle overloading caused by demand fluctuations by removing selected stores from overloaded </a:t>
                </a:r>
                <a:r>
                  <a:rPr lang="en-US" altLang="zh-TW" dirty="0"/>
                  <a:t>main </a:t>
                </a:r>
                <a:r>
                  <a:rPr lang="zh-TW" altLang="zh-TW" dirty="0"/>
                  <a:t>routes</a:t>
                </a:r>
                <a:r>
                  <a:rPr lang="en-US" altLang="zh-TW" dirty="0"/>
                  <a:t> to </a:t>
                </a:r>
                <a:r>
                  <a:rPr lang="zh-TW" altLang="zh-TW" dirty="0"/>
                  <a:t>satisfy capacity and time window constraints</a:t>
                </a:r>
                <a:endParaRPr lang="en-US" altLang="zh-TW" dirty="0"/>
              </a:p>
              <a:p>
                <a:pPr>
                  <a:lnSpc>
                    <a:spcPct val="150000"/>
                  </a:lnSpc>
                  <a:buFont typeface="Wingdings" panose="05000000000000000000" pitchFamily="2" charset="2"/>
                  <a:buChar char="Ø"/>
                </a:pPr>
                <a:r>
                  <a:rPr lang="en-US" altLang="zh-TW" dirty="0"/>
                  <a:t>Cooperative Co-evolutionary Genetic Algorithm</a:t>
                </a:r>
                <a:r>
                  <a:rPr lang="zh-TW" altLang="en-US" dirty="0"/>
                  <a:t> </a:t>
                </a:r>
                <a:r>
                  <a:rPr lang="en-US" altLang="zh-TW" dirty="0"/>
                  <a:t>(CCGA)[2]</a:t>
                </a:r>
              </a:p>
              <a:p>
                <a:pPr lvl="1">
                  <a:lnSpc>
                    <a:spcPct val="150000"/>
                  </a:lnSpc>
                  <a:buFont typeface="Arial" panose="020B0604020202020204" pitchFamily="34" charset="0"/>
                  <a:buChar char="•"/>
                </a:pPr>
                <a:r>
                  <a:rPr lang="zh-TW" altLang="zh-TW" dirty="0"/>
                  <a:t>Decompose the problem into </a:t>
                </a:r>
                <a:r>
                  <a:rPr lang="en-US" altLang="zh-TW" dirty="0"/>
                  <a:t>multiple </a:t>
                </a:r>
                <a:r>
                  <a:rPr lang="zh-TW" altLang="zh-TW" dirty="0"/>
                  <a:t>smaller subproblems</a:t>
                </a:r>
                <a:endParaRPr lang="en-US" altLang="zh-TW" dirty="0"/>
              </a:p>
              <a:p>
                <a:pPr lvl="1">
                  <a:lnSpc>
                    <a:spcPct val="150000"/>
                  </a:lnSpc>
                  <a:buFont typeface="Arial" panose="020B0604020202020204" pitchFamily="34" charset="0"/>
                  <a:buChar char="•"/>
                </a:pPr>
                <a:r>
                  <a:rPr lang="zh-TW" altLang="zh-TW" dirty="0"/>
                  <a:t>Evolve each subproblem independently using Genetic Algorithms</a:t>
                </a:r>
                <a:endParaRPr lang="en-US" altLang="zh-TW" dirty="0"/>
              </a:p>
              <a:p>
                <a:pPr lvl="1">
                  <a:lnSpc>
                    <a:spcPct val="150000"/>
                  </a:lnSpc>
                  <a:buFont typeface="Arial" panose="020B0604020202020204" pitchFamily="34" charset="0"/>
                  <a:buChar char="•"/>
                </a:pPr>
                <a:r>
                  <a:rPr lang="zh-TW" altLang="zh-TW" dirty="0"/>
                  <a:t>Combine partial solutions and evaluate the complete solution</a:t>
                </a:r>
                <a:endParaRPr lang="en-US" altLang="zh-TW" dirty="0"/>
              </a:p>
              <a:p>
                <a:pPr lvl="1">
                  <a:lnSpc>
                    <a:spcPct val="150000"/>
                  </a:lnSpc>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rPr>
                      <m:t>𝑓𝑖𝑡𝑛𝑒𝑠𝑠</m:t>
                    </m:r>
                    <m:r>
                      <a:rPr lang="en-US" altLang="zh-TW" i="1" smtClean="0">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𝑓</m:t>
                        </m:r>
                      </m:e>
                      <m:sub>
                        <m:r>
                          <a:rPr lang="en-US" altLang="zh-TW" i="1">
                            <a:latin typeface="Cambria Math" panose="02040503050406030204" pitchFamily="18" charset="0"/>
                          </a:rPr>
                          <m:t>𝑣𝑒h𝑖𝑐𝑙𝑒</m:t>
                        </m:r>
                      </m:sub>
                    </m:sSub>
                    <m:r>
                      <a:rPr lang="en-US" altLang="zh-TW" i="1">
                        <a:latin typeface="Cambria Math" panose="02040503050406030204" pitchFamily="18" charset="0"/>
                      </a:rPr>
                      <m:t>(</m:t>
                    </m:r>
                    <m:r>
                      <a:rPr lang="en-US" altLang="zh-TW" i="1">
                        <a:latin typeface="Cambria Math" panose="02040503050406030204" pitchFamily="18" charset="0"/>
                      </a:rPr>
                      <m:t>𝑆</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2</m:t>
                        </m:r>
                      </m:sub>
                    </m:sSub>
                    <m:r>
                      <a:rPr lang="en-US" altLang="zh-TW" i="1">
                        <a:latin typeface="Cambria Math" panose="02040503050406030204" pitchFamily="18" charset="0"/>
                      </a:rPr>
                      <m:t>⋅|</m:t>
                    </m:r>
                    <m:r>
                      <a:rPr lang="en-US" altLang="zh-TW" i="1">
                        <a:latin typeface="Cambria Math" panose="02040503050406030204" pitchFamily="18" charset="0"/>
                      </a:rPr>
                      <m:t>𝑅</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𝑓</m:t>
                        </m:r>
                      </m:e>
                      <m:sub>
                        <m:r>
                          <a:rPr lang="en-US" altLang="zh-TW" i="1">
                            <a:latin typeface="Cambria Math" panose="02040503050406030204" pitchFamily="18" charset="0"/>
                          </a:rPr>
                          <m:t>𝑡𝑟𝑎𝑣𝑒𝑙</m:t>
                        </m:r>
                      </m:sub>
                    </m:sSub>
                    <m:r>
                      <a:rPr lang="en-US" altLang="zh-TW" i="1">
                        <a:latin typeface="Cambria Math" panose="02040503050406030204" pitchFamily="18" charset="0"/>
                      </a:rPr>
                      <m:t>(</m:t>
                    </m:r>
                    <m:r>
                      <a:rPr lang="en-US" altLang="zh-TW" i="1">
                        <a:latin typeface="Cambria Math" panose="02040503050406030204" pitchFamily="18" charset="0"/>
                      </a:rPr>
                      <m:t>𝑆</m:t>
                    </m:r>
                    <m:r>
                      <a:rPr lang="en-US" altLang="zh-TW" i="1">
                        <a:latin typeface="Cambria Math" panose="02040503050406030204" pitchFamily="18" charset="0"/>
                      </a:rPr>
                      <m:t>)</m:t>
                    </m:r>
                  </m:oMath>
                </a14:m>
                <a:endParaRPr lang="zh-TW" altLang="en-US" dirty="0"/>
              </a:p>
              <a:p>
                <a:pPr lvl="1">
                  <a:lnSpc>
                    <a:spcPct val="150000"/>
                  </a:lnSpc>
                  <a:buFont typeface="Arial" panose="020B0604020202020204" pitchFamily="34" charset="0"/>
                  <a:buChar char="•"/>
                </a:pPr>
                <a:endParaRPr lang="en-US" altLang="zh-TW" dirty="0"/>
              </a:p>
            </p:txBody>
          </p:sp>
        </mc:Choice>
        <mc:Fallback xmlns="">
          <p:sp>
            <p:nvSpPr>
              <p:cNvPr id="3" name="內容版面配置區 2">
                <a:extLst>
                  <a:ext uri="{FF2B5EF4-FFF2-40B4-BE49-F238E27FC236}">
                    <a16:creationId xmlns:a16="http://schemas.microsoft.com/office/drawing/2014/main" id="{EA78B2D5-FD0C-4825-3993-15B67F0BCAEC}"/>
                  </a:ext>
                </a:extLst>
              </p:cNvPr>
              <p:cNvSpPr>
                <a:spLocks noGrp="1" noRot="1" noChangeAspect="1" noMove="1" noResize="1" noEditPoints="1" noAdjustHandles="1" noChangeArrowheads="1" noChangeShapeType="1" noTextEdit="1"/>
              </p:cNvSpPr>
              <p:nvPr>
                <p:ph idx="1"/>
              </p:nvPr>
            </p:nvSpPr>
            <p:spPr>
              <a:blipFill>
                <a:blip r:embed="rId3"/>
                <a:stretch>
                  <a:fillRect l="-1455"/>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206079BC-B004-5D1E-9240-90A6D47A6A19}"/>
              </a:ext>
            </a:extLst>
          </p:cNvPr>
          <p:cNvSpPr>
            <a:spLocks noGrp="1"/>
          </p:cNvSpPr>
          <p:nvPr>
            <p:ph type="sldNum" sz="quarter" idx="12"/>
          </p:nvPr>
        </p:nvSpPr>
        <p:spPr/>
        <p:txBody>
          <a:bodyPr/>
          <a:lstStyle/>
          <a:p>
            <a:fld id="{5AC25633-CB68-4D6B-BEE8-144406895708}" type="slidenum">
              <a:rPr lang="zh-TW" altLang="en-US" smtClean="0"/>
              <a:t>20</a:t>
            </a:fld>
            <a:endParaRPr lang="zh-TW" altLang="en-US"/>
          </a:p>
        </p:txBody>
      </p:sp>
      <p:sp>
        <p:nvSpPr>
          <p:cNvPr id="6" name="文字方塊 5">
            <a:extLst>
              <a:ext uri="{FF2B5EF4-FFF2-40B4-BE49-F238E27FC236}">
                <a16:creationId xmlns:a16="http://schemas.microsoft.com/office/drawing/2014/main" id="{0F56D1B6-D6D2-E7FF-2C69-DA6C48344B92}"/>
              </a:ext>
            </a:extLst>
          </p:cNvPr>
          <p:cNvSpPr txBox="1"/>
          <p:nvPr/>
        </p:nvSpPr>
        <p:spPr>
          <a:xfrm>
            <a:off x="979517" y="6367183"/>
            <a:ext cx="10058400" cy="276999"/>
          </a:xfrm>
          <a:prstGeom prst="rect">
            <a:avLst/>
          </a:prstGeom>
          <a:noFill/>
        </p:spPr>
        <p:txBody>
          <a:bodyPr wrap="square">
            <a:spAutoFit/>
          </a:bodyPr>
          <a:lstStyle/>
          <a:p>
            <a:pPr marL="457200" indent="-457200">
              <a:spcAft>
                <a:spcPts val="800"/>
              </a:spcAft>
              <a:buNone/>
            </a:pPr>
            <a:r>
              <a:rPr lang="en-US" altLang="zh-TW" sz="1200" kern="100" dirty="0">
                <a:solidFill>
                  <a:schemeClr val="bg1"/>
                </a:solidFill>
                <a:effectLst/>
                <a:latin typeface="Times New Roman" panose="02020603050405020304" pitchFamily="18" charset="0"/>
                <a:ea typeface="新細明體" panose="02020500000000000000" pitchFamily="18" charset="-120"/>
              </a:rPr>
              <a:t>[2]</a:t>
            </a:r>
            <a:r>
              <a:rPr lang="en-US" altLang="zh-TW" sz="1200" kern="100" dirty="0">
                <a:solidFill>
                  <a:schemeClr val="bg1"/>
                </a:solidFill>
                <a:latin typeface="Times New Roman" panose="02020603050405020304" pitchFamily="18" charset="0"/>
                <a:ea typeface="新細明體" panose="02020500000000000000" pitchFamily="18" charset="-120"/>
              </a:rPr>
              <a:t>  </a:t>
            </a:r>
            <a:r>
              <a:rPr lang="en-US" altLang="zh-TW" sz="1200" kern="100" dirty="0">
                <a:solidFill>
                  <a:schemeClr val="bg1"/>
                </a:solidFill>
                <a:effectLst/>
                <a:latin typeface="Times New Roman" panose="02020603050405020304" pitchFamily="18" charset="0"/>
                <a:ea typeface="新細明體" panose="02020500000000000000" pitchFamily="18" charset="-120"/>
              </a:rPr>
              <a:t>X. Ma</a:t>
            </a:r>
            <a:r>
              <a:rPr lang="en-US" altLang="zh-TW" sz="1200" i="1" kern="100" dirty="0">
                <a:solidFill>
                  <a:schemeClr val="bg1"/>
                </a:solidFill>
                <a:effectLst/>
                <a:latin typeface="Times New Roman" panose="02020603050405020304" pitchFamily="18" charset="0"/>
                <a:ea typeface="新細明體" panose="02020500000000000000" pitchFamily="18" charset="-120"/>
              </a:rPr>
              <a:t> et al.</a:t>
            </a:r>
            <a:r>
              <a:rPr lang="en-US" altLang="zh-TW" sz="1200" kern="100" dirty="0">
                <a:solidFill>
                  <a:schemeClr val="bg1"/>
                </a:solidFill>
                <a:effectLst/>
                <a:latin typeface="Times New Roman" panose="02020603050405020304" pitchFamily="18" charset="0"/>
                <a:ea typeface="新細明體" panose="02020500000000000000" pitchFamily="18" charset="-120"/>
              </a:rPr>
              <a:t>, "A survey on cooperative co-evolutionary algorithms," </a:t>
            </a:r>
            <a:r>
              <a:rPr lang="en-US" altLang="zh-TW" sz="1200" i="1" kern="100" dirty="0">
                <a:solidFill>
                  <a:schemeClr val="bg1"/>
                </a:solidFill>
                <a:effectLst/>
                <a:latin typeface="Times New Roman" panose="02020603050405020304" pitchFamily="18" charset="0"/>
                <a:ea typeface="新細明體" panose="02020500000000000000" pitchFamily="18" charset="-120"/>
              </a:rPr>
              <a:t>IEEE Transactions on Evolutionary Computation, </a:t>
            </a:r>
            <a:r>
              <a:rPr lang="en-US" altLang="zh-TW" sz="1200" kern="100" dirty="0">
                <a:solidFill>
                  <a:schemeClr val="bg1"/>
                </a:solidFill>
                <a:effectLst/>
                <a:latin typeface="Times New Roman" panose="02020603050405020304" pitchFamily="18" charset="0"/>
                <a:ea typeface="新細明體" panose="02020500000000000000" pitchFamily="18" charset="-120"/>
              </a:rPr>
              <a:t>vol. 23, no. 3, pp. 421–441, 2018.</a:t>
            </a:r>
            <a:endParaRPr lang="zh-TW" altLang="zh-TW" sz="1200" kern="100" dirty="0">
              <a:solidFill>
                <a:schemeClr val="bg1"/>
              </a:solidFill>
              <a:effectLst/>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2089251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192A1B-6FA4-DCC6-808A-EA3C1F5B386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3112EE1-1BD1-368D-9159-8B09BB76048D}"/>
              </a:ext>
            </a:extLst>
          </p:cNvPr>
          <p:cNvSpPr>
            <a:spLocks noGrp="1"/>
          </p:cNvSpPr>
          <p:nvPr>
            <p:ph type="title"/>
          </p:nvPr>
        </p:nvSpPr>
        <p:spPr/>
        <p:txBody>
          <a:bodyPr/>
          <a:lstStyle/>
          <a:p>
            <a:r>
              <a:rPr lang="en-US" altLang="zh-TW" dirty="0"/>
              <a:t>Store Assignment</a:t>
            </a:r>
          </a:p>
        </p:txBody>
      </p:sp>
      <p:sp>
        <p:nvSpPr>
          <p:cNvPr id="4" name="投影片編號版面配置區 3">
            <a:extLst>
              <a:ext uri="{FF2B5EF4-FFF2-40B4-BE49-F238E27FC236}">
                <a16:creationId xmlns:a16="http://schemas.microsoft.com/office/drawing/2014/main" id="{EFC6B11F-0DD8-3CC4-3966-337A9A8737A1}"/>
              </a:ext>
            </a:extLst>
          </p:cNvPr>
          <p:cNvSpPr>
            <a:spLocks noGrp="1"/>
          </p:cNvSpPr>
          <p:nvPr>
            <p:ph type="sldNum" sz="quarter" idx="12"/>
          </p:nvPr>
        </p:nvSpPr>
        <p:spPr/>
        <p:txBody>
          <a:bodyPr/>
          <a:lstStyle/>
          <a:p>
            <a:fld id="{5AC25633-CB68-4D6B-BEE8-144406895708}" type="slidenum">
              <a:rPr lang="zh-TW" altLang="en-US" smtClean="0"/>
              <a:t>21</a:t>
            </a:fld>
            <a:endParaRPr lang="zh-TW" altLang="en-US"/>
          </a:p>
        </p:txBody>
      </p:sp>
      <p:sp>
        <p:nvSpPr>
          <p:cNvPr id="6" name="內容版面配置區 2">
            <a:extLst>
              <a:ext uri="{FF2B5EF4-FFF2-40B4-BE49-F238E27FC236}">
                <a16:creationId xmlns:a16="http://schemas.microsoft.com/office/drawing/2014/main" id="{893B6B56-560F-B365-4615-811B1CC8C4D1}"/>
              </a:ext>
            </a:extLst>
          </p:cNvPr>
          <p:cNvSpPr txBox="1">
            <a:spLocks/>
          </p:cNvSpPr>
          <p:nvPr/>
        </p:nvSpPr>
        <p:spPr>
          <a:xfrm>
            <a:off x="1097280" y="1845734"/>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lumMod val="50000"/>
                </a:schemeClr>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600"/>
              </a:spcBef>
              <a:spcAft>
                <a:spcPts val="600"/>
              </a:spcAft>
              <a:buClr>
                <a:schemeClr val="accent1">
                  <a:lumMod val="50000"/>
                </a:schemeClr>
              </a:buClr>
              <a:buFont typeface="Wingdings" panose="05000000000000000000" pitchFamily="2" charset="2"/>
              <a:buChar char="l"/>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50000"/>
              </a:lnSpc>
              <a:buFont typeface="Wingdings" panose="05000000000000000000" pitchFamily="2" charset="2"/>
              <a:buChar char="Ø"/>
            </a:pPr>
            <a:r>
              <a:rPr lang="en-US" altLang="zh-TW" dirty="0"/>
              <a:t>I</a:t>
            </a:r>
            <a:r>
              <a:rPr lang="zh-TW" altLang="zh-TW" dirty="0"/>
              <a:t>nsert candidate stores into main routes with available capacity to improve utilization and reduce the need for support routes</a:t>
            </a:r>
            <a:endParaRPr lang="en-US" altLang="zh-TW" dirty="0"/>
          </a:p>
          <a:p>
            <a:pPr>
              <a:lnSpc>
                <a:spcPct val="150000"/>
              </a:lnSpc>
              <a:buFont typeface="Wingdings" panose="05000000000000000000" pitchFamily="2" charset="2"/>
              <a:buChar char="Ø"/>
            </a:pPr>
            <a:r>
              <a:rPr lang="en-US" altLang="zh-TW" dirty="0"/>
              <a:t>Hybrid Ant Colony Optimization (HACO)[3]</a:t>
            </a:r>
          </a:p>
          <a:p>
            <a:pPr lvl="1">
              <a:lnSpc>
                <a:spcPct val="150000"/>
              </a:lnSpc>
              <a:buFont typeface="Arial" panose="020B0604020202020204" pitchFamily="34" charset="0"/>
              <a:buChar char="•"/>
            </a:pPr>
            <a:r>
              <a:rPr lang="en-US" altLang="zh-TW" dirty="0"/>
              <a:t>Combine Ant Colony Optimization</a:t>
            </a:r>
            <a:r>
              <a:rPr lang="zh-TW" altLang="en-US" dirty="0"/>
              <a:t> </a:t>
            </a:r>
            <a:r>
              <a:rPr lang="en-US" altLang="zh-TW" dirty="0"/>
              <a:t>(ACO) and </a:t>
            </a:r>
            <a:r>
              <a:rPr lang="zh-TW" altLang="zh-TW" dirty="0"/>
              <a:t>Variable Neighborhood Descent</a:t>
            </a:r>
            <a:r>
              <a:rPr lang="en-US" altLang="zh-TW" dirty="0"/>
              <a:t> (VND)</a:t>
            </a:r>
          </a:p>
          <a:p>
            <a:pPr lvl="1">
              <a:lnSpc>
                <a:spcPct val="150000"/>
              </a:lnSpc>
              <a:buFont typeface="Arial" panose="020B0604020202020204" pitchFamily="34" charset="0"/>
              <a:buChar char="•"/>
            </a:pPr>
            <a:r>
              <a:rPr lang="zh-TW" altLang="zh-TW" dirty="0"/>
              <a:t>ACO constructs solutions by simulating pheromone-based communication among ants</a:t>
            </a:r>
            <a:endParaRPr lang="en-US" altLang="zh-TW" dirty="0"/>
          </a:p>
          <a:p>
            <a:pPr lvl="1">
              <a:lnSpc>
                <a:spcPct val="150000"/>
              </a:lnSpc>
              <a:buFont typeface="Arial" panose="020B0604020202020204" pitchFamily="34" charset="0"/>
              <a:buChar char="•"/>
            </a:pPr>
            <a:r>
              <a:rPr lang="zh-TW" altLang="zh-TW" dirty="0"/>
              <a:t>VND improves solutions by sequentially exploring multiple neighborhood to escape local optima</a:t>
            </a:r>
            <a:endParaRPr lang="en-US" altLang="zh-TW" dirty="0"/>
          </a:p>
        </p:txBody>
      </p:sp>
      <p:sp>
        <p:nvSpPr>
          <p:cNvPr id="5" name="文字方塊 4">
            <a:extLst>
              <a:ext uri="{FF2B5EF4-FFF2-40B4-BE49-F238E27FC236}">
                <a16:creationId xmlns:a16="http://schemas.microsoft.com/office/drawing/2014/main" id="{2D836BE0-D00E-B521-C7F6-56F78B60D3E4}"/>
              </a:ext>
            </a:extLst>
          </p:cNvPr>
          <p:cNvSpPr txBox="1"/>
          <p:nvPr/>
        </p:nvSpPr>
        <p:spPr>
          <a:xfrm>
            <a:off x="979517" y="6363245"/>
            <a:ext cx="9383683" cy="461665"/>
          </a:xfrm>
          <a:prstGeom prst="rect">
            <a:avLst/>
          </a:prstGeom>
          <a:noFill/>
        </p:spPr>
        <p:txBody>
          <a:bodyPr wrap="square">
            <a:spAutoFit/>
          </a:bodyPr>
          <a:lstStyle/>
          <a:p>
            <a:pPr marL="457200" indent="-457200">
              <a:spcAft>
                <a:spcPts val="800"/>
              </a:spcAft>
              <a:buNone/>
            </a:pPr>
            <a:r>
              <a:rPr lang="en-US" altLang="zh-TW" sz="1200" kern="100" dirty="0">
                <a:solidFill>
                  <a:schemeClr val="bg1"/>
                </a:solidFill>
                <a:effectLst/>
                <a:latin typeface="Times New Roman" panose="02020603050405020304" pitchFamily="18" charset="0"/>
                <a:ea typeface="新細明體" panose="02020500000000000000" pitchFamily="18" charset="-120"/>
              </a:rPr>
              <a:t>[3]</a:t>
            </a:r>
            <a:r>
              <a:rPr lang="zh-TW" altLang="en-US" sz="1200" kern="100" dirty="0">
                <a:solidFill>
                  <a:schemeClr val="bg1"/>
                </a:solidFill>
                <a:effectLst/>
                <a:latin typeface="Times New Roman" panose="02020603050405020304" pitchFamily="18" charset="0"/>
                <a:ea typeface="新細明體" panose="02020500000000000000" pitchFamily="18" charset="-120"/>
              </a:rPr>
              <a:t>  </a:t>
            </a:r>
            <a:r>
              <a:rPr lang="en-US" altLang="zh-TW" sz="1200" kern="100" dirty="0">
                <a:solidFill>
                  <a:schemeClr val="bg1"/>
                </a:solidFill>
                <a:effectLst/>
                <a:latin typeface="Times New Roman" panose="02020603050405020304" pitchFamily="18" charset="0"/>
                <a:ea typeface="新細明體" panose="02020500000000000000" pitchFamily="18" charset="-120"/>
              </a:rPr>
              <a:t>Q. Ding, X. Hu, L. Sun, and Y. Wang, "An improved ant colony optimization and its application to vehicle routing problem with time windows," </a:t>
            </a:r>
            <a:r>
              <a:rPr lang="en-US" altLang="zh-TW" sz="1200" i="1" kern="100" dirty="0">
                <a:solidFill>
                  <a:schemeClr val="bg1"/>
                </a:solidFill>
                <a:effectLst/>
                <a:latin typeface="Times New Roman" panose="02020603050405020304" pitchFamily="18" charset="0"/>
                <a:ea typeface="新細明體" panose="02020500000000000000" pitchFamily="18" charset="-120"/>
              </a:rPr>
              <a:t>Neurocomputing, </a:t>
            </a:r>
            <a:r>
              <a:rPr lang="en-US" altLang="zh-TW" sz="1200" kern="100" dirty="0">
                <a:solidFill>
                  <a:schemeClr val="bg1"/>
                </a:solidFill>
                <a:effectLst/>
                <a:latin typeface="Times New Roman" panose="02020603050405020304" pitchFamily="18" charset="0"/>
                <a:ea typeface="新細明體" panose="02020500000000000000" pitchFamily="18" charset="-120"/>
              </a:rPr>
              <a:t>vol. 98, pp. 101–107, 2012.</a:t>
            </a:r>
            <a:endParaRPr lang="zh-TW" altLang="zh-TW" sz="1200" kern="100" dirty="0">
              <a:solidFill>
                <a:schemeClr val="bg1"/>
              </a:solidFill>
              <a:effectLst/>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3459161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1FECAD-FCB4-1003-0C95-6C88C2915CA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A7E3B61-AE48-2968-7AD8-1A13ADCE2CE2}"/>
              </a:ext>
            </a:extLst>
          </p:cNvPr>
          <p:cNvSpPr>
            <a:spLocks noGrp="1"/>
          </p:cNvSpPr>
          <p:nvPr>
            <p:ph type="title"/>
          </p:nvPr>
        </p:nvSpPr>
        <p:spPr/>
        <p:txBody>
          <a:bodyPr/>
          <a:lstStyle/>
          <a:p>
            <a:r>
              <a:rPr lang="en-US" altLang="zh-TW" dirty="0"/>
              <a:t>Support Route Planning</a:t>
            </a:r>
          </a:p>
        </p:txBody>
      </p:sp>
      <p:sp>
        <p:nvSpPr>
          <p:cNvPr id="4" name="投影片編號版面配置區 3">
            <a:extLst>
              <a:ext uri="{FF2B5EF4-FFF2-40B4-BE49-F238E27FC236}">
                <a16:creationId xmlns:a16="http://schemas.microsoft.com/office/drawing/2014/main" id="{824B810D-FC73-A553-60E6-7015E00013DD}"/>
              </a:ext>
            </a:extLst>
          </p:cNvPr>
          <p:cNvSpPr>
            <a:spLocks noGrp="1"/>
          </p:cNvSpPr>
          <p:nvPr>
            <p:ph type="sldNum" sz="quarter" idx="12"/>
          </p:nvPr>
        </p:nvSpPr>
        <p:spPr/>
        <p:txBody>
          <a:bodyPr/>
          <a:lstStyle/>
          <a:p>
            <a:fld id="{5AC25633-CB68-4D6B-BEE8-144406895708}" type="slidenum">
              <a:rPr lang="zh-TW" altLang="en-US" smtClean="0"/>
              <a:t>22</a:t>
            </a:fld>
            <a:endParaRPr lang="zh-TW" altLang="en-US"/>
          </a:p>
        </p:txBody>
      </p:sp>
      <p:sp>
        <p:nvSpPr>
          <p:cNvPr id="8" name="內容版面配置區 2">
            <a:extLst>
              <a:ext uri="{FF2B5EF4-FFF2-40B4-BE49-F238E27FC236}">
                <a16:creationId xmlns:a16="http://schemas.microsoft.com/office/drawing/2014/main" id="{BB14FA3D-3001-C747-2DB6-66D5582B47C9}"/>
              </a:ext>
            </a:extLst>
          </p:cNvPr>
          <p:cNvSpPr>
            <a:spLocks noGrp="1"/>
          </p:cNvSpPr>
          <p:nvPr>
            <p:ph idx="1"/>
          </p:nvPr>
        </p:nvSpPr>
        <p:spPr>
          <a:xfrm>
            <a:off x="1097280" y="1845734"/>
            <a:ext cx="10058400" cy="4023360"/>
          </a:xfrm>
        </p:spPr>
        <p:txBody>
          <a:bodyPr>
            <a:normAutofit/>
          </a:bodyPr>
          <a:lstStyle/>
          <a:p>
            <a:pPr>
              <a:lnSpc>
                <a:spcPct val="150000"/>
              </a:lnSpc>
              <a:buFont typeface="Wingdings" panose="05000000000000000000" pitchFamily="2" charset="2"/>
              <a:buChar char="Ø"/>
            </a:pPr>
            <a:r>
              <a:rPr lang="en-US" altLang="zh-TW" dirty="0"/>
              <a:t>Perform routing for stores that cannot be assigned to main routes</a:t>
            </a:r>
          </a:p>
          <a:p>
            <a:pPr>
              <a:lnSpc>
                <a:spcPct val="150000"/>
              </a:lnSpc>
              <a:buFont typeface="Wingdings" panose="05000000000000000000" pitchFamily="2" charset="2"/>
              <a:buChar char="Ø"/>
            </a:pPr>
            <a:r>
              <a:rPr lang="en-US" altLang="zh-TW" dirty="0"/>
              <a:t>Multiple Ant Colony System</a:t>
            </a:r>
            <a:r>
              <a:rPr lang="zh-TW" altLang="en-US" dirty="0"/>
              <a:t> </a:t>
            </a:r>
            <a:r>
              <a:rPr lang="en-US" altLang="zh-TW" dirty="0"/>
              <a:t>(MACS)[4]</a:t>
            </a:r>
          </a:p>
          <a:p>
            <a:pPr lvl="1">
              <a:lnSpc>
                <a:spcPct val="150000"/>
              </a:lnSpc>
              <a:buFont typeface="Arial" panose="020B0604020202020204" pitchFamily="34" charset="0"/>
              <a:buChar char="•"/>
            </a:pPr>
            <a:r>
              <a:rPr lang="zh-TW" altLang="zh-TW" dirty="0"/>
              <a:t>ACS-VEI minimizes the number of vehicles by improving </a:t>
            </a:r>
            <a:r>
              <a:rPr lang="en-US" altLang="zh-TW" dirty="0"/>
              <a:t>store</a:t>
            </a:r>
            <a:r>
              <a:rPr lang="zh-TW" altLang="zh-TW" dirty="0"/>
              <a:t> coverage during route construction</a:t>
            </a:r>
            <a:endParaRPr lang="en-US" altLang="zh-TW" dirty="0"/>
          </a:p>
          <a:p>
            <a:pPr lvl="1">
              <a:lnSpc>
                <a:spcPct val="150000"/>
              </a:lnSpc>
              <a:buFont typeface="Arial" panose="020B0604020202020204" pitchFamily="34" charset="0"/>
              <a:buChar char="•"/>
            </a:pPr>
            <a:r>
              <a:rPr lang="zh-TW" altLang="zh-TW" dirty="0"/>
              <a:t>ACS-DIST minimizes total travel distance by applying VND for local optimization after solution construction.</a:t>
            </a:r>
            <a:endParaRPr lang="en-US" altLang="zh-TW" dirty="0"/>
          </a:p>
        </p:txBody>
      </p:sp>
      <p:sp>
        <p:nvSpPr>
          <p:cNvPr id="5" name="文字方塊 4">
            <a:extLst>
              <a:ext uri="{FF2B5EF4-FFF2-40B4-BE49-F238E27FC236}">
                <a16:creationId xmlns:a16="http://schemas.microsoft.com/office/drawing/2014/main" id="{498658F3-C84B-5B94-8D3E-342C74A5B3E3}"/>
              </a:ext>
            </a:extLst>
          </p:cNvPr>
          <p:cNvSpPr txBox="1"/>
          <p:nvPr/>
        </p:nvSpPr>
        <p:spPr>
          <a:xfrm>
            <a:off x="979517" y="6363245"/>
            <a:ext cx="9648825" cy="461665"/>
          </a:xfrm>
          <a:prstGeom prst="rect">
            <a:avLst/>
          </a:prstGeom>
          <a:noFill/>
        </p:spPr>
        <p:txBody>
          <a:bodyPr wrap="square">
            <a:spAutoFit/>
          </a:bodyPr>
          <a:lstStyle/>
          <a:p>
            <a:r>
              <a:rPr lang="en-US" altLang="zh-TW" sz="1200" dirty="0">
                <a:solidFill>
                  <a:schemeClr val="bg1"/>
                </a:solidFill>
              </a:rPr>
              <a:t>[4]  L. M. Gambardella, É. </a:t>
            </a:r>
            <a:r>
              <a:rPr lang="en-US" altLang="zh-TW" sz="1200" dirty="0" err="1">
                <a:solidFill>
                  <a:schemeClr val="bg1"/>
                </a:solidFill>
              </a:rPr>
              <a:t>Taillard</a:t>
            </a:r>
            <a:r>
              <a:rPr lang="en-US" altLang="zh-TW" sz="1200" dirty="0">
                <a:solidFill>
                  <a:schemeClr val="bg1"/>
                </a:solidFill>
              </a:rPr>
              <a:t>, and G. Agazzi, "MACS-VRPTW: A multiple ant colony system for vehicle routing problems with time windows," ed: Istituto Dalle Molle Di Studi Sull </a:t>
            </a:r>
            <a:r>
              <a:rPr lang="en-US" altLang="zh-TW" sz="1200" dirty="0" err="1">
                <a:solidFill>
                  <a:schemeClr val="bg1"/>
                </a:solidFill>
              </a:rPr>
              <a:t>Intelligenza</a:t>
            </a:r>
            <a:r>
              <a:rPr lang="en-US" altLang="zh-TW" sz="1200" dirty="0">
                <a:solidFill>
                  <a:schemeClr val="bg1"/>
                </a:solidFill>
              </a:rPr>
              <a:t> </a:t>
            </a:r>
            <a:r>
              <a:rPr lang="en-US" altLang="zh-TW" sz="1200" dirty="0" err="1">
                <a:solidFill>
                  <a:schemeClr val="bg1"/>
                </a:solidFill>
              </a:rPr>
              <a:t>Artificiale</a:t>
            </a:r>
            <a:r>
              <a:rPr lang="en-US" altLang="zh-TW" sz="1200" dirty="0">
                <a:solidFill>
                  <a:schemeClr val="bg1"/>
                </a:solidFill>
              </a:rPr>
              <a:t>, 1999</a:t>
            </a:r>
            <a:endParaRPr lang="zh-TW" altLang="en-US" sz="1200" dirty="0">
              <a:solidFill>
                <a:schemeClr val="bg1"/>
              </a:solidFill>
            </a:endParaRPr>
          </a:p>
        </p:txBody>
      </p:sp>
    </p:spTree>
    <p:extLst>
      <p:ext uri="{BB962C8B-B14F-4D97-AF65-F5344CB8AC3E}">
        <p14:creationId xmlns:p14="http://schemas.microsoft.com/office/powerpoint/2010/main" val="4253108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271F19-E799-790E-1B38-E8CFBA1299E9}"/>
            </a:ext>
          </a:extLst>
        </p:cNvPr>
        <p:cNvGrpSpPr/>
        <p:nvPr/>
      </p:nvGrpSpPr>
      <p:grpSpPr>
        <a:xfrm>
          <a:off x="0" y="0"/>
          <a:ext cx="0" cy="0"/>
          <a:chOff x="0" y="0"/>
          <a:chExt cx="0" cy="0"/>
        </a:xfrm>
      </p:grpSpPr>
      <p:sp>
        <p:nvSpPr>
          <p:cNvPr id="25" name="矩形 24">
            <a:extLst>
              <a:ext uri="{FF2B5EF4-FFF2-40B4-BE49-F238E27FC236}">
                <a16:creationId xmlns:a16="http://schemas.microsoft.com/office/drawing/2014/main" id="{8D550C14-D2E6-BA6A-6139-FC2DE4996821}"/>
              </a:ext>
            </a:extLst>
          </p:cNvPr>
          <p:cNvSpPr/>
          <p:nvPr/>
        </p:nvSpPr>
        <p:spPr>
          <a:xfrm>
            <a:off x="8350917" y="3727824"/>
            <a:ext cx="1372770" cy="1246908"/>
          </a:xfrm>
          <a:prstGeom prst="rect">
            <a:avLst/>
          </a:prstGeom>
          <a:solidFill>
            <a:schemeClr val="tx2">
              <a:lumMod val="10000"/>
              <a:lumOff val="90000"/>
            </a:schemeClr>
          </a:solid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0CE1D91A-C9BE-C08C-ACDE-0C413EA2BC1D}"/>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97E64EF5-D0ED-7A56-6228-DDFC5CB9A351}"/>
              </a:ext>
            </a:extLst>
          </p:cNvPr>
          <p:cNvSpPr>
            <a:spLocks noGrp="1"/>
          </p:cNvSpPr>
          <p:nvPr>
            <p:ph type="sldNum" sz="quarter" idx="12"/>
          </p:nvPr>
        </p:nvSpPr>
        <p:spPr/>
        <p:txBody>
          <a:bodyPr/>
          <a:lstStyle/>
          <a:p>
            <a:fld id="{5AC25633-CB68-4D6B-BEE8-144406895708}" type="slidenum">
              <a:rPr lang="zh-TW" altLang="en-US" smtClean="0"/>
              <a:t>23</a:t>
            </a:fld>
            <a:endParaRPr lang="zh-TW" altLang="en-US"/>
          </a:p>
        </p:txBody>
      </p:sp>
      <p:sp>
        <p:nvSpPr>
          <p:cNvPr id="3" name="矩形 2">
            <a:extLst>
              <a:ext uri="{FF2B5EF4-FFF2-40B4-BE49-F238E27FC236}">
                <a16:creationId xmlns:a16="http://schemas.microsoft.com/office/drawing/2014/main" id="{6069B3B0-57F6-1C92-F5D0-2964B57F70C8}"/>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D5040F68-8DD0-1B11-6EA2-61F5AEF93125}"/>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6" name="矩形 5">
            <a:extLst>
              <a:ext uri="{FF2B5EF4-FFF2-40B4-BE49-F238E27FC236}">
                <a16:creationId xmlns:a16="http://schemas.microsoft.com/office/drawing/2014/main" id="{DA536A47-CA00-3476-6E60-EA4AFD930770}"/>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13" name="矩形 12">
            <a:extLst>
              <a:ext uri="{FF2B5EF4-FFF2-40B4-BE49-F238E27FC236}">
                <a16:creationId xmlns:a16="http://schemas.microsoft.com/office/drawing/2014/main" id="{971E753C-CAD7-BBB5-BF4C-34072D5700C7}"/>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16" name="矩形 15">
            <a:extLst>
              <a:ext uri="{FF2B5EF4-FFF2-40B4-BE49-F238E27FC236}">
                <a16:creationId xmlns:a16="http://schemas.microsoft.com/office/drawing/2014/main" id="{CB5DBFE4-3DAC-DF95-8981-2310B5EDB609}"/>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18" name="矩形 17">
            <a:extLst>
              <a:ext uri="{FF2B5EF4-FFF2-40B4-BE49-F238E27FC236}">
                <a16:creationId xmlns:a16="http://schemas.microsoft.com/office/drawing/2014/main" id="{4EEA4DE1-B8DC-1042-8228-C6FB549C1B0B}"/>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19" name="矩形 18">
            <a:extLst>
              <a:ext uri="{FF2B5EF4-FFF2-40B4-BE49-F238E27FC236}">
                <a16:creationId xmlns:a16="http://schemas.microsoft.com/office/drawing/2014/main" id="{1431D335-5AB8-684C-D394-E438AED28EE6}"/>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20" name="直線單箭頭接點 19">
            <a:extLst>
              <a:ext uri="{FF2B5EF4-FFF2-40B4-BE49-F238E27FC236}">
                <a16:creationId xmlns:a16="http://schemas.microsoft.com/office/drawing/2014/main" id="{A33FB917-6A29-1899-95DF-F148C075EB60}"/>
              </a:ext>
            </a:extLst>
          </p:cNvPr>
          <p:cNvCxnSpPr>
            <a:cxnSpLocks/>
            <a:endCxn id="5"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0E8D8C11-D80E-06FB-CB33-343364DBE0E3}"/>
              </a:ext>
            </a:extLst>
          </p:cNvPr>
          <p:cNvCxnSpPr>
            <a:cxnSpLocks/>
            <a:stCxn id="16"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94B67E79-4CF3-4650-6E3B-85701FBAB47B}"/>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23" name="直線單箭頭接點 22">
            <a:extLst>
              <a:ext uri="{FF2B5EF4-FFF2-40B4-BE49-F238E27FC236}">
                <a16:creationId xmlns:a16="http://schemas.microsoft.com/office/drawing/2014/main" id="{38918806-091C-F341-9E9D-DA87788324B3}"/>
              </a:ext>
            </a:extLst>
          </p:cNvPr>
          <p:cNvCxnSpPr>
            <a:cxnSpLocks/>
            <a:stCxn id="5" idx="3"/>
            <a:endCxn id="6"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6B5D236E-FF19-A58C-919A-18192EEA1B63}"/>
              </a:ext>
            </a:extLst>
          </p:cNvPr>
          <p:cNvCxnSpPr>
            <a:cxnSpLocks/>
            <a:stCxn id="6" idx="3"/>
            <a:endCxn id="13"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DCF4C5FA-D9A7-6E19-F3EB-6D195C093684}"/>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文字方塊 26">
            <a:extLst>
              <a:ext uri="{FF2B5EF4-FFF2-40B4-BE49-F238E27FC236}">
                <a16:creationId xmlns:a16="http://schemas.microsoft.com/office/drawing/2014/main" id="{DB5A96C0-B90D-25FF-5E91-F11B4E7F101B}"/>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28" name="矩形 27">
            <a:extLst>
              <a:ext uri="{FF2B5EF4-FFF2-40B4-BE49-F238E27FC236}">
                <a16:creationId xmlns:a16="http://schemas.microsoft.com/office/drawing/2014/main" id="{F558FA42-C770-EAB5-C5F8-6B9B3E6D4291}"/>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29" name="直線單箭頭接點 28">
            <a:extLst>
              <a:ext uri="{FF2B5EF4-FFF2-40B4-BE49-F238E27FC236}">
                <a16:creationId xmlns:a16="http://schemas.microsoft.com/office/drawing/2014/main" id="{0BA557FE-2725-DF52-7FB3-BE240B584CE7}"/>
              </a:ext>
            </a:extLst>
          </p:cNvPr>
          <p:cNvCxnSpPr>
            <a:cxnSpLocks/>
            <a:stCxn id="13" idx="3"/>
            <a:endCxn id="28"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7F9E022A-E1F6-423E-911A-EF1202C47B97}"/>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32" name="矩形 31">
            <a:extLst>
              <a:ext uri="{FF2B5EF4-FFF2-40B4-BE49-F238E27FC236}">
                <a16:creationId xmlns:a16="http://schemas.microsoft.com/office/drawing/2014/main" id="{1B9AEB1A-08A0-1B84-4CBB-6980BA4792B1}"/>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文字方塊 32">
            <a:extLst>
              <a:ext uri="{FF2B5EF4-FFF2-40B4-BE49-F238E27FC236}">
                <a16:creationId xmlns:a16="http://schemas.microsoft.com/office/drawing/2014/main" id="{8A63D81A-054A-F8FF-260C-A3DC7D643812}"/>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36" name="接點: 肘形 35">
            <a:extLst>
              <a:ext uri="{FF2B5EF4-FFF2-40B4-BE49-F238E27FC236}">
                <a16:creationId xmlns:a16="http://schemas.microsoft.com/office/drawing/2014/main" id="{D8C0B731-F037-5458-8BFE-EBCDE32900C1}"/>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接點: 肘形 36">
            <a:extLst>
              <a:ext uri="{FF2B5EF4-FFF2-40B4-BE49-F238E27FC236}">
                <a16:creationId xmlns:a16="http://schemas.microsoft.com/office/drawing/2014/main" id="{0B90D8D3-B235-233F-3C33-541DAAE080D9}"/>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流程圖: 磁碟 38">
            <a:extLst>
              <a:ext uri="{FF2B5EF4-FFF2-40B4-BE49-F238E27FC236}">
                <a16:creationId xmlns:a16="http://schemas.microsoft.com/office/drawing/2014/main" id="{0CE9F9F1-D80D-11B8-A818-61D9BA7D318C}"/>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46" name="文字方塊 8">
            <a:extLst>
              <a:ext uri="{FF2B5EF4-FFF2-40B4-BE49-F238E27FC236}">
                <a16:creationId xmlns:a16="http://schemas.microsoft.com/office/drawing/2014/main" id="{991093C4-5C52-976B-D054-1930309EF128}"/>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48" name="文字方塊 8">
            <a:extLst>
              <a:ext uri="{FF2B5EF4-FFF2-40B4-BE49-F238E27FC236}">
                <a16:creationId xmlns:a16="http://schemas.microsoft.com/office/drawing/2014/main" id="{98AAA2EA-8762-3A66-28E8-A3AA6E5AF035}"/>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49" name="直線單箭頭接點 48">
            <a:extLst>
              <a:ext uri="{FF2B5EF4-FFF2-40B4-BE49-F238E27FC236}">
                <a16:creationId xmlns:a16="http://schemas.microsoft.com/office/drawing/2014/main" id="{34373A1F-BA82-110F-A573-42919A5702A5}"/>
              </a:ext>
            </a:extLst>
          </p:cNvPr>
          <p:cNvCxnSpPr>
            <a:cxnSpLocks/>
            <a:stCxn id="28" idx="3"/>
            <a:endCxn id="16"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接點: 肘形 50">
            <a:extLst>
              <a:ext uri="{FF2B5EF4-FFF2-40B4-BE49-F238E27FC236}">
                <a16:creationId xmlns:a16="http://schemas.microsoft.com/office/drawing/2014/main" id="{EED4FDA1-F8BF-1193-8A74-288BD6E2698B}"/>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接點: 肘形 51">
            <a:extLst>
              <a:ext uri="{FF2B5EF4-FFF2-40B4-BE49-F238E27FC236}">
                <a16:creationId xmlns:a16="http://schemas.microsoft.com/office/drawing/2014/main" id="{98993F70-AE48-80EC-ADFA-D731E19D1DC6}"/>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16FDAE27-5A72-428B-6683-46392BAF079A}"/>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a:extLst>
              <a:ext uri="{FF2B5EF4-FFF2-40B4-BE49-F238E27FC236}">
                <a16:creationId xmlns:a16="http://schemas.microsoft.com/office/drawing/2014/main" id="{E3683248-990E-F0F9-E857-8736AABC249B}"/>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流程圖: 磁碟 6">
            <a:extLst>
              <a:ext uri="{FF2B5EF4-FFF2-40B4-BE49-F238E27FC236}">
                <a16:creationId xmlns:a16="http://schemas.microsoft.com/office/drawing/2014/main" id="{36869628-8564-DE77-07B7-81FF3BE303C9}"/>
              </a:ext>
            </a:extLst>
          </p:cNvPr>
          <p:cNvSpPr/>
          <p:nvPr/>
        </p:nvSpPr>
        <p:spPr>
          <a:xfrm>
            <a:off x="901102"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8" name="文字方塊 7">
            <a:extLst>
              <a:ext uri="{FF2B5EF4-FFF2-40B4-BE49-F238E27FC236}">
                <a16:creationId xmlns:a16="http://schemas.microsoft.com/office/drawing/2014/main" id="{56E7547D-EF2D-7D5F-176B-04B02B99429C}"/>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9" name="文字方塊 8">
            <a:extLst>
              <a:ext uri="{FF2B5EF4-FFF2-40B4-BE49-F238E27FC236}">
                <a16:creationId xmlns:a16="http://schemas.microsoft.com/office/drawing/2014/main" id="{5D51B72D-89BD-053F-9711-B91E94FAF3E9}"/>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3690998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C1270F-AB9E-863D-CDBE-EEBAC013D06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B0CABBC-771A-86A2-0F5A-3A478FC55905}"/>
              </a:ext>
            </a:extLst>
          </p:cNvPr>
          <p:cNvSpPr>
            <a:spLocks noGrp="1"/>
          </p:cNvSpPr>
          <p:nvPr>
            <p:ph type="title"/>
          </p:nvPr>
        </p:nvSpPr>
        <p:spPr/>
        <p:txBody>
          <a:bodyPr/>
          <a:lstStyle/>
          <a:p>
            <a:r>
              <a:rPr lang="en-US" altLang="zh-TW" dirty="0"/>
              <a:t>Evaluation Module</a:t>
            </a:r>
          </a:p>
        </p:txBody>
      </p:sp>
      <p:sp>
        <p:nvSpPr>
          <p:cNvPr id="4" name="投影片編號版面配置區 3">
            <a:extLst>
              <a:ext uri="{FF2B5EF4-FFF2-40B4-BE49-F238E27FC236}">
                <a16:creationId xmlns:a16="http://schemas.microsoft.com/office/drawing/2014/main" id="{CF67370C-C16D-8D85-717F-8D8FB23F51D9}"/>
              </a:ext>
            </a:extLst>
          </p:cNvPr>
          <p:cNvSpPr>
            <a:spLocks noGrp="1"/>
          </p:cNvSpPr>
          <p:nvPr>
            <p:ph type="sldNum" sz="quarter" idx="12"/>
          </p:nvPr>
        </p:nvSpPr>
        <p:spPr/>
        <p:txBody>
          <a:bodyPr/>
          <a:lstStyle/>
          <a:p>
            <a:fld id="{5AC25633-CB68-4D6B-BEE8-144406895708}" type="slidenum">
              <a:rPr lang="zh-TW" altLang="en-US" smtClean="0"/>
              <a:t>24</a:t>
            </a:fld>
            <a:endParaRPr lang="zh-TW" altLang="en-US"/>
          </a:p>
        </p:txBody>
      </p:sp>
      <p:sp>
        <p:nvSpPr>
          <p:cNvPr id="59" name="內容版面配置區 2">
            <a:extLst>
              <a:ext uri="{FF2B5EF4-FFF2-40B4-BE49-F238E27FC236}">
                <a16:creationId xmlns:a16="http://schemas.microsoft.com/office/drawing/2014/main" id="{E2FA261F-2938-34FE-08C9-C815CBA1BE70}"/>
              </a:ext>
            </a:extLst>
          </p:cNvPr>
          <p:cNvSpPr>
            <a:spLocks noGrp="1"/>
          </p:cNvSpPr>
          <p:nvPr>
            <p:ph idx="1"/>
          </p:nvPr>
        </p:nvSpPr>
        <p:spPr>
          <a:xfrm>
            <a:off x="1097280" y="1845733"/>
            <a:ext cx="10058400" cy="4614052"/>
          </a:xfrm>
        </p:spPr>
        <p:txBody>
          <a:bodyPr>
            <a:normAutofit/>
          </a:bodyPr>
          <a:lstStyle/>
          <a:p>
            <a:pPr>
              <a:buClr>
                <a:schemeClr val="accent1">
                  <a:lumMod val="50000"/>
                </a:schemeClr>
              </a:buClr>
              <a:buFont typeface="Wingdings" panose="05000000000000000000" pitchFamily="2" charset="2"/>
              <a:buChar char="Ø"/>
            </a:pPr>
            <a:r>
              <a:rPr lang="zh-TW" altLang="zh-TW" dirty="0"/>
              <a:t>The routing results are visualized on map-based visualization platform</a:t>
            </a:r>
            <a:r>
              <a:rPr lang="en-US" altLang="zh-TW" dirty="0"/>
              <a:t>s</a:t>
            </a:r>
          </a:p>
        </p:txBody>
      </p:sp>
      <p:pic>
        <p:nvPicPr>
          <p:cNvPr id="13" name="圖片 12">
            <a:extLst>
              <a:ext uri="{FF2B5EF4-FFF2-40B4-BE49-F238E27FC236}">
                <a16:creationId xmlns:a16="http://schemas.microsoft.com/office/drawing/2014/main" id="{D4A04D76-8FF1-8456-5027-74180B4443D3}"/>
              </a:ext>
            </a:extLst>
          </p:cNvPr>
          <p:cNvPicPr>
            <a:picLocks noChangeAspect="1"/>
          </p:cNvPicPr>
          <p:nvPr/>
        </p:nvPicPr>
        <p:blipFill>
          <a:blip r:embed="rId3"/>
          <a:stretch>
            <a:fillRect/>
          </a:stretch>
        </p:blipFill>
        <p:spPr>
          <a:xfrm>
            <a:off x="1036320" y="2470891"/>
            <a:ext cx="4840670" cy="3261842"/>
          </a:xfrm>
          <a:prstGeom prst="rect">
            <a:avLst/>
          </a:prstGeom>
        </p:spPr>
      </p:pic>
      <p:pic>
        <p:nvPicPr>
          <p:cNvPr id="15" name="圖片 14">
            <a:extLst>
              <a:ext uri="{FF2B5EF4-FFF2-40B4-BE49-F238E27FC236}">
                <a16:creationId xmlns:a16="http://schemas.microsoft.com/office/drawing/2014/main" id="{82027927-72EC-38B6-EB29-BA54587BD2E2}"/>
              </a:ext>
            </a:extLst>
          </p:cNvPr>
          <p:cNvPicPr>
            <a:picLocks noChangeAspect="1"/>
          </p:cNvPicPr>
          <p:nvPr/>
        </p:nvPicPr>
        <p:blipFill>
          <a:blip r:embed="rId4"/>
          <a:srcRect r="3902"/>
          <a:stretch>
            <a:fillRect/>
          </a:stretch>
        </p:blipFill>
        <p:spPr>
          <a:xfrm>
            <a:off x="6096001" y="2470891"/>
            <a:ext cx="5410386" cy="3261842"/>
          </a:xfrm>
          <a:prstGeom prst="rect">
            <a:avLst/>
          </a:prstGeom>
        </p:spPr>
      </p:pic>
    </p:spTree>
    <p:extLst>
      <p:ext uri="{BB962C8B-B14F-4D97-AF65-F5344CB8AC3E}">
        <p14:creationId xmlns:p14="http://schemas.microsoft.com/office/powerpoint/2010/main" val="2549376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10FAB0-A0E4-823A-5AA0-43624A0FEE9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E6E19A9-5195-D404-668B-D18C9BC0BCD0}"/>
              </a:ext>
            </a:extLst>
          </p:cNvPr>
          <p:cNvSpPr>
            <a:spLocks noGrp="1"/>
          </p:cNvSpPr>
          <p:nvPr>
            <p:ph type="title"/>
          </p:nvPr>
        </p:nvSpPr>
        <p:spPr/>
        <p:txBody>
          <a:bodyPr/>
          <a:lstStyle/>
          <a:p>
            <a:r>
              <a:rPr lang="en-US" altLang="zh-TW" dirty="0"/>
              <a:t>Evaluate Module</a:t>
            </a:r>
          </a:p>
        </p:txBody>
      </p:sp>
      <p:sp>
        <p:nvSpPr>
          <p:cNvPr id="4" name="投影片編號版面配置區 3">
            <a:extLst>
              <a:ext uri="{FF2B5EF4-FFF2-40B4-BE49-F238E27FC236}">
                <a16:creationId xmlns:a16="http://schemas.microsoft.com/office/drawing/2014/main" id="{6E3D2A4A-1CCA-129C-2F7F-AFEB57933082}"/>
              </a:ext>
            </a:extLst>
          </p:cNvPr>
          <p:cNvSpPr>
            <a:spLocks noGrp="1"/>
          </p:cNvSpPr>
          <p:nvPr>
            <p:ph type="sldNum" sz="quarter" idx="12"/>
          </p:nvPr>
        </p:nvSpPr>
        <p:spPr/>
        <p:txBody>
          <a:bodyPr/>
          <a:lstStyle/>
          <a:p>
            <a:fld id="{5AC25633-CB68-4D6B-BEE8-144406895708}" type="slidenum">
              <a:rPr lang="zh-TW" altLang="en-US" smtClean="0"/>
              <a:t>25</a:t>
            </a:fld>
            <a:endParaRPr lang="zh-TW" altLang="en-US"/>
          </a:p>
        </p:txBody>
      </p:sp>
      <p:sp>
        <p:nvSpPr>
          <p:cNvPr id="10" name="內容版面配置區 9">
            <a:extLst>
              <a:ext uri="{FF2B5EF4-FFF2-40B4-BE49-F238E27FC236}">
                <a16:creationId xmlns:a16="http://schemas.microsoft.com/office/drawing/2014/main" id="{338F5130-24B6-BC8D-93DB-13AC61292434}"/>
              </a:ext>
            </a:extLst>
          </p:cNvPr>
          <p:cNvSpPr>
            <a:spLocks noGrp="1"/>
          </p:cNvSpPr>
          <p:nvPr>
            <p:ph idx="1"/>
          </p:nvPr>
        </p:nvSpPr>
        <p:spPr/>
        <p:txBody>
          <a:bodyPr/>
          <a:lstStyle/>
          <a:p>
            <a:r>
              <a:rPr lang="en-US" altLang="zh-TW" dirty="0"/>
              <a:t>The following metrics are used to evaluate the performance of the proposed VRP framework</a:t>
            </a:r>
          </a:p>
          <a:p>
            <a:pPr marL="457200" indent="-457200">
              <a:buFont typeface="+mj-lt"/>
              <a:buAutoNum type="arabicPeriod"/>
            </a:pPr>
            <a:r>
              <a:rPr lang="en-US" altLang="zh-TW" dirty="0"/>
              <a:t>Number of Vehicles</a:t>
            </a:r>
          </a:p>
          <a:p>
            <a:pPr marL="457200" indent="-457200">
              <a:buFont typeface="+mj-lt"/>
              <a:buAutoNum type="arabicPeriod"/>
            </a:pPr>
            <a:r>
              <a:rPr lang="en-US" altLang="zh-TW" dirty="0"/>
              <a:t>Number of Support Vehicles</a:t>
            </a:r>
          </a:p>
          <a:p>
            <a:pPr marL="457200" indent="-457200">
              <a:buFont typeface="+mj-lt"/>
              <a:buAutoNum type="arabicPeriod"/>
            </a:pPr>
            <a:r>
              <a:rPr lang="en-US" altLang="zh-TW" dirty="0"/>
              <a:t>Total Distance</a:t>
            </a:r>
          </a:p>
          <a:p>
            <a:pPr marL="457200" indent="-457200">
              <a:buFont typeface="+mj-lt"/>
              <a:buAutoNum type="arabicPeriod"/>
            </a:pPr>
            <a:r>
              <a:rPr lang="en-US" altLang="zh-TW" dirty="0"/>
              <a:t>Average Load Rate</a:t>
            </a:r>
          </a:p>
          <a:p>
            <a:pPr marL="457200" indent="-457200">
              <a:buFont typeface="+mj-lt"/>
              <a:buAutoNum type="arabicPeriod"/>
            </a:pPr>
            <a:r>
              <a:rPr lang="en-US" altLang="zh-TW" dirty="0"/>
              <a:t>On Time Rate</a:t>
            </a:r>
          </a:p>
          <a:p>
            <a:pPr marL="457200" indent="-457200">
              <a:buFont typeface="+mj-lt"/>
              <a:buAutoNum type="arabicPeriod"/>
            </a:pPr>
            <a:r>
              <a:rPr lang="en-US" altLang="zh-TW" dirty="0"/>
              <a:t>Runtime</a:t>
            </a:r>
          </a:p>
          <a:p>
            <a:pPr marL="0" indent="0">
              <a:buNone/>
            </a:pPr>
            <a:endParaRPr lang="zh-TW" altLang="en-US" dirty="0"/>
          </a:p>
        </p:txBody>
      </p:sp>
    </p:spTree>
    <p:extLst>
      <p:ext uri="{BB962C8B-B14F-4D97-AF65-F5344CB8AC3E}">
        <p14:creationId xmlns:p14="http://schemas.microsoft.com/office/powerpoint/2010/main" val="2422543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0D6655-5F72-37A7-CF71-2350AC44C7E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48C1114-122B-AC5B-7DF7-4E9E99A08369}"/>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34D2C82C-C853-AAB6-5420-A10EF9D8401B}"/>
              </a:ext>
            </a:extLst>
          </p:cNvPr>
          <p:cNvSpPr>
            <a:spLocks noGrp="1"/>
          </p:cNvSpPr>
          <p:nvPr>
            <p:ph type="sldNum" sz="quarter" idx="12"/>
          </p:nvPr>
        </p:nvSpPr>
        <p:spPr/>
        <p:txBody>
          <a:bodyPr/>
          <a:lstStyle/>
          <a:p>
            <a:fld id="{5AC25633-CB68-4D6B-BEE8-144406895708}" type="slidenum">
              <a:rPr lang="zh-TW" altLang="en-US" smtClean="0"/>
              <a:t>26</a:t>
            </a:fld>
            <a:endParaRPr lang="zh-TW" altLang="en-US"/>
          </a:p>
        </p:txBody>
      </p:sp>
      <p:sp>
        <p:nvSpPr>
          <p:cNvPr id="39" name="矩形 38">
            <a:extLst>
              <a:ext uri="{FF2B5EF4-FFF2-40B4-BE49-F238E27FC236}">
                <a16:creationId xmlns:a16="http://schemas.microsoft.com/office/drawing/2014/main" id="{497F6865-92BD-A6D1-15C9-30A4A3E9CC34}"/>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FA98F779-FD28-D98F-6853-C4F100582DC6}"/>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41" name="矩形 40">
            <a:extLst>
              <a:ext uri="{FF2B5EF4-FFF2-40B4-BE49-F238E27FC236}">
                <a16:creationId xmlns:a16="http://schemas.microsoft.com/office/drawing/2014/main" id="{353F4F1C-2C8E-5F4D-4615-9189F5A0ECD8}"/>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42" name="矩形 41">
            <a:extLst>
              <a:ext uri="{FF2B5EF4-FFF2-40B4-BE49-F238E27FC236}">
                <a16:creationId xmlns:a16="http://schemas.microsoft.com/office/drawing/2014/main" id="{31C5FA5B-B530-E78B-9D29-5B73B86AF785}"/>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43" name="矩形 42">
            <a:extLst>
              <a:ext uri="{FF2B5EF4-FFF2-40B4-BE49-F238E27FC236}">
                <a16:creationId xmlns:a16="http://schemas.microsoft.com/office/drawing/2014/main" id="{A299B320-2F63-0CF4-0DA8-4404A4280E8A}"/>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45" name="矩形 44">
            <a:extLst>
              <a:ext uri="{FF2B5EF4-FFF2-40B4-BE49-F238E27FC236}">
                <a16:creationId xmlns:a16="http://schemas.microsoft.com/office/drawing/2014/main" id="{FBDCE885-1E36-551E-AD89-174CAE9D3B85}"/>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46" name="矩形 45">
            <a:extLst>
              <a:ext uri="{FF2B5EF4-FFF2-40B4-BE49-F238E27FC236}">
                <a16:creationId xmlns:a16="http://schemas.microsoft.com/office/drawing/2014/main" id="{A36DAB94-1763-F371-C6B1-6C96B13528A6}"/>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48" name="直線單箭頭接點 47">
            <a:extLst>
              <a:ext uri="{FF2B5EF4-FFF2-40B4-BE49-F238E27FC236}">
                <a16:creationId xmlns:a16="http://schemas.microsoft.com/office/drawing/2014/main" id="{0E75D82D-D03E-FF41-F172-78C51AEC4A90}"/>
              </a:ext>
            </a:extLst>
          </p:cNvPr>
          <p:cNvCxnSpPr>
            <a:cxnSpLocks/>
            <a:endCxn id="40"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EF74ABE5-C2F1-33F4-3FF5-ECE8CCD1777D}"/>
              </a:ext>
            </a:extLst>
          </p:cNvPr>
          <p:cNvCxnSpPr>
            <a:cxnSpLocks/>
            <a:stCxn id="43"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字方塊 49">
            <a:extLst>
              <a:ext uri="{FF2B5EF4-FFF2-40B4-BE49-F238E27FC236}">
                <a16:creationId xmlns:a16="http://schemas.microsoft.com/office/drawing/2014/main" id="{21D800B9-5D1B-A4F8-F1D2-827328AA0B02}"/>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51" name="直線單箭頭接點 50">
            <a:extLst>
              <a:ext uri="{FF2B5EF4-FFF2-40B4-BE49-F238E27FC236}">
                <a16:creationId xmlns:a16="http://schemas.microsoft.com/office/drawing/2014/main" id="{3E319827-03D4-7150-D8B1-E8904034E1C6}"/>
              </a:ext>
            </a:extLst>
          </p:cNvPr>
          <p:cNvCxnSpPr>
            <a:cxnSpLocks/>
            <a:stCxn id="40" idx="3"/>
            <a:endCxn id="41"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90583BBF-7E12-405A-D563-06ED6D3DA561}"/>
              </a:ext>
            </a:extLst>
          </p:cNvPr>
          <p:cNvCxnSpPr>
            <a:cxnSpLocks/>
            <a:stCxn id="41" idx="3"/>
            <a:endCxn id="42"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0E8257BC-7E95-5BC6-679A-01A970D13546}"/>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a:extLst>
              <a:ext uri="{FF2B5EF4-FFF2-40B4-BE49-F238E27FC236}">
                <a16:creationId xmlns:a16="http://schemas.microsoft.com/office/drawing/2014/main" id="{992E2BD2-8509-79A5-7AAD-327EECCCC3F3}"/>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a:extLst>
              <a:ext uri="{FF2B5EF4-FFF2-40B4-BE49-F238E27FC236}">
                <a16:creationId xmlns:a16="http://schemas.microsoft.com/office/drawing/2014/main" id="{8B228DAD-7402-E320-D380-338753471CFD}"/>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56" name="矩形 55">
            <a:extLst>
              <a:ext uri="{FF2B5EF4-FFF2-40B4-BE49-F238E27FC236}">
                <a16:creationId xmlns:a16="http://schemas.microsoft.com/office/drawing/2014/main" id="{6AFA9B27-F4DC-BA54-3B53-0B536BF52935}"/>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57" name="直線單箭頭接點 56">
            <a:extLst>
              <a:ext uri="{FF2B5EF4-FFF2-40B4-BE49-F238E27FC236}">
                <a16:creationId xmlns:a16="http://schemas.microsoft.com/office/drawing/2014/main" id="{C44DC62C-D8D1-6969-52CE-8A0CFA432B55}"/>
              </a:ext>
            </a:extLst>
          </p:cNvPr>
          <p:cNvCxnSpPr>
            <a:cxnSpLocks/>
            <a:stCxn id="42" idx="3"/>
            <a:endCxn id="56"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E7E2E9C6-2158-8AFF-02E0-52F59C9DCF15}"/>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64" name="矩形 63">
            <a:extLst>
              <a:ext uri="{FF2B5EF4-FFF2-40B4-BE49-F238E27FC236}">
                <a16:creationId xmlns:a16="http://schemas.microsoft.com/office/drawing/2014/main" id="{D5AF7F7E-0E3E-E23C-83A9-D9EF5DE93C9C}"/>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文字方塊 64">
            <a:extLst>
              <a:ext uri="{FF2B5EF4-FFF2-40B4-BE49-F238E27FC236}">
                <a16:creationId xmlns:a16="http://schemas.microsoft.com/office/drawing/2014/main" id="{E48100B4-90E9-6147-5E26-48D6FC3A9A72}"/>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66" name="接點: 肘形 65">
            <a:extLst>
              <a:ext uri="{FF2B5EF4-FFF2-40B4-BE49-F238E27FC236}">
                <a16:creationId xmlns:a16="http://schemas.microsoft.com/office/drawing/2014/main" id="{E94B0C1D-46E5-2A19-FAA8-6F237991A0C7}"/>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接點: 肘形 66">
            <a:extLst>
              <a:ext uri="{FF2B5EF4-FFF2-40B4-BE49-F238E27FC236}">
                <a16:creationId xmlns:a16="http://schemas.microsoft.com/office/drawing/2014/main" id="{0E62BA7B-6D47-0D34-4FCF-CE6492874848}"/>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C992F4FA-59FB-1261-5541-87EFA94AD90D}"/>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流程圖: 磁碟 72">
            <a:extLst>
              <a:ext uri="{FF2B5EF4-FFF2-40B4-BE49-F238E27FC236}">
                <a16:creationId xmlns:a16="http://schemas.microsoft.com/office/drawing/2014/main" id="{ADF9F460-E6A9-85E4-9563-7E156E4E8531}"/>
              </a:ext>
            </a:extLst>
          </p:cNvPr>
          <p:cNvSpPr/>
          <p:nvPr/>
        </p:nvSpPr>
        <p:spPr>
          <a:xfrm>
            <a:off x="10264923" y="3823855"/>
            <a:ext cx="792480" cy="896431"/>
          </a:xfrm>
          <a:prstGeom prst="flowChartMagneticDisk">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grpSp>
        <p:nvGrpSpPr>
          <p:cNvPr id="77" name="群組 76">
            <a:extLst>
              <a:ext uri="{FF2B5EF4-FFF2-40B4-BE49-F238E27FC236}">
                <a16:creationId xmlns:a16="http://schemas.microsoft.com/office/drawing/2014/main" id="{5137084C-E2FF-FB6A-2B7D-F5759395BCF7}"/>
              </a:ext>
            </a:extLst>
          </p:cNvPr>
          <p:cNvGrpSpPr/>
          <p:nvPr/>
        </p:nvGrpSpPr>
        <p:grpSpPr>
          <a:xfrm>
            <a:off x="901099" y="3823855"/>
            <a:ext cx="792483" cy="896431"/>
            <a:chOff x="1181097" y="2391884"/>
            <a:chExt cx="792483" cy="823755"/>
          </a:xfrm>
        </p:grpSpPr>
        <p:sp>
          <p:nvSpPr>
            <p:cNvPr id="78" name="流程圖: 磁碟 77">
              <a:extLst>
                <a:ext uri="{FF2B5EF4-FFF2-40B4-BE49-F238E27FC236}">
                  <a16:creationId xmlns:a16="http://schemas.microsoft.com/office/drawing/2014/main" id="{DDC35C89-675C-222E-08F9-064AD1B9E528}"/>
                </a:ext>
              </a:extLst>
            </p:cNvPr>
            <p:cNvSpPr/>
            <p:nvPr/>
          </p:nvSpPr>
          <p:spPr>
            <a:xfrm>
              <a:off x="1181100" y="2391884"/>
              <a:ext cx="792480" cy="823755"/>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80" name="文字方塊 8">
              <a:extLst>
                <a:ext uri="{FF2B5EF4-FFF2-40B4-BE49-F238E27FC236}">
                  <a16:creationId xmlns:a16="http://schemas.microsoft.com/office/drawing/2014/main" id="{730B14EB-0972-337B-C7FE-52C2C02A3C2F}"/>
                </a:ext>
              </a:extLst>
            </p:cNvPr>
            <p:cNvSpPr txBox="1"/>
            <p:nvPr/>
          </p:nvSpPr>
          <p:spPr>
            <a:xfrm>
              <a:off x="1181097" y="2657183"/>
              <a:ext cx="792481" cy="220881"/>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Manually</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82" name="文字方塊 8">
              <a:extLst>
                <a:ext uri="{FF2B5EF4-FFF2-40B4-BE49-F238E27FC236}">
                  <a16:creationId xmlns:a16="http://schemas.microsoft.com/office/drawing/2014/main" id="{9798D1DD-D3BB-2895-9A44-A1696E4C9892}"/>
                </a:ext>
              </a:extLst>
            </p:cNvPr>
            <p:cNvSpPr txBox="1"/>
            <p:nvPr/>
          </p:nvSpPr>
          <p:spPr>
            <a:xfrm>
              <a:off x="1181099" y="2932347"/>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grpSp>
      <p:sp>
        <p:nvSpPr>
          <p:cNvPr id="83" name="文字方塊 8">
            <a:extLst>
              <a:ext uri="{FF2B5EF4-FFF2-40B4-BE49-F238E27FC236}">
                <a16:creationId xmlns:a16="http://schemas.microsoft.com/office/drawing/2014/main" id="{B5CA1A29-91C7-50C5-A601-125DFB22253F}"/>
              </a:ext>
            </a:extLst>
          </p:cNvPr>
          <p:cNvSpPr txBox="1"/>
          <p:nvPr/>
        </p:nvSpPr>
        <p:spPr>
          <a:xfrm>
            <a:off x="887245" y="427207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Planned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84" name="文字方塊 8">
            <a:extLst>
              <a:ext uri="{FF2B5EF4-FFF2-40B4-BE49-F238E27FC236}">
                <a16:creationId xmlns:a16="http://schemas.microsoft.com/office/drawing/2014/main" id="{2354D72A-F20F-CC55-A818-27EB1C274F1F}"/>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85" name="文字方塊 8">
            <a:extLst>
              <a:ext uri="{FF2B5EF4-FFF2-40B4-BE49-F238E27FC236}">
                <a16:creationId xmlns:a16="http://schemas.microsoft.com/office/drawing/2014/main" id="{FDA32E35-19D5-4009-E272-4F57717461C8}"/>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86" name="直線單箭頭接點 85">
            <a:extLst>
              <a:ext uri="{FF2B5EF4-FFF2-40B4-BE49-F238E27FC236}">
                <a16:creationId xmlns:a16="http://schemas.microsoft.com/office/drawing/2014/main" id="{767348D9-7D46-EDC8-656F-7CD08B05B3A6}"/>
              </a:ext>
            </a:extLst>
          </p:cNvPr>
          <p:cNvCxnSpPr>
            <a:cxnSpLocks/>
            <a:stCxn id="56" idx="3"/>
            <a:endCxn id="43"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CE2E2493-4061-6B07-CD2E-B874E5BACABD}"/>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接點: 肘形 87">
            <a:extLst>
              <a:ext uri="{FF2B5EF4-FFF2-40B4-BE49-F238E27FC236}">
                <a16:creationId xmlns:a16="http://schemas.microsoft.com/office/drawing/2014/main" id="{2E46868A-33E6-92DA-FEFD-D9912D9CB0FB}"/>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接點: 肘形 88">
            <a:extLst>
              <a:ext uri="{FF2B5EF4-FFF2-40B4-BE49-F238E27FC236}">
                <a16:creationId xmlns:a16="http://schemas.microsoft.com/office/drawing/2014/main" id="{69BF7B68-8B3A-64A6-2A3A-BD3E3F350D49}"/>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708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94C335-F256-58F4-67A5-81285FACF99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8A9A4C5-60AA-EF04-4AE2-76FB2BC43471}"/>
              </a:ext>
            </a:extLst>
          </p:cNvPr>
          <p:cNvSpPr>
            <a:spLocks noGrp="1"/>
          </p:cNvSpPr>
          <p:nvPr>
            <p:ph type="title"/>
          </p:nvPr>
        </p:nvSpPr>
        <p:spPr/>
        <p:txBody>
          <a:bodyPr/>
          <a:lstStyle/>
          <a:p>
            <a:r>
              <a:rPr lang="en-US" altLang="zh-TW" dirty="0"/>
              <a:t>Optimized Route Data</a:t>
            </a:r>
            <a:endParaRPr lang="zh-TW" altLang="en-US" dirty="0"/>
          </a:p>
        </p:txBody>
      </p:sp>
      <p:sp>
        <p:nvSpPr>
          <p:cNvPr id="4" name="投影片編號版面配置區 3">
            <a:extLst>
              <a:ext uri="{FF2B5EF4-FFF2-40B4-BE49-F238E27FC236}">
                <a16:creationId xmlns:a16="http://schemas.microsoft.com/office/drawing/2014/main" id="{51A51500-0C26-12E4-6808-C3EFE45EF3D1}"/>
              </a:ext>
            </a:extLst>
          </p:cNvPr>
          <p:cNvSpPr>
            <a:spLocks noGrp="1"/>
          </p:cNvSpPr>
          <p:nvPr>
            <p:ph type="sldNum" sz="quarter" idx="12"/>
          </p:nvPr>
        </p:nvSpPr>
        <p:spPr/>
        <p:txBody>
          <a:bodyPr/>
          <a:lstStyle/>
          <a:p>
            <a:fld id="{5AC25633-CB68-4D6B-BEE8-144406895708}" type="slidenum">
              <a:rPr lang="zh-TW" altLang="en-US" smtClean="0"/>
              <a:t>27</a:t>
            </a:fld>
            <a:endParaRPr lang="zh-TW" altLang="en-US"/>
          </a:p>
        </p:txBody>
      </p:sp>
      <p:pic>
        <p:nvPicPr>
          <p:cNvPr id="7" name="圖片 6">
            <a:extLst>
              <a:ext uri="{FF2B5EF4-FFF2-40B4-BE49-F238E27FC236}">
                <a16:creationId xmlns:a16="http://schemas.microsoft.com/office/drawing/2014/main" id="{67215ADB-D91F-B5BD-4E84-9DCDAF0FB666}"/>
              </a:ext>
            </a:extLst>
          </p:cNvPr>
          <p:cNvPicPr>
            <a:picLocks noChangeAspect="1"/>
          </p:cNvPicPr>
          <p:nvPr/>
        </p:nvPicPr>
        <p:blipFill>
          <a:blip r:embed="rId3"/>
          <a:srcRect l="1555" t="3209" r="30710" b="38986"/>
          <a:stretch>
            <a:fillRect/>
          </a:stretch>
        </p:blipFill>
        <p:spPr>
          <a:xfrm>
            <a:off x="1154084" y="2229022"/>
            <a:ext cx="8595558" cy="3555176"/>
          </a:xfrm>
          <a:prstGeom prst="rect">
            <a:avLst/>
          </a:prstGeom>
        </p:spPr>
      </p:pic>
    </p:spTree>
    <p:extLst>
      <p:ext uri="{BB962C8B-B14F-4D97-AF65-F5344CB8AC3E}">
        <p14:creationId xmlns:p14="http://schemas.microsoft.com/office/powerpoint/2010/main" val="4033315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9DB30E-D6A4-A194-2B05-8842C85A290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BDC1DF-149D-9936-C341-93B96ECB40BC}"/>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68F62BB8-5859-7DA0-8954-D1FD69C9774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t>Experiment</a:t>
            </a:r>
          </a:p>
          <a:p>
            <a:pPr>
              <a:buFont typeface="Wingdings" panose="05000000000000000000" pitchFamily="2" charset="2"/>
              <a:buChar char="Ø"/>
            </a:pPr>
            <a:r>
              <a:rPr lang="en-US" altLang="zh-TW" sz="3200" dirty="0">
                <a:solidFill>
                  <a:schemeClr val="bg2">
                    <a:lumMod val="75000"/>
                  </a:schemeClr>
                </a:solidFill>
              </a:rPr>
              <a:t>Discussion</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4E306AF4-B507-B555-86C3-54915D3C799B}"/>
              </a:ext>
            </a:extLst>
          </p:cNvPr>
          <p:cNvSpPr>
            <a:spLocks noGrp="1"/>
          </p:cNvSpPr>
          <p:nvPr>
            <p:ph type="sldNum" sz="quarter" idx="12"/>
          </p:nvPr>
        </p:nvSpPr>
        <p:spPr/>
        <p:txBody>
          <a:bodyPr/>
          <a:lstStyle/>
          <a:p>
            <a:fld id="{5AC25633-CB68-4D6B-BEE8-144406895708}" type="slidenum">
              <a:rPr lang="zh-TW" altLang="en-US" smtClean="0"/>
              <a:t>28</a:t>
            </a:fld>
            <a:endParaRPr lang="zh-TW" altLang="en-US"/>
          </a:p>
        </p:txBody>
      </p:sp>
    </p:spTree>
    <p:extLst>
      <p:ext uri="{BB962C8B-B14F-4D97-AF65-F5344CB8AC3E}">
        <p14:creationId xmlns:p14="http://schemas.microsoft.com/office/powerpoint/2010/main" val="1136722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EA1023-1C36-6CAD-6064-C2B0D42854B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1A638B2-283B-34D1-9BCF-C2FFC07990DD}"/>
              </a:ext>
            </a:extLst>
          </p:cNvPr>
          <p:cNvSpPr>
            <a:spLocks noGrp="1"/>
          </p:cNvSpPr>
          <p:nvPr>
            <p:ph type="title"/>
          </p:nvPr>
        </p:nvSpPr>
        <p:spPr/>
        <p:txBody>
          <a:bodyPr/>
          <a:lstStyle/>
          <a:p>
            <a:r>
              <a:rPr lang="en-US" altLang="zh-TW" dirty="0"/>
              <a:t>Experiment</a:t>
            </a:r>
          </a:p>
        </p:txBody>
      </p:sp>
      <p:sp>
        <p:nvSpPr>
          <p:cNvPr id="4" name="投影片編號版面配置區 3">
            <a:extLst>
              <a:ext uri="{FF2B5EF4-FFF2-40B4-BE49-F238E27FC236}">
                <a16:creationId xmlns:a16="http://schemas.microsoft.com/office/drawing/2014/main" id="{28FCF5AE-BD0F-BF37-0B85-E7D6577D2563}"/>
              </a:ext>
            </a:extLst>
          </p:cNvPr>
          <p:cNvSpPr>
            <a:spLocks noGrp="1"/>
          </p:cNvSpPr>
          <p:nvPr>
            <p:ph type="sldNum" sz="quarter" idx="12"/>
          </p:nvPr>
        </p:nvSpPr>
        <p:spPr/>
        <p:txBody>
          <a:bodyPr/>
          <a:lstStyle/>
          <a:p>
            <a:fld id="{5AC25633-CB68-4D6B-BEE8-144406895708}" type="slidenum">
              <a:rPr lang="zh-TW" altLang="en-US" smtClean="0"/>
              <a:t>29</a:t>
            </a:fld>
            <a:endParaRPr lang="zh-TW" altLang="en-US"/>
          </a:p>
        </p:txBody>
      </p:sp>
      <p:graphicFrame>
        <p:nvGraphicFramePr>
          <p:cNvPr id="5" name="內容版面配置區 4">
            <a:extLst>
              <a:ext uri="{FF2B5EF4-FFF2-40B4-BE49-F238E27FC236}">
                <a16:creationId xmlns:a16="http://schemas.microsoft.com/office/drawing/2014/main" id="{C2D34CE8-74F9-FDE1-D427-1E6A80436B7C}"/>
              </a:ext>
            </a:extLst>
          </p:cNvPr>
          <p:cNvGraphicFramePr>
            <a:graphicFrameLocks noGrp="1"/>
          </p:cNvGraphicFramePr>
          <p:nvPr>
            <p:ph idx="1"/>
            <p:extLst>
              <p:ext uri="{D42A27DB-BD31-4B8C-83A1-F6EECF244321}">
                <p14:modId xmlns:p14="http://schemas.microsoft.com/office/powerpoint/2010/main" val="4197221646"/>
              </p:ext>
            </p:extLst>
          </p:nvPr>
        </p:nvGraphicFramePr>
        <p:xfrm>
          <a:off x="3000935" y="2203181"/>
          <a:ext cx="6190130" cy="3045464"/>
        </p:xfrm>
        <a:graphic>
          <a:graphicData uri="http://schemas.openxmlformats.org/drawingml/2006/table">
            <a:tbl>
              <a:tblPr firstCol="1">
                <a:tableStyleId>{5C22544A-7EE6-4342-B048-85BDC9FD1C3A}</a:tableStyleId>
              </a:tblPr>
              <a:tblGrid>
                <a:gridCol w="1531503">
                  <a:extLst>
                    <a:ext uri="{9D8B030D-6E8A-4147-A177-3AD203B41FA5}">
                      <a16:colId xmlns:a16="http://schemas.microsoft.com/office/drawing/2014/main" val="1458894256"/>
                    </a:ext>
                  </a:extLst>
                </a:gridCol>
                <a:gridCol w="4658627">
                  <a:extLst>
                    <a:ext uri="{9D8B030D-6E8A-4147-A177-3AD203B41FA5}">
                      <a16:colId xmlns:a16="http://schemas.microsoft.com/office/drawing/2014/main" val="4258632931"/>
                    </a:ext>
                  </a:extLst>
                </a:gridCol>
              </a:tblGrid>
              <a:tr h="439138">
                <a:tc>
                  <a:txBody>
                    <a:bodyPr/>
                    <a:lstStyle/>
                    <a:p>
                      <a:pPr algn="ctr">
                        <a:lnSpc>
                          <a:spcPct val="150000"/>
                        </a:lnSpc>
                        <a:spcAft>
                          <a:spcPts val="0"/>
                        </a:spcAft>
                      </a:pPr>
                      <a:r>
                        <a:rPr lang="en-US" altLang="zh-TW" sz="180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Item</a:t>
                      </a:r>
                      <a:endParaRPr lang="zh-TW" sz="180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spcAft>
                          <a:spcPts val="0"/>
                        </a:spcAft>
                      </a:pPr>
                      <a:r>
                        <a:rPr lang="en-US" altLang="zh-TW" sz="1800" b="1" kern="100" dirty="0">
                          <a:effectLst/>
                          <a:latin typeface="Times New Roman" panose="02020603050405020304" pitchFamily="18" charset="0"/>
                          <a:ea typeface="標楷體" panose="03000509000000000000" pitchFamily="65" charset="-120"/>
                          <a:cs typeface="Times New Roman" panose="02020603050405020304" pitchFamily="18" charset="0"/>
                        </a:rPr>
                        <a:t>Details</a:t>
                      </a:r>
                      <a:endParaRPr lang="zh-TW" sz="1800" b="1"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4144040492"/>
                  </a:ext>
                </a:extLst>
              </a:tr>
              <a:tr h="439138">
                <a:tc>
                  <a:txBody>
                    <a:bodyPr/>
                    <a:lstStyle/>
                    <a:p>
                      <a:pPr algn="ctr">
                        <a:lnSpc>
                          <a:spcPct val="150000"/>
                        </a:lnSpc>
                        <a:spcAft>
                          <a:spcPts val="0"/>
                        </a:spcAft>
                      </a:pPr>
                      <a:r>
                        <a:rPr lang="en-US" alt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CPU</a:t>
                      </a:r>
                      <a:endParaRPr 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200" dirty="0">
                          <a:solidFill>
                            <a:schemeClr val="dk1"/>
                          </a:solidFill>
                          <a:effectLst/>
                          <a:latin typeface="+mn-lt"/>
                          <a:ea typeface="+mn-ea"/>
                          <a:cs typeface="+mn-cs"/>
                        </a:rPr>
                        <a:t>Intel® Core</a:t>
                      </a:r>
                      <a:r>
                        <a:rPr lang="zh-TW" altLang="zh-TW" sz="1800" kern="1200" dirty="0">
                          <a:solidFill>
                            <a:schemeClr val="dk1"/>
                          </a:solidFill>
                          <a:effectLst/>
                          <a:latin typeface="+mn-lt"/>
                          <a:ea typeface="+mn-ea"/>
                          <a:cs typeface="+mn-cs"/>
                        </a:rPr>
                        <a:t>™</a:t>
                      </a:r>
                      <a:r>
                        <a:rPr lang="en-US" altLang="zh-TW" sz="1800" kern="1200" dirty="0">
                          <a:solidFill>
                            <a:schemeClr val="dk1"/>
                          </a:solidFill>
                          <a:effectLst/>
                          <a:latin typeface="+mn-lt"/>
                          <a:ea typeface="+mn-ea"/>
                          <a:cs typeface="+mn-cs"/>
                        </a:rPr>
                        <a:t> i7-13700 5.20 GHz</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2546818"/>
                  </a:ext>
                </a:extLst>
              </a:tr>
              <a:tr h="439138">
                <a:tc>
                  <a:txBody>
                    <a:bodyPr/>
                    <a:lstStyle/>
                    <a:p>
                      <a:pPr algn="ctr">
                        <a:lnSpc>
                          <a:spcPct val="150000"/>
                        </a:lnSpc>
                        <a:spcAft>
                          <a:spcPts val="0"/>
                        </a:spcAft>
                      </a:pPr>
                      <a:r>
                        <a:rPr lang="en-US" alt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GPU</a:t>
                      </a:r>
                      <a:endParaRPr 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Intel® UHD graphics 770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2821283"/>
                  </a:ext>
                </a:extLst>
              </a:tr>
              <a:tr h="439138">
                <a:tc>
                  <a:txBody>
                    <a:bodyPr/>
                    <a:lstStyle/>
                    <a:p>
                      <a:pPr algn="ctr">
                        <a:lnSpc>
                          <a:spcPct val="150000"/>
                        </a:lnSpc>
                        <a:spcAft>
                          <a:spcPts val="0"/>
                        </a:spcAft>
                      </a:pPr>
                      <a:r>
                        <a:rPr lang="en-US" alt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RAM</a:t>
                      </a:r>
                      <a:endParaRPr 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24GB</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6439"/>
                  </a:ext>
                </a:extLst>
              </a:tr>
              <a:tr h="439138">
                <a:tc>
                  <a:txBody>
                    <a:bodyPr/>
                    <a:lstStyle/>
                    <a:p>
                      <a:pPr algn="ctr">
                        <a:lnSpc>
                          <a:spcPct val="150000"/>
                        </a:lnSpc>
                        <a:spcAft>
                          <a:spcPts val="0"/>
                        </a:spcAft>
                      </a:pPr>
                      <a:r>
                        <a:rPr lang="en-US" alt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SSD</a:t>
                      </a:r>
                      <a:endParaRPr 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1TB HDD</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18033468"/>
                  </a:ext>
                </a:extLst>
              </a:tr>
              <a:tr h="439138">
                <a:tc>
                  <a:txBody>
                    <a:bodyPr/>
                    <a:lstStyle/>
                    <a:p>
                      <a:pPr algn="ctr">
                        <a:lnSpc>
                          <a:spcPct val="150000"/>
                        </a:lnSpc>
                        <a:spcAft>
                          <a:spcPts val="0"/>
                        </a:spcAft>
                      </a:pPr>
                      <a:r>
                        <a:rPr lang="en-US" alt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OS</a:t>
                      </a:r>
                      <a:endParaRPr 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200" dirty="0">
                          <a:solidFill>
                            <a:schemeClr val="dk1"/>
                          </a:solidFill>
                          <a:effectLst/>
                          <a:latin typeface="+mn-lt"/>
                          <a:ea typeface="+mn-ea"/>
                          <a:cs typeface="+mn-cs"/>
                        </a:rPr>
                        <a:t>Windows 11</a:t>
                      </a:r>
                      <a:r>
                        <a:rPr lang="zh-TW" altLang="en-US" sz="1800" kern="1200" dirty="0">
                          <a:solidFill>
                            <a:schemeClr val="dk1"/>
                          </a:solidFill>
                          <a:effectLst/>
                          <a:latin typeface="+mn-lt"/>
                          <a:ea typeface="+mn-ea"/>
                          <a:cs typeface="+mn-cs"/>
                        </a:rPr>
                        <a:t> 專業版</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4196668"/>
                  </a:ext>
                </a:extLst>
              </a:tr>
              <a:tr h="410636">
                <a:tc>
                  <a:txBody>
                    <a:bodyPr/>
                    <a:lstStyle/>
                    <a:p>
                      <a:pPr algn="ctr">
                        <a:lnSpc>
                          <a:spcPct val="150000"/>
                        </a:lnSpc>
                        <a:spcAft>
                          <a:spcPts val="0"/>
                        </a:spcAft>
                      </a:pPr>
                      <a:r>
                        <a:rPr lang="en-US" alt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rPr>
                        <a:t>Python</a:t>
                      </a:r>
                      <a:endParaRPr lang="zh-TW" sz="1800" b="0" kern="100" dirty="0">
                        <a:solidFill>
                          <a:schemeClr val="tx1">
                            <a:lumMod val="75000"/>
                            <a:lumOff val="25000"/>
                          </a:schemeClr>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3.12.6</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993984"/>
                  </a:ext>
                </a:extLst>
              </a:tr>
            </a:tbl>
          </a:graphicData>
        </a:graphic>
      </p:graphicFrame>
    </p:spTree>
    <p:extLst>
      <p:ext uri="{BB962C8B-B14F-4D97-AF65-F5344CB8AC3E}">
        <p14:creationId xmlns:p14="http://schemas.microsoft.com/office/powerpoint/2010/main" val="374855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E154C-75C4-9ADD-4818-3095EE5A3A8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85796E7-A53F-6435-6D8C-59C16957B918}"/>
              </a:ext>
            </a:extLst>
          </p:cNvPr>
          <p:cNvSpPr>
            <a:spLocks noGrp="1"/>
          </p:cNvSpPr>
          <p:nvPr>
            <p:ph type="title"/>
          </p:nvPr>
        </p:nvSpPr>
        <p:spPr/>
        <p:txBody>
          <a:bodyPr/>
          <a:lstStyle/>
          <a:p>
            <a:r>
              <a:rPr lang="en-US" altLang="zh-TW" dirty="0"/>
              <a:t>Experiment Setting</a:t>
            </a:r>
          </a:p>
        </p:txBody>
      </p:sp>
      <p:sp>
        <p:nvSpPr>
          <p:cNvPr id="4" name="投影片編號版面配置區 3">
            <a:extLst>
              <a:ext uri="{FF2B5EF4-FFF2-40B4-BE49-F238E27FC236}">
                <a16:creationId xmlns:a16="http://schemas.microsoft.com/office/drawing/2014/main" id="{3495F4E8-F981-FD93-6EBA-0090750CF55B}"/>
              </a:ext>
            </a:extLst>
          </p:cNvPr>
          <p:cNvSpPr>
            <a:spLocks noGrp="1"/>
          </p:cNvSpPr>
          <p:nvPr>
            <p:ph type="sldNum" sz="quarter" idx="12"/>
          </p:nvPr>
        </p:nvSpPr>
        <p:spPr/>
        <p:txBody>
          <a:bodyPr/>
          <a:lstStyle/>
          <a:p>
            <a:fld id="{5AC25633-CB68-4D6B-BEE8-144406895708}" type="slidenum">
              <a:rPr lang="zh-TW" altLang="en-US" smtClean="0"/>
              <a:t>30</a:t>
            </a:fld>
            <a:endParaRPr lang="zh-TW" altLang="en-US"/>
          </a:p>
        </p:txBody>
      </p:sp>
      <mc:AlternateContent xmlns:mc="http://schemas.openxmlformats.org/markup-compatibility/2006" xmlns:a14="http://schemas.microsoft.com/office/drawing/2010/main">
        <mc:Choice Requires="a14">
          <p:graphicFrame>
            <p:nvGraphicFramePr>
              <p:cNvPr id="3" name="內容版面配置區 4">
                <a:extLst>
                  <a:ext uri="{FF2B5EF4-FFF2-40B4-BE49-F238E27FC236}">
                    <a16:creationId xmlns:a16="http://schemas.microsoft.com/office/drawing/2014/main" id="{D13940BF-A90A-FB5C-A08F-BA909B335A98}"/>
                  </a:ext>
                </a:extLst>
              </p:cNvPr>
              <p:cNvGraphicFramePr>
                <a:graphicFrameLocks/>
              </p:cNvGraphicFramePr>
              <p:nvPr>
                <p:extLst>
                  <p:ext uri="{D42A27DB-BD31-4B8C-83A1-F6EECF244321}">
                    <p14:modId xmlns:p14="http://schemas.microsoft.com/office/powerpoint/2010/main" val="2667385175"/>
                  </p:ext>
                </p:extLst>
              </p:nvPr>
            </p:nvGraphicFramePr>
            <p:xfrm>
              <a:off x="2700900" y="2203181"/>
              <a:ext cx="6851159" cy="2833182"/>
            </p:xfrm>
            <a:graphic>
              <a:graphicData uri="http://schemas.openxmlformats.org/drawingml/2006/table">
                <a:tbl>
                  <a:tblPr firstCol="1">
                    <a:tableStyleId>{5C22544A-7EE6-4342-B048-85BDC9FD1C3A}</a:tableStyleId>
                  </a:tblPr>
                  <a:tblGrid>
                    <a:gridCol w="1527810">
                      <a:extLst>
                        <a:ext uri="{9D8B030D-6E8A-4147-A177-3AD203B41FA5}">
                          <a16:colId xmlns:a16="http://schemas.microsoft.com/office/drawing/2014/main" val="1458894256"/>
                        </a:ext>
                      </a:extLst>
                    </a:gridCol>
                    <a:gridCol w="684337">
                      <a:extLst>
                        <a:ext uri="{9D8B030D-6E8A-4147-A177-3AD203B41FA5}">
                          <a16:colId xmlns:a16="http://schemas.microsoft.com/office/drawing/2014/main" val="4258632931"/>
                        </a:ext>
                      </a:extLst>
                    </a:gridCol>
                    <a:gridCol w="1667574">
                      <a:extLst>
                        <a:ext uri="{9D8B030D-6E8A-4147-A177-3AD203B41FA5}">
                          <a16:colId xmlns:a16="http://schemas.microsoft.com/office/drawing/2014/main" val="2614782621"/>
                        </a:ext>
                      </a:extLst>
                    </a:gridCol>
                    <a:gridCol w="651932">
                      <a:extLst>
                        <a:ext uri="{9D8B030D-6E8A-4147-A177-3AD203B41FA5}">
                          <a16:colId xmlns:a16="http://schemas.microsoft.com/office/drawing/2014/main" val="3631343940"/>
                        </a:ext>
                      </a:extLst>
                    </a:gridCol>
                    <a:gridCol w="1667574">
                      <a:extLst>
                        <a:ext uri="{9D8B030D-6E8A-4147-A177-3AD203B41FA5}">
                          <a16:colId xmlns:a16="http://schemas.microsoft.com/office/drawing/2014/main" val="841469282"/>
                        </a:ext>
                      </a:extLst>
                    </a:gridCol>
                    <a:gridCol w="651932">
                      <a:extLst>
                        <a:ext uri="{9D8B030D-6E8A-4147-A177-3AD203B41FA5}">
                          <a16:colId xmlns:a16="http://schemas.microsoft.com/office/drawing/2014/main" val="735290427"/>
                        </a:ext>
                      </a:extLst>
                    </a:gridCol>
                  </a:tblGrid>
                  <a:tr h="472197">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CCGA</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00000"/>
                            </a:lnSpc>
                            <a:spcAft>
                              <a:spcPts val="0"/>
                            </a:spcAft>
                          </a:pP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HACO</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MACS</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96218974"/>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Generation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200" dirty="0">
                              <a:solidFill>
                                <a:schemeClr val="dk1"/>
                              </a:solidFill>
                              <a:effectLst/>
                              <a:latin typeface="+mn-lt"/>
                              <a:ea typeface="+mn-ea"/>
                              <a:cs typeface="+mn-cs"/>
                            </a:rPr>
                            <a:t>200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Iteration</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200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Time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Limit (s)</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Subpopulation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Cross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0.8</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Pheromone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𝛼</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Pheromone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𝛼</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Mutate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Heuristic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𝛽</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Heuristic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𝛽</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Elite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Evaporation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𝜌</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Evaporation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𝜌</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0.5</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9298877"/>
                      </a:ext>
                    </a:extLst>
                  </a:tr>
                </a:tbl>
              </a:graphicData>
            </a:graphic>
          </p:graphicFrame>
        </mc:Choice>
        <mc:Fallback xmlns="">
          <p:graphicFrame>
            <p:nvGraphicFramePr>
              <p:cNvPr id="3" name="內容版面配置區 4">
                <a:extLst>
                  <a:ext uri="{FF2B5EF4-FFF2-40B4-BE49-F238E27FC236}">
                    <a16:creationId xmlns:a16="http://schemas.microsoft.com/office/drawing/2014/main" id="{D13940BF-A90A-FB5C-A08F-BA909B335A98}"/>
                  </a:ext>
                </a:extLst>
              </p:cNvPr>
              <p:cNvGraphicFramePr>
                <a:graphicFrameLocks/>
              </p:cNvGraphicFramePr>
              <p:nvPr>
                <p:extLst>
                  <p:ext uri="{D42A27DB-BD31-4B8C-83A1-F6EECF244321}">
                    <p14:modId xmlns:p14="http://schemas.microsoft.com/office/powerpoint/2010/main" val="2667385175"/>
                  </p:ext>
                </p:extLst>
              </p:nvPr>
            </p:nvGraphicFramePr>
            <p:xfrm>
              <a:off x="2700900" y="2203181"/>
              <a:ext cx="6851159" cy="2833182"/>
            </p:xfrm>
            <a:graphic>
              <a:graphicData uri="http://schemas.openxmlformats.org/drawingml/2006/table">
                <a:tbl>
                  <a:tblPr firstCol="1">
                    <a:tableStyleId>{5C22544A-7EE6-4342-B048-85BDC9FD1C3A}</a:tableStyleId>
                  </a:tblPr>
                  <a:tblGrid>
                    <a:gridCol w="1527810">
                      <a:extLst>
                        <a:ext uri="{9D8B030D-6E8A-4147-A177-3AD203B41FA5}">
                          <a16:colId xmlns:a16="http://schemas.microsoft.com/office/drawing/2014/main" val="1458894256"/>
                        </a:ext>
                      </a:extLst>
                    </a:gridCol>
                    <a:gridCol w="684337">
                      <a:extLst>
                        <a:ext uri="{9D8B030D-6E8A-4147-A177-3AD203B41FA5}">
                          <a16:colId xmlns:a16="http://schemas.microsoft.com/office/drawing/2014/main" val="4258632931"/>
                        </a:ext>
                      </a:extLst>
                    </a:gridCol>
                    <a:gridCol w="1667574">
                      <a:extLst>
                        <a:ext uri="{9D8B030D-6E8A-4147-A177-3AD203B41FA5}">
                          <a16:colId xmlns:a16="http://schemas.microsoft.com/office/drawing/2014/main" val="2614782621"/>
                        </a:ext>
                      </a:extLst>
                    </a:gridCol>
                    <a:gridCol w="651932">
                      <a:extLst>
                        <a:ext uri="{9D8B030D-6E8A-4147-A177-3AD203B41FA5}">
                          <a16:colId xmlns:a16="http://schemas.microsoft.com/office/drawing/2014/main" val="3631343940"/>
                        </a:ext>
                      </a:extLst>
                    </a:gridCol>
                    <a:gridCol w="1667574">
                      <a:extLst>
                        <a:ext uri="{9D8B030D-6E8A-4147-A177-3AD203B41FA5}">
                          <a16:colId xmlns:a16="http://schemas.microsoft.com/office/drawing/2014/main" val="841469282"/>
                        </a:ext>
                      </a:extLst>
                    </a:gridCol>
                    <a:gridCol w="651932">
                      <a:extLst>
                        <a:ext uri="{9D8B030D-6E8A-4147-A177-3AD203B41FA5}">
                          <a16:colId xmlns:a16="http://schemas.microsoft.com/office/drawing/2014/main" val="735290427"/>
                        </a:ext>
                      </a:extLst>
                    </a:gridCol>
                  </a:tblGrid>
                  <a:tr h="472197">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CCGA</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00000"/>
                            </a:lnSpc>
                            <a:spcAft>
                              <a:spcPts val="0"/>
                            </a:spcAft>
                          </a:pP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HACO</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MACS</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96218974"/>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Generation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200" dirty="0">
                              <a:solidFill>
                                <a:schemeClr val="dk1"/>
                              </a:solidFill>
                              <a:effectLst/>
                              <a:latin typeface="+mn-lt"/>
                              <a:ea typeface="+mn-ea"/>
                              <a:cs typeface="+mn-cs"/>
                            </a:rPr>
                            <a:t>200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Iteration</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200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Time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Limit (s)</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Subpopulation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Cross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0.8</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847" t="-300000" r="-178832" b="-206410"/>
                          </a:stretch>
                        </a:blip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1533" t="-300000" r="-40146" b="-206410"/>
                          </a:stretch>
                        </a:blip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Mutate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847" t="-405195" r="-178832" b="-109091"/>
                          </a:stretch>
                        </a:blip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1533" t="-405195" r="-40146" b="-109091"/>
                          </a:stretch>
                        </a:blip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Elite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847" t="-498718" r="-178832" b="-7692"/>
                          </a:stretch>
                        </a:blip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1533" t="-498718" r="-40146" b="-7692"/>
                          </a:stretch>
                        </a:blip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0.5</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9298877"/>
                      </a:ext>
                    </a:extLst>
                  </a:tr>
                </a:tbl>
              </a:graphicData>
            </a:graphic>
          </p:graphicFrame>
        </mc:Fallback>
      </mc:AlternateContent>
    </p:spTree>
    <p:extLst>
      <p:ext uri="{BB962C8B-B14F-4D97-AF65-F5344CB8AC3E}">
        <p14:creationId xmlns:p14="http://schemas.microsoft.com/office/powerpoint/2010/main" val="527567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ACAD89-1DB1-9EF1-5723-CFA4CEDA9B6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07EAEF4-DB8C-2E60-09D9-30920E9A3952}"/>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CAFF40F6-7AE0-D68B-F97C-0424B4DE621B}"/>
              </a:ext>
            </a:extLst>
          </p:cNvPr>
          <p:cNvSpPr>
            <a:spLocks noGrp="1"/>
          </p:cNvSpPr>
          <p:nvPr>
            <p:ph type="sldNum" sz="quarter" idx="12"/>
          </p:nvPr>
        </p:nvSpPr>
        <p:spPr/>
        <p:txBody>
          <a:bodyPr/>
          <a:lstStyle/>
          <a:p>
            <a:fld id="{5AC25633-CB68-4D6B-BEE8-144406895708}" type="slidenum">
              <a:rPr lang="zh-TW" altLang="en-US" smtClean="0"/>
              <a:t>31</a:t>
            </a:fld>
            <a:endParaRPr lang="zh-TW" altLang="en-US"/>
          </a:p>
        </p:txBody>
      </p:sp>
      <p:graphicFrame>
        <p:nvGraphicFramePr>
          <p:cNvPr id="5" name="內容版面配置區 4">
            <a:extLst>
              <a:ext uri="{FF2B5EF4-FFF2-40B4-BE49-F238E27FC236}">
                <a16:creationId xmlns:a16="http://schemas.microsoft.com/office/drawing/2014/main" id="{E3B36739-C501-11D2-0F2A-975E660D3950}"/>
              </a:ext>
            </a:extLst>
          </p:cNvPr>
          <p:cNvGraphicFramePr>
            <a:graphicFrameLocks noGrp="1"/>
          </p:cNvGraphicFramePr>
          <p:nvPr>
            <p:ph idx="1"/>
            <p:extLst>
              <p:ext uri="{D42A27DB-BD31-4B8C-83A1-F6EECF244321}">
                <p14:modId xmlns:p14="http://schemas.microsoft.com/office/powerpoint/2010/main" val="2323901310"/>
              </p:ext>
            </p:extLst>
          </p:nvPr>
        </p:nvGraphicFramePr>
        <p:xfrm>
          <a:off x="1722045" y="2310059"/>
          <a:ext cx="8747909" cy="3073966"/>
        </p:xfrm>
        <a:graphic>
          <a:graphicData uri="http://schemas.openxmlformats.org/drawingml/2006/table">
            <a:tbl>
              <a:tblPr firstCol="1">
                <a:tableStyleId>{5C22544A-7EE6-4342-B048-85BDC9FD1C3A}</a:tableStyleId>
              </a:tblPr>
              <a:tblGrid>
                <a:gridCol w="2952750">
                  <a:extLst>
                    <a:ext uri="{9D8B030D-6E8A-4147-A177-3AD203B41FA5}">
                      <a16:colId xmlns:a16="http://schemas.microsoft.com/office/drawing/2014/main" val="1458894256"/>
                    </a:ext>
                  </a:extLst>
                </a:gridCol>
                <a:gridCol w="2880954">
                  <a:extLst>
                    <a:ext uri="{9D8B030D-6E8A-4147-A177-3AD203B41FA5}">
                      <a16:colId xmlns:a16="http://schemas.microsoft.com/office/drawing/2014/main" val="4258632931"/>
                    </a:ext>
                  </a:extLst>
                </a:gridCol>
                <a:gridCol w="2914205">
                  <a:extLst>
                    <a:ext uri="{9D8B030D-6E8A-4147-A177-3AD203B41FA5}">
                      <a16:colId xmlns:a16="http://schemas.microsoft.com/office/drawing/2014/main" val="1663490534"/>
                    </a:ext>
                  </a:extLst>
                </a:gridCol>
              </a:tblGrid>
              <a:tr h="439138">
                <a:tc>
                  <a:txBody>
                    <a:bodyPr/>
                    <a:lstStyle/>
                    <a:p>
                      <a:pPr algn="l">
                        <a:lnSpc>
                          <a:spcPct val="150000"/>
                        </a:lnSpc>
                        <a:spcAft>
                          <a:spcPts val="0"/>
                        </a:spcAft>
                      </a:pPr>
                      <a:endParaRPr lang="zh-TW" sz="1800" b="1" kern="100" dirty="0">
                        <a:solidFill>
                          <a:schemeClr val="tx1">
                            <a:lumMod val="75000"/>
                            <a:lumOff val="25000"/>
                          </a:schemeClr>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spcAft>
                          <a:spcPts val="0"/>
                        </a:spcAft>
                      </a:pPr>
                      <a:r>
                        <a:rPr lang="en-US" altLang="zh-TW" sz="1800" b="1" kern="100">
                          <a:effectLst/>
                          <a:latin typeface="+mj-lt"/>
                          <a:ea typeface="標楷體" panose="03000509000000000000" pitchFamily="65" charset="-120"/>
                          <a:cs typeface="Times New Roman" panose="02020603050405020304" pitchFamily="18" charset="0"/>
                        </a:rPr>
                        <a:t> Proposed</a:t>
                      </a:r>
                      <a:r>
                        <a:rPr lang="zh-TW" altLang="en-US" sz="1800" b="1" kern="100">
                          <a:effectLst/>
                          <a:latin typeface="+mj-lt"/>
                          <a:ea typeface="標楷體" panose="03000509000000000000" pitchFamily="65" charset="-120"/>
                          <a:cs typeface="Times New Roman" panose="02020603050405020304" pitchFamily="18" charset="0"/>
                        </a:rPr>
                        <a:t> </a:t>
                      </a:r>
                      <a:r>
                        <a:rPr lang="en-US" altLang="zh-TW" sz="1800" b="1" kern="100">
                          <a:effectLst/>
                          <a:latin typeface="+mj-lt"/>
                          <a:ea typeface="標楷體" panose="03000509000000000000" pitchFamily="65" charset="-120"/>
                          <a:cs typeface="Times New Roman" panose="02020603050405020304" pitchFamily="18" charset="0"/>
                        </a:rPr>
                        <a:t>Method</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5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Manually Planned</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689319815"/>
                  </a:ext>
                </a:extLst>
              </a:tr>
              <a:tr h="439138">
                <a:tc>
                  <a:txBody>
                    <a:bodyPr/>
                    <a:lstStyle/>
                    <a:p>
                      <a:pPr algn="l">
                        <a:lnSpc>
                          <a:spcPct val="15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Number of Vehicles</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92.93</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100.88</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39138">
                <a:tc>
                  <a:txBody>
                    <a:bodyPr/>
                    <a:lstStyle/>
                    <a:p>
                      <a:pPr algn="l">
                        <a:lnSpc>
                          <a:spcPct val="15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Number of Support Vehicles</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11.12</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19.77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6423645"/>
                  </a:ext>
                </a:extLst>
              </a:tr>
              <a:tr h="439138">
                <a:tc>
                  <a:txBody>
                    <a:bodyPr/>
                    <a:lstStyle/>
                    <a:p>
                      <a:pPr algn="l">
                        <a:lnSpc>
                          <a:spcPct val="15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Total Distance (km)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4375.41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4531.51</a:t>
                      </a:r>
                      <a:endParaRPr lang="zh-TW" altLang="zh-TW" sz="180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39138">
                <a:tc>
                  <a:txBody>
                    <a:bodyPr/>
                    <a:lstStyle/>
                    <a:p>
                      <a:pPr algn="l">
                        <a:lnSpc>
                          <a:spcPct val="15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Average Load Rate</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0.89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0.83</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39138">
                <a:tc>
                  <a:txBody>
                    <a:bodyPr/>
                    <a:lstStyle/>
                    <a:p>
                      <a:pPr algn="l">
                        <a:lnSpc>
                          <a:spcPct val="15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On Time Rate</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0.99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0.94</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110203"/>
                  </a:ext>
                </a:extLst>
              </a:tr>
              <a:tr h="439138">
                <a:tc>
                  <a:txBody>
                    <a:bodyPr/>
                    <a:lstStyle/>
                    <a:p>
                      <a:pPr algn="l">
                        <a:lnSpc>
                          <a:spcPct val="15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Runtime (min)</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16</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bl>
          </a:graphicData>
        </a:graphic>
      </p:graphicFrame>
    </p:spTree>
    <p:extLst>
      <p:ext uri="{BB962C8B-B14F-4D97-AF65-F5344CB8AC3E}">
        <p14:creationId xmlns:p14="http://schemas.microsoft.com/office/powerpoint/2010/main" val="3022292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8E07EF-5A89-F2F3-6E4C-3396F2C0D7D5}"/>
            </a:ext>
          </a:extLst>
        </p:cNvPr>
        <p:cNvGrpSpPr/>
        <p:nvPr/>
      </p:nvGrpSpPr>
      <p:grpSpPr>
        <a:xfrm>
          <a:off x="0" y="0"/>
          <a:ext cx="0" cy="0"/>
          <a:chOff x="0" y="0"/>
          <a:chExt cx="0" cy="0"/>
        </a:xfrm>
      </p:grpSpPr>
      <p:graphicFrame>
        <p:nvGraphicFramePr>
          <p:cNvPr id="11" name="內容版面配置區 10">
            <a:extLst>
              <a:ext uri="{FF2B5EF4-FFF2-40B4-BE49-F238E27FC236}">
                <a16:creationId xmlns:a16="http://schemas.microsoft.com/office/drawing/2014/main" id="{2FB476AE-A461-00C5-1AA5-09A64A4318F7}"/>
              </a:ext>
            </a:extLst>
          </p:cNvPr>
          <p:cNvGraphicFramePr>
            <a:graphicFrameLocks noGrp="1"/>
          </p:cNvGraphicFramePr>
          <p:nvPr>
            <p:ph idx="1"/>
            <p:extLst>
              <p:ext uri="{D42A27DB-BD31-4B8C-83A1-F6EECF244321}">
                <p14:modId xmlns:p14="http://schemas.microsoft.com/office/powerpoint/2010/main" val="1086765099"/>
              </p:ext>
            </p:extLst>
          </p:nvPr>
        </p:nvGraphicFramePr>
        <p:xfrm>
          <a:off x="1204685" y="2162630"/>
          <a:ext cx="4752451" cy="3410857"/>
        </p:xfrm>
        <a:graphic>
          <a:graphicData uri="http://schemas.openxmlformats.org/drawingml/2006/chart">
            <c:chart xmlns:c="http://schemas.openxmlformats.org/drawingml/2006/chart" xmlns:r="http://schemas.openxmlformats.org/officeDocument/2006/relationships" r:id="rId3"/>
          </a:graphicData>
        </a:graphic>
      </p:graphicFrame>
      <p:sp>
        <p:nvSpPr>
          <p:cNvPr id="2" name="標題 1">
            <a:extLst>
              <a:ext uri="{FF2B5EF4-FFF2-40B4-BE49-F238E27FC236}">
                <a16:creationId xmlns:a16="http://schemas.microsoft.com/office/drawing/2014/main" id="{829C2228-B291-2BD9-2AAF-E5E9D1EF9F3B}"/>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23F6E09A-1961-72B4-77F4-456FF726664A}"/>
              </a:ext>
            </a:extLst>
          </p:cNvPr>
          <p:cNvSpPr>
            <a:spLocks noGrp="1"/>
          </p:cNvSpPr>
          <p:nvPr>
            <p:ph type="sldNum" sz="quarter" idx="12"/>
          </p:nvPr>
        </p:nvSpPr>
        <p:spPr/>
        <p:txBody>
          <a:bodyPr/>
          <a:lstStyle/>
          <a:p>
            <a:fld id="{5AC25633-CB68-4D6B-BEE8-144406895708}" type="slidenum">
              <a:rPr lang="zh-TW" altLang="en-US" smtClean="0"/>
              <a:t>32</a:t>
            </a:fld>
            <a:endParaRPr lang="zh-TW" altLang="en-US"/>
          </a:p>
        </p:txBody>
      </p:sp>
      <p:graphicFrame>
        <p:nvGraphicFramePr>
          <p:cNvPr id="3" name="內容版面配置區 10">
            <a:extLst>
              <a:ext uri="{FF2B5EF4-FFF2-40B4-BE49-F238E27FC236}">
                <a16:creationId xmlns:a16="http://schemas.microsoft.com/office/drawing/2014/main" id="{0657D907-489E-20E6-7048-D7A44FF7A200}"/>
              </a:ext>
            </a:extLst>
          </p:cNvPr>
          <p:cNvGraphicFramePr>
            <a:graphicFrameLocks/>
          </p:cNvGraphicFramePr>
          <p:nvPr>
            <p:extLst>
              <p:ext uri="{D42A27DB-BD31-4B8C-83A1-F6EECF244321}">
                <p14:modId xmlns:p14="http://schemas.microsoft.com/office/powerpoint/2010/main" val="3979317297"/>
              </p:ext>
            </p:extLst>
          </p:nvPr>
        </p:nvGraphicFramePr>
        <p:xfrm>
          <a:off x="6178059" y="2162630"/>
          <a:ext cx="4977621" cy="34108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87424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0AF7CB-4E6E-24D6-B651-0655CCF75CC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CFAB37F-A77E-1244-B20B-6E164A5CBFF4}"/>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70C5836C-37D1-FCC6-E45B-665426F26B6E}"/>
              </a:ext>
            </a:extLst>
          </p:cNvPr>
          <p:cNvSpPr>
            <a:spLocks noGrp="1"/>
          </p:cNvSpPr>
          <p:nvPr>
            <p:ph type="sldNum" sz="quarter" idx="12"/>
          </p:nvPr>
        </p:nvSpPr>
        <p:spPr/>
        <p:txBody>
          <a:bodyPr/>
          <a:lstStyle/>
          <a:p>
            <a:fld id="{5AC25633-CB68-4D6B-BEE8-144406895708}" type="slidenum">
              <a:rPr lang="zh-TW" altLang="en-US" smtClean="0"/>
              <a:t>33</a:t>
            </a:fld>
            <a:endParaRPr lang="zh-TW" altLang="en-US"/>
          </a:p>
        </p:txBody>
      </p:sp>
      <p:graphicFrame>
        <p:nvGraphicFramePr>
          <p:cNvPr id="13" name="內容版面配置區 12">
            <a:extLst>
              <a:ext uri="{FF2B5EF4-FFF2-40B4-BE49-F238E27FC236}">
                <a16:creationId xmlns:a16="http://schemas.microsoft.com/office/drawing/2014/main" id="{BC2D1972-9ECD-EFFF-33D3-989440BCAEED}"/>
              </a:ext>
            </a:extLst>
          </p:cNvPr>
          <p:cNvGraphicFramePr>
            <a:graphicFrameLocks noGrp="1"/>
          </p:cNvGraphicFramePr>
          <p:nvPr>
            <p:ph idx="1"/>
            <p:extLst>
              <p:ext uri="{D42A27DB-BD31-4B8C-83A1-F6EECF244321}">
                <p14:modId xmlns:p14="http://schemas.microsoft.com/office/powerpoint/2010/main" val="1068937845"/>
              </p:ext>
            </p:extLst>
          </p:nvPr>
        </p:nvGraphicFramePr>
        <p:xfrm>
          <a:off x="1097280" y="2162630"/>
          <a:ext cx="10058400" cy="339502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20326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6C37E9-1F7D-3F3A-2F29-2563835C279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AF7D10D-159F-7F39-13E8-F0ED8B65832E}"/>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A83C3853-492B-5B55-89EB-39271457350F}"/>
              </a:ext>
            </a:extLst>
          </p:cNvPr>
          <p:cNvSpPr>
            <a:spLocks noGrp="1"/>
          </p:cNvSpPr>
          <p:nvPr>
            <p:ph type="sldNum" sz="quarter" idx="12"/>
          </p:nvPr>
        </p:nvSpPr>
        <p:spPr/>
        <p:txBody>
          <a:bodyPr/>
          <a:lstStyle/>
          <a:p>
            <a:fld id="{5AC25633-CB68-4D6B-BEE8-144406895708}" type="slidenum">
              <a:rPr lang="zh-TW" altLang="en-US" smtClean="0"/>
              <a:t>34</a:t>
            </a:fld>
            <a:endParaRPr lang="zh-TW" altLang="en-US"/>
          </a:p>
        </p:txBody>
      </p:sp>
      <p:graphicFrame>
        <p:nvGraphicFramePr>
          <p:cNvPr id="8" name="內容版面配置區 7">
            <a:extLst>
              <a:ext uri="{FF2B5EF4-FFF2-40B4-BE49-F238E27FC236}">
                <a16:creationId xmlns:a16="http://schemas.microsoft.com/office/drawing/2014/main" id="{0A8B3EBF-260E-4FF8-8418-7A5165791190}"/>
              </a:ext>
            </a:extLst>
          </p:cNvPr>
          <p:cNvGraphicFramePr>
            <a:graphicFrameLocks noGrp="1"/>
          </p:cNvGraphicFramePr>
          <p:nvPr>
            <p:ph idx="1"/>
            <p:extLst>
              <p:ext uri="{D42A27DB-BD31-4B8C-83A1-F6EECF244321}">
                <p14:modId xmlns:p14="http://schemas.microsoft.com/office/powerpoint/2010/main" val="3699522995"/>
              </p:ext>
            </p:extLst>
          </p:nvPr>
        </p:nvGraphicFramePr>
        <p:xfrm>
          <a:off x="1127443" y="2238148"/>
          <a:ext cx="4968557" cy="304637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內容版面配置區 8">
            <a:extLst>
              <a:ext uri="{FF2B5EF4-FFF2-40B4-BE49-F238E27FC236}">
                <a16:creationId xmlns:a16="http://schemas.microsoft.com/office/drawing/2014/main" id="{E7A527AE-3151-3699-9BA3-06FE2D6A06F4}"/>
              </a:ext>
            </a:extLst>
          </p:cNvPr>
          <p:cNvGraphicFramePr>
            <a:graphicFrameLocks/>
          </p:cNvGraphicFramePr>
          <p:nvPr>
            <p:extLst>
              <p:ext uri="{D42A27DB-BD31-4B8C-83A1-F6EECF244321}">
                <p14:modId xmlns:p14="http://schemas.microsoft.com/office/powerpoint/2010/main" val="358676554"/>
              </p:ext>
            </p:extLst>
          </p:nvPr>
        </p:nvGraphicFramePr>
        <p:xfrm>
          <a:off x="6213763" y="2346056"/>
          <a:ext cx="4998720" cy="293846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7768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E7EC2B-4DFB-4C53-6E2C-6067027F5BE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6C5674F-BCCC-ACDC-A9CA-5C092DB71A6E}"/>
              </a:ext>
            </a:extLst>
          </p:cNvPr>
          <p:cNvSpPr>
            <a:spLocks noGrp="1"/>
          </p:cNvSpPr>
          <p:nvPr>
            <p:ph type="title"/>
          </p:nvPr>
        </p:nvSpPr>
        <p:spPr/>
        <p:txBody>
          <a:bodyPr/>
          <a:lstStyle/>
          <a:p>
            <a:r>
              <a:rPr lang="en-US" altLang="zh-TW" dirty="0"/>
              <a:t>Ablation Study</a:t>
            </a:r>
          </a:p>
        </p:txBody>
      </p:sp>
      <p:sp>
        <p:nvSpPr>
          <p:cNvPr id="4" name="投影片編號版面配置區 3">
            <a:extLst>
              <a:ext uri="{FF2B5EF4-FFF2-40B4-BE49-F238E27FC236}">
                <a16:creationId xmlns:a16="http://schemas.microsoft.com/office/drawing/2014/main" id="{1F8AE684-85D9-452B-6574-238D67006C23}"/>
              </a:ext>
            </a:extLst>
          </p:cNvPr>
          <p:cNvSpPr>
            <a:spLocks noGrp="1"/>
          </p:cNvSpPr>
          <p:nvPr>
            <p:ph type="sldNum" sz="quarter" idx="12"/>
          </p:nvPr>
        </p:nvSpPr>
        <p:spPr/>
        <p:txBody>
          <a:bodyPr/>
          <a:lstStyle/>
          <a:p>
            <a:fld id="{5AC25633-CB68-4D6B-BEE8-144406895708}" type="slidenum">
              <a:rPr lang="zh-TW" altLang="en-US" smtClean="0"/>
              <a:t>35</a:t>
            </a:fld>
            <a:endParaRPr lang="zh-TW" altLang="en-US"/>
          </a:p>
        </p:txBody>
      </p:sp>
      <p:graphicFrame>
        <p:nvGraphicFramePr>
          <p:cNvPr id="6" name="內容版面配置區 4">
            <a:extLst>
              <a:ext uri="{FF2B5EF4-FFF2-40B4-BE49-F238E27FC236}">
                <a16:creationId xmlns:a16="http://schemas.microsoft.com/office/drawing/2014/main" id="{B7C7E742-0C9E-439C-4301-D10394B9E552}"/>
              </a:ext>
            </a:extLst>
          </p:cNvPr>
          <p:cNvGraphicFramePr>
            <a:graphicFrameLocks/>
          </p:cNvGraphicFramePr>
          <p:nvPr>
            <p:extLst>
              <p:ext uri="{D42A27DB-BD31-4B8C-83A1-F6EECF244321}">
                <p14:modId xmlns:p14="http://schemas.microsoft.com/office/powerpoint/2010/main" val="3822790815"/>
              </p:ext>
            </p:extLst>
          </p:nvPr>
        </p:nvGraphicFramePr>
        <p:xfrm>
          <a:off x="1097280" y="2128960"/>
          <a:ext cx="10018024" cy="3183468"/>
        </p:xfrm>
        <a:graphic>
          <a:graphicData uri="http://schemas.openxmlformats.org/drawingml/2006/table">
            <a:tbl>
              <a:tblPr firstCol="1">
                <a:tableStyleId>{5C22544A-7EE6-4342-B048-85BDC9FD1C3A}</a:tableStyleId>
              </a:tblPr>
              <a:tblGrid>
                <a:gridCol w="2905760">
                  <a:extLst>
                    <a:ext uri="{9D8B030D-6E8A-4147-A177-3AD203B41FA5}">
                      <a16:colId xmlns:a16="http://schemas.microsoft.com/office/drawing/2014/main" val="1458894256"/>
                    </a:ext>
                  </a:extLst>
                </a:gridCol>
                <a:gridCol w="1923732">
                  <a:extLst>
                    <a:ext uri="{9D8B030D-6E8A-4147-A177-3AD203B41FA5}">
                      <a16:colId xmlns:a16="http://schemas.microsoft.com/office/drawing/2014/main" val="4258632931"/>
                    </a:ext>
                  </a:extLst>
                </a:gridCol>
                <a:gridCol w="1646921">
                  <a:extLst>
                    <a:ext uri="{9D8B030D-6E8A-4147-A177-3AD203B41FA5}">
                      <a16:colId xmlns:a16="http://schemas.microsoft.com/office/drawing/2014/main" val="1663490534"/>
                    </a:ext>
                  </a:extLst>
                </a:gridCol>
                <a:gridCol w="1662546">
                  <a:extLst>
                    <a:ext uri="{9D8B030D-6E8A-4147-A177-3AD203B41FA5}">
                      <a16:colId xmlns:a16="http://schemas.microsoft.com/office/drawing/2014/main" val="2934832940"/>
                    </a:ext>
                  </a:extLst>
                </a:gridCol>
                <a:gridCol w="1879065">
                  <a:extLst>
                    <a:ext uri="{9D8B030D-6E8A-4147-A177-3AD203B41FA5}">
                      <a16:colId xmlns:a16="http://schemas.microsoft.com/office/drawing/2014/main" val="4186979241"/>
                    </a:ext>
                  </a:extLst>
                </a:gridCol>
              </a:tblGrid>
              <a:tr h="439138">
                <a:tc>
                  <a:txBody>
                    <a:bodyPr/>
                    <a:lstStyle/>
                    <a:p>
                      <a:pPr algn="ctr">
                        <a:lnSpc>
                          <a:spcPct val="100000"/>
                        </a:lnSpc>
                        <a:spcAft>
                          <a:spcPts val="0"/>
                        </a:spcAft>
                      </a:pPr>
                      <a:endParaRPr lang="zh-TW" sz="1800" b="1" kern="100" dirty="0">
                        <a:solidFill>
                          <a:schemeClr val="tx1">
                            <a:lumMod val="75000"/>
                            <a:lumOff val="25000"/>
                          </a:schemeClr>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Proposed Method</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Random Extraction</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HACO </a:t>
                      </a:r>
                    </a:p>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Without VND</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MACS</a:t>
                      </a:r>
                    </a:p>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Without VND</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689319815"/>
                  </a:ext>
                </a:extLst>
              </a:tr>
              <a:tr h="439138">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Number of Vehicles</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92.93</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94.24</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92.94</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93.25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39138">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Number of Support Vehicles</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11.12</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12.43</a:t>
                      </a:r>
                      <a:endParaRPr lang="zh-TW" altLang="zh-TW" sz="180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11.14</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11.44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6423645"/>
                  </a:ext>
                </a:extLst>
              </a:tr>
              <a:tr h="439138">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Total Distance (km)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4375.41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4524.44</a:t>
                      </a:r>
                      <a:endParaRPr lang="zh-TW" altLang="zh-TW" sz="180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4382.40</a:t>
                      </a:r>
                      <a:endParaRPr lang="zh-TW" altLang="zh-TW" sz="180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4,400.13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39138">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Average Load Rate</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0.89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0.88</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0.89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0.89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39138">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On Time Rate</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0.99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0.99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0.99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0.99</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110203"/>
                  </a:ext>
                </a:extLst>
              </a:tr>
              <a:tr h="439138">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Runtime (min)</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16</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15</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15</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bl>
          </a:graphicData>
        </a:graphic>
      </p:graphicFrame>
    </p:spTree>
    <p:extLst>
      <p:ext uri="{BB962C8B-B14F-4D97-AF65-F5344CB8AC3E}">
        <p14:creationId xmlns:p14="http://schemas.microsoft.com/office/powerpoint/2010/main" val="212498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3ABDF3-D330-FCC0-9E9F-2C6FA9A2DC8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9">
                <a:extLst>
                  <a:ext uri="{FF2B5EF4-FFF2-40B4-BE49-F238E27FC236}">
                    <a16:creationId xmlns:a16="http://schemas.microsoft.com/office/drawing/2014/main" id="{E9803542-C228-93C8-B793-00889D1FAF3A}"/>
                  </a:ext>
                </a:extLst>
              </p:cNvPr>
              <p:cNvSpPr>
                <a:spLocks noGrp="1"/>
              </p:cNvSpPr>
              <p:nvPr>
                <p:ph idx="1"/>
              </p:nvPr>
            </p:nvSpPr>
            <p:spPr>
              <a:xfrm>
                <a:off x="1097280" y="1845734"/>
                <a:ext cx="10058400" cy="4023360"/>
              </a:xfrm>
            </p:spPr>
            <p:txBody>
              <a:bodyPr/>
              <a:lstStyle/>
              <a:p>
                <a:pPr>
                  <a:buFont typeface="Wingdings" panose="05000000000000000000" pitchFamily="2" charset="2"/>
                  <a:buChar char="Ø"/>
                </a:pPr>
                <a:r>
                  <a:rPr lang="en-US" altLang="zh-TW" b="0" dirty="0"/>
                  <a:t>Wilcoxon Signed-Rank Test</a:t>
                </a:r>
              </a:p>
              <a:p>
                <a:pPr lvl="1">
                  <a:buFont typeface="Arial" panose="020B0604020202020204" pitchFamily="34" charset="0"/>
                  <a:buChar char="•"/>
                </a:pPr>
                <a:r>
                  <a:rPr lang="en-US" altLang="zh-TW" b="0" dirty="0"/>
                  <a:t>Significant at </a:t>
                </a:r>
                <a14:m>
                  <m:oMath xmlns:m="http://schemas.openxmlformats.org/officeDocument/2006/math">
                    <m:r>
                      <m:rPr>
                        <m:sty m:val="p"/>
                      </m:rPr>
                      <a:rPr lang="en-US" altLang="zh-TW" b="0" i="0" smtClean="0">
                        <a:latin typeface="Cambria Math" panose="02040503050406030204" pitchFamily="18" charset="0"/>
                      </a:rPr>
                      <m:t>α</m:t>
                    </m:r>
                  </m:oMath>
                </a14:m>
                <a:r>
                  <a:rPr lang="en-US" altLang="zh-TW" dirty="0"/>
                  <a:t>=0.05</a:t>
                </a:r>
                <a:endParaRPr lang="zh-TW" altLang="en-US" dirty="0"/>
              </a:p>
            </p:txBody>
          </p:sp>
        </mc:Choice>
        <mc:Fallback xmlns="">
          <p:sp>
            <p:nvSpPr>
              <p:cNvPr id="3" name="內容版面配置區 9">
                <a:extLst>
                  <a:ext uri="{FF2B5EF4-FFF2-40B4-BE49-F238E27FC236}">
                    <a16:creationId xmlns:a16="http://schemas.microsoft.com/office/drawing/2014/main" id="{E9803542-C228-93C8-B793-00889D1FAF3A}"/>
                  </a:ext>
                </a:extLst>
              </p:cNvPr>
              <p:cNvSpPr>
                <a:spLocks noGrp="1" noRot="1" noChangeAspect="1" noMove="1" noResize="1" noEditPoints="1" noAdjustHandles="1" noChangeArrowheads="1" noChangeShapeType="1" noTextEdit="1"/>
              </p:cNvSpPr>
              <p:nvPr>
                <p:ph idx="1"/>
              </p:nvPr>
            </p:nvSpPr>
            <p:spPr>
              <a:xfrm>
                <a:off x="1097280" y="1845734"/>
                <a:ext cx="10058400" cy="4023360"/>
              </a:xfrm>
              <a:blipFill>
                <a:blip r:embed="rId3"/>
                <a:stretch>
                  <a:fillRect l="-1455" t="-1667"/>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276DC68C-3B0E-0B82-5A5D-63A16743472D}"/>
              </a:ext>
            </a:extLst>
          </p:cNvPr>
          <p:cNvSpPr>
            <a:spLocks noGrp="1"/>
          </p:cNvSpPr>
          <p:nvPr>
            <p:ph type="title"/>
          </p:nvPr>
        </p:nvSpPr>
        <p:spPr/>
        <p:txBody>
          <a:bodyPr/>
          <a:lstStyle/>
          <a:p>
            <a:r>
              <a:rPr lang="en-US" altLang="zh-TW" dirty="0"/>
              <a:t>Ablation Study</a:t>
            </a:r>
          </a:p>
        </p:txBody>
      </p:sp>
      <p:sp>
        <p:nvSpPr>
          <p:cNvPr id="4" name="投影片編號版面配置區 3">
            <a:extLst>
              <a:ext uri="{FF2B5EF4-FFF2-40B4-BE49-F238E27FC236}">
                <a16:creationId xmlns:a16="http://schemas.microsoft.com/office/drawing/2014/main" id="{BAEB60F6-6FF4-5030-ACAF-B487E27030A9}"/>
              </a:ext>
            </a:extLst>
          </p:cNvPr>
          <p:cNvSpPr>
            <a:spLocks noGrp="1"/>
          </p:cNvSpPr>
          <p:nvPr>
            <p:ph type="sldNum" sz="quarter" idx="12"/>
          </p:nvPr>
        </p:nvSpPr>
        <p:spPr/>
        <p:txBody>
          <a:bodyPr/>
          <a:lstStyle/>
          <a:p>
            <a:fld id="{5AC25633-CB68-4D6B-BEE8-144406895708}" type="slidenum">
              <a:rPr lang="zh-TW" altLang="en-US" smtClean="0"/>
              <a:t>36</a:t>
            </a:fld>
            <a:endParaRPr lang="zh-TW" altLang="en-US"/>
          </a:p>
        </p:txBody>
      </p:sp>
      <p:graphicFrame>
        <p:nvGraphicFramePr>
          <p:cNvPr id="5" name="內容版面配置區 4">
            <a:extLst>
              <a:ext uri="{FF2B5EF4-FFF2-40B4-BE49-F238E27FC236}">
                <a16:creationId xmlns:a16="http://schemas.microsoft.com/office/drawing/2014/main" id="{522B77D7-CB57-0001-2606-4C02B6E8242A}"/>
              </a:ext>
            </a:extLst>
          </p:cNvPr>
          <p:cNvGraphicFramePr>
            <a:graphicFrameLocks/>
          </p:cNvGraphicFramePr>
          <p:nvPr>
            <p:extLst>
              <p:ext uri="{D42A27DB-BD31-4B8C-83A1-F6EECF244321}">
                <p14:modId xmlns:p14="http://schemas.microsoft.com/office/powerpoint/2010/main" val="3830469756"/>
              </p:ext>
            </p:extLst>
          </p:nvPr>
        </p:nvGraphicFramePr>
        <p:xfrm>
          <a:off x="2054134" y="2641551"/>
          <a:ext cx="8144691" cy="3415322"/>
        </p:xfrm>
        <a:graphic>
          <a:graphicData uri="http://schemas.openxmlformats.org/drawingml/2006/table">
            <a:tbl>
              <a:tblPr firstCol="1">
                <a:tableStyleId>{5C22544A-7EE6-4342-B048-85BDC9FD1C3A}</a:tableStyleId>
              </a:tblPr>
              <a:tblGrid>
                <a:gridCol w="2389851">
                  <a:extLst>
                    <a:ext uri="{9D8B030D-6E8A-4147-A177-3AD203B41FA5}">
                      <a16:colId xmlns:a16="http://schemas.microsoft.com/office/drawing/2014/main" val="1458894256"/>
                    </a:ext>
                  </a:extLst>
                </a:gridCol>
                <a:gridCol w="2881993">
                  <a:extLst>
                    <a:ext uri="{9D8B030D-6E8A-4147-A177-3AD203B41FA5}">
                      <a16:colId xmlns:a16="http://schemas.microsoft.com/office/drawing/2014/main" val="4258632931"/>
                    </a:ext>
                  </a:extLst>
                </a:gridCol>
                <a:gridCol w="2872847">
                  <a:extLst>
                    <a:ext uri="{9D8B030D-6E8A-4147-A177-3AD203B41FA5}">
                      <a16:colId xmlns:a16="http://schemas.microsoft.com/office/drawing/2014/main" val="4186979241"/>
                    </a:ext>
                  </a:extLst>
                </a:gridCol>
              </a:tblGrid>
              <a:tr h="519237">
                <a:tc>
                  <a:txBody>
                    <a:bodyPr/>
                    <a:lstStyle/>
                    <a:p>
                      <a:pPr algn="ctr">
                        <a:lnSpc>
                          <a:spcPct val="100000"/>
                        </a:lnSpc>
                        <a:spcAft>
                          <a:spcPts val="0"/>
                        </a:spcAft>
                      </a:pPr>
                      <a:endParaRPr lang="zh-TW" sz="1800" b="1" kern="100" dirty="0">
                        <a:solidFill>
                          <a:schemeClr val="tx1">
                            <a:lumMod val="75000"/>
                            <a:lumOff val="25000"/>
                          </a:schemeClr>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Metric</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p-value</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689319815"/>
                  </a:ext>
                </a:extLst>
              </a:tr>
              <a:tr h="345966">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1" kern="100" dirty="0">
                          <a:solidFill>
                            <a:schemeClr val="tx1"/>
                          </a:solidFill>
                          <a:effectLst/>
                          <a:latin typeface="+mn-lt"/>
                          <a:ea typeface="標楷體" panose="03000509000000000000" pitchFamily="65" charset="-120"/>
                          <a:cs typeface="Times New Roman" panose="02020603050405020304" pitchFamily="18" charset="0"/>
                        </a:rPr>
                        <a:t>Random Extraction</a:t>
                      </a: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0.000002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327650">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Support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0.000002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666904"/>
                  </a:ext>
                </a:extLst>
              </a:tr>
              <a:tr h="32765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lt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a:lnSpc>
                          <a:spcPct val="100000"/>
                        </a:lnSpc>
                        <a:spcAft>
                          <a:spcPts val="0"/>
                        </a:spcAft>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Total Distance</a:t>
                      </a:r>
                      <a:endParaRPr lang="zh-TW" sz="1800" b="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36423645"/>
                  </a:ext>
                </a:extLst>
              </a:tr>
              <a:tr h="294726">
                <a:tc rowSpan="3">
                  <a:txBody>
                    <a:bodyPr/>
                    <a:lstStyle/>
                    <a:p>
                      <a:pPr algn="l">
                        <a:lnSpc>
                          <a:spcPct val="100000"/>
                        </a:lnSpc>
                        <a:spcAft>
                          <a:spcPts val="0"/>
                        </a:spcAft>
                      </a:pPr>
                      <a:r>
                        <a:rPr lang="en-US" altLang="zh-TW" sz="1800" b="1" kern="100" dirty="0">
                          <a:solidFill>
                            <a:schemeClr val="tx1"/>
                          </a:solidFill>
                          <a:effectLst/>
                          <a:latin typeface="+mn-lt"/>
                          <a:ea typeface="標楷體" panose="03000509000000000000" pitchFamily="65" charset="-120"/>
                          <a:cs typeface="Times New Roman" panose="02020603050405020304" pitchFamily="18" charset="0"/>
                        </a:rPr>
                        <a:t>HACO Without VND</a:t>
                      </a: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0.915091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327650">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Support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0.927293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4790753"/>
                  </a:ext>
                </a:extLst>
              </a:tr>
              <a:tr h="327650">
                <a:tc vMerge="1">
                  <a:txBody>
                    <a:bodyPr/>
                    <a:lstStyle/>
                    <a:p>
                      <a:pPr algn="l">
                        <a:lnSpc>
                          <a:spcPct val="100000"/>
                        </a:lnSpc>
                        <a:spcAft>
                          <a:spcPts val="0"/>
                        </a:spcAft>
                      </a:pP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a:lnSpc>
                          <a:spcPct val="100000"/>
                        </a:lnSpc>
                        <a:spcAft>
                          <a:spcPts val="0"/>
                        </a:spcAft>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Total Distance</a:t>
                      </a:r>
                      <a:endParaRPr lang="zh-TW" altLang="zh-TW" sz="1800" b="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0.043466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289493">
                <a:tc rowSpan="3">
                  <a:txBody>
                    <a:bodyPr/>
                    <a:lstStyle/>
                    <a:p>
                      <a:pPr algn="l">
                        <a:lnSpc>
                          <a:spcPct val="100000"/>
                        </a:lnSpc>
                        <a:spcAft>
                          <a:spcPts val="0"/>
                        </a:spcAft>
                      </a:pPr>
                      <a:r>
                        <a:rPr lang="en-US" altLang="zh-TW" sz="1800" b="1" kern="100" dirty="0">
                          <a:solidFill>
                            <a:schemeClr val="tx1"/>
                          </a:solidFill>
                          <a:effectLst/>
                          <a:latin typeface="+mn-lt"/>
                          <a:ea typeface="標楷體" panose="03000509000000000000" pitchFamily="65" charset="-120"/>
                          <a:cs typeface="Times New Roman" panose="02020603050405020304" pitchFamily="18" charset="0"/>
                        </a:rPr>
                        <a:t>MACS Without VND</a:t>
                      </a: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0.008896</a:t>
                      </a:r>
                      <a:endParaRPr lang="zh-TW" sz="1800" kern="100" dirty="0">
                        <a:solidFill>
                          <a:srgbClr val="FF0000"/>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110203"/>
                  </a:ext>
                </a:extLst>
              </a:tr>
              <a:tr h="327650">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Support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0.009457</a:t>
                      </a:r>
                      <a:endParaRPr lang="zh-TW" sz="1800" kern="100" dirty="0">
                        <a:solidFill>
                          <a:srgbClr val="FF0000"/>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643804"/>
                  </a:ext>
                </a:extLst>
              </a:tr>
              <a:tr h="327650">
                <a:tc vMerge="1">
                  <a:txBody>
                    <a:bodyPr/>
                    <a:lstStyle/>
                    <a:p>
                      <a:pPr algn="l">
                        <a:lnSpc>
                          <a:spcPct val="100000"/>
                        </a:lnSpc>
                        <a:spcAft>
                          <a:spcPts val="0"/>
                        </a:spcAft>
                      </a:pP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l">
                        <a:lnSpc>
                          <a:spcPct val="100000"/>
                        </a:lnSpc>
                        <a:spcAft>
                          <a:spcPts val="0"/>
                        </a:spcAft>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Total Distance</a:t>
                      </a:r>
                      <a:endParaRPr lang="zh-TW" altLang="zh-TW" sz="1800" b="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0.000071</a:t>
                      </a:r>
                      <a:endParaRPr lang="zh-TW" sz="1800" kern="100" dirty="0">
                        <a:solidFill>
                          <a:srgbClr val="FF0000"/>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bl>
          </a:graphicData>
        </a:graphic>
      </p:graphicFrame>
    </p:spTree>
    <p:extLst>
      <p:ext uri="{BB962C8B-B14F-4D97-AF65-F5344CB8AC3E}">
        <p14:creationId xmlns:p14="http://schemas.microsoft.com/office/powerpoint/2010/main" val="2945203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27B109-41E4-5FE9-5837-A227C4B332F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1D0002D-B968-AF9E-A8D9-856B9B6421E7}"/>
              </a:ext>
            </a:extLst>
          </p:cNvPr>
          <p:cNvSpPr>
            <a:spLocks noGrp="1"/>
          </p:cNvSpPr>
          <p:nvPr>
            <p:ph type="title"/>
          </p:nvPr>
        </p:nvSpPr>
        <p:spPr/>
        <p:txBody>
          <a:bodyPr/>
          <a:lstStyle/>
          <a:p>
            <a:r>
              <a:rPr lang="en-US" altLang="zh-TW" dirty="0"/>
              <a:t>Baseline - HGA-SIH</a:t>
            </a:r>
          </a:p>
        </p:txBody>
      </p:sp>
      <p:sp>
        <p:nvSpPr>
          <p:cNvPr id="4" name="投影片編號版面配置區 3">
            <a:extLst>
              <a:ext uri="{FF2B5EF4-FFF2-40B4-BE49-F238E27FC236}">
                <a16:creationId xmlns:a16="http://schemas.microsoft.com/office/drawing/2014/main" id="{C2AF524B-608C-BF88-26E2-3FAD16FD1615}"/>
              </a:ext>
            </a:extLst>
          </p:cNvPr>
          <p:cNvSpPr>
            <a:spLocks noGrp="1"/>
          </p:cNvSpPr>
          <p:nvPr>
            <p:ph type="sldNum" sz="quarter" idx="12"/>
          </p:nvPr>
        </p:nvSpPr>
        <p:spPr/>
        <p:txBody>
          <a:bodyPr/>
          <a:lstStyle/>
          <a:p>
            <a:fld id="{5AC25633-CB68-4D6B-BEE8-144406895708}" type="slidenum">
              <a:rPr lang="zh-TW" altLang="en-US" smtClean="0"/>
              <a:t>37</a:t>
            </a:fld>
            <a:endParaRPr lang="zh-TW" altLang="en-US"/>
          </a:p>
        </p:txBody>
      </p:sp>
      <p:sp>
        <p:nvSpPr>
          <p:cNvPr id="6" name="內容版面配置區 2">
            <a:extLst>
              <a:ext uri="{FF2B5EF4-FFF2-40B4-BE49-F238E27FC236}">
                <a16:creationId xmlns:a16="http://schemas.microsoft.com/office/drawing/2014/main" id="{25FF4DB1-59A4-11DD-1654-717EDF69C7D1}"/>
              </a:ext>
            </a:extLst>
          </p:cNvPr>
          <p:cNvSpPr>
            <a:spLocks noGrp="1"/>
          </p:cNvSpPr>
          <p:nvPr>
            <p:ph idx="1"/>
          </p:nvPr>
        </p:nvSpPr>
        <p:spPr>
          <a:xfrm>
            <a:off x="1097280" y="1845734"/>
            <a:ext cx="10058400" cy="4023360"/>
          </a:xfrm>
        </p:spPr>
        <p:txBody>
          <a:bodyPr>
            <a:normAutofit/>
          </a:bodyPr>
          <a:lstStyle/>
          <a:p>
            <a:pPr>
              <a:lnSpc>
                <a:spcPct val="150000"/>
              </a:lnSpc>
              <a:buFont typeface="Wingdings" panose="05000000000000000000" pitchFamily="2" charset="2"/>
              <a:buChar char="Ø"/>
            </a:pPr>
            <a:r>
              <a:rPr lang="zh-TW" altLang="zh-TW" dirty="0"/>
              <a:t>Hybrid Genetic Algorithm-Solomon Insertion Heuristic</a:t>
            </a:r>
            <a:r>
              <a:rPr lang="en-US" altLang="zh-TW" dirty="0"/>
              <a:t> (HGA-SIH)[5]</a:t>
            </a:r>
          </a:p>
          <a:p>
            <a:pPr>
              <a:lnSpc>
                <a:spcPct val="150000"/>
              </a:lnSpc>
              <a:buFont typeface="Wingdings" panose="05000000000000000000" pitchFamily="2" charset="2"/>
              <a:buChar char="Ø"/>
            </a:pPr>
            <a:r>
              <a:rPr lang="en-US" altLang="zh-TW" dirty="0"/>
              <a:t>Problem Definition</a:t>
            </a:r>
          </a:p>
          <a:p>
            <a:pPr lvl="1">
              <a:lnSpc>
                <a:spcPct val="150000"/>
              </a:lnSpc>
              <a:buFont typeface="Arial" panose="020B0604020202020204" pitchFamily="34" charset="0"/>
              <a:buChar char="•"/>
            </a:pPr>
            <a:r>
              <a:rPr lang="en-US" altLang="zh-TW" dirty="0"/>
              <a:t>Vehicle Routing Problem with Time Windows (VRPTW)</a:t>
            </a:r>
          </a:p>
          <a:p>
            <a:pPr>
              <a:lnSpc>
                <a:spcPct val="150000"/>
              </a:lnSpc>
              <a:buFont typeface="Wingdings" panose="05000000000000000000" pitchFamily="2" charset="2"/>
              <a:buChar char="Ø"/>
            </a:pPr>
            <a:r>
              <a:rPr lang="en-US" altLang="zh-TW" dirty="0"/>
              <a:t>Method</a:t>
            </a:r>
          </a:p>
          <a:p>
            <a:pPr lvl="1">
              <a:lnSpc>
                <a:spcPct val="150000"/>
              </a:lnSpc>
              <a:buFont typeface="Arial" panose="020B0604020202020204" pitchFamily="34" charset="0"/>
              <a:buChar char="•"/>
            </a:pPr>
            <a:r>
              <a:rPr lang="en-US" altLang="zh-TW" dirty="0"/>
              <a:t>Integrates the Solomon Insertion Heuristic (SIH) with a Genetic Algorithm (GA)</a:t>
            </a:r>
          </a:p>
          <a:p>
            <a:pPr lvl="1">
              <a:lnSpc>
                <a:spcPct val="150000"/>
              </a:lnSpc>
              <a:buFont typeface="Arial" panose="020B0604020202020204" pitchFamily="34" charset="0"/>
              <a:buChar char="•"/>
            </a:pPr>
            <a:r>
              <a:rPr lang="en-US" altLang="zh-TW" dirty="0"/>
              <a:t>Partially Mapped Crossover (PMX)</a:t>
            </a:r>
            <a:r>
              <a:rPr lang="zh-TW" altLang="zh-TW" dirty="0"/>
              <a:t> and </a:t>
            </a:r>
            <a:r>
              <a:rPr lang="en-US" altLang="zh-TW" dirty="0"/>
              <a:t>I</a:t>
            </a:r>
            <a:r>
              <a:rPr lang="zh-TW" altLang="zh-TW" dirty="0"/>
              <a:t>nverse </a:t>
            </a:r>
            <a:r>
              <a:rPr lang="en-US" altLang="zh-TW" dirty="0"/>
              <a:t>M</a:t>
            </a:r>
            <a:r>
              <a:rPr lang="zh-TW" altLang="zh-TW" dirty="0"/>
              <a:t>utation operators</a:t>
            </a:r>
            <a:endParaRPr lang="en-US" altLang="zh-TW" dirty="0"/>
          </a:p>
        </p:txBody>
      </p:sp>
      <p:sp>
        <p:nvSpPr>
          <p:cNvPr id="8" name="文字方塊 7">
            <a:extLst>
              <a:ext uri="{FF2B5EF4-FFF2-40B4-BE49-F238E27FC236}">
                <a16:creationId xmlns:a16="http://schemas.microsoft.com/office/drawing/2014/main" id="{AD631B40-1979-BBF1-9776-18D230BFEE6E}"/>
              </a:ext>
            </a:extLst>
          </p:cNvPr>
          <p:cNvSpPr txBox="1"/>
          <p:nvPr/>
        </p:nvSpPr>
        <p:spPr>
          <a:xfrm>
            <a:off x="979517" y="6396335"/>
            <a:ext cx="9823863" cy="461665"/>
          </a:xfrm>
          <a:prstGeom prst="rect">
            <a:avLst/>
          </a:prstGeom>
          <a:noFill/>
        </p:spPr>
        <p:txBody>
          <a:bodyPr wrap="square">
            <a:spAutoFit/>
          </a:bodyPr>
          <a:lstStyle/>
          <a:p>
            <a:r>
              <a:rPr lang="en-US" altLang="zh-TW" sz="1200" dirty="0">
                <a:solidFill>
                  <a:schemeClr val="bg1"/>
                </a:solidFill>
                <a:effectLst/>
                <a:latin typeface="+mj-lt"/>
                <a:ea typeface="新細明體" panose="02020500000000000000" pitchFamily="18" charset="-120"/>
                <a:cs typeface="Times New Roman" panose="02020603050405020304" pitchFamily="18" charset="0"/>
              </a:rPr>
              <a:t>[5]  A. Maroof, B. Ayvaz, and K. Naeem, "Logistics optimization using hybrid genetic algorithm (</a:t>
            </a:r>
            <a:r>
              <a:rPr lang="en-US" altLang="zh-TW" sz="1200" dirty="0" err="1">
                <a:solidFill>
                  <a:schemeClr val="bg1"/>
                </a:solidFill>
                <a:effectLst/>
                <a:latin typeface="+mj-lt"/>
                <a:ea typeface="新細明體" panose="02020500000000000000" pitchFamily="18" charset="-120"/>
                <a:cs typeface="Times New Roman" panose="02020603050405020304" pitchFamily="18" charset="0"/>
              </a:rPr>
              <a:t>hga</a:t>
            </a:r>
            <a:r>
              <a:rPr lang="en-US" altLang="zh-TW" sz="1200" dirty="0">
                <a:solidFill>
                  <a:schemeClr val="bg1"/>
                </a:solidFill>
                <a:effectLst/>
                <a:latin typeface="+mj-lt"/>
                <a:ea typeface="新細明體" panose="02020500000000000000" pitchFamily="18" charset="-120"/>
                <a:cs typeface="Times New Roman" panose="02020603050405020304" pitchFamily="18" charset="0"/>
              </a:rPr>
              <a:t>): A solution to the vehicle routing problem with time windows (</a:t>
            </a:r>
            <a:r>
              <a:rPr lang="en-US" altLang="zh-TW" sz="1200" dirty="0" err="1">
                <a:solidFill>
                  <a:schemeClr val="bg1"/>
                </a:solidFill>
                <a:effectLst/>
                <a:latin typeface="+mj-lt"/>
                <a:ea typeface="新細明體" panose="02020500000000000000" pitchFamily="18" charset="-120"/>
                <a:cs typeface="Times New Roman" panose="02020603050405020304" pitchFamily="18" charset="0"/>
              </a:rPr>
              <a:t>vrptw</a:t>
            </a:r>
            <a:r>
              <a:rPr lang="en-US" altLang="zh-TW" sz="1200" dirty="0">
                <a:solidFill>
                  <a:schemeClr val="bg1"/>
                </a:solidFill>
                <a:effectLst/>
                <a:latin typeface="+mj-lt"/>
                <a:ea typeface="新細明體" panose="02020500000000000000" pitchFamily="18" charset="-120"/>
                <a:cs typeface="Times New Roman" panose="02020603050405020304" pitchFamily="18" charset="0"/>
              </a:rPr>
              <a:t>)," </a:t>
            </a:r>
            <a:r>
              <a:rPr lang="en-US" altLang="zh-TW" sz="1200" i="1" dirty="0">
                <a:solidFill>
                  <a:schemeClr val="bg1"/>
                </a:solidFill>
                <a:effectLst/>
                <a:latin typeface="+mj-lt"/>
                <a:ea typeface="新細明體" panose="02020500000000000000" pitchFamily="18" charset="-120"/>
                <a:cs typeface="Times New Roman" panose="02020603050405020304" pitchFamily="18" charset="0"/>
              </a:rPr>
              <a:t>IEEE Access, </a:t>
            </a:r>
            <a:r>
              <a:rPr lang="en-US" altLang="zh-TW" sz="1200" dirty="0">
                <a:solidFill>
                  <a:schemeClr val="bg1"/>
                </a:solidFill>
                <a:effectLst/>
                <a:latin typeface="+mj-lt"/>
                <a:ea typeface="新細明體" panose="02020500000000000000" pitchFamily="18" charset="-120"/>
                <a:cs typeface="Times New Roman" panose="02020603050405020304" pitchFamily="18" charset="0"/>
              </a:rPr>
              <a:t>vol. 12, pp. 36974–36989, 2024</a:t>
            </a:r>
            <a:endParaRPr lang="zh-TW" altLang="en-US" sz="1200" dirty="0">
              <a:solidFill>
                <a:schemeClr val="bg1"/>
              </a:solidFill>
              <a:latin typeface="+mj-lt"/>
            </a:endParaRPr>
          </a:p>
        </p:txBody>
      </p:sp>
    </p:spTree>
    <p:extLst>
      <p:ext uri="{BB962C8B-B14F-4D97-AF65-F5344CB8AC3E}">
        <p14:creationId xmlns:p14="http://schemas.microsoft.com/office/powerpoint/2010/main" val="4202720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83989A-96AD-794C-8550-A63B8F342F3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C2B6F03-33ED-1748-9DB0-4A1F871F0859}"/>
              </a:ext>
            </a:extLst>
          </p:cNvPr>
          <p:cNvSpPr>
            <a:spLocks noGrp="1"/>
          </p:cNvSpPr>
          <p:nvPr>
            <p:ph type="title"/>
          </p:nvPr>
        </p:nvSpPr>
        <p:spPr/>
        <p:txBody>
          <a:bodyPr/>
          <a:lstStyle/>
          <a:p>
            <a:r>
              <a:rPr lang="en-US" altLang="zh-TW" dirty="0"/>
              <a:t>Comparison</a:t>
            </a:r>
          </a:p>
        </p:txBody>
      </p:sp>
      <p:sp>
        <p:nvSpPr>
          <p:cNvPr id="4" name="投影片編號版面配置區 3">
            <a:extLst>
              <a:ext uri="{FF2B5EF4-FFF2-40B4-BE49-F238E27FC236}">
                <a16:creationId xmlns:a16="http://schemas.microsoft.com/office/drawing/2014/main" id="{1819EE19-CDCF-310E-D8EE-41A492F25D9A}"/>
              </a:ext>
            </a:extLst>
          </p:cNvPr>
          <p:cNvSpPr>
            <a:spLocks noGrp="1"/>
          </p:cNvSpPr>
          <p:nvPr>
            <p:ph type="sldNum" sz="quarter" idx="12"/>
          </p:nvPr>
        </p:nvSpPr>
        <p:spPr/>
        <p:txBody>
          <a:bodyPr/>
          <a:lstStyle/>
          <a:p>
            <a:fld id="{5AC25633-CB68-4D6B-BEE8-144406895708}" type="slidenum">
              <a:rPr lang="zh-TW" altLang="en-US" smtClean="0"/>
              <a:t>38</a:t>
            </a:fld>
            <a:endParaRPr lang="zh-TW" altLang="en-US"/>
          </a:p>
        </p:txBody>
      </p:sp>
      <p:graphicFrame>
        <p:nvGraphicFramePr>
          <p:cNvPr id="10" name="內容版面配置區 9">
            <a:extLst>
              <a:ext uri="{FF2B5EF4-FFF2-40B4-BE49-F238E27FC236}">
                <a16:creationId xmlns:a16="http://schemas.microsoft.com/office/drawing/2014/main" id="{17425CF0-60D1-8741-989F-62E1F36D5242}"/>
              </a:ext>
            </a:extLst>
          </p:cNvPr>
          <p:cNvGraphicFramePr>
            <a:graphicFrameLocks noGrp="1"/>
          </p:cNvGraphicFramePr>
          <p:nvPr>
            <p:ph idx="1"/>
            <p:extLst>
              <p:ext uri="{D42A27DB-BD31-4B8C-83A1-F6EECF244321}">
                <p14:modId xmlns:p14="http://schemas.microsoft.com/office/powerpoint/2010/main" val="2561717991"/>
              </p:ext>
            </p:extLst>
          </p:nvPr>
        </p:nvGraphicFramePr>
        <p:xfrm>
          <a:off x="1097279" y="2162630"/>
          <a:ext cx="4936127" cy="34108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內容版面配置區 9">
            <a:extLst>
              <a:ext uri="{FF2B5EF4-FFF2-40B4-BE49-F238E27FC236}">
                <a16:creationId xmlns:a16="http://schemas.microsoft.com/office/drawing/2014/main" id="{C4BC874B-65BD-E7DE-1AEC-5B22DB0312F0}"/>
              </a:ext>
            </a:extLst>
          </p:cNvPr>
          <p:cNvGraphicFramePr>
            <a:graphicFrameLocks/>
          </p:cNvGraphicFramePr>
          <p:nvPr>
            <p:extLst>
              <p:ext uri="{D42A27DB-BD31-4B8C-83A1-F6EECF244321}">
                <p14:modId xmlns:p14="http://schemas.microsoft.com/office/powerpoint/2010/main" val="920003401"/>
              </p:ext>
            </p:extLst>
          </p:nvPr>
        </p:nvGraphicFramePr>
        <p:xfrm>
          <a:off x="6096000" y="2162630"/>
          <a:ext cx="5059363" cy="341085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94585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853239-6F20-F58A-DBD5-654323097DA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3507E54-9B8D-4797-0964-5E39F1A1170D}"/>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93D42290-4772-3000-F4F2-A49DC55D613B}"/>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t>Discussion</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B7C98722-0688-2201-753E-9DEE74C53AA7}"/>
              </a:ext>
            </a:extLst>
          </p:cNvPr>
          <p:cNvSpPr>
            <a:spLocks noGrp="1"/>
          </p:cNvSpPr>
          <p:nvPr>
            <p:ph type="sldNum" sz="quarter" idx="12"/>
          </p:nvPr>
        </p:nvSpPr>
        <p:spPr/>
        <p:txBody>
          <a:bodyPr/>
          <a:lstStyle/>
          <a:p>
            <a:fld id="{5AC25633-CB68-4D6B-BEE8-144406895708}" type="slidenum">
              <a:rPr lang="zh-TW" altLang="en-US" smtClean="0"/>
              <a:t>39</a:t>
            </a:fld>
            <a:endParaRPr lang="zh-TW" altLang="en-US"/>
          </a:p>
        </p:txBody>
      </p:sp>
    </p:spTree>
    <p:extLst>
      <p:ext uri="{BB962C8B-B14F-4D97-AF65-F5344CB8AC3E}">
        <p14:creationId xmlns:p14="http://schemas.microsoft.com/office/powerpoint/2010/main" val="39821822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00363D-160C-E35B-E982-2CFA781D516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85A2EA6-BCA4-6F24-EEEA-EAE2B093BDE3}"/>
              </a:ext>
            </a:extLst>
          </p:cNvPr>
          <p:cNvSpPr>
            <a:spLocks noGrp="1"/>
          </p:cNvSpPr>
          <p:nvPr>
            <p:ph type="title"/>
          </p:nvPr>
        </p:nvSpPr>
        <p:spPr/>
        <p:txBody>
          <a:bodyPr/>
          <a:lstStyle/>
          <a:p>
            <a:r>
              <a:rPr lang="en-US" altLang="zh-TW" dirty="0"/>
              <a:t>Discussion</a:t>
            </a:r>
            <a:endParaRPr lang="zh-TW" altLang="en-US" dirty="0"/>
          </a:p>
        </p:txBody>
      </p:sp>
      <p:sp>
        <p:nvSpPr>
          <p:cNvPr id="3" name="內容版面配置區 2">
            <a:extLst>
              <a:ext uri="{FF2B5EF4-FFF2-40B4-BE49-F238E27FC236}">
                <a16:creationId xmlns:a16="http://schemas.microsoft.com/office/drawing/2014/main" id="{E450C6F9-BC43-0058-19A9-0F81CBFB4386}"/>
              </a:ext>
            </a:extLst>
          </p:cNvPr>
          <p:cNvSpPr>
            <a:spLocks noGrp="1"/>
          </p:cNvSpPr>
          <p:nvPr>
            <p:ph idx="1"/>
          </p:nvPr>
        </p:nvSpPr>
        <p:spPr>
          <a:xfrm>
            <a:off x="1097280" y="1845734"/>
            <a:ext cx="10058400" cy="4492922"/>
          </a:xfrm>
        </p:spPr>
        <p:txBody>
          <a:bodyPr>
            <a:normAutofit/>
          </a:bodyPr>
          <a:lstStyle/>
          <a:p>
            <a:pPr>
              <a:lnSpc>
                <a:spcPct val="150000"/>
              </a:lnSpc>
              <a:buFont typeface="Wingdings" panose="05000000000000000000" pitchFamily="2" charset="2"/>
              <a:buChar char="Ø"/>
            </a:pPr>
            <a:r>
              <a:rPr lang="en-US" altLang="zh-TW" dirty="0"/>
              <a:t>Problem Structure Difference</a:t>
            </a:r>
          </a:p>
          <a:p>
            <a:pPr lvl="1">
              <a:lnSpc>
                <a:spcPct val="150000"/>
              </a:lnSpc>
            </a:pPr>
            <a:r>
              <a:rPr lang="en-US" altLang="zh-TW" dirty="0"/>
              <a:t>Fixed-route structure d</a:t>
            </a:r>
            <a:r>
              <a:rPr lang="zh-TW" altLang="zh-TW" dirty="0"/>
              <a:t>erived from logistics operations</a:t>
            </a:r>
            <a:endParaRPr lang="en-US" altLang="zh-TW" dirty="0"/>
          </a:p>
          <a:p>
            <a:pPr lvl="1">
              <a:lnSpc>
                <a:spcPct val="150000"/>
              </a:lnSpc>
            </a:pPr>
            <a:r>
              <a:rPr lang="zh-TW" altLang="zh-TW" dirty="0"/>
              <a:t>Different from VRP with global route re-optimization</a:t>
            </a:r>
            <a:endParaRPr lang="en-US" altLang="zh-TW" dirty="0"/>
          </a:p>
          <a:p>
            <a:pPr lvl="1">
              <a:lnSpc>
                <a:spcPct val="150000"/>
              </a:lnSpc>
            </a:pPr>
            <a:r>
              <a:rPr lang="zh-TW" altLang="zh-TW" dirty="0"/>
              <a:t>Benchmark evaluation focuses on support</a:t>
            </a:r>
            <a:r>
              <a:rPr lang="en-US" altLang="zh-TW" dirty="0"/>
              <a:t> route planning</a:t>
            </a:r>
          </a:p>
        </p:txBody>
      </p:sp>
      <p:sp>
        <p:nvSpPr>
          <p:cNvPr id="4" name="投影片編號版面配置區 3">
            <a:extLst>
              <a:ext uri="{FF2B5EF4-FFF2-40B4-BE49-F238E27FC236}">
                <a16:creationId xmlns:a16="http://schemas.microsoft.com/office/drawing/2014/main" id="{D8EBF8EA-9882-69F5-2D91-108D57D82150}"/>
              </a:ext>
            </a:extLst>
          </p:cNvPr>
          <p:cNvSpPr>
            <a:spLocks noGrp="1"/>
          </p:cNvSpPr>
          <p:nvPr>
            <p:ph type="sldNum" sz="quarter" idx="12"/>
          </p:nvPr>
        </p:nvSpPr>
        <p:spPr/>
        <p:txBody>
          <a:bodyPr/>
          <a:lstStyle/>
          <a:p>
            <a:fld id="{5AC25633-CB68-4D6B-BEE8-144406895708}" type="slidenum">
              <a:rPr lang="zh-TW" altLang="en-US" smtClean="0"/>
              <a:t>40</a:t>
            </a:fld>
            <a:endParaRPr lang="zh-TW" altLang="en-US"/>
          </a:p>
        </p:txBody>
      </p:sp>
    </p:spTree>
    <p:extLst>
      <p:ext uri="{BB962C8B-B14F-4D97-AF65-F5344CB8AC3E}">
        <p14:creationId xmlns:p14="http://schemas.microsoft.com/office/powerpoint/2010/main" val="21201907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A3BDA6-B1CC-CC77-5E7B-0147B947BA7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C533922-4B8A-8A61-A8CD-D2842E706C36}"/>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BDE62C09-9F85-6CD6-251F-F4188154ED28}"/>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solidFill>
                  <a:schemeClr val="bg2">
                    <a:lumMod val="75000"/>
                  </a:schemeClr>
                </a:solidFill>
              </a:rPr>
              <a:t>Discussion</a:t>
            </a:r>
          </a:p>
          <a:p>
            <a:pPr>
              <a:buFont typeface="Wingdings" panose="05000000000000000000" pitchFamily="2" charset="2"/>
              <a:buChar char="Ø"/>
            </a:pPr>
            <a:r>
              <a:rPr lang="en-US" altLang="zh-TW" sz="3200" dirty="0"/>
              <a:t>Conclusion &amp; Future</a:t>
            </a:r>
          </a:p>
        </p:txBody>
      </p:sp>
      <p:sp>
        <p:nvSpPr>
          <p:cNvPr id="4" name="投影片編號版面配置區 3">
            <a:extLst>
              <a:ext uri="{FF2B5EF4-FFF2-40B4-BE49-F238E27FC236}">
                <a16:creationId xmlns:a16="http://schemas.microsoft.com/office/drawing/2014/main" id="{EB2977C1-7FDB-0A66-B228-A37220DCC20E}"/>
              </a:ext>
            </a:extLst>
          </p:cNvPr>
          <p:cNvSpPr>
            <a:spLocks noGrp="1"/>
          </p:cNvSpPr>
          <p:nvPr>
            <p:ph type="sldNum" sz="quarter" idx="12"/>
          </p:nvPr>
        </p:nvSpPr>
        <p:spPr/>
        <p:txBody>
          <a:bodyPr/>
          <a:lstStyle/>
          <a:p>
            <a:fld id="{5AC25633-CB68-4D6B-BEE8-144406895708}" type="slidenum">
              <a:rPr lang="zh-TW" altLang="en-US" smtClean="0"/>
              <a:t>41</a:t>
            </a:fld>
            <a:endParaRPr lang="zh-TW" altLang="en-US"/>
          </a:p>
        </p:txBody>
      </p:sp>
    </p:spTree>
    <p:extLst>
      <p:ext uri="{BB962C8B-B14F-4D97-AF65-F5344CB8AC3E}">
        <p14:creationId xmlns:p14="http://schemas.microsoft.com/office/powerpoint/2010/main" val="2811805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BE007B-82E8-216A-54C6-68DE3B14C1F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0DD5D9D-97D0-3DA8-CF49-1D1EA07D03BC}"/>
              </a:ext>
            </a:extLst>
          </p:cNvPr>
          <p:cNvSpPr>
            <a:spLocks noGrp="1"/>
          </p:cNvSpPr>
          <p:nvPr>
            <p:ph type="title"/>
          </p:nvPr>
        </p:nvSpPr>
        <p:spPr/>
        <p:txBody>
          <a:bodyPr/>
          <a:lstStyle/>
          <a:p>
            <a:r>
              <a:rPr lang="en-US" altLang="zh-TW" dirty="0"/>
              <a:t>Conclusion</a:t>
            </a:r>
          </a:p>
        </p:txBody>
      </p:sp>
      <p:sp>
        <p:nvSpPr>
          <p:cNvPr id="4" name="投影片編號版面配置區 3">
            <a:extLst>
              <a:ext uri="{FF2B5EF4-FFF2-40B4-BE49-F238E27FC236}">
                <a16:creationId xmlns:a16="http://schemas.microsoft.com/office/drawing/2014/main" id="{F2D7BDCD-7602-8F36-F084-DDAC0FCDF8CF}"/>
              </a:ext>
            </a:extLst>
          </p:cNvPr>
          <p:cNvSpPr>
            <a:spLocks noGrp="1"/>
          </p:cNvSpPr>
          <p:nvPr>
            <p:ph type="sldNum" sz="quarter" idx="12"/>
          </p:nvPr>
        </p:nvSpPr>
        <p:spPr/>
        <p:txBody>
          <a:bodyPr/>
          <a:lstStyle/>
          <a:p>
            <a:fld id="{5AC25633-CB68-4D6B-BEE8-144406895708}" type="slidenum">
              <a:rPr lang="zh-TW" altLang="en-US" smtClean="0"/>
              <a:t>42</a:t>
            </a:fld>
            <a:endParaRPr lang="zh-TW" altLang="en-US"/>
          </a:p>
        </p:txBody>
      </p:sp>
      <p:sp>
        <p:nvSpPr>
          <p:cNvPr id="59" name="內容版面配置區 2">
            <a:extLst>
              <a:ext uri="{FF2B5EF4-FFF2-40B4-BE49-F238E27FC236}">
                <a16:creationId xmlns:a16="http://schemas.microsoft.com/office/drawing/2014/main" id="{8FE8E4F5-8D23-DDC6-13C9-F88F2126CCCF}"/>
              </a:ext>
            </a:extLst>
          </p:cNvPr>
          <p:cNvSpPr>
            <a:spLocks noGrp="1"/>
          </p:cNvSpPr>
          <p:nvPr>
            <p:ph idx="1"/>
          </p:nvPr>
        </p:nvSpPr>
        <p:spPr>
          <a:xfrm>
            <a:off x="1097280" y="1845733"/>
            <a:ext cx="10058400" cy="4614052"/>
          </a:xfrm>
        </p:spPr>
        <p:txBody>
          <a:bodyPr>
            <a:normAutofit/>
          </a:bodyPr>
          <a:lstStyle/>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endParaRPr lang="en-US" altLang="zh-TW" dirty="0"/>
          </a:p>
        </p:txBody>
      </p:sp>
      <p:sp>
        <p:nvSpPr>
          <p:cNvPr id="5" name="內容版面配置區 2">
            <a:extLst>
              <a:ext uri="{FF2B5EF4-FFF2-40B4-BE49-F238E27FC236}">
                <a16:creationId xmlns:a16="http://schemas.microsoft.com/office/drawing/2014/main" id="{815C0E44-0C06-116A-157C-BEA497E0E4A3}"/>
              </a:ext>
            </a:extLst>
          </p:cNvPr>
          <p:cNvSpPr txBox="1">
            <a:spLocks/>
          </p:cNvSpPr>
          <p:nvPr/>
        </p:nvSpPr>
        <p:spPr>
          <a:xfrm>
            <a:off x="1097280" y="1845733"/>
            <a:ext cx="10409910" cy="461405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lumMod val="50000"/>
                </a:schemeClr>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600"/>
              </a:spcBef>
              <a:spcAft>
                <a:spcPts val="600"/>
              </a:spcAft>
              <a:buClr>
                <a:schemeClr val="accent1">
                  <a:lumMod val="50000"/>
                </a:schemeClr>
              </a:buClr>
              <a:buFont typeface="Wingdings" panose="05000000000000000000" pitchFamily="2" charset="2"/>
              <a:buChar char="l"/>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accent1">
                  <a:lumMod val="50000"/>
                </a:schemeClr>
              </a:buClr>
              <a:buFont typeface="Wingdings" panose="05000000000000000000" pitchFamily="2" charset="2"/>
              <a:buChar char="Ø"/>
            </a:pPr>
            <a:r>
              <a:rPr lang="en-US" altLang="zh-TW" dirty="0"/>
              <a:t>Proposed a Multi-Stage Operationally Constrained VRP model for real-world logistics</a:t>
            </a:r>
          </a:p>
          <a:p>
            <a:pPr>
              <a:buClr>
                <a:schemeClr val="accent1">
                  <a:lumMod val="50000"/>
                </a:schemeClr>
              </a:buClr>
              <a:buFont typeface="Wingdings" panose="05000000000000000000" pitchFamily="2" charset="2"/>
              <a:buChar char="Ø"/>
            </a:pPr>
            <a:r>
              <a:rPr lang="zh-TW" altLang="zh-TW" dirty="0"/>
              <a:t>Developed a hybrid solution framework using CCGA, HACO, and MAC</a:t>
            </a:r>
            <a:r>
              <a:rPr lang="en-US" altLang="zh-TW" dirty="0"/>
              <a:t>S</a:t>
            </a:r>
          </a:p>
          <a:p>
            <a:pPr>
              <a:buClr>
                <a:schemeClr val="accent1">
                  <a:lumMod val="50000"/>
                </a:schemeClr>
              </a:buClr>
              <a:buFont typeface="Wingdings" panose="05000000000000000000" pitchFamily="2" charset="2"/>
              <a:buChar char="Ø"/>
            </a:pPr>
            <a:r>
              <a:rPr lang="zh-TW" altLang="zh-TW" dirty="0"/>
              <a:t>Reduced support-route usage and improved delivery efficiency on real-world data</a:t>
            </a:r>
            <a:endParaRPr lang="en-US" altLang="zh-TW" dirty="0"/>
          </a:p>
        </p:txBody>
      </p:sp>
    </p:spTree>
    <p:extLst>
      <p:ext uri="{BB962C8B-B14F-4D97-AF65-F5344CB8AC3E}">
        <p14:creationId xmlns:p14="http://schemas.microsoft.com/office/powerpoint/2010/main" val="383841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C7964C-B3DF-5EEF-9FDE-D40A03CD3B0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698C9BD-D935-0D7C-AD9C-88D417C6F074}"/>
              </a:ext>
            </a:extLst>
          </p:cNvPr>
          <p:cNvSpPr>
            <a:spLocks noGrp="1"/>
          </p:cNvSpPr>
          <p:nvPr>
            <p:ph type="title"/>
          </p:nvPr>
        </p:nvSpPr>
        <p:spPr/>
        <p:txBody>
          <a:bodyPr/>
          <a:lstStyle/>
          <a:p>
            <a:r>
              <a:rPr lang="en-US" altLang="zh-TW" dirty="0"/>
              <a:t>Future</a:t>
            </a:r>
          </a:p>
        </p:txBody>
      </p:sp>
      <p:sp>
        <p:nvSpPr>
          <p:cNvPr id="4" name="投影片編號版面配置區 3">
            <a:extLst>
              <a:ext uri="{FF2B5EF4-FFF2-40B4-BE49-F238E27FC236}">
                <a16:creationId xmlns:a16="http://schemas.microsoft.com/office/drawing/2014/main" id="{EBA62698-DB82-4F1D-CEA7-3696B10769EA}"/>
              </a:ext>
            </a:extLst>
          </p:cNvPr>
          <p:cNvSpPr>
            <a:spLocks noGrp="1"/>
          </p:cNvSpPr>
          <p:nvPr>
            <p:ph type="sldNum" sz="quarter" idx="12"/>
          </p:nvPr>
        </p:nvSpPr>
        <p:spPr/>
        <p:txBody>
          <a:bodyPr/>
          <a:lstStyle/>
          <a:p>
            <a:fld id="{5AC25633-CB68-4D6B-BEE8-144406895708}" type="slidenum">
              <a:rPr lang="zh-TW" altLang="en-US" smtClean="0"/>
              <a:t>43</a:t>
            </a:fld>
            <a:endParaRPr lang="zh-TW" altLang="en-US"/>
          </a:p>
        </p:txBody>
      </p:sp>
      <p:sp>
        <p:nvSpPr>
          <p:cNvPr id="5" name="內容版面配置區 4">
            <a:extLst>
              <a:ext uri="{FF2B5EF4-FFF2-40B4-BE49-F238E27FC236}">
                <a16:creationId xmlns:a16="http://schemas.microsoft.com/office/drawing/2014/main" id="{31F7D6F9-4448-FEAE-78F3-544C06AF70F0}"/>
              </a:ext>
            </a:extLst>
          </p:cNvPr>
          <p:cNvSpPr>
            <a:spLocks noGrp="1"/>
          </p:cNvSpPr>
          <p:nvPr>
            <p:ph idx="1"/>
          </p:nvPr>
        </p:nvSpPr>
        <p:spPr/>
        <p:txBody>
          <a:bodyPr>
            <a:normAutofit/>
          </a:bodyPr>
          <a:lstStyle/>
          <a:p>
            <a:pPr>
              <a:lnSpc>
                <a:spcPct val="150000"/>
              </a:lnSpc>
              <a:buFont typeface="Arial" panose="020B0604020202020204" pitchFamily="34" charset="0"/>
              <a:buChar char="•"/>
            </a:pPr>
            <a:r>
              <a:rPr lang="zh-TW" altLang="zh-TW" dirty="0"/>
              <a:t>Problem-level Extensions</a:t>
            </a:r>
            <a:endParaRPr lang="en-US" altLang="zh-TW" dirty="0"/>
          </a:p>
          <a:p>
            <a:pPr lvl="1">
              <a:lnSpc>
                <a:spcPct val="150000"/>
              </a:lnSpc>
            </a:pPr>
            <a:r>
              <a:rPr lang="en-US" altLang="zh-TW" dirty="0"/>
              <a:t>Multi-type Heterogeneous Fleet Vehicle Routing Problem</a:t>
            </a:r>
          </a:p>
          <a:p>
            <a:pPr lvl="1">
              <a:lnSpc>
                <a:spcPct val="150000"/>
              </a:lnSpc>
            </a:pPr>
            <a:r>
              <a:rPr lang="en-US" altLang="zh-TW" dirty="0"/>
              <a:t>Green Vehicle Routing Problem</a:t>
            </a:r>
          </a:p>
          <a:p>
            <a:pPr lvl="1"/>
            <a:endParaRPr lang="en-US" altLang="zh-TW" dirty="0"/>
          </a:p>
          <a:p>
            <a:pPr>
              <a:lnSpc>
                <a:spcPct val="150000"/>
              </a:lnSpc>
              <a:buFont typeface="Arial" panose="020B0604020202020204" pitchFamily="34" charset="0"/>
              <a:buChar char="•"/>
            </a:pPr>
            <a:r>
              <a:rPr lang="zh-TW" altLang="zh-TW" dirty="0"/>
              <a:t>Advanced Methods</a:t>
            </a:r>
            <a:endParaRPr lang="en-US" altLang="zh-TW" dirty="0"/>
          </a:p>
          <a:p>
            <a:pPr lvl="1">
              <a:lnSpc>
                <a:spcPct val="150000"/>
              </a:lnSpc>
            </a:pPr>
            <a:r>
              <a:rPr lang="en-US" altLang="zh-TW" dirty="0"/>
              <a:t>Integrate advanced artificial intelligence m</a:t>
            </a:r>
            <a:r>
              <a:rPr lang="zh-TW" altLang="zh-TW" dirty="0"/>
              <a:t>ethodologies</a:t>
            </a:r>
            <a:endParaRPr lang="en-US" altLang="zh-TW" dirty="0"/>
          </a:p>
          <a:p>
            <a:pPr lvl="1">
              <a:lnSpc>
                <a:spcPct val="150000"/>
              </a:lnSpc>
            </a:pPr>
            <a:r>
              <a:rPr lang="en-US" altLang="zh-TW" dirty="0"/>
              <a:t>Apply deep learning and reinforcement learning to improve scalability and decision quality</a:t>
            </a:r>
          </a:p>
          <a:p>
            <a:pPr marL="201168" lvl="1" indent="0">
              <a:buNone/>
            </a:pPr>
            <a:endParaRPr lang="en-US" altLang="zh-TW" dirty="0"/>
          </a:p>
        </p:txBody>
      </p:sp>
    </p:spTree>
    <p:extLst>
      <p:ext uri="{BB962C8B-B14F-4D97-AF65-F5344CB8AC3E}">
        <p14:creationId xmlns:p14="http://schemas.microsoft.com/office/powerpoint/2010/main" val="5359755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328943-D35C-924C-9AB1-F9406D30C4A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C323A80-7D69-D9D9-1E96-5B96EAF70927}"/>
              </a:ext>
            </a:extLst>
          </p:cNvPr>
          <p:cNvSpPr>
            <a:spLocks noGrp="1"/>
          </p:cNvSpPr>
          <p:nvPr>
            <p:ph type="title"/>
          </p:nvPr>
        </p:nvSpPr>
        <p:spPr/>
        <p:txBody>
          <a:bodyPr/>
          <a:lstStyle/>
          <a:p>
            <a:r>
              <a:rPr lang="en-US" altLang="zh-TW" cap="none" dirty="0">
                <a:solidFill>
                  <a:schemeClr val="tx1"/>
                </a:solidFill>
                <a:latin typeface="Times New Roman" panose="02020603050405020304" pitchFamily="18" charset="0"/>
                <a:ea typeface="標楷體" panose="03000509000000000000" pitchFamily="65" charset="-120"/>
              </a:rPr>
              <a:t>Q &amp; A</a:t>
            </a:r>
            <a:endParaRPr lang="zh-TW" altLang="en-US" cap="none" dirty="0">
              <a:solidFill>
                <a:schemeClr val="tx1"/>
              </a:solidFill>
              <a:latin typeface="Times New Roman" panose="02020603050405020304" pitchFamily="18" charset="0"/>
              <a:ea typeface="標楷體" panose="03000509000000000000" pitchFamily="65" charset="-120"/>
            </a:endParaRPr>
          </a:p>
        </p:txBody>
      </p:sp>
      <p:sp>
        <p:nvSpPr>
          <p:cNvPr id="4" name="投影片編號版面配置區 3">
            <a:extLst>
              <a:ext uri="{FF2B5EF4-FFF2-40B4-BE49-F238E27FC236}">
                <a16:creationId xmlns:a16="http://schemas.microsoft.com/office/drawing/2014/main" id="{321D5E32-3A22-A75B-E78F-74666301BC0B}"/>
              </a:ext>
            </a:extLst>
          </p:cNvPr>
          <p:cNvSpPr>
            <a:spLocks noGrp="1"/>
          </p:cNvSpPr>
          <p:nvPr>
            <p:ph type="sldNum" sz="quarter" idx="12"/>
          </p:nvPr>
        </p:nvSpPr>
        <p:spPr/>
        <p:txBody>
          <a:bodyPr/>
          <a:lstStyle/>
          <a:p>
            <a:fld id="{525C0657-DFCE-4451-BE98-3FA3D33DFB54}" type="slidenum">
              <a:rPr lang="zh-TW" altLang="en-US" smtClean="0"/>
              <a:t>44</a:t>
            </a:fld>
            <a:endParaRPr lang="zh-TW" altLang="en-US"/>
          </a:p>
        </p:txBody>
      </p:sp>
      <p:sp>
        <p:nvSpPr>
          <p:cNvPr id="5" name="內容版面配置區 2">
            <a:extLst>
              <a:ext uri="{FF2B5EF4-FFF2-40B4-BE49-F238E27FC236}">
                <a16:creationId xmlns:a16="http://schemas.microsoft.com/office/drawing/2014/main" id="{D8038848-D7F8-A128-7D73-7A84B529A1A7}"/>
              </a:ext>
            </a:extLst>
          </p:cNvPr>
          <p:cNvSpPr>
            <a:spLocks noGrp="1"/>
          </p:cNvSpPr>
          <p:nvPr>
            <p:ph idx="1"/>
          </p:nvPr>
        </p:nvSpPr>
        <p:spPr>
          <a:xfrm>
            <a:off x="1235965" y="3064213"/>
            <a:ext cx="9720071" cy="729574"/>
          </a:xfrm>
        </p:spPr>
        <p:txBody>
          <a:bodyPr>
            <a:normAutofit/>
          </a:bodyPr>
          <a:lstStyle/>
          <a:p>
            <a:pPr marL="0" indent="0" algn="ctr">
              <a:buClrTx/>
              <a:buNone/>
            </a:pPr>
            <a:r>
              <a:rPr lang="en-US" altLang="zh-TW" sz="4400" dirty="0">
                <a:latin typeface="Times New Roman" panose="02020603050405020304" pitchFamily="18" charset="0"/>
                <a:ea typeface="標楷體" panose="03000509000000000000" pitchFamily="65" charset="-120"/>
              </a:rPr>
              <a:t>Thank you for listening</a:t>
            </a:r>
            <a:r>
              <a:rPr lang="zh-TW" altLang="en-US" sz="4400" dirty="0">
                <a:latin typeface="Times New Roman" panose="02020603050405020304" pitchFamily="18" charset="0"/>
                <a:ea typeface="標楷體" panose="03000509000000000000" pitchFamily="65" charset="-120"/>
              </a:rPr>
              <a:t>！</a:t>
            </a:r>
            <a:endParaRPr lang="en-US" altLang="zh-TW" sz="4400" dirty="0">
              <a:solidFill>
                <a:srgbClr val="0070C0"/>
              </a:solidFill>
              <a:latin typeface="Times New Roman" panose="02020603050405020304" pitchFamily="18" charset="0"/>
              <a:ea typeface="標楷體" panose="03000509000000000000" pitchFamily="65" charset="-120"/>
            </a:endParaRPr>
          </a:p>
          <a:p>
            <a:pPr>
              <a:buClrTx/>
              <a:buFont typeface="Arial" panose="020B0604020202020204" pitchFamily="34" charset="0"/>
              <a:buChar char="•"/>
            </a:pPr>
            <a:endParaRPr lang="en-US" altLang="zh-TW" sz="3200" dirty="0">
              <a:latin typeface="Times New Roman" panose="02020603050405020304" pitchFamily="18" charset="0"/>
              <a:ea typeface="標楷體" panose="03000509000000000000" pitchFamily="65" charset="-120"/>
            </a:endParaRPr>
          </a:p>
          <a:p>
            <a:endParaRPr lang="zh-TW" altLang="en-US"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2497367654"/>
      </p:ext>
    </p:extLst>
  </p:cSld>
  <p:clrMapOvr>
    <a:masterClrMapping/>
  </p:clrMapOvr>
</p:sld>
</file>

<file path=ppt/theme/theme1.xml><?xml version="1.0" encoding="utf-8"?>
<a:theme xmlns:a="http://schemas.openxmlformats.org/drawingml/2006/main" name="回顧">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自訂 1">
      <a:majorFont>
        <a:latin typeface="Times New Roman"/>
        <a:ea typeface="標楷體"/>
        <a:cs typeface=""/>
      </a:majorFont>
      <a:minorFont>
        <a:latin typeface="Times New Roman"/>
        <a:ea typeface="標楷體"/>
        <a:cs typeface=""/>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18598</TotalTime>
  <Words>4695</Words>
  <Application>Microsoft Office PowerPoint</Application>
  <PresentationFormat>寬螢幕</PresentationFormat>
  <Paragraphs>705</Paragraphs>
  <Slides>44</Slides>
  <Notes>44</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44</vt:i4>
      </vt:variant>
    </vt:vector>
  </HeadingPairs>
  <TitlesOfParts>
    <vt:vector size="52" baseType="lpstr">
      <vt:lpstr>DFKai-SB</vt:lpstr>
      <vt:lpstr>Aptos</vt:lpstr>
      <vt:lpstr>Arial</vt:lpstr>
      <vt:lpstr>Calibri</vt:lpstr>
      <vt:lpstr>Cambria Math</vt:lpstr>
      <vt:lpstr>Times New Roman</vt:lpstr>
      <vt:lpstr>Wingdings</vt:lpstr>
      <vt:lpstr>回顧</vt:lpstr>
      <vt:lpstr>Multi-Stage Optimization for Supporting Lines in Logistics Companies</vt:lpstr>
      <vt:lpstr>Outline</vt:lpstr>
      <vt:lpstr>Outline</vt:lpstr>
      <vt:lpstr>Motivation</vt:lpstr>
      <vt:lpstr>Outline</vt:lpstr>
      <vt:lpstr>The proposed approach</vt:lpstr>
      <vt:lpstr>The proposed approach</vt:lpstr>
      <vt:lpstr>The proposed approach</vt:lpstr>
      <vt:lpstr>Original Route Data</vt:lpstr>
      <vt:lpstr>The proposed approach</vt:lpstr>
      <vt:lpstr>API Module</vt:lpstr>
      <vt:lpstr>The proposed approach</vt:lpstr>
      <vt:lpstr>Data Preprocessing</vt:lpstr>
      <vt:lpstr>The proposed approach</vt:lpstr>
      <vt:lpstr>Routing Module</vt:lpstr>
      <vt:lpstr>VRP</vt:lpstr>
      <vt:lpstr>VRP</vt:lpstr>
      <vt:lpstr>Constraints</vt:lpstr>
      <vt:lpstr>Objective Function</vt:lpstr>
      <vt:lpstr>Store Extraction</vt:lpstr>
      <vt:lpstr>Store Assignment</vt:lpstr>
      <vt:lpstr>Support Route Planning</vt:lpstr>
      <vt:lpstr>The proposed approach</vt:lpstr>
      <vt:lpstr>Evaluation Module</vt:lpstr>
      <vt:lpstr>Evaluate Module</vt:lpstr>
      <vt:lpstr>The proposed approach</vt:lpstr>
      <vt:lpstr>Optimized Route Data</vt:lpstr>
      <vt:lpstr>Outline</vt:lpstr>
      <vt:lpstr>Experiment</vt:lpstr>
      <vt:lpstr>Experiment Setting</vt:lpstr>
      <vt:lpstr>Experiment Result</vt:lpstr>
      <vt:lpstr>Experiment Result</vt:lpstr>
      <vt:lpstr>Experiment Result</vt:lpstr>
      <vt:lpstr>Experiment Result</vt:lpstr>
      <vt:lpstr>Ablation Study</vt:lpstr>
      <vt:lpstr>Ablation Study</vt:lpstr>
      <vt:lpstr>Baseline - HGA-SIH</vt:lpstr>
      <vt:lpstr>Comparison</vt:lpstr>
      <vt:lpstr>Outline</vt:lpstr>
      <vt:lpstr>Discussion</vt:lpstr>
      <vt:lpstr>Outline</vt:lpstr>
      <vt:lpstr>Conclusion</vt:lpstr>
      <vt:lpstr>Future</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少嘉 范</dc:creator>
  <cp:lastModifiedBy>楊宏傑</cp:lastModifiedBy>
  <cp:revision>731</cp:revision>
  <dcterms:created xsi:type="dcterms:W3CDTF">2025-02-12T06:34:32Z</dcterms:created>
  <dcterms:modified xsi:type="dcterms:W3CDTF">2026-06-10T05:52:58Z</dcterms:modified>
</cp:coreProperties>
</file>