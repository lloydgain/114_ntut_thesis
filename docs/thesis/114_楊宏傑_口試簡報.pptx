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heme/themeOverride1.xml" ContentType="application/vnd.openxmlformats-officedocument.themeOverr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6.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42.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52"/>
  </p:notesMasterIdLst>
  <p:sldIdLst>
    <p:sldId id="260" r:id="rId2"/>
    <p:sldId id="272" r:id="rId3"/>
    <p:sldId id="319" r:id="rId4"/>
    <p:sldId id="264" r:id="rId5"/>
    <p:sldId id="320" r:id="rId6"/>
    <p:sldId id="323" r:id="rId7"/>
    <p:sldId id="322" r:id="rId8"/>
    <p:sldId id="378" r:id="rId9"/>
    <p:sldId id="385" r:id="rId10"/>
    <p:sldId id="433" r:id="rId11"/>
    <p:sldId id="380" r:id="rId12"/>
    <p:sldId id="396" r:id="rId13"/>
    <p:sldId id="379" r:id="rId14"/>
    <p:sldId id="386" r:id="rId15"/>
    <p:sldId id="381" r:id="rId16"/>
    <p:sldId id="387" r:id="rId17"/>
    <p:sldId id="410" r:id="rId18"/>
    <p:sldId id="401" r:id="rId19"/>
    <p:sldId id="439" r:id="rId20"/>
    <p:sldId id="438" r:id="rId21"/>
    <p:sldId id="408" r:id="rId22"/>
    <p:sldId id="426" r:id="rId23"/>
    <p:sldId id="389" r:id="rId24"/>
    <p:sldId id="399" r:id="rId25"/>
    <p:sldId id="383" r:id="rId26"/>
    <p:sldId id="400" r:id="rId27"/>
    <p:sldId id="402" r:id="rId28"/>
    <p:sldId id="382" r:id="rId29"/>
    <p:sldId id="397" r:id="rId30"/>
    <p:sldId id="390" r:id="rId31"/>
    <p:sldId id="398" r:id="rId32"/>
    <p:sldId id="431" r:id="rId33"/>
    <p:sldId id="406" r:id="rId34"/>
    <p:sldId id="407" r:id="rId35"/>
    <p:sldId id="412" r:id="rId36"/>
    <p:sldId id="414" r:id="rId37"/>
    <p:sldId id="422" r:id="rId38"/>
    <p:sldId id="429" r:id="rId39"/>
    <p:sldId id="440" r:id="rId40"/>
    <p:sldId id="421" r:id="rId41"/>
    <p:sldId id="435" r:id="rId42"/>
    <p:sldId id="436" r:id="rId43"/>
    <p:sldId id="437" r:id="rId44"/>
    <p:sldId id="391" r:id="rId45"/>
    <p:sldId id="432" r:id="rId46"/>
    <p:sldId id="395" r:id="rId47"/>
    <p:sldId id="392" r:id="rId48"/>
    <p:sldId id="393" r:id="rId49"/>
    <p:sldId id="394" r:id="rId50"/>
    <p:sldId id="434" r:id="rId51"/>
  </p:sldIdLst>
  <p:sldSz cx="12192000" cy="6858000"/>
  <p:notesSz cx="9928225" cy="67976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78113" autoAdjust="0"/>
  </p:normalViewPr>
  <p:slideViewPr>
    <p:cSldViewPr snapToGrid="0">
      <p:cViewPr varScale="1">
        <p:scale>
          <a:sx n="80" d="100"/>
          <a:sy n="80" d="100"/>
        </p:scale>
        <p:origin x="1734" y="8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114" d="100"/>
          <a:sy n="114" d="100"/>
        </p:scale>
        <p:origin x="5178" y="12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宏傑 楊" userId="ee57404c450d34c3" providerId="LiveId" clId="{C566A467-C6D7-4AF8-8C72-E0B89F2E9DDD}"/>
    <pc:docChg chg="addSld">
      <pc:chgData name="宏傑 楊" userId="ee57404c450d34c3" providerId="LiveId" clId="{C566A467-C6D7-4AF8-8C72-E0B89F2E9DDD}" dt="2026-06-29T08:51:05.568" v="0" actId="2890"/>
      <pc:docMkLst>
        <pc:docMk/>
      </pc:docMkLst>
      <pc:sldChg chg="add">
        <pc:chgData name="宏傑 楊" userId="ee57404c450d34c3" providerId="LiveId" clId="{C566A467-C6D7-4AF8-8C72-E0B89F2E9DDD}" dt="2026-06-29T08:51:05.568" v="0" actId="2890"/>
        <pc:sldMkLst>
          <pc:docMk/>
          <pc:sldMk cId="4166248753" sldId="440"/>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jeff0\OneDrive\&#26700;&#38754;\115_NTUT_Thesis\100\&#36335;&#32218;&#26368;&#20339;&#21270;&#27604;&#36611;&#32080;&#26524;.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jeff0\OneDrive\&#26700;&#38754;\115_NTUT_Thesis\docs\Baseline&#27604;&#36611;&#32080;&#26524;.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Number of Vehicles</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核心指標比較!$B$2:$B$27</c:f>
              <c:numCache>
                <c:formatCode>General</c:formatCode>
                <c:ptCount val="26"/>
                <c:pt idx="0">
                  <c:v>102</c:v>
                </c:pt>
                <c:pt idx="1">
                  <c:v>90</c:v>
                </c:pt>
                <c:pt idx="2">
                  <c:v>89</c:v>
                </c:pt>
                <c:pt idx="3">
                  <c:v>83</c:v>
                </c:pt>
                <c:pt idx="4">
                  <c:v>89</c:v>
                </c:pt>
                <c:pt idx="5">
                  <c:v>94</c:v>
                </c:pt>
                <c:pt idx="6">
                  <c:v>91</c:v>
                </c:pt>
                <c:pt idx="7">
                  <c:v>108</c:v>
                </c:pt>
                <c:pt idx="8">
                  <c:v>85</c:v>
                </c:pt>
                <c:pt idx="9">
                  <c:v>81</c:v>
                </c:pt>
                <c:pt idx="10">
                  <c:v>83</c:v>
                </c:pt>
                <c:pt idx="11">
                  <c:v>83</c:v>
                </c:pt>
                <c:pt idx="12">
                  <c:v>82</c:v>
                </c:pt>
                <c:pt idx="13">
                  <c:v>100</c:v>
                </c:pt>
                <c:pt idx="14">
                  <c:v>90</c:v>
                </c:pt>
                <c:pt idx="15">
                  <c:v>84</c:v>
                </c:pt>
                <c:pt idx="16">
                  <c:v>129</c:v>
                </c:pt>
                <c:pt idx="17">
                  <c:v>134</c:v>
                </c:pt>
                <c:pt idx="18">
                  <c:v>105</c:v>
                </c:pt>
                <c:pt idx="19">
                  <c:v>111</c:v>
                </c:pt>
                <c:pt idx="20">
                  <c:v>110</c:v>
                </c:pt>
                <c:pt idx="21">
                  <c:v>120</c:v>
                </c:pt>
                <c:pt idx="22">
                  <c:v>91</c:v>
                </c:pt>
                <c:pt idx="23">
                  <c:v>136</c:v>
                </c:pt>
                <c:pt idx="24">
                  <c:v>159</c:v>
                </c:pt>
                <c:pt idx="25">
                  <c:v>94</c:v>
                </c:pt>
              </c:numCache>
            </c:numRef>
          </c:val>
          <c:smooth val="0"/>
          <c:extLst>
            <c:ext xmlns:c16="http://schemas.microsoft.com/office/drawing/2014/chart" uri="{C3380CC4-5D6E-409C-BE32-E72D297353CC}">
              <c16:uniqueId val="{00000000-9663-4955-8F64-ADE502E9B99B}"/>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核心指標比較!$C$2:$C$27</c:f>
              <c:numCache>
                <c:formatCode>General</c:formatCode>
                <c:ptCount val="26"/>
                <c:pt idx="0">
                  <c:v>93.6</c:v>
                </c:pt>
                <c:pt idx="1">
                  <c:v>83.2</c:v>
                </c:pt>
                <c:pt idx="2">
                  <c:v>86</c:v>
                </c:pt>
                <c:pt idx="3">
                  <c:v>82</c:v>
                </c:pt>
                <c:pt idx="4">
                  <c:v>84.4</c:v>
                </c:pt>
                <c:pt idx="5">
                  <c:v>85</c:v>
                </c:pt>
                <c:pt idx="6">
                  <c:v>83.6</c:v>
                </c:pt>
                <c:pt idx="7">
                  <c:v>99</c:v>
                </c:pt>
                <c:pt idx="8">
                  <c:v>82.8</c:v>
                </c:pt>
                <c:pt idx="9">
                  <c:v>81</c:v>
                </c:pt>
                <c:pt idx="10">
                  <c:v>81</c:v>
                </c:pt>
                <c:pt idx="11">
                  <c:v>81</c:v>
                </c:pt>
                <c:pt idx="12">
                  <c:v>81</c:v>
                </c:pt>
                <c:pt idx="13">
                  <c:v>93.2</c:v>
                </c:pt>
                <c:pt idx="14">
                  <c:v>85.4</c:v>
                </c:pt>
                <c:pt idx="15">
                  <c:v>81.2</c:v>
                </c:pt>
                <c:pt idx="16">
                  <c:v>122</c:v>
                </c:pt>
                <c:pt idx="17">
                  <c:v>123</c:v>
                </c:pt>
                <c:pt idx="18">
                  <c:v>101.2</c:v>
                </c:pt>
                <c:pt idx="19">
                  <c:v>103.6</c:v>
                </c:pt>
                <c:pt idx="20">
                  <c:v>103.6</c:v>
                </c:pt>
                <c:pt idx="21">
                  <c:v>98.4</c:v>
                </c:pt>
                <c:pt idx="22">
                  <c:v>83.4</c:v>
                </c:pt>
                <c:pt idx="23">
                  <c:v>99.8</c:v>
                </c:pt>
                <c:pt idx="24">
                  <c:v>128.19999999999999</c:v>
                </c:pt>
                <c:pt idx="25">
                  <c:v>88.8</c:v>
                </c:pt>
              </c:numCache>
            </c:numRef>
          </c:val>
          <c:smooth val="0"/>
          <c:extLst>
            <c:ext xmlns:c16="http://schemas.microsoft.com/office/drawing/2014/chart" uri="{C3380CC4-5D6E-409C-BE32-E72D297353CC}">
              <c16:uniqueId val="{00000001-9663-4955-8F64-ADE502E9B99B}"/>
            </c:ext>
          </c:extLst>
        </c:ser>
        <c:dLbls>
          <c:showLegendKey val="0"/>
          <c:showVal val="0"/>
          <c:showCatName val="0"/>
          <c:showSerName val="0"/>
          <c:showPercent val="0"/>
          <c:showBubbleSize val="0"/>
        </c:dLbls>
        <c:marker val="1"/>
        <c:smooth val="0"/>
        <c:axId val="998890640"/>
        <c:axId val="998891120"/>
      </c:lineChart>
      <c:catAx>
        <c:axId val="9988906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1120"/>
        <c:crosses val="autoZero"/>
        <c:auto val="1"/>
        <c:lblAlgn val="ctr"/>
        <c:lblOffset val="100"/>
        <c:noMultiLvlLbl val="0"/>
      </c:catAx>
      <c:valAx>
        <c:axId val="998891120"/>
        <c:scaling>
          <c:orientation val="minMax"/>
          <c:min val="6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0640"/>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Number of</a:t>
            </a:r>
            <a:r>
              <a:rPr lang="en-US" altLang="zh-TW" baseline="0"/>
              <a:t> Support Vehicles</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核心指標比較!$E$2:$E$27</c:f>
              <c:numCache>
                <c:formatCode>General</c:formatCode>
                <c:ptCount val="26"/>
                <c:pt idx="0">
                  <c:v>21</c:v>
                </c:pt>
                <c:pt idx="1">
                  <c:v>10</c:v>
                </c:pt>
                <c:pt idx="2">
                  <c:v>9</c:v>
                </c:pt>
                <c:pt idx="3">
                  <c:v>3</c:v>
                </c:pt>
                <c:pt idx="4">
                  <c:v>9</c:v>
                </c:pt>
                <c:pt idx="5">
                  <c:v>14</c:v>
                </c:pt>
                <c:pt idx="6">
                  <c:v>12</c:v>
                </c:pt>
                <c:pt idx="7">
                  <c:v>27</c:v>
                </c:pt>
                <c:pt idx="8">
                  <c:v>4</c:v>
                </c:pt>
                <c:pt idx="9">
                  <c:v>0</c:v>
                </c:pt>
                <c:pt idx="10">
                  <c:v>3</c:v>
                </c:pt>
                <c:pt idx="11">
                  <c:v>3</c:v>
                </c:pt>
                <c:pt idx="12">
                  <c:v>2</c:v>
                </c:pt>
                <c:pt idx="13">
                  <c:v>19</c:v>
                </c:pt>
                <c:pt idx="14">
                  <c:v>9</c:v>
                </c:pt>
                <c:pt idx="15">
                  <c:v>4</c:v>
                </c:pt>
                <c:pt idx="16">
                  <c:v>48</c:v>
                </c:pt>
                <c:pt idx="17">
                  <c:v>53</c:v>
                </c:pt>
                <c:pt idx="18">
                  <c:v>24</c:v>
                </c:pt>
                <c:pt idx="19">
                  <c:v>30</c:v>
                </c:pt>
                <c:pt idx="20">
                  <c:v>30</c:v>
                </c:pt>
                <c:pt idx="21">
                  <c:v>39</c:v>
                </c:pt>
                <c:pt idx="22">
                  <c:v>10</c:v>
                </c:pt>
                <c:pt idx="23">
                  <c:v>50</c:v>
                </c:pt>
                <c:pt idx="24">
                  <c:v>73</c:v>
                </c:pt>
                <c:pt idx="25">
                  <c:v>8</c:v>
                </c:pt>
              </c:numCache>
            </c:numRef>
          </c:val>
          <c:smooth val="0"/>
          <c:extLst>
            <c:ext xmlns:c16="http://schemas.microsoft.com/office/drawing/2014/chart" uri="{C3380CC4-5D6E-409C-BE32-E72D297353CC}">
              <c16:uniqueId val="{00000000-1A7E-4DD7-9B9F-00876EAF4406}"/>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核心指標比較!$F$2:$F$27</c:f>
              <c:numCache>
                <c:formatCode>General</c:formatCode>
                <c:ptCount val="26"/>
                <c:pt idx="0">
                  <c:v>12.6</c:v>
                </c:pt>
                <c:pt idx="1">
                  <c:v>2.2000000000000002</c:v>
                </c:pt>
                <c:pt idx="2">
                  <c:v>5</c:v>
                </c:pt>
                <c:pt idx="3">
                  <c:v>1</c:v>
                </c:pt>
                <c:pt idx="4">
                  <c:v>3.4</c:v>
                </c:pt>
                <c:pt idx="5">
                  <c:v>4</c:v>
                </c:pt>
                <c:pt idx="6">
                  <c:v>2.6</c:v>
                </c:pt>
                <c:pt idx="7">
                  <c:v>18</c:v>
                </c:pt>
                <c:pt idx="8">
                  <c:v>1.8</c:v>
                </c:pt>
                <c:pt idx="9">
                  <c:v>0</c:v>
                </c:pt>
                <c:pt idx="10">
                  <c:v>0</c:v>
                </c:pt>
                <c:pt idx="11">
                  <c:v>0</c:v>
                </c:pt>
                <c:pt idx="12">
                  <c:v>0</c:v>
                </c:pt>
                <c:pt idx="13">
                  <c:v>12.2</c:v>
                </c:pt>
                <c:pt idx="14">
                  <c:v>4.4000000000000004</c:v>
                </c:pt>
                <c:pt idx="15">
                  <c:v>0.2</c:v>
                </c:pt>
                <c:pt idx="16">
                  <c:v>41</c:v>
                </c:pt>
                <c:pt idx="17">
                  <c:v>42</c:v>
                </c:pt>
                <c:pt idx="18">
                  <c:v>20.2</c:v>
                </c:pt>
                <c:pt idx="19">
                  <c:v>22.6</c:v>
                </c:pt>
                <c:pt idx="20">
                  <c:v>22.6</c:v>
                </c:pt>
                <c:pt idx="21">
                  <c:v>17.399999999999999</c:v>
                </c:pt>
                <c:pt idx="22">
                  <c:v>2.4</c:v>
                </c:pt>
                <c:pt idx="23">
                  <c:v>11.8</c:v>
                </c:pt>
                <c:pt idx="24">
                  <c:v>40.200000000000003</c:v>
                </c:pt>
                <c:pt idx="25">
                  <c:v>0.8</c:v>
                </c:pt>
              </c:numCache>
            </c:numRef>
          </c:val>
          <c:smooth val="0"/>
          <c:extLst>
            <c:ext xmlns:c16="http://schemas.microsoft.com/office/drawing/2014/chart" uri="{C3380CC4-5D6E-409C-BE32-E72D297353CC}">
              <c16:uniqueId val="{00000001-1A7E-4DD7-9B9F-00876EAF4406}"/>
            </c:ext>
          </c:extLst>
        </c:ser>
        <c:dLbls>
          <c:showLegendKey val="0"/>
          <c:showVal val="0"/>
          <c:showCatName val="0"/>
          <c:showSerName val="0"/>
          <c:showPercent val="0"/>
          <c:showBubbleSize val="0"/>
        </c:dLbls>
        <c:marker val="1"/>
        <c:smooth val="0"/>
        <c:axId val="2047267615"/>
        <c:axId val="2047268575"/>
      </c:lineChart>
      <c:catAx>
        <c:axId val="20472676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2047268575"/>
        <c:crosses val="autoZero"/>
        <c:auto val="1"/>
        <c:lblAlgn val="ctr"/>
        <c:lblOffset val="100"/>
        <c:noMultiLvlLbl val="0"/>
      </c:catAx>
      <c:valAx>
        <c:axId val="20472685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20472676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Total Distance (km)</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核心指標比較!$H$2:$H$27</c:f>
              <c:numCache>
                <c:formatCode>General</c:formatCode>
                <c:ptCount val="26"/>
                <c:pt idx="0">
                  <c:v>4623.34</c:v>
                </c:pt>
                <c:pt idx="1">
                  <c:v>4069.95</c:v>
                </c:pt>
                <c:pt idx="2">
                  <c:v>4134.37</c:v>
                </c:pt>
                <c:pt idx="3">
                  <c:v>3826.14</c:v>
                </c:pt>
                <c:pt idx="4">
                  <c:v>4042.17</c:v>
                </c:pt>
                <c:pt idx="5">
                  <c:v>4264.0600000000004</c:v>
                </c:pt>
                <c:pt idx="6">
                  <c:v>4169.74</c:v>
                </c:pt>
                <c:pt idx="7">
                  <c:v>4835.7</c:v>
                </c:pt>
                <c:pt idx="8">
                  <c:v>3915.92</c:v>
                </c:pt>
                <c:pt idx="9">
                  <c:v>3807.76</c:v>
                </c:pt>
                <c:pt idx="10">
                  <c:v>3859.83</c:v>
                </c:pt>
                <c:pt idx="11">
                  <c:v>3855.24</c:v>
                </c:pt>
                <c:pt idx="12">
                  <c:v>3812.78</c:v>
                </c:pt>
                <c:pt idx="13">
                  <c:v>4542.96</c:v>
                </c:pt>
                <c:pt idx="14">
                  <c:v>4172.2299999999996</c:v>
                </c:pt>
                <c:pt idx="15">
                  <c:v>3882.31</c:v>
                </c:pt>
                <c:pt idx="16">
                  <c:v>5567.91</c:v>
                </c:pt>
                <c:pt idx="17">
                  <c:v>5726.8</c:v>
                </c:pt>
                <c:pt idx="18">
                  <c:v>4701.75</c:v>
                </c:pt>
                <c:pt idx="19">
                  <c:v>4946.66</c:v>
                </c:pt>
                <c:pt idx="20">
                  <c:v>4883.74</c:v>
                </c:pt>
                <c:pt idx="21">
                  <c:v>5373.11</c:v>
                </c:pt>
                <c:pt idx="22">
                  <c:v>4168</c:v>
                </c:pt>
                <c:pt idx="23">
                  <c:v>5553.82</c:v>
                </c:pt>
                <c:pt idx="24">
                  <c:v>6891.41</c:v>
                </c:pt>
                <c:pt idx="25">
                  <c:v>4191.59</c:v>
                </c:pt>
              </c:numCache>
            </c:numRef>
          </c:val>
          <c:smooth val="0"/>
          <c:extLst>
            <c:ext xmlns:c16="http://schemas.microsoft.com/office/drawing/2014/chart" uri="{C3380CC4-5D6E-409C-BE32-E72D297353CC}">
              <c16:uniqueId val="{00000000-834F-4FB8-97BB-782E192AFF84}"/>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核心指標比較!$I$2:$I$27</c:f>
              <c:numCache>
                <c:formatCode>General</c:formatCode>
                <c:ptCount val="26"/>
                <c:pt idx="0">
                  <c:v>4517.2700000000004</c:v>
                </c:pt>
                <c:pt idx="1">
                  <c:v>3954.13</c:v>
                </c:pt>
                <c:pt idx="2">
                  <c:v>4094.73</c:v>
                </c:pt>
                <c:pt idx="3">
                  <c:v>3802.25</c:v>
                </c:pt>
                <c:pt idx="4">
                  <c:v>3951.56</c:v>
                </c:pt>
                <c:pt idx="5">
                  <c:v>4102.1099999999997</c:v>
                </c:pt>
                <c:pt idx="6">
                  <c:v>3992.15</c:v>
                </c:pt>
                <c:pt idx="7">
                  <c:v>4683.42</c:v>
                </c:pt>
                <c:pt idx="8">
                  <c:v>3918.2</c:v>
                </c:pt>
                <c:pt idx="9">
                  <c:v>3796.46</c:v>
                </c:pt>
                <c:pt idx="10">
                  <c:v>3803.06</c:v>
                </c:pt>
                <c:pt idx="11">
                  <c:v>3792.05</c:v>
                </c:pt>
                <c:pt idx="12">
                  <c:v>3806.05</c:v>
                </c:pt>
                <c:pt idx="13">
                  <c:v>4416.13</c:v>
                </c:pt>
                <c:pt idx="14">
                  <c:v>4101.51</c:v>
                </c:pt>
                <c:pt idx="15">
                  <c:v>3819.98</c:v>
                </c:pt>
                <c:pt idx="16">
                  <c:v>5596.55</c:v>
                </c:pt>
                <c:pt idx="17">
                  <c:v>5654.47</c:v>
                </c:pt>
                <c:pt idx="18">
                  <c:v>4766.66</c:v>
                </c:pt>
                <c:pt idx="19">
                  <c:v>4918.38</c:v>
                </c:pt>
                <c:pt idx="20">
                  <c:v>4968.2</c:v>
                </c:pt>
                <c:pt idx="21">
                  <c:v>4714.5600000000004</c:v>
                </c:pt>
                <c:pt idx="22">
                  <c:v>3918.45</c:v>
                </c:pt>
                <c:pt idx="23">
                  <c:v>4628.5600000000004</c:v>
                </c:pt>
                <c:pt idx="24">
                  <c:v>6020.64</c:v>
                </c:pt>
                <c:pt idx="25">
                  <c:v>4046.22</c:v>
                </c:pt>
              </c:numCache>
            </c:numRef>
          </c:val>
          <c:smooth val="0"/>
          <c:extLst>
            <c:ext xmlns:c16="http://schemas.microsoft.com/office/drawing/2014/chart" uri="{C3380CC4-5D6E-409C-BE32-E72D297353CC}">
              <c16:uniqueId val="{00000001-834F-4FB8-97BB-782E192AFF84}"/>
            </c:ext>
          </c:extLst>
        </c:ser>
        <c:dLbls>
          <c:showLegendKey val="0"/>
          <c:showVal val="0"/>
          <c:showCatName val="0"/>
          <c:showSerName val="0"/>
          <c:showPercent val="0"/>
          <c:showBubbleSize val="0"/>
        </c:dLbls>
        <c:marker val="1"/>
        <c:smooth val="0"/>
        <c:axId val="998895920"/>
        <c:axId val="998893040"/>
      </c:lineChart>
      <c:catAx>
        <c:axId val="998895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3040"/>
        <c:crosses val="autoZero"/>
        <c:auto val="1"/>
        <c:lblAlgn val="ctr"/>
        <c:lblOffset val="100"/>
        <c:noMultiLvlLbl val="0"/>
      </c:catAx>
      <c:valAx>
        <c:axId val="998893040"/>
        <c:scaling>
          <c:orientation val="minMax"/>
          <c:min val="3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988959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Average Load Rate</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核心指標比較!$K$2:$K$27</c:f>
              <c:numCache>
                <c:formatCode>General</c:formatCode>
                <c:ptCount val="26"/>
                <c:pt idx="0">
                  <c:v>0.85</c:v>
                </c:pt>
                <c:pt idx="1">
                  <c:v>0.84</c:v>
                </c:pt>
                <c:pt idx="2">
                  <c:v>0.87</c:v>
                </c:pt>
                <c:pt idx="3">
                  <c:v>0.79</c:v>
                </c:pt>
                <c:pt idx="4">
                  <c:v>0.83</c:v>
                </c:pt>
                <c:pt idx="5">
                  <c:v>0.85</c:v>
                </c:pt>
                <c:pt idx="6">
                  <c:v>0.86</c:v>
                </c:pt>
                <c:pt idx="7">
                  <c:v>0.85</c:v>
                </c:pt>
                <c:pt idx="8">
                  <c:v>0.84</c:v>
                </c:pt>
                <c:pt idx="9">
                  <c:v>0.8</c:v>
                </c:pt>
                <c:pt idx="10">
                  <c:v>0.8</c:v>
                </c:pt>
                <c:pt idx="11">
                  <c:v>0.84</c:v>
                </c:pt>
                <c:pt idx="12">
                  <c:v>0.84</c:v>
                </c:pt>
                <c:pt idx="13">
                  <c:v>0.87</c:v>
                </c:pt>
                <c:pt idx="14">
                  <c:v>0.86</c:v>
                </c:pt>
                <c:pt idx="15">
                  <c:v>0.84</c:v>
                </c:pt>
                <c:pt idx="16">
                  <c:v>0.87</c:v>
                </c:pt>
                <c:pt idx="17">
                  <c:v>0.85</c:v>
                </c:pt>
                <c:pt idx="18">
                  <c:v>0.9</c:v>
                </c:pt>
                <c:pt idx="19">
                  <c:v>0.87</c:v>
                </c:pt>
                <c:pt idx="20">
                  <c:v>0.87</c:v>
                </c:pt>
                <c:pt idx="21">
                  <c:v>0.77</c:v>
                </c:pt>
                <c:pt idx="22">
                  <c:v>0.81</c:v>
                </c:pt>
                <c:pt idx="23">
                  <c:v>0.68</c:v>
                </c:pt>
                <c:pt idx="24">
                  <c:v>0.75</c:v>
                </c:pt>
                <c:pt idx="25">
                  <c:v>0.79</c:v>
                </c:pt>
              </c:numCache>
            </c:numRef>
          </c:val>
          <c:smooth val="0"/>
          <c:extLst>
            <c:ext xmlns:c16="http://schemas.microsoft.com/office/drawing/2014/chart" uri="{C3380CC4-5D6E-409C-BE32-E72D297353CC}">
              <c16:uniqueId val="{00000000-C014-4DF8-AE16-AC53D29D5181}"/>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核心指標比較!$L$2:$L$27</c:f>
              <c:numCache>
                <c:formatCode>General</c:formatCode>
                <c:ptCount val="26"/>
                <c:pt idx="0">
                  <c:v>0.92</c:v>
                </c:pt>
                <c:pt idx="1">
                  <c:v>0.9</c:v>
                </c:pt>
                <c:pt idx="2">
                  <c:v>0.9</c:v>
                </c:pt>
                <c:pt idx="3">
                  <c:v>0.8</c:v>
                </c:pt>
                <c:pt idx="4">
                  <c:v>0.88</c:v>
                </c:pt>
                <c:pt idx="5">
                  <c:v>0.93</c:v>
                </c:pt>
                <c:pt idx="6">
                  <c:v>0.92</c:v>
                </c:pt>
                <c:pt idx="7">
                  <c:v>0.93</c:v>
                </c:pt>
                <c:pt idx="8">
                  <c:v>0.86</c:v>
                </c:pt>
                <c:pt idx="9">
                  <c:v>0.8</c:v>
                </c:pt>
                <c:pt idx="10">
                  <c:v>0.82</c:v>
                </c:pt>
                <c:pt idx="11">
                  <c:v>0.86</c:v>
                </c:pt>
                <c:pt idx="12">
                  <c:v>0.85</c:v>
                </c:pt>
                <c:pt idx="13">
                  <c:v>0.93</c:v>
                </c:pt>
                <c:pt idx="14">
                  <c:v>0.91</c:v>
                </c:pt>
                <c:pt idx="15">
                  <c:v>0.87</c:v>
                </c:pt>
                <c:pt idx="16">
                  <c:v>0.92</c:v>
                </c:pt>
                <c:pt idx="17">
                  <c:v>0.93</c:v>
                </c:pt>
                <c:pt idx="18">
                  <c:v>0.93</c:v>
                </c:pt>
                <c:pt idx="19">
                  <c:v>0.93</c:v>
                </c:pt>
                <c:pt idx="20">
                  <c:v>0.92</c:v>
                </c:pt>
                <c:pt idx="21">
                  <c:v>0.94</c:v>
                </c:pt>
                <c:pt idx="22">
                  <c:v>0.88</c:v>
                </c:pt>
                <c:pt idx="23">
                  <c:v>0.92</c:v>
                </c:pt>
                <c:pt idx="24">
                  <c:v>0.92</c:v>
                </c:pt>
                <c:pt idx="25">
                  <c:v>0.84</c:v>
                </c:pt>
              </c:numCache>
            </c:numRef>
          </c:val>
          <c:smooth val="0"/>
          <c:extLst>
            <c:ext xmlns:c16="http://schemas.microsoft.com/office/drawing/2014/chart" uri="{C3380CC4-5D6E-409C-BE32-E72D297353CC}">
              <c16:uniqueId val="{00000001-C014-4DF8-AE16-AC53D29D5181}"/>
            </c:ext>
          </c:extLst>
        </c:ser>
        <c:dLbls>
          <c:showLegendKey val="0"/>
          <c:showVal val="0"/>
          <c:showCatName val="0"/>
          <c:showSerName val="0"/>
          <c:showPercent val="0"/>
          <c:showBubbleSize val="0"/>
        </c:dLbls>
        <c:marker val="1"/>
        <c:smooth val="0"/>
        <c:axId val="905194480"/>
        <c:axId val="905191120"/>
      </c:lineChart>
      <c:catAx>
        <c:axId val="9051944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191120"/>
        <c:crosses val="autoZero"/>
        <c:auto val="1"/>
        <c:lblAlgn val="ctr"/>
        <c:lblOffset val="100"/>
        <c:noMultiLvlLbl val="0"/>
      </c:catAx>
      <c:valAx>
        <c:axId val="905191120"/>
        <c:scaling>
          <c:orientation val="minMax"/>
          <c:max val="1"/>
          <c:min val="0.60000000000000009"/>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1944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a:t>On Time Rate</a:t>
            </a:r>
            <a:endParaRPr lang="zh-TW"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Manually Planned</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核心指標比較!$N$2:$N$27</c:f>
              <c:numCache>
                <c:formatCode>General</c:formatCode>
                <c:ptCount val="26"/>
                <c:pt idx="0">
                  <c:v>0.96</c:v>
                </c:pt>
                <c:pt idx="1">
                  <c:v>0.96</c:v>
                </c:pt>
                <c:pt idx="2">
                  <c:v>0.92</c:v>
                </c:pt>
                <c:pt idx="3">
                  <c:v>0.93</c:v>
                </c:pt>
                <c:pt idx="4">
                  <c:v>0.92</c:v>
                </c:pt>
                <c:pt idx="5">
                  <c:v>0.94</c:v>
                </c:pt>
                <c:pt idx="6">
                  <c:v>0.95</c:v>
                </c:pt>
                <c:pt idx="7">
                  <c:v>0.97</c:v>
                </c:pt>
                <c:pt idx="8">
                  <c:v>0.95</c:v>
                </c:pt>
                <c:pt idx="9">
                  <c:v>0.92</c:v>
                </c:pt>
                <c:pt idx="10">
                  <c:v>0.9</c:v>
                </c:pt>
                <c:pt idx="11">
                  <c:v>0.93</c:v>
                </c:pt>
                <c:pt idx="12">
                  <c:v>0.91</c:v>
                </c:pt>
                <c:pt idx="13">
                  <c:v>0.95</c:v>
                </c:pt>
                <c:pt idx="14">
                  <c:v>0.94</c:v>
                </c:pt>
                <c:pt idx="15">
                  <c:v>0.92</c:v>
                </c:pt>
                <c:pt idx="16">
                  <c:v>0.95</c:v>
                </c:pt>
                <c:pt idx="17">
                  <c:v>0.95</c:v>
                </c:pt>
                <c:pt idx="18">
                  <c:v>0.96</c:v>
                </c:pt>
                <c:pt idx="19">
                  <c:v>0.94</c:v>
                </c:pt>
                <c:pt idx="20">
                  <c:v>0.97</c:v>
                </c:pt>
                <c:pt idx="21">
                  <c:v>0.93</c:v>
                </c:pt>
                <c:pt idx="22">
                  <c:v>0.96</c:v>
                </c:pt>
                <c:pt idx="23">
                  <c:v>0.95</c:v>
                </c:pt>
                <c:pt idx="24">
                  <c:v>0.94</c:v>
                </c:pt>
                <c:pt idx="25">
                  <c:v>0.96</c:v>
                </c:pt>
              </c:numCache>
            </c:numRef>
          </c:val>
          <c:smooth val="0"/>
          <c:extLst>
            <c:ext xmlns:c16="http://schemas.microsoft.com/office/drawing/2014/chart" uri="{C3380CC4-5D6E-409C-BE32-E72D297353CC}">
              <c16:uniqueId val="{00000000-74F6-4534-91B2-8AE1DD92E4BF}"/>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核心指標比較!$A$2:$A$27</c:f>
              <c:strCache>
                <c:ptCount val="26"/>
                <c:pt idx="0">
                  <c:v>20221203</c:v>
                </c:pt>
                <c:pt idx="1">
                  <c:v>20221205</c:v>
                </c:pt>
                <c:pt idx="2">
                  <c:v>20221207</c:v>
                </c:pt>
                <c:pt idx="3">
                  <c:v>20221208</c:v>
                </c:pt>
                <c:pt idx="4">
                  <c:v>20221209</c:v>
                </c:pt>
                <c:pt idx="5">
                  <c:v>20221210</c:v>
                </c:pt>
                <c:pt idx="6">
                  <c:v>20221212</c:v>
                </c:pt>
                <c:pt idx="7">
                  <c:v>20221213</c:v>
                </c:pt>
                <c:pt idx="8">
                  <c:v>20221214</c:v>
                </c:pt>
                <c:pt idx="9">
                  <c:v>20221215</c:v>
                </c:pt>
                <c:pt idx="10">
                  <c:v>20221216</c:v>
                </c:pt>
                <c:pt idx="11">
                  <c:v>20221217</c:v>
                </c:pt>
                <c:pt idx="12">
                  <c:v>20221219</c:v>
                </c:pt>
                <c:pt idx="13">
                  <c:v>20221220</c:v>
                </c:pt>
                <c:pt idx="14">
                  <c:v>20221221</c:v>
                </c:pt>
                <c:pt idx="15">
                  <c:v>20221222</c:v>
                </c:pt>
                <c:pt idx="16">
                  <c:v>20221223</c:v>
                </c:pt>
                <c:pt idx="17">
                  <c:v>20221227</c:v>
                </c:pt>
                <c:pt idx="18">
                  <c:v>20221230</c:v>
                </c:pt>
                <c:pt idx="19">
                  <c:v>20221231</c:v>
                </c:pt>
                <c:pt idx="20">
                  <c:v>20230102</c:v>
                </c:pt>
                <c:pt idx="21">
                  <c:v>20230107</c:v>
                </c:pt>
                <c:pt idx="22">
                  <c:v>20230113</c:v>
                </c:pt>
                <c:pt idx="23">
                  <c:v>20260102</c:v>
                </c:pt>
                <c:pt idx="24">
                  <c:v>20260106</c:v>
                </c:pt>
                <c:pt idx="25">
                  <c:v>20260109</c:v>
                </c:pt>
              </c:strCache>
            </c:strRef>
          </c:cat>
          <c:val>
            <c:numRef>
              <c:f>核心指標比較!$O$2:$O$27</c:f>
              <c:numCache>
                <c:formatCode>General</c:formatCode>
                <c:ptCount val="26"/>
                <c:pt idx="0">
                  <c:v>1</c:v>
                </c:pt>
                <c:pt idx="1">
                  <c:v>0.99</c:v>
                </c:pt>
                <c:pt idx="2">
                  <c:v>1</c:v>
                </c:pt>
                <c:pt idx="3">
                  <c:v>0.99</c:v>
                </c:pt>
                <c:pt idx="4">
                  <c:v>1</c:v>
                </c:pt>
                <c:pt idx="5">
                  <c:v>1</c:v>
                </c:pt>
                <c:pt idx="6">
                  <c:v>1</c:v>
                </c:pt>
                <c:pt idx="7">
                  <c:v>1</c:v>
                </c:pt>
                <c:pt idx="8">
                  <c:v>0.99</c:v>
                </c:pt>
                <c:pt idx="9">
                  <c:v>0.98</c:v>
                </c:pt>
                <c:pt idx="10">
                  <c:v>0.98</c:v>
                </c:pt>
                <c:pt idx="11">
                  <c:v>0.99</c:v>
                </c:pt>
                <c:pt idx="12">
                  <c:v>0.97</c:v>
                </c:pt>
                <c:pt idx="13">
                  <c:v>1</c:v>
                </c:pt>
                <c:pt idx="14">
                  <c:v>0.99</c:v>
                </c:pt>
                <c:pt idx="15">
                  <c:v>0.99</c:v>
                </c:pt>
                <c:pt idx="16">
                  <c:v>1</c:v>
                </c:pt>
                <c:pt idx="17">
                  <c:v>1</c:v>
                </c:pt>
                <c:pt idx="18">
                  <c:v>1</c:v>
                </c:pt>
                <c:pt idx="19">
                  <c:v>1</c:v>
                </c:pt>
                <c:pt idx="20">
                  <c:v>1</c:v>
                </c:pt>
                <c:pt idx="21">
                  <c:v>1</c:v>
                </c:pt>
                <c:pt idx="22">
                  <c:v>0.99</c:v>
                </c:pt>
                <c:pt idx="23">
                  <c:v>0.98</c:v>
                </c:pt>
                <c:pt idx="24">
                  <c:v>1</c:v>
                </c:pt>
                <c:pt idx="25">
                  <c:v>0.96</c:v>
                </c:pt>
              </c:numCache>
            </c:numRef>
          </c:val>
          <c:smooth val="0"/>
          <c:extLst>
            <c:ext xmlns:c16="http://schemas.microsoft.com/office/drawing/2014/chart" uri="{C3380CC4-5D6E-409C-BE32-E72D297353CC}">
              <c16:uniqueId val="{00000001-74F6-4534-91B2-8AE1DD92E4BF}"/>
            </c:ext>
          </c:extLst>
        </c:ser>
        <c:dLbls>
          <c:showLegendKey val="0"/>
          <c:showVal val="0"/>
          <c:showCatName val="0"/>
          <c:showSerName val="0"/>
          <c:showPercent val="0"/>
          <c:showBubbleSize val="0"/>
        </c:dLbls>
        <c:marker val="1"/>
        <c:smooth val="0"/>
        <c:axId val="905186320"/>
        <c:axId val="905207920"/>
      </c:lineChart>
      <c:catAx>
        <c:axId val="905186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207920"/>
        <c:crosses val="autoZero"/>
        <c:auto val="1"/>
        <c:lblAlgn val="ctr"/>
        <c:lblOffset val="100"/>
        <c:noMultiLvlLbl val="0"/>
      </c:catAx>
      <c:valAx>
        <c:axId val="905207920"/>
        <c:scaling>
          <c:orientation val="minMax"/>
          <c:max val="1"/>
          <c:min val="0.8"/>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9051863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dirty="0"/>
              <a:t>Number of Vehicles</a:t>
            </a:r>
            <a:endParaRPr lang="zh-TW" alt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Baseline</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工作表3!$B$1:$B$56</c:f>
              <c:numCache>
                <c:formatCode>General</c:formatCode>
                <c:ptCount val="56"/>
                <c:pt idx="0">
                  <c:v>10</c:v>
                </c:pt>
                <c:pt idx="1">
                  <c:v>10</c:v>
                </c:pt>
                <c:pt idx="2">
                  <c:v>10</c:v>
                </c:pt>
                <c:pt idx="3">
                  <c:v>10</c:v>
                </c:pt>
                <c:pt idx="4">
                  <c:v>10</c:v>
                </c:pt>
                <c:pt idx="5">
                  <c:v>10</c:v>
                </c:pt>
                <c:pt idx="6">
                  <c:v>10</c:v>
                </c:pt>
                <c:pt idx="7">
                  <c:v>10</c:v>
                </c:pt>
                <c:pt idx="8">
                  <c:v>10</c:v>
                </c:pt>
                <c:pt idx="9">
                  <c:v>3</c:v>
                </c:pt>
                <c:pt idx="10">
                  <c:v>3</c:v>
                </c:pt>
                <c:pt idx="11">
                  <c:v>3</c:v>
                </c:pt>
                <c:pt idx="12">
                  <c:v>3</c:v>
                </c:pt>
                <c:pt idx="13">
                  <c:v>3</c:v>
                </c:pt>
                <c:pt idx="14">
                  <c:v>3</c:v>
                </c:pt>
                <c:pt idx="15">
                  <c:v>3</c:v>
                </c:pt>
                <c:pt idx="16">
                  <c:v>3</c:v>
                </c:pt>
                <c:pt idx="17">
                  <c:v>19</c:v>
                </c:pt>
                <c:pt idx="18">
                  <c:v>18</c:v>
                </c:pt>
                <c:pt idx="19">
                  <c:v>14</c:v>
                </c:pt>
                <c:pt idx="20">
                  <c:v>10</c:v>
                </c:pt>
                <c:pt idx="21">
                  <c:v>14</c:v>
                </c:pt>
                <c:pt idx="22">
                  <c:v>13</c:v>
                </c:pt>
                <c:pt idx="23">
                  <c:v>11</c:v>
                </c:pt>
                <c:pt idx="24">
                  <c:v>10</c:v>
                </c:pt>
                <c:pt idx="25">
                  <c:v>12</c:v>
                </c:pt>
                <c:pt idx="26">
                  <c:v>11</c:v>
                </c:pt>
                <c:pt idx="27">
                  <c:v>11</c:v>
                </c:pt>
                <c:pt idx="28">
                  <c:v>9</c:v>
                </c:pt>
                <c:pt idx="29">
                  <c:v>4</c:v>
                </c:pt>
                <c:pt idx="30">
                  <c:v>4</c:v>
                </c:pt>
                <c:pt idx="31">
                  <c:v>3</c:v>
                </c:pt>
                <c:pt idx="32">
                  <c:v>10</c:v>
                </c:pt>
                <c:pt idx="33">
                  <c:v>4</c:v>
                </c:pt>
                <c:pt idx="34">
                  <c:v>4</c:v>
                </c:pt>
                <c:pt idx="35">
                  <c:v>4</c:v>
                </c:pt>
                <c:pt idx="36">
                  <c:v>3</c:v>
                </c:pt>
                <c:pt idx="37">
                  <c:v>2</c:v>
                </c:pt>
                <c:pt idx="38">
                  <c:v>2</c:v>
                </c:pt>
                <c:pt idx="39">
                  <c:v>3</c:v>
                </c:pt>
                <c:pt idx="40">
                  <c:v>16</c:v>
                </c:pt>
                <c:pt idx="41">
                  <c:v>13</c:v>
                </c:pt>
                <c:pt idx="42">
                  <c:v>12</c:v>
                </c:pt>
                <c:pt idx="43">
                  <c:v>11</c:v>
                </c:pt>
                <c:pt idx="44">
                  <c:v>14</c:v>
                </c:pt>
                <c:pt idx="45">
                  <c:v>12</c:v>
                </c:pt>
                <c:pt idx="46">
                  <c:v>12</c:v>
                </c:pt>
                <c:pt idx="47">
                  <c:v>11</c:v>
                </c:pt>
                <c:pt idx="48">
                  <c:v>4</c:v>
                </c:pt>
                <c:pt idx="49">
                  <c:v>4</c:v>
                </c:pt>
                <c:pt idx="50">
                  <c:v>3</c:v>
                </c:pt>
                <c:pt idx="51">
                  <c:v>10</c:v>
                </c:pt>
                <c:pt idx="52">
                  <c:v>4</c:v>
                </c:pt>
                <c:pt idx="53">
                  <c:v>4</c:v>
                </c:pt>
                <c:pt idx="54">
                  <c:v>4</c:v>
                </c:pt>
                <c:pt idx="55">
                  <c:v>3</c:v>
                </c:pt>
              </c:numCache>
            </c:numRef>
          </c:val>
          <c:smooth val="0"/>
          <c:extLst>
            <c:ext xmlns:c16="http://schemas.microsoft.com/office/drawing/2014/chart" uri="{C3380CC4-5D6E-409C-BE32-E72D297353CC}">
              <c16:uniqueId val="{00000000-E7E7-499C-861E-BD4B77D175F6}"/>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工作表3!$D$1:$D$56</c:f>
              <c:numCache>
                <c:formatCode>General</c:formatCode>
                <c:ptCount val="56"/>
                <c:pt idx="0">
                  <c:v>10</c:v>
                </c:pt>
                <c:pt idx="1">
                  <c:v>10</c:v>
                </c:pt>
                <c:pt idx="2">
                  <c:v>10</c:v>
                </c:pt>
                <c:pt idx="3">
                  <c:v>10</c:v>
                </c:pt>
                <c:pt idx="4">
                  <c:v>10</c:v>
                </c:pt>
                <c:pt idx="5">
                  <c:v>10</c:v>
                </c:pt>
                <c:pt idx="6">
                  <c:v>10</c:v>
                </c:pt>
                <c:pt idx="7">
                  <c:v>10</c:v>
                </c:pt>
                <c:pt idx="8">
                  <c:v>10</c:v>
                </c:pt>
                <c:pt idx="9">
                  <c:v>3</c:v>
                </c:pt>
                <c:pt idx="10">
                  <c:v>3</c:v>
                </c:pt>
                <c:pt idx="11">
                  <c:v>3</c:v>
                </c:pt>
                <c:pt idx="12">
                  <c:v>3</c:v>
                </c:pt>
                <c:pt idx="13">
                  <c:v>3</c:v>
                </c:pt>
                <c:pt idx="14">
                  <c:v>3</c:v>
                </c:pt>
                <c:pt idx="15">
                  <c:v>3</c:v>
                </c:pt>
                <c:pt idx="16">
                  <c:v>3</c:v>
                </c:pt>
                <c:pt idx="17">
                  <c:v>19</c:v>
                </c:pt>
                <c:pt idx="18">
                  <c:v>17</c:v>
                </c:pt>
                <c:pt idx="19">
                  <c:v>13</c:v>
                </c:pt>
                <c:pt idx="20">
                  <c:v>10</c:v>
                </c:pt>
                <c:pt idx="21">
                  <c:v>14</c:v>
                </c:pt>
                <c:pt idx="22">
                  <c:v>12</c:v>
                </c:pt>
                <c:pt idx="23">
                  <c:v>11</c:v>
                </c:pt>
                <c:pt idx="24">
                  <c:v>10</c:v>
                </c:pt>
                <c:pt idx="25">
                  <c:v>12</c:v>
                </c:pt>
                <c:pt idx="26">
                  <c:v>11</c:v>
                </c:pt>
                <c:pt idx="27">
                  <c:v>11</c:v>
                </c:pt>
                <c:pt idx="28">
                  <c:v>10</c:v>
                </c:pt>
                <c:pt idx="29">
                  <c:v>4</c:v>
                </c:pt>
                <c:pt idx="30">
                  <c:v>3</c:v>
                </c:pt>
                <c:pt idx="31">
                  <c:v>3</c:v>
                </c:pt>
                <c:pt idx="32">
                  <c:v>3</c:v>
                </c:pt>
                <c:pt idx="33">
                  <c:v>3</c:v>
                </c:pt>
                <c:pt idx="34">
                  <c:v>3</c:v>
                </c:pt>
                <c:pt idx="35">
                  <c:v>3</c:v>
                </c:pt>
                <c:pt idx="36">
                  <c:v>2</c:v>
                </c:pt>
                <c:pt idx="37">
                  <c:v>3</c:v>
                </c:pt>
                <c:pt idx="38">
                  <c:v>3</c:v>
                </c:pt>
                <c:pt idx="39">
                  <c:v>3</c:v>
                </c:pt>
                <c:pt idx="40">
                  <c:v>15</c:v>
                </c:pt>
                <c:pt idx="41">
                  <c:v>13</c:v>
                </c:pt>
                <c:pt idx="42">
                  <c:v>11</c:v>
                </c:pt>
                <c:pt idx="43">
                  <c:v>10</c:v>
                </c:pt>
                <c:pt idx="44">
                  <c:v>14</c:v>
                </c:pt>
                <c:pt idx="45">
                  <c:v>12</c:v>
                </c:pt>
                <c:pt idx="46">
                  <c:v>11</c:v>
                </c:pt>
                <c:pt idx="47">
                  <c:v>11</c:v>
                </c:pt>
                <c:pt idx="48">
                  <c:v>4</c:v>
                </c:pt>
                <c:pt idx="49">
                  <c:v>4</c:v>
                </c:pt>
                <c:pt idx="50">
                  <c:v>3</c:v>
                </c:pt>
                <c:pt idx="51">
                  <c:v>3</c:v>
                </c:pt>
                <c:pt idx="52">
                  <c:v>4</c:v>
                </c:pt>
                <c:pt idx="53">
                  <c:v>3</c:v>
                </c:pt>
                <c:pt idx="54">
                  <c:v>3</c:v>
                </c:pt>
                <c:pt idx="55">
                  <c:v>3</c:v>
                </c:pt>
              </c:numCache>
            </c:numRef>
          </c:val>
          <c:smooth val="0"/>
          <c:extLst>
            <c:ext xmlns:c16="http://schemas.microsoft.com/office/drawing/2014/chart" uri="{C3380CC4-5D6E-409C-BE32-E72D297353CC}">
              <c16:uniqueId val="{00000001-E7E7-499C-861E-BD4B77D175F6}"/>
            </c:ext>
          </c:extLst>
        </c:ser>
        <c:dLbls>
          <c:showLegendKey val="0"/>
          <c:showVal val="0"/>
          <c:showCatName val="0"/>
          <c:showSerName val="0"/>
          <c:showPercent val="0"/>
          <c:showBubbleSize val="0"/>
        </c:dLbls>
        <c:marker val="1"/>
        <c:smooth val="0"/>
        <c:axId val="394649136"/>
        <c:axId val="394661136"/>
      </c:lineChart>
      <c:catAx>
        <c:axId val="3946491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61136"/>
        <c:crosses val="autoZero"/>
        <c:auto val="1"/>
        <c:lblAlgn val="ctr"/>
        <c:lblOffset val="100"/>
        <c:noMultiLvlLbl val="0"/>
      </c:catAx>
      <c:valAx>
        <c:axId val="3946611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491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dirty="0"/>
              <a:t>Total</a:t>
            </a:r>
            <a:r>
              <a:rPr lang="en-US" altLang="zh-TW" baseline="0" dirty="0"/>
              <a:t> Distance</a:t>
            </a:r>
            <a:endParaRPr lang="zh-TW" alt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Baseline</c:v>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工作表3!$C$1:$C$56</c:f>
              <c:numCache>
                <c:formatCode>General</c:formatCode>
                <c:ptCount val="56"/>
                <c:pt idx="0">
                  <c:v>828.94</c:v>
                </c:pt>
                <c:pt idx="1">
                  <c:v>828.94</c:v>
                </c:pt>
                <c:pt idx="2">
                  <c:v>830.77</c:v>
                </c:pt>
                <c:pt idx="3">
                  <c:v>864.22</c:v>
                </c:pt>
                <c:pt idx="4">
                  <c:v>828.94</c:v>
                </c:pt>
                <c:pt idx="5">
                  <c:v>828.94</c:v>
                </c:pt>
                <c:pt idx="6">
                  <c:v>828.94</c:v>
                </c:pt>
                <c:pt idx="7">
                  <c:v>854.31</c:v>
                </c:pt>
                <c:pt idx="8">
                  <c:v>854.78</c:v>
                </c:pt>
                <c:pt idx="9">
                  <c:v>591.55999999999995</c:v>
                </c:pt>
                <c:pt idx="10">
                  <c:v>591.55999999999995</c:v>
                </c:pt>
                <c:pt idx="11">
                  <c:v>591.16999999999996</c:v>
                </c:pt>
                <c:pt idx="12">
                  <c:v>594.51</c:v>
                </c:pt>
                <c:pt idx="13">
                  <c:v>588.88</c:v>
                </c:pt>
                <c:pt idx="14">
                  <c:v>588.49</c:v>
                </c:pt>
                <c:pt idx="15">
                  <c:v>588.29</c:v>
                </c:pt>
                <c:pt idx="16">
                  <c:v>588.32000000000005</c:v>
                </c:pt>
                <c:pt idx="17">
                  <c:v>1656.55</c:v>
                </c:pt>
                <c:pt idx="18">
                  <c:v>1476.85</c:v>
                </c:pt>
                <c:pt idx="19">
                  <c:v>1230.07</c:v>
                </c:pt>
                <c:pt idx="20">
                  <c:v>1010.55</c:v>
                </c:pt>
                <c:pt idx="21">
                  <c:v>1395.68</c:v>
                </c:pt>
                <c:pt idx="22">
                  <c:v>1261.6099999999999</c:v>
                </c:pt>
                <c:pt idx="23">
                  <c:v>1103.77</c:v>
                </c:pt>
                <c:pt idx="24">
                  <c:v>966.99</c:v>
                </c:pt>
                <c:pt idx="25">
                  <c:v>1200.2</c:v>
                </c:pt>
                <c:pt idx="26">
                  <c:v>1127.28</c:v>
                </c:pt>
                <c:pt idx="27">
                  <c:v>1096.3800000000001</c:v>
                </c:pt>
                <c:pt idx="28">
                  <c:v>982.14</c:v>
                </c:pt>
                <c:pt idx="29">
                  <c:v>1442.28</c:v>
                </c:pt>
                <c:pt idx="30">
                  <c:v>1212.49</c:v>
                </c:pt>
                <c:pt idx="31">
                  <c:v>1197.67</c:v>
                </c:pt>
                <c:pt idx="32">
                  <c:v>854.31</c:v>
                </c:pt>
                <c:pt idx="33">
                  <c:v>1337.65</c:v>
                </c:pt>
                <c:pt idx="34">
                  <c:v>1114.76</c:v>
                </c:pt>
                <c:pt idx="35">
                  <c:v>1055.71</c:v>
                </c:pt>
                <c:pt idx="36">
                  <c:v>860.53</c:v>
                </c:pt>
                <c:pt idx="37">
                  <c:v>895.46749999999997</c:v>
                </c:pt>
                <c:pt idx="38">
                  <c:v>942.94849999999997</c:v>
                </c:pt>
                <c:pt idx="39">
                  <c:v>1049.6199999999999</c:v>
                </c:pt>
                <c:pt idx="40">
                  <c:v>1656.59</c:v>
                </c:pt>
                <c:pt idx="41">
                  <c:v>1532.25</c:v>
                </c:pt>
                <c:pt idx="42">
                  <c:v>1344.03</c:v>
                </c:pt>
                <c:pt idx="43">
                  <c:v>1184.9000000000001</c:v>
                </c:pt>
                <c:pt idx="44">
                  <c:v>1662.01</c:v>
                </c:pt>
                <c:pt idx="45">
                  <c:v>1344.03</c:v>
                </c:pt>
                <c:pt idx="46">
                  <c:v>1263.07</c:v>
                </c:pt>
                <c:pt idx="47">
                  <c:v>1144.94</c:v>
                </c:pt>
                <c:pt idx="48">
                  <c:v>1442.28</c:v>
                </c:pt>
                <c:pt idx="49">
                  <c:v>1212.49</c:v>
                </c:pt>
                <c:pt idx="50">
                  <c:v>1197.67</c:v>
                </c:pt>
                <c:pt idx="51">
                  <c:v>854.31</c:v>
                </c:pt>
                <c:pt idx="52">
                  <c:v>1337.65</c:v>
                </c:pt>
                <c:pt idx="53">
                  <c:v>1114.76</c:v>
                </c:pt>
                <c:pt idx="54">
                  <c:v>1055.71</c:v>
                </c:pt>
                <c:pt idx="55">
                  <c:v>860.53</c:v>
                </c:pt>
              </c:numCache>
            </c:numRef>
          </c:val>
          <c:smooth val="0"/>
          <c:extLst>
            <c:ext xmlns:c16="http://schemas.microsoft.com/office/drawing/2014/chart" uri="{C3380CC4-5D6E-409C-BE32-E72D297353CC}">
              <c16:uniqueId val="{00000000-0845-4BFD-9796-FD43DA397FA1}"/>
            </c:ext>
          </c:extLst>
        </c:ser>
        <c:ser>
          <c:idx val="1"/>
          <c:order val="1"/>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工作表3!$A$1:$A$56</c:f>
              <c:strCache>
                <c:ptCount val="56"/>
                <c:pt idx="0">
                  <c:v>c101.txt</c:v>
                </c:pt>
                <c:pt idx="1">
                  <c:v>c102.txt</c:v>
                </c:pt>
                <c:pt idx="2">
                  <c:v>c103.txt</c:v>
                </c:pt>
                <c:pt idx="3">
                  <c:v>c104.txt</c:v>
                </c:pt>
                <c:pt idx="4">
                  <c:v>c105.txt</c:v>
                </c:pt>
                <c:pt idx="5">
                  <c:v>c106.txt</c:v>
                </c:pt>
                <c:pt idx="6">
                  <c:v>c107.txt</c:v>
                </c:pt>
                <c:pt idx="7">
                  <c:v>c108.txt</c:v>
                </c:pt>
                <c:pt idx="8">
                  <c:v>c109.txt</c:v>
                </c:pt>
                <c:pt idx="9">
                  <c:v>c201.txt</c:v>
                </c:pt>
                <c:pt idx="10">
                  <c:v>c202.txt</c:v>
                </c:pt>
                <c:pt idx="11">
                  <c:v>c203.txt</c:v>
                </c:pt>
                <c:pt idx="12">
                  <c:v>c204.txt</c:v>
                </c:pt>
                <c:pt idx="13">
                  <c:v>c205.txt</c:v>
                </c:pt>
                <c:pt idx="14">
                  <c:v>c206.txt</c:v>
                </c:pt>
                <c:pt idx="15">
                  <c:v>c207.txt</c:v>
                </c:pt>
                <c:pt idx="16">
                  <c:v>c208.txt</c:v>
                </c:pt>
                <c:pt idx="17">
                  <c:v>r101.txt</c:v>
                </c:pt>
                <c:pt idx="18">
                  <c:v>r102.txt</c:v>
                </c:pt>
                <c:pt idx="19">
                  <c:v>r103.txt</c:v>
                </c:pt>
                <c:pt idx="20">
                  <c:v>r104.txt</c:v>
                </c:pt>
                <c:pt idx="21">
                  <c:v>r105.txt</c:v>
                </c:pt>
                <c:pt idx="22">
                  <c:v>r106.txt</c:v>
                </c:pt>
                <c:pt idx="23">
                  <c:v>r107.txt</c:v>
                </c:pt>
                <c:pt idx="24">
                  <c:v>r108.txt</c:v>
                </c:pt>
                <c:pt idx="25">
                  <c:v>r109.txt</c:v>
                </c:pt>
                <c:pt idx="26">
                  <c:v>r110.txt</c:v>
                </c:pt>
                <c:pt idx="27">
                  <c:v>r111.txt</c:v>
                </c:pt>
                <c:pt idx="28">
                  <c:v>r112.txt</c:v>
                </c:pt>
                <c:pt idx="29">
                  <c:v>r201.txt</c:v>
                </c:pt>
                <c:pt idx="30">
                  <c:v>r202.txt</c:v>
                </c:pt>
                <c:pt idx="31">
                  <c:v>r203.txt</c:v>
                </c:pt>
                <c:pt idx="32">
                  <c:v>r204.txt</c:v>
                </c:pt>
                <c:pt idx="33">
                  <c:v>r205.txt</c:v>
                </c:pt>
                <c:pt idx="34">
                  <c:v>r206.txt</c:v>
                </c:pt>
                <c:pt idx="35">
                  <c:v>r207.txt</c:v>
                </c:pt>
                <c:pt idx="36">
                  <c:v>r208.txt</c:v>
                </c:pt>
                <c:pt idx="37">
                  <c:v>r209.txt</c:v>
                </c:pt>
                <c:pt idx="38">
                  <c:v>r210.txt</c:v>
                </c:pt>
                <c:pt idx="39">
                  <c:v>r211.txt</c:v>
                </c:pt>
                <c:pt idx="40">
                  <c:v>rc101.txt</c:v>
                </c:pt>
                <c:pt idx="41">
                  <c:v>rc102.txt</c:v>
                </c:pt>
                <c:pt idx="42">
                  <c:v>rc103.txt</c:v>
                </c:pt>
                <c:pt idx="43">
                  <c:v>rc104.txt</c:v>
                </c:pt>
                <c:pt idx="44">
                  <c:v>rc105.txt</c:v>
                </c:pt>
                <c:pt idx="45">
                  <c:v>rc106.txt</c:v>
                </c:pt>
                <c:pt idx="46">
                  <c:v>rc107.txt</c:v>
                </c:pt>
                <c:pt idx="47">
                  <c:v>rc108.txt</c:v>
                </c:pt>
                <c:pt idx="48">
                  <c:v>rc201.txt</c:v>
                </c:pt>
                <c:pt idx="49">
                  <c:v>rc202.txt</c:v>
                </c:pt>
                <c:pt idx="50">
                  <c:v>rc203.txt</c:v>
                </c:pt>
                <c:pt idx="51">
                  <c:v>rc204.txt</c:v>
                </c:pt>
                <c:pt idx="52">
                  <c:v>rc205.txt</c:v>
                </c:pt>
                <c:pt idx="53">
                  <c:v>rc206.txt</c:v>
                </c:pt>
                <c:pt idx="54">
                  <c:v>rc207.txt</c:v>
                </c:pt>
                <c:pt idx="55">
                  <c:v>rc208.txt</c:v>
                </c:pt>
              </c:strCache>
            </c:strRef>
          </c:cat>
          <c:val>
            <c:numRef>
              <c:f>工作表3!$E$1:$E$56</c:f>
              <c:numCache>
                <c:formatCode>General</c:formatCode>
                <c:ptCount val="56"/>
                <c:pt idx="0">
                  <c:v>828.94</c:v>
                </c:pt>
                <c:pt idx="1">
                  <c:v>828.94</c:v>
                </c:pt>
                <c:pt idx="2">
                  <c:v>828.06</c:v>
                </c:pt>
                <c:pt idx="3">
                  <c:v>824.78</c:v>
                </c:pt>
                <c:pt idx="4">
                  <c:v>828.94</c:v>
                </c:pt>
                <c:pt idx="5">
                  <c:v>828.94</c:v>
                </c:pt>
                <c:pt idx="6">
                  <c:v>828.94</c:v>
                </c:pt>
                <c:pt idx="7">
                  <c:v>828.94</c:v>
                </c:pt>
                <c:pt idx="8">
                  <c:v>828.94</c:v>
                </c:pt>
                <c:pt idx="9">
                  <c:v>591.55999999999995</c:v>
                </c:pt>
                <c:pt idx="10">
                  <c:v>591.55999999999995</c:v>
                </c:pt>
                <c:pt idx="11">
                  <c:v>591.16999999999996</c:v>
                </c:pt>
                <c:pt idx="12">
                  <c:v>612.39</c:v>
                </c:pt>
                <c:pt idx="13">
                  <c:v>588.88</c:v>
                </c:pt>
                <c:pt idx="14">
                  <c:v>588.49</c:v>
                </c:pt>
                <c:pt idx="15">
                  <c:v>588.29</c:v>
                </c:pt>
                <c:pt idx="16">
                  <c:v>588.32000000000005</c:v>
                </c:pt>
                <c:pt idx="17">
                  <c:v>1653.53</c:v>
                </c:pt>
                <c:pt idx="18">
                  <c:v>1497.23</c:v>
                </c:pt>
                <c:pt idx="19">
                  <c:v>1322.8</c:v>
                </c:pt>
                <c:pt idx="20">
                  <c:v>1015.76</c:v>
                </c:pt>
                <c:pt idx="21">
                  <c:v>1436.85</c:v>
                </c:pt>
                <c:pt idx="22">
                  <c:v>1324.48</c:v>
                </c:pt>
                <c:pt idx="23">
                  <c:v>1106.51</c:v>
                </c:pt>
                <c:pt idx="24">
                  <c:v>983.23</c:v>
                </c:pt>
                <c:pt idx="25">
                  <c:v>1214.8399999999999</c:v>
                </c:pt>
                <c:pt idx="26">
                  <c:v>1119.33</c:v>
                </c:pt>
                <c:pt idx="27">
                  <c:v>1138.82</c:v>
                </c:pt>
                <c:pt idx="28">
                  <c:v>1005.83</c:v>
                </c:pt>
                <c:pt idx="29">
                  <c:v>1302.83</c:v>
                </c:pt>
                <c:pt idx="30">
                  <c:v>1406.77</c:v>
                </c:pt>
                <c:pt idx="31">
                  <c:v>984.76</c:v>
                </c:pt>
                <c:pt idx="32">
                  <c:v>779.27</c:v>
                </c:pt>
                <c:pt idx="33">
                  <c:v>1071.58</c:v>
                </c:pt>
                <c:pt idx="34">
                  <c:v>972.48</c:v>
                </c:pt>
                <c:pt idx="35">
                  <c:v>848.77</c:v>
                </c:pt>
                <c:pt idx="36">
                  <c:v>814.22</c:v>
                </c:pt>
                <c:pt idx="37">
                  <c:v>965.75</c:v>
                </c:pt>
                <c:pt idx="38">
                  <c:v>994.83</c:v>
                </c:pt>
                <c:pt idx="39">
                  <c:v>808.38</c:v>
                </c:pt>
                <c:pt idx="40">
                  <c:v>1649.47</c:v>
                </c:pt>
                <c:pt idx="41">
                  <c:v>1497.51</c:v>
                </c:pt>
                <c:pt idx="42">
                  <c:v>1316.11</c:v>
                </c:pt>
                <c:pt idx="43">
                  <c:v>1169.0999999999999</c:v>
                </c:pt>
                <c:pt idx="44">
                  <c:v>1595.23</c:v>
                </c:pt>
                <c:pt idx="45">
                  <c:v>1424.21</c:v>
                </c:pt>
                <c:pt idx="46">
                  <c:v>1262.21</c:v>
                </c:pt>
                <c:pt idx="47">
                  <c:v>1140.1600000000001</c:v>
                </c:pt>
                <c:pt idx="48">
                  <c:v>1495.19</c:v>
                </c:pt>
                <c:pt idx="49">
                  <c:v>1209.52</c:v>
                </c:pt>
                <c:pt idx="50">
                  <c:v>1136.33</c:v>
                </c:pt>
                <c:pt idx="51">
                  <c:v>823.83</c:v>
                </c:pt>
                <c:pt idx="52">
                  <c:v>1374.6</c:v>
                </c:pt>
                <c:pt idx="53">
                  <c:v>1258.08</c:v>
                </c:pt>
                <c:pt idx="54">
                  <c:v>1160.47</c:v>
                </c:pt>
                <c:pt idx="55">
                  <c:v>883.61</c:v>
                </c:pt>
              </c:numCache>
            </c:numRef>
          </c:val>
          <c:smooth val="0"/>
          <c:extLst>
            <c:ext xmlns:c16="http://schemas.microsoft.com/office/drawing/2014/chart" uri="{C3380CC4-5D6E-409C-BE32-E72D297353CC}">
              <c16:uniqueId val="{00000001-0845-4BFD-9796-FD43DA397FA1}"/>
            </c:ext>
          </c:extLst>
        </c:ser>
        <c:dLbls>
          <c:showLegendKey val="0"/>
          <c:showVal val="0"/>
          <c:showCatName val="0"/>
          <c:showSerName val="0"/>
          <c:showPercent val="0"/>
          <c:showBubbleSize val="0"/>
        </c:dLbls>
        <c:marker val="1"/>
        <c:smooth val="0"/>
        <c:axId val="394669776"/>
        <c:axId val="394670256"/>
      </c:lineChart>
      <c:catAx>
        <c:axId val="3946697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70256"/>
        <c:crosses val="autoZero"/>
        <c:auto val="1"/>
        <c:lblAlgn val="ctr"/>
        <c:lblOffset val="100"/>
        <c:noMultiLvlLbl val="0"/>
      </c:catAx>
      <c:valAx>
        <c:axId val="39467025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3946697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zh-TW" sz="1400" b="0" i="0" u="none" strike="noStrike" baseline="0" dirty="0"/>
              <a:t>Number of Vehicles</a:t>
            </a:r>
            <a:endParaRPr lang="zh-TW" altLang="en-US" sz="1400" b="0" i="0" u="none" strike="noStrike" kern="1200" spc="0" baseline="0" dirty="0">
              <a:solidFill>
                <a:sysClr val="windowText" lastClr="000000">
                  <a:lumMod val="65000"/>
                  <a:lumOff val="35000"/>
                </a:sysClr>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工作表2!$A$81:$A$86</c:f>
              <c:strCache>
                <c:ptCount val="6"/>
                <c:pt idx="0">
                  <c:v>R1</c:v>
                </c:pt>
                <c:pt idx="1">
                  <c:v>R2</c:v>
                </c:pt>
                <c:pt idx="2">
                  <c:v>C1</c:v>
                </c:pt>
                <c:pt idx="3">
                  <c:v>C2</c:v>
                </c:pt>
                <c:pt idx="4">
                  <c:v>RC1</c:v>
                </c:pt>
                <c:pt idx="5">
                  <c:v>RC2</c:v>
                </c:pt>
              </c:strCache>
            </c:strRef>
          </c:cat>
          <c:val>
            <c:numRef>
              <c:f>工作表2!$B$81:$B$86</c:f>
              <c:numCache>
                <c:formatCode>General</c:formatCode>
                <c:ptCount val="6"/>
                <c:pt idx="0">
                  <c:v>12.79</c:v>
                </c:pt>
                <c:pt idx="1">
                  <c:v>3.15</c:v>
                </c:pt>
                <c:pt idx="2">
                  <c:v>10</c:v>
                </c:pt>
                <c:pt idx="3">
                  <c:v>3.01</c:v>
                </c:pt>
                <c:pt idx="4">
                  <c:v>12.44</c:v>
                </c:pt>
                <c:pt idx="5">
                  <c:v>3.46</c:v>
                </c:pt>
              </c:numCache>
            </c:numRef>
          </c:val>
          <c:smooth val="0"/>
          <c:extLst>
            <c:ext xmlns:c16="http://schemas.microsoft.com/office/drawing/2014/chart" uri="{C3380CC4-5D6E-409C-BE32-E72D297353CC}">
              <c16:uniqueId val="{00000000-5E25-49C4-8A0B-69FD25029507}"/>
            </c:ext>
          </c:extLst>
        </c:ser>
        <c:ser>
          <c:idx val="1"/>
          <c:order val="1"/>
          <c:tx>
            <c:strRef>
              <c:f>工作表2!$D$80</c:f>
              <c:strCache>
                <c:ptCount val="1"/>
                <c:pt idx="0">
                  <c:v>Baseline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工作表2!$A$81:$A$86</c:f>
              <c:strCache>
                <c:ptCount val="6"/>
                <c:pt idx="0">
                  <c:v>R1</c:v>
                </c:pt>
                <c:pt idx="1">
                  <c:v>R2</c:v>
                </c:pt>
                <c:pt idx="2">
                  <c:v>C1</c:v>
                </c:pt>
                <c:pt idx="3">
                  <c:v>C2</c:v>
                </c:pt>
                <c:pt idx="4">
                  <c:v>RC1</c:v>
                </c:pt>
                <c:pt idx="5">
                  <c:v>RC2</c:v>
                </c:pt>
              </c:strCache>
            </c:strRef>
          </c:cat>
          <c:val>
            <c:numRef>
              <c:f>工作表2!$D$81:$D$86</c:f>
              <c:numCache>
                <c:formatCode>General</c:formatCode>
                <c:ptCount val="6"/>
                <c:pt idx="0">
                  <c:v>12.83</c:v>
                </c:pt>
                <c:pt idx="1">
                  <c:v>4.72</c:v>
                </c:pt>
                <c:pt idx="2">
                  <c:v>10</c:v>
                </c:pt>
                <c:pt idx="3">
                  <c:v>3</c:v>
                </c:pt>
                <c:pt idx="4">
                  <c:v>12.26</c:v>
                </c:pt>
                <c:pt idx="5">
                  <c:v>5</c:v>
                </c:pt>
              </c:numCache>
            </c:numRef>
          </c:val>
          <c:smooth val="0"/>
          <c:extLst>
            <c:ext xmlns:c16="http://schemas.microsoft.com/office/drawing/2014/chart" uri="{C3380CC4-5D6E-409C-BE32-E72D297353CC}">
              <c16:uniqueId val="{00000001-5E25-49C4-8A0B-69FD25029507}"/>
            </c:ext>
          </c:extLst>
        </c:ser>
        <c:dLbls>
          <c:showLegendKey val="0"/>
          <c:showVal val="0"/>
          <c:showCatName val="0"/>
          <c:showSerName val="0"/>
          <c:showPercent val="0"/>
          <c:showBubbleSize val="0"/>
        </c:dLbls>
        <c:marker val="1"/>
        <c:smooth val="0"/>
        <c:axId val="1242555375"/>
        <c:axId val="799262831"/>
      </c:lineChart>
      <c:catAx>
        <c:axId val="12425553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799262831"/>
        <c:crosses val="autoZero"/>
        <c:auto val="1"/>
        <c:lblAlgn val="ctr"/>
        <c:lblOffset val="100"/>
        <c:noMultiLvlLbl val="0"/>
      </c:catAx>
      <c:valAx>
        <c:axId val="799262831"/>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ltLang="zh-TW"/>
                  <a:t>Number</a:t>
                </a:r>
                <a:r>
                  <a:rPr lang="en-US" altLang="zh-TW" baseline="0"/>
                  <a:t> of Vehicles</a:t>
                </a:r>
                <a:endParaRPr lang="zh-TW" altLang="en-U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zh-TW" alt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42555375"/>
        <c:crosses val="autoZero"/>
        <c:crossBetween val="between"/>
      </c:valAx>
      <c:dTable>
        <c:showHorzBorder val="1"/>
        <c:showVertBorder val="1"/>
        <c:showOutline val="1"/>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900" b="0" i="0" u="none" strike="noStrike" kern="1200" baseline="0">
                <a:solidFill>
                  <a:schemeClr val="tx1">
                    <a:lumMod val="65000"/>
                    <a:lumOff val="35000"/>
                  </a:schemeClr>
                </a:solidFill>
                <a:latin typeface="+mn-lt"/>
                <a:ea typeface="+mn-ea"/>
                <a:cs typeface="+mn-cs"/>
              </a:defRPr>
            </a:pPr>
            <a:endParaRPr lang="zh-TW"/>
          </a:p>
        </c:txPr>
      </c:dTable>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TW"/>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zh-TW" altLang="zh-TW" sz="1400" b="0" i="0" u="none" strike="noStrike" baseline="0" dirty="0"/>
              <a:t>Travel Distance</a:t>
            </a:r>
            <a:endParaRPr lang="zh-TW" alt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zh-TW" altLang="en-US"/>
        </a:p>
      </c:txPr>
    </c:title>
    <c:autoTitleDeleted val="0"/>
    <c:plotArea>
      <c:layout/>
      <c:lineChart>
        <c:grouping val="standard"/>
        <c:varyColors val="0"/>
        <c:ser>
          <c:idx val="0"/>
          <c:order val="0"/>
          <c:tx>
            <c:v>Proposed Method</c:v>
          </c:tx>
          <c:spPr>
            <a:ln w="28575" cap="rnd">
              <a:solidFill>
                <a:schemeClr val="accent2"/>
              </a:solidFill>
              <a:round/>
            </a:ln>
            <a:effectLst/>
          </c:spPr>
          <c:marker>
            <c:symbol val="circle"/>
            <c:size val="5"/>
            <c:spPr>
              <a:solidFill>
                <a:schemeClr val="accent2"/>
              </a:solidFill>
              <a:ln w="9525">
                <a:solidFill>
                  <a:schemeClr val="accent2"/>
                </a:solidFill>
              </a:ln>
              <a:effectLst/>
            </c:spPr>
          </c:marker>
          <c:cat>
            <c:strRef>
              <c:f>工作表2!$A$81:$A$86</c:f>
              <c:strCache>
                <c:ptCount val="6"/>
                <c:pt idx="0">
                  <c:v>R1</c:v>
                </c:pt>
                <c:pt idx="1">
                  <c:v>R2</c:v>
                </c:pt>
                <c:pt idx="2">
                  <c:v>C1</c:v>
                </c:pt>
                <c:pt idx="3">
                  <c:v>C2</c:v>
                </c:pt>
                <c:pt idx="4">
                  <c:v>RC1</c:v>
                </c:pt>
                <c:pt idx="5">
                  <c:v>RC2</c:v>
                </c:pt>
              </c:strCache>
            </c:strRef>
          </c:cat>
          <c:val>
            <c:numRef>
              <c:f>工作表2!$C$81:$C$86</c:f>
              <c:numCache>
                <c:formatCode>General</c:formatCode>
                <c:ptCount val="6"/>
                <c:pt idx="0">
                  <c:v>1234.93</c:v>
                </c:pt>
                <c:pt idx="1">
                  <c:v>995.42</c:v>
                </c:pt>
                <c:pt idx="2">
                  <c:v>828.38</c:v>
                </c:pt>
                <c:pt idx="3">
                  <c:v>592.58000000000004</c:v>
                </c:pt>
                <c:pt idx="4">
                  <c:v>1381.75</c:v>
                </c:pt>
                <c:pt idx="5">
                  <c:v>1167.7</c:v>
                </c:pt>
              </c:numCache>
            </c:numRef>
          </c:val>
          <c:smooth val="0"/>
          <c:extLst>
            <c:ext xmlns:c16="http://schemas.microsoft.com/office/drawing/2014/chart" uri="{C3380CC4-5D6E-409C-BE32-E72D297353CC}">
              <c16:uniqueId val="{00000000-9836-4027-8E72-972338ED69AD}"/>
            </c:ext>
          </c:extLst>
        </c:ser>
        <c:ser>
          <c:idx val="1"/>
          <c:order val="1"/>
          <c:tx>
            <c:strRef>
              <c:f>工作表2!$E$80</c:f>
              <c:strCache>
                <c:ptCount val="1"/>
                <c:pt idx="0">
                  <c:v>Baseline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工作表2!$A$81:$A$86</c:f>
              <c:strCache>
                <c:ptCount val="6"/>
                <c:pt idx="0">
                  <c:v>R1</c:v>
                </c:pt>
                <c:pt idx="1">
                  <c:v>R2</c:v>
                </c:pt>
                <c:pt idx="2">
                  <c:v>C1</c:v>
                </c:pt>
                <c:pt idx="3">
                  <c:v>C2</c:v>
                </c:pt>
                <c:pt idx="4">
                  <c:v>RC1</c:v>
                </c:pt>
                <c:pt idx="5">
                  <c:v>RC2</c:v>
                </c:pt>
              </c:strCache>
            </c:strRef>
          </c:cat>
          <c:val>
            <c:numRef>
              <c:f>工作表2!$E$81:$E$86</c:f>
              <c:numCache>
                <c:formatCode>General</c:formatCode>
                <c:ptCount val="6"/>
                <c:pt idx="0">
                  <c:v>1209.0999999999999</c:v>
                </c:pt>
                <c:pt idx="1">
                  <c:v>1087.5999999999999</c:v>
                </c:pt>
                <c:pt idx="2">
                  <c:v>838.75</c:v>
                </c:pt>
                <c:pt idx="3">
                  <c:v>590.35</c:v>
                </c:pt>
                <c:pt idx="4">
                  <c:v>1391.4</c:v>
                </c:pt>
                <c:pt idx="5">
                  <c:v>1134.43</c:v>
                </c:pt>
              </c:numCache>
            </c:numRef>
          </c:val>
          <c:smooth val="0"/>
          <c:extLst>
            <c:ext xmlns:c16="http://schemas.microsoft.com/office/drawing/2014/chart" uri="{C3380CC4-5D6E-409C-BE32-E72D297353CC}">
              <c16:uniqueId val="{00000001-9836-4027-8E72-972338ED69AD}"/>
            </c:ext>
          </c:extLst>
        </c:ser>
        <c:dLbls>
          <c:showLegendKey val="0"/>
          <c:showVal val="0"/>
          <c:showCatName val="0"/>
          <c:showSerName val="0"/>
          <c:showPercent val="0"/>
          <c:showBubbleSize val="0"/>
        </c:dLbls>
        <c:marker val="1"/>
        <c:smooth val="0"/>
        <c:axId val="790149007"/>
        <c:axId val="1249616111"/>
      </c:lineChart>
      <c:catAx>
        <c:axId val="7901490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1249616111"/>
        <c:crosses val="autoZero"/>
        <c:auto val="1"/>
        <c:lblAlgn val="ctr"/>
        <c:lblOffset val="100"/>
        <c:noMultiLvlLbl val="0"/>
      </c:catAx>
      <c:valAx>
        <c:axId val="1249616111"/>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ltLang="zh-TW"/>
                  <a:t>Travel Distance</a:t>
                </a:r>
                <a:endParaRPr lang="zh-TW" altLang="en-U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zh-TW" alt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crossAx val="790149007"/>
        <c:crosses val="autoZero"/>
        <c:crossBetween val="between"/>
      </c:valAx>
      <c:dTable>
        <c:showHorzBorder val="1"/>
        <c:showVertBorder val="1"/>
        <c:showOutline val="1"/>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900" b="0" i="0" u="none" strike="noStrike" kern="1200" baseline="0">
                <a:solidFill>
                  <a:schemeClr val="tx1">
                    <a:lumMod val="65000"/>
                    <a:lumOff val="35000"/>
                  </a:schemeClr>
                </a:solidFill>
                <a:latin typeface="+mn-lt"/>
                <a:ea typeface="+mn-ea"/>
                <a:cs typeface="+mn-cs"/>
              </a:defRPr>
            </a:pPr>
            <a:endParaRPr lang="zh-TW"/>
          </a:p>
        </c:txPr>
      </c:dTable>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zh-TW"/>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TW"/>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302231"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5623697" y="1"/>
            <a:ext cx="4302231" cy="341064"/>
          </a:xfrm>
          <a:prstGeom prst="rect">
            <a:avLst/>
          </a:prstGeom>
        </p:spPr>
        <p:txBody>
          <a:bodyPr vert="horz" lIns="91440" tIns="45720" rIns="91440" bIns="45720" rtlCol="0"/>
          <a:lstStyle>
            <a:lvl1pPr algn="r">
              <a:defRPr sz="1200"/>
            </a:lvl1pPr>
          </a:lstStyle>
          <a:p>
            <a:fld id="{2385926D-8BBA-4C74-8368-2D9ACE9667B6}" type="datetimeFigureOut">
              <a:rPr lang="zh-TW" altLang="en-US" smtClean="0"/>
              <a:t>2026/6/29</a:t>
            </a:fld>
            <a:endParaRPr lang="zh-TW" altLang="en-US"/>
          </a:p>
        </p:txBody>
      </p:sp>
      <p:sp>
        <p:nvSpPr>
          <p:cNvPr id="4" name="投影片影像版面配置區 3"/>
          <p:cNvSpPr>
            <a:spLocks noGrp="1" noRot="1" noChangeAspect="1"/>
          </p:cNvSpPr>
          <p:nvPr>
            <p:ph type="sldImg" idx="2"/>
          </p:nvPr>
        </p:nvSpPr>
        <p:spPr>
          <a:xfrm>
            <a:off x="2925763" y="849313"/>
            <a:ext cx="4076700" cy="229393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992823" y="3271381"/>
            <a:ext cx="7942580" cy="2676585"/>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6456612"/>
            <a:ext cx="4302231" cy="341063"/>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623697" y="6456612"/>
            <a:ext cx="4302231" cy="341063"/>
          </a:xfrm>
          <a:prstGeom prst="rect">
            <a:avLst/>
          </a:prstGeom>
        </p:spPr>
        <p:txBody>
          <a:bodyPr vert="horz" lIns="91440" tIns="45720" rIns="91440" bIns="45720" rtlCol="0" anchor="b"/>
          <a:lstStyle>
            <a:lvl1pPr algn="r">
              <a:defRPr sz="1200"/>
            </a:lvl1pPr>
          </a:lstStyle>
          <a:p>
            <a:fld id="{C1134DBE-7CC5-4F23-841F-273EC3D50B7F}" type="slidenum">
              <a:rPr lang="zh-TW" altLang="en-US" smtClean="0"/>
              <a:t>‹#›</a:t>
            </a:fld>
            <a:endParaRPr lang="zh-TW" altLang="en-US"/>
          </a:p>
        </p:txBody>
      </p:sp>
    </p:spTree>
    <p:extLst>
      <p:ext uri="{BB962C8B-B14F-4D97-AF65-F5344CB8AC3E}">
        <p14:creationId xmlns:p14="http://schemas.microsoft.com/office/powerpoint/2010/main" val="2306001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lvl="0" indent="0" algn="l" rtl="0">
              <a:spcBef>
                <a:spcPts val="0"/>
              </a:spcBef>
              <a:spcAft>
                <a:spcPts val="0"/>
              </a:spcAft>
              <a:buNone/>
            </a:pPr>
            <a:r>
              <a:rPr lang="zh-TW" altLang="en-US" sz="1200" b="0" dirty="0">
                <a:latin typeface="DFKai-SB"/>
                <a:ea typeface="DFKai-SB"/>
                <a:cs typeface="DFKai-SB"/>
                <a:sym typeface="DFKai-SB"/>
              </a:rPr>
              <a:t>各位口試委員好，我是學生楊宏傑，</a:t>
            </a:r>
            <a:br>
              <a:rPr lang="en-US" altLang="zh-TW" sz="1200" b="0" dirty="0">
                <a:latin typeface="DFKai-SB"/>
                <a:ea typeface="DFKai-SB"/>
                <a:cs typeface="DFKai-SB"/>
                <a:sym typeface="DFKai-SB"/>
              </a:rPr>
            </a:br>
            <a:r>
              <a:rPr lang="zh-TW" altLang="en-US" sz="1200" b="0" dirty="0">
                <a:latin typeface="DFKai-SB"/>
                <a:ea typeface="DFKai-SB"/>
                <a:cs typeface="DFKai-SB"/>
                <a:sym typeface="DFKai-SB"/>
              </a:rPr>
              <a:t>我的論文題目為 </a:t>
            </a:r>
            <a:r>
              <a:rPr lang="en-US" altLang="zh-TW" sz="1200" b="0" dirty="0">
                <a:latin typeface="DFKai-SB"/>
                <a:ea typeface="DFKai-SB"/>
                <a:cs typeface="DFKai-SB"/>
                <a:sym typeface="DFKai-SB"/>
              </a:rPr>
              <a:t>”</a:t>
            </a:r>
            <a:r>
              <a:rPr lang="zh-TW" altLang="zh-TW" sz="1200" b="0" i="0" kern="1200" dirty="0">
                <a:solidFill>
                  <a:schemeClr val="tx1"/>
                </a:solidFill>
                <a:effectLst/>
                <a:latin typeface="+mn-lt"/>
                <a:ea typeface="+mn-ea"/>
                <a:cs typeface="+mn-cs"/>
              </a:rPr>
              <a:t>物流公司支援線規劃之多階段最佳化方法</a:t>
            </a:r>
            <a:r>
              <a:rPr lang="en-US" altLang="zh-TW" sz="1200" b="0" dirty="0">
                <a:latin typeface="DFKai-SB"/>
                <a:ea typeface="DFKai-SB"/>
                <a:cs typeface="DFKai-SB"/>
                <a:sym typeface="DFKai-SB"/>
              </a:rPr>
              <a:t>”</a:t>
            </a:r>
          </a:p>
          <a:p>
            <a:pPr marL="0" lvl="0" indent="0" algn="l" rtl="0">
              <a:spcBef>
                <a:spcPts val="0"/>
              </a:spcBef>
              <a:spcAft>
                <a:spcPts val="0"/>
              </a:spcAft>
              <a:buNone/>
            </a:pPr>
            <a:br>
              <a:rPr lang="en-US" altLang="zh-TW" sz="1200" b="0" dirty="0">
                <a:latin typeface="DFKai-SB"/>
                <a:ea typeface="DFKai-SB"/>
                <a:cs typeface="DFKai-SB"/>
                <a:sym typeface="DFKai-SB"/>
              </a:rPr>
            </a:br>
            <a:r>
              <a:rPr lang="zh-TW" altLang="en-US" sz="1200" b="0" dirty="0">
                <a:latin typeface="DFKai-SB"/>
                <a:ea typeface="DFKai-SB"/>
                <a:cs typeface="DFKai-SB"/>
                <a:sym typeface="DFKai-SB"/>
              </a:rPr>
              <a:t>我的指導教授是郭忠義老師</a:t>
            </a:r>
            <a:endParaRPr lang="en-US" altLang="zh-TW" sz="1200" b="0" dirty="0">
              <a:latin typeface="DFKai-SB"/>
              <a:ea typeface="DFKai-SB"/>
              <a:cs typeface="DFKai-SB"/>
              <a:sym typeface="DFKai-SB"/>
            </a:endParaRPr>
          </a:p>
          <a:p>
            <a:pPr marL="0" lvl="0" indent="0" algn="l" rtl="0">
              <a:spcBef>
                <a:spcPts val="0"/>
              </a:spcBef>
              <a:spcAft>
                <a:spcPts val="0"/>
              </a:spcAft>
              <a:buNone/>
            </a:pPr>
            <a:r>
              <a:rPr lang="zh-TW" altLang="en-US" sz="1200" b="0" dirty="0">
                <a:latin typeface="DFKai-SB"/>
                <a:ea typeface="DFKai-SB"/>
                <a:cs typeface="DFKai-SB"/>
                <a:sym typeface="DFKai-SB"/>
              </a:rPr>
              <a:t>本研究主要是希望</a:t>
            </a:r>
            <a:r>
              <a:rPr lang="zh-TW" altLang="zh-TW" dirty="0"/>
              <a:t>協助物流公司透過自動化路線編排</a:t>
            </a:r>
            <a:r>
              <a:rPr lang="zh-TW" altLang="en-US" dirty="0"/>
              <a:t>方法，</a:t>
            </a:r>
            <a:r>
              <a:rPr lang="zh-TW" altLang="zh-TW" dirty="0"/>
              <a:t>提升配送規劃效率，並有效降低整體配送成本</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1</a:t>
            </a:fld>
            <a:endParaRPr lang="zh-TW" altLang="en-US"/>
          </a:p>
        </p:txBody>
      </p:sp>
    </p:spTree>
    <p:extLst>
      <p:ext uri="{BB962C8B-B14F-4D97-AF65-F5344CB8AC3E}">
        <p14:creationId xmlns:p14="http://schemas.microsoft.com/office/powerpoint/2010/main" val="1716081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這是本研究的報告大綱，分為五個章節</a:t>
            </a:r>
            <a:endParaRPr lang="en-US" altLang="zh-TW" dirty="0"/>
          </a:p>
          <a:p>
            <a:r>
              <a:rPr lang="zh-TW" altLang="en-US" dirty="0"/>
              <a:t>將依序介紹研究動機、研究方法、實驗結果、討論、結論與未來研究方向</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2</a:t>
            </a:fld>
            <a:endParaRPr lang="zh-TW" altLang="en-US"/>
          </a:p>
        </p:txBody>
      </p:sp>
    </p:spTree>
    <p:extLst>
      <p:ext uri="{BB962C8B-B14F-4D97-AF65-F5344CB8AC3E}">
        <p14:creationId xmlns:p14="http://schemas.microsoft.com/office/powerpoint/2010/main" val="3801625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首先介紹本研究的研究動機</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3</a:t>
            </a:fld>
            <a:endParaRPr lang="zh-TW" altLang="en-US"/>
          </a:p>
        </p:txBody>
      </p:sp>
    </p:spTree>
    <p:extLst>
      <p:ext uri="{BB962C8B-B14F-4D97-AF65-F5344CB8AC3E}">
        <p14:creationId xmlns:p14="http://schemas.microsoft.com/office/powerpoint/2010/main" val="420581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dirty="0"/>
              <a:t>隨著電子商務與物流產業的快速發展，物流配送需求持續增加。因此，如何透過有效的路線規劃來降低配送成本並提升配送效率，已成為物流</a:t>
            </a:r>
            <a:r>
              <a:rPr lang="zh-TW" altLang="en-US" dirty="0"/>
              <a:t>產業</a:t>
            </a:r>
            <a:r>
              <a:rPr lang="zh-TW" altLang="zh-TW" dirty="0"/>
              <a:t>的重要課題。</a:t>
            </a:r>
          </a:p>
          <a:p>
            <a:r>
              <a:rPr lang="zh-TW" altLang="zh-TW" dirty="0"/>
              <a:t>雖然車輛路</a:t>
            </a:r>
            <a:r>
              <a:rPr lang="zh-TW" altLang="en-US" dirty="0"/>
              <a:t>徑</a:t>
            </a:r>
            <a:r>
              <a:rPr lang="zh-TW" altLang="zh-TW" dirty="0"/>
              <a:t>問題（Vehicle Routing Problem, VRP）已被廣泛研究，但實際物流配送問題往往包含更多現實限制，無法完全由</a:t>
            </a:r>
            <a:r>
              <a:rPr lang="zh-TW" altLang="en-US" dirty="0"/>
              <a:t>一般</a:t>
            </a:r>
            <a:r>
              <a:rPr lang="zh-TW" altLang="zh-TW" dirty="0"/>
              <a:t>VRP模型描述。</a:t>
            </a:r>
            <a:endParaRPr lang="en-US" altLang="zh-TW" dirty="0"/>
          </a:p>
          <a:p>
            <a:r>
              <a:rPr lang="zh-TW" altLang="zh-TW" dirty="0"/>
              <a:t>例如，物流公司採用固定路線架構進行配送，並受到各種作業限制與服務規範的影響，而這些實務因素在許多VRP研究中較少被考量。</a:t>
            </a:r>
          </a:p>
          <a:p>
            <a:r>
              <a:rPr lang="zh-TW" altLang="zh-TW" dirty="0"/>
              <a:t>此外，目前物流公司的路線規劃仍以人工編排為主。整體規劃不僅需要投入大量時間</a:t>
            </a:r>
            <a:r>
              <a:rPr lang="zh-TW" altLang="en-US" dirty="0"/>
              <a:t>，</a:t>
            </a:r>
            <a:r>
              <a:rPr lang="zh-TW" altLang="zh-TW" dirty="0"/>
              <a:t>過程高度依賴調度人員的經驗與專業判斷，進而造成路線規劃品質不一致的問題。</a:t>
            </a:r>
            <a:endParaRPr lang="en-US" altLang="zh-TW" dirty="0"/>
          </a:p>
          <a:p>
            <a:r>
              <a:rPr lang="zh-TW" altLang="zh-TW" dirty="0"/>
              <a:t>因此，本研究提出一套多階段</a:t>
            </a:r>
            <a:r>
              <a:rPr lang="zh-TW" altLang="en-US" dirty="0"/>
              <a:t>符合營運限制的</a:t>
            </a:r>
            <a:r>
              <a:rPr lang="zh-TW" altLang="zh-TW" dirty="0"/>
              <a:t>最佳化方法，在既有路線架構下有效處理超載路線問題，並兼顧配送效率與服務品質。</a:t>
            </a:r>
            <a:endParaRPr lang="zh-TW" altLang="en-US"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4</a:t>
            </a:fld>
            <a:endParaRPr lang="zh-TW" altLang="en-US"/>
          </a:p>
        </p:txBody>
      </p:sp>
    </p:spTree>
    <p:extLst>
      <p:ext uri="{BB962C8B-B14F-4D97-AF65-F5344CB8AC3E}">
        <p14:creationId xmlns:p14="http://schemas.microsoft.com/office/powerpoint/2010/main" val="1291591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接下來介紹本研究的研究方法</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5</a:t>
            </a:fld>
            <a:endParaRPr lang="zh-TW" altLang="en-US"/>
          </a:p>
        </p:txBody>
      </p:sp>
    </p:spTree>
    <p:extLst>
      <p:ext uri="{BB962C8B-B14F-4D97-AF65-F5344CB8AC3E}">
        <p14:creationId xmlns:p14="http://schemas.microsoft.com/office/powerpoint/2010/main" val="8009962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本研究所提出多階段符合</a:t>
            </a:r>
            <a:r>
              <a:rPr lang="zh-TW" altLang="zh-TW" dirty="0"/>
              <a:t>實務作業</a:t>
            </a:r>
            <a:r>
              <a:rPr lang="zh-TW" altLang="en-US" dirty="0"/>
              <a:t>的</a:t>
            </a:r>
            <a:r>
              <a:rPr lang="zh-TW" altLang="zh-TW" dirty="0"/>
              <a:t>車輛路</a:t>
            </a:r>
            <a:r>
              <a:rPr lang="zh-TW" altLang="en-US" dirty="0"/>
              <a:t>徑</a:t>
            </a:r>
            <a:r>
              <a:rPr lang="zh-TW" altLang="zh-TW" dirty="0"/>
              <a:t>問題</a:t>
            </a:r>
            <a:r>
              <a:rPr lang="zh-TW" altLang="en-US" dirty="0"/>
              <a:t>架構主要由下列四個模組組成</a:t>
            </a:r>
            <a:endParaRPr lang="en-US" altLang="zh-TW" dirty="0"/>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altLang="zh-TW" dirty="0"/>
              <a:t>API</a:t>
            </a:r>
            <a:r>
              <a:rPr lang="zh-TW" altLang="en-US" dirty="0"/>
              <a:t>模組：</a:t>
            </a:r>
            <a:r>
              <a:rPr lang="zh-TW" altLang="zh-TW" dirty="0"/>
              <a:t>透過 OSRM 與 Google Maps Routes API 提供</a:t>
            </a:r>
            <a:r>
              <a:rPr lang="zh-TW" altLang="en-US" dirty="0"/>
              <a:t>相關</a:t>
            </a:r>
            <a:r>
              <a:rPr lang="zh-TW" altLang="zh-TW" dirty="0"/>
              <a:t>距離</a:t>
            </a:r>
            <a:r>
              <a:rPr lang="zh-TW" altLang="en-US" dirty="0"/>
              <a:t>及</a:t>
            </a:r>
            <a:r>
              <a:rPr lang="zh-TW" altLang="zh-TW" dirty="0"/>
              <a:t>行車時間資訊</a:t>
            </a:r>
            <a:endParaRPr lang="en-US" altLang="zh-TW" dirty="0"/>
          </a:p>
          <a:p>
            <a:pPr marL="228600" indent="-228600">
              <a:buAutoNum type="arabicPeriod"/>
            </a:pPr>
            <a:r>
              <a:rPr lang="zh-TW" altLang="en-US" dirty="0"/>
              <a:t>資料模組：</a:t>
            </a:r>
            <a:r>
              <a:rPr lang="zh-TW" altLang="zh-TW" dirty="0"/>
              <a:t>負責對</a:t>
            </a:r>
            <a:r>
              <a:rPr lang="zh-TW" altLang="en-US" dirty="0"/>
              <a:t>物流公司所提供</a:t>
            </a:r>
            <a:r>
              <a:rPr lang="zh-TW" altLang="zh-TW" dirty="0"/>
              <a:t>路線資料進行前處理</a:t>
            </a:r>
            <a:endParaRPr lang="en-US" altLang="zh-TW" dirty="0"/>
          </a:p>
          <a:p>
            <a:pPr marL="228600" indent="-228600">
              <a:buAutoNum type="arabicPeriod"/>
            </a:pPr>
            <a:r>
              <a:rPr lang="zh-TW" altLang="en-US" dirty="0"/>
              <a:t>路由模組：</a:t>
            </a:r>
            <a:r>
              <a:rPr lang="zh-TW" altLang="zh-TW" dirty="0"/>
              <a:t>負責執行</a:t>
            </a:r>
            <a:r>
              <a:rPr lang="zh-TW" altLang="en-US" dirty="0"/>
              <a:t>路線</a:t>
            </a:r>
            <a:r>
              <a:rPr lang="zh-TW" altLang="zh-TW" dirty="0"/>
              <a:t>最佳化</a:t>
            </a:r>
            <a:r>
              <a:rPr lang="zh-TW" altLang="en-US" dirty="0"/>
              <a:t>方法</a:t>
            </a:r>
            <a:r>
              <a:rPr lang="zh-TW" altLang="zh-TW" dirty="0"/>
              <a:t>產生符合實務作業限制</a:t>
            </a:r>
            <a:r>
              <a:rPr lang="zh-TW" altLang="en-US" dirty="0"/>
              <a:t>的</a:t>
            </a:r>
            <a:r>
              <a:rPr lang="zh-TW" altLang="zh-TW" dirty="0"/>
              <a:t>配送路線</a:t>
            </a:r>
            <a:endParaRPr lang="en-US" altLang="zh-TW" dirty="0"/>
          </a:p>
          <a:p>
            <a:pPr marL="228600" indent="-228600">
              <a:buAutoNum type="arabicPeriod"/>
            </a:pPr>
            <a:r>
              <a:rPr lang="zh-TW" altLang="en-US" dirty="0"/>
              <a:t>評估模組：提供路線可視化並根據各項指標對編排結果進行評估</a:t>
            </a:r>
            <a:endParaRPr lang="en-US" altLang="zh-TW" dirty="0"/>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6</a:t>
            </a:fld>
            <a:endParaRPr lang="zh-TW" altLang="en-US"/>
          </a:p>
        </p:txBody>
      </p:sp>
    </p:spTree>
    <p:extLst>
      <p:ext uri="{BB962C8B-B14F-4D97-AF65-F5344CB8AC3E}">
        <p14:creationId xmlns:p14="http://schemas.microsoft.com/office/powerpoint/2010/main" val="4127310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接下來介紹本研究</a:t>
            </a:r>
            <a:r>
              <a:rPr lang="zh-TW" altLang="zh-TW" dirty="0"/>
              <a:t>所提出之整體架構</a:t>
            </a:r>
            <a:r>
              <a:rPr lang="zh-TW" altLang="en-US" dirty="0"/>
              <a:t>，</a:t>
            </a:r>
            <a:r>
              <a:rPr lang="zh-TW" altLang="zh-TW" dirty="0"/>
              <a:t>將依序說明各模組之功能與流程</a:t>
            </a:r>
            <a:endParaRPr lang="en-US" altLang="zh-TW" dirty="0"/>
          </a:p>
          <a:p>
            <a:endParaRPr lang="en-US" altLang="zh-TW" dirty="0"/>
          </a:p>
          <a:p>
            <a:r>
              <a:rPr lang="zh-TW" altLang="en-US" dirty="0"/>
              <a:t>首先</a:t>
            </a:r>
            <a:endParaRPr lang="en-US" altLang="zh-TW" dirty="0"/>
          </a:p>
          <a:p>
            <a:r>
              <a:rPr lang="zh-TW" altLang="en-US" dirty="0"/>
              <a:t>針對從物流公司所取得之原始路線資料</a:t>
            </a:r>
            <a:endParaRPr lang="en-US" altLang="zh-TW" dirty="0"/>
          </a:p>
          <a:p>
            <a:r>
              <a:rPr lang="zh-TW" altLang="en-US" dirty="0"/>
              <a:t>對其進行前處理同時取得</a:t>
            </a:r>
            <a:r>
              <a:rPr lang="en-US" altLang="zh-TW" dirty="0"/>
              <a:t>OSRM</a:t>
            </a:r>
            <a:r>
              <a:rPr lang="zh-TW" altLang="en-US" dirty="0"/>
              <a:t>相關路線資料</a:t>
            </a:r>
            <a:endParaRPr lang="en-US" altLang="zh-TW" dirty="0"/>
          </a:p>
          <a:p>
            <a:r>
              <a:rPr lang="zh-TW" altLang="en-US" dirty="0"/>
              <a:t>接著進入路由模組，對主線架構中超載的店舖進行店舖抽取</a:t>
            </a:r>
            <a:endParaRPr lang="en-US" altLang="zh-TW" dirty="0"/>
          </a:p>
          <a:p>
            <a:r>
              <a:rPr lang="zh-TW" altLang="en-US" dirty="0"/>
              <a:t>將抽取完的店鋪集合進行店鋪分配以最大化主線的利用率</a:t>
            </a:r>
            <a:endParaRPr lang="en-US" altLang="zh-TW" dirty="0"/>
          </a:p>
          <a:p>
            <a:r>
              <a:rPr lang="zh-TW" altLang="en-US" dirty="0"/>
              <a:t>之後將剩餘的無法分配進主線中的店舖進行支援線規劃</a:t>
            </a:r>
            <a:endParaRPr lang="en-US" altLang="zh-TW" dirty="0"/>
          </a:p>
          <a:p>
            <a:r>
              <a:rPr lang="zh-TW" altLang="en-US" dirty="0"/>
              <a:t>店鋪分配和支援線規劃在規劃完成後會透過</a:t>
            </a:r>
            <a:r>
              <a:rPr lang="en-US" altLang="zh-TW" dirty="0"/>
              <a:t>google maps routes </a:t>
            </a:r>
            <a:r>
              <a:rPr lang="en-US" altLang="zh-TW" dirty="0" err="1"/>
              <a:t>api</a:t>
            </a:r>
            <a:r>
              <a:rPr lang="zh-TW" altLang="en-US" dirty="0"/>
              <a:t>進行驗證</a:t>
            </a:r>
            <a:endParaRPr lang="en-US" altLang="zh-TW" dirty="0"/>
          </a:p>
          <a:p>
            <a:r>
              <a:rPr lang="zh-TW" altLang="en-US" dirty="0"/>
              <a:t>最後再透過評估模組對編排好的路線資料進行評估及驗證</a:t>
            </a:r>
            <a:endParaRPr lang="en-US" altLang="zh-TW" dirty="0"/>
          </a:p>
          <a:p>
            <a:r>
              <a:rPr lang="zh-TW" altLang="en-US" dirty="0"/>
              <a:t>最後再將結果輸出成最佳化路線資料</a:t>
            </a:r>
          </a:p>
        </p:txBody>
      </p:sp>
      <p:sp>
        <p:nvSpPr>
          <p:cNvPr id="4" name="投影片編號版面配置區 3"/>
          <p:cNvSpPr>
            <a:spLocks noGrp="1"/>
          </p:cNvSpPr>
          <p:nvPr>
            <p:ph type="sldNum" sz="quarter" idx="5"/>
          </p:nvPr>
        </p:nvSpPr>
        <p:spPr/>
        <p:txBody>
          <a:bodyPr/>
          <a:lstStyle/>
          <a:p>
            <a:fld id="{C1134DBE-7CC5-4F23-841F-273EC3D50B7F}" type="slidenum">
              <a:rPr lang="zh-TW" altLang="en-US" smtClean="0"/>
              <a:t>7</a:t>
            </a:fld>
            <a:endParaRPr lang="zh-TW" altLang="en-US"/>
          </a:p>
        </p:txBody>
      </p:sp>
    </p:spTree>
    <p:extLst>
      <p:ext uri="{BB962C8B-B14F-4D97-AF65-F5344CB8AC3E}">
        <p14:creationId xmlns:p14="http://schemas.microsoft.com/office/powerpoint/2010/main" val="1518272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6759E-EEAE-B3B6-8E75-CC57FC87DF2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33F969-AECC-C4D8-856A-99647858612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004E002-CB1A-C026-FEF8-332CF42ACF1C}"/>
              </a:ext>
            </a:extLst>
          </p:cNvPr>
          <p:cNvSpPr>
            <a:spLocks noGrp="1"/>
          </p:cNvSpPr>
          <p:nvPr>
            <p:ph type="body" idx="1"/>
          </p:nvPr>
        </p:nvSpPr>
        <p:spPr/>
        <p:txBody>
          <a:bodyPr/>
          <a:lstStyle/>
          <a:p>
            <a:r>
              <a:rPr lang="zh-TW" altLang="en-US" dirty="0"/>
              <a:t>首先介紹</a:t>
            </a:r>
            <a:r>
              <a:rPr lang="zh-TW" altLang="zh-TW" dirty="0"/>
              <a:t>物流公司提供之</a:t>
            </a:r>
            <a:r>
              <a:rPr lang="zh-TW" altLang="en-US" dirty="0"/>
              <a:t>原始</a:t>
            </a:r>
            <a:r>
              <a:rPr lang="zh-TW" altLang="zh-TW" dirty="0"/>
              <a:t>路線資料</a:t>
            </a:r>
            <a:endParaRPr lang="zh-TW" altLang="en-US" dirty="0"/>
          </a:p>
        </p:txBody>
      </p:sp>
      <p:sp>
        <p:nvSpPr>
          <p:cNvPr id="4" name="投影片編號版面配置區 3">
            <a:extLst>
              <a:ext uri="{FF2B5EF4-FFF2-40B4-BE49-F238E27FC236}">
                <a16:creationId xmlns:a16="http://schemas.microsoft.com/office/drawing/2014/main" id="{10CEDCF3-8BF2-E47C-617B-94B948836F22}"/>
              </a:ext>
            </a:extLst>
          </p:cNvPr>
          <p:cNvSpPr>
            <a:spLocks noGrp="1"/>
          </p:cNvSpPr>
          <p:nvPr>
            <p:ph type="sldNum" sz="quarter" idx="5"/>
          </p:nvPr>
        </p:nvSpPr>
        <p:spPr/>
        <p:txBody>
          <a:bodyPr/>
          <a:lstStyle/>
          <a:p>
            <a:fld id="{C1134DBE-7CC5-4F23-841F-273EC3D50B7F}" type="slidenum">
              <a:rPr lang="zh-TW" altLang="en-US" smtClean="0"/>
              <a:t>8</a:t>
            </a:fld>
            <a:endParaRPr lang="zh-TW" altLang="en-US"/>
          </a:p>
        </p:txBody>
      </p:sp>
    </p:spTree>
    <p:extLst>
      <p:ext uri="{BB962C8B-B14F-4D97-AF65-F5344CB8AC3E}">
        <p14:creationId xmlns:p14="http://schemas.microsoft.com/office/powerpoint/2010/main" val="26302226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A5872-2C6D-62DC-4463-3D1E29D063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84CFF0F-AD78-C412-D934-9A2242EF406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992C8DB-C56D-3600-E11C-6546825524BD}"/>
              </a:ext>
            </a:extLst>
          </p:cNvPr>
          <p:cNvSpPr>
            <a:spLocks noGrp="1"/>
          </p:cNvSpPr>
          <p:nvPr>
            <p:ph type="body" idx="1"/>
          </p:nvPr>
        </p:nvSpPr>
        <p:spPr/>
        <p:txBody>
          <a:bodyPr/>
          <a:lstStyle/>
          <a:p>
            <a:r>
              <a:rPr lang="zh-TW" altLang="zh-TW" dirty="0"/>
              <a:t>本研究資料由物流公司提供，共涵蓋 26 個工作天之</a:t>
            </a:r>
            <a:r>
              <a:rPr lang="zh-TW" altLang="en-US" dirty="0"/>
              <a:t>原始</a:t>
            </a:r>
            <a:r>
              <a:rPr lang="zh-TW" altLang="zh-TW" dirty="0"/>
              <a:t>配送資料</a:t>
            </a:r>
            <a:endParaRPr lang="en-US" altLang="zh-TW" dirty="0"/>
          </a:p>
          <a:p>
            <a:r>
              <a:rPr lang="zh-TW" altLang="en-US" dirty="0"/>
              <a:t>紅色方框為物流公司主線架構中的路線</a:t>
            </a:r>
            <a:r>
              <a:rPr lang="en-US" altLang="zh-TW" dirty="0"/>
              <a:t>2M</a:t>
            </a:r>
            <a:r>
              <a:rPr lang="zh-TW" altLang="en-US" dirty="0"/>
              <a:t>的原始規劃結果</a:t>
            </a:r>
            <a:endParaRPr lang="en-US" altLang="zh-TW" dirty="0"/>
          </a:p>
          <a:p>
            <a:r>
              <a:rPr lang="zh-TW" altLang="en-US" dirty="0"/>
              <a:t>內容涵蓋</a:t>
            </a:r>
            <a:r>
              <a:rPr lang="zh-TW" altLang="zh-TW" dirty="0"/>
              <a:t>配送路線、店舖順序、配送</a:t>
            </a:r>
            <a:r>
              <a:rPr lang="zh-TW" altLang="en-US" dirty="0"/>
              <a:t>貨</a:t>
            </a:r>
            <a:r>
              <a:rPr lang="zh-TW" altLang="zh-TW" dirty="0"/>
              <a:t>量</a:t>
            </a:r>
            <a:r>
              <a:rPr lang="zh-TW" altLang="en-US" dirty="0"/>
              <a:t>及裝載率</a:t>
            </a:r>
            <a:r>
              <a:rPr lang="zh-TW" altLang="zh-TW" dirty="0"/>
              <a:t>等資訊</a:t>
            </a:r>
            <a:endParaRPr lang="en-US" altLang="zh-TW" dirty="0"/>
          </a:p>
          <a:p>
            <a:endParaRPr lang="en-US" altLang="zh-TW" dirty="0"/>
          </a:p>
        </p:txBody>
      </p:sp>
      <p:sp>
        <p:nvSpPr>
          <p:cNvPr id="4" name="投影片編號版面配置區 3">
            <a:extLst>
              <a:ext uri="{FF2B5EF4-FFF2-40B4-BE49-F238E27FC236}">
                <a16:creationId xmlns:a16="http://schemas.microsoft.com/office/drawing/2014/main" id="{F81F5665-60D0-14EA-E28F-FA2A88ECCE93}"/>
              </a:ext>
            </a:extLst>
          </p:cNvPr>
          <p:cNvSpPr>
            <a:spLocks noGrp="1"/>
          </p:cNvSpPr>
          <p:nvPr>
            <p:ph type="sldNum" sz="quarter" idx="5"/>
          </p:nvPr>
        </p:nvSpPr>
        <p:spPr/>
        <p:txBody>
          <a:bodyPr/>
          <a:lstStyle/>
          <a:p>
            <a:fld id="{C1134DBE-7CC5-4F23-841F-273EC3D50B7F}" type="slidenum">
              <a:rPr lang="zh-TW" altLang="en-US" smtClean="0"/>
              <a:t>9</a:t>
            </a:fld>
            <a:endParaRPr lang="zh-TW" altLang="en-US"/>
          </a:p>
        </p:txBody>
      </p:sp>
    </p:spTree>
    <p:extLst>
      <p:ext uri="{BB962C8B-B14F-4D97-AF65-F5344CB8AC3E}">
        <p14:creationId xmlns:p14="http://schemas.microsoft.com/office/powerpoint/2010/main" val="7604997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9B545-093A-F744-13E1-A29C33EE2F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F65CA8-D85F-18A4-6DC5-FB56EEB4563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7CD69FE-9F36-380F-1430-49A70F285081}"/>
              </a:ext>
            </a:extLst>
          </p:cNvPr>
          <p:cNvSpPr>
            <a:spLocks noGrp="1"/>
          </p:cNvSpPr>
          <p:nvPr>
            <p:ph type="body" idx="1"/>
          </p:nvPr>
        </p:nvSpPr>
        <p:spPr/>
        <p:txBody>
          <a:bodyPr/>
          <a:lstStyle/>
          <a:p>
            <a:r>
              <a:rPr lang="zh-TW" altLang="zh-TW" dirty="0"/>
              <a:t>由於每日店舖需求量具有變動性，</a:t>
            </a:r>
            <a:endParaRPr lang="en-US" altLang="zh-TW" dirty="0"/>
          </a:p>
          <a:p>
            <a:r>
              <a:rPr lang="zh-TW" altLang="zh-TW" dirty="0"/>
              <a:t>當路線總配送需求超過車輛容量時，裝載率將大於 1，代表該路線已超出可</a:t>
            </a:r>
            <a:r>
              <a:rPr lang="zh-TW" altLang="en-US" dirty="0"/>
              <a:t>行</a:t>
            </a:r>
            <a:r>
              <a:rPr lang="zh-TW" altLang="zh-TW" dirty="0"/>
              <a:t>載運範圍</a:t>
            </a:r>
            <a:endParaRPr lang="en-US" altLang="zh-TW" dirty="0"/>
          </a:p>
          <a:p>
            <a:r>
              <a:rPr lang="zh-TW" altLang="zh-TW" dirty="0"/>
              <a:t>因此，需要透過後續的路線調整機制對超載路線進行處理，以確保配送</a:t>
            </a:r>
            <a:r>
              <a:rPr lang="zh-TW" altLang="en-US" dirty="0"/>
              <a:t>結果</a:t>
            </a:r>
            <a:r>
              <a:rPr lang="zh-TW" altLang="zh-TW" dirty="0"/>
              <a:t>符合</a:t>
            </a:r>
            <a:r>
              <a:rPr lang="zh-TW" altLang="en-US" dirty="0"/>
              <a:t>限制</a:t>
            </a:r>
            <a:endParaRPr lang="en-US" altLang="zh-TW" dirty="0"/>
          </a:p>
        </p:txBody>
      </p:sp>
      <p:sp>
        <p:nvSpPr>
          <p:cNvPr id="4" name="投影片編號版面配置區 3">
            <a:extLst>
              <a:ext uri="{FF2B5EF4-FFF2-40B4-BE49-F238E27FC236}">
                <a16:creationId xmlns:a16="http://schemas.microsoft.com/office/drawing/2014/main" id="{2C3D147B-FC1F-D8AA-1479-61B1CF415A7E}"/>
              </a:ext>
            </a:extLst>
          </p:cNvPr>
          <p:cNvSpPr>
            <a:spLocks noGrp="1"/>
          </p:cNvSpPr>
          <p:nvPr>
            <p:ph type="sldNum" sz="quarter" idx="5"/>
          </p:nvPr>
        </p:nvSpPr>
        <p:spPr/>
        <p:txBody>
          <a:bodyPr/>
          <a:lstStyle/>
          <a:p>
            <a:fld id="{C1134DBE-7CC5-4F23-841F-273EC3D50B7F}" type="slidenum">
              <a:rPr lang="zh-TW" altLang="en-US" smtClean="0"/>
              <a:t>10</a:t>
            </a:fld>
            <a:endParaRPr lang="zh-TW" altLang="en-US"/>
          </a:p>
        </p:txBody>
      </p:sp>
    </p:spTree>
    <p:extLst>
      <p:ext uri="{BB962C8B-B14F-4D97-AF65-F5344CB8AC3E}">
        <p14:creationId xmlns:p14="http://schemas.microsoft.com/office/powerpoint/2010/main" val="16323509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E1F94-BD66-B03A-67B4-38CF7A02967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18A1D5A-9992-3D93-56FB-410ADFDA4D6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15C9F95-652E-051D-A97D-F9B1EFA748C7}"/>
              </a:ext>
            </a:extLst>
          </p:cNvPr>
          <p:cNvSpPr>
            <a:spLocks noGrp="1"/>
          </p:cNvSpPr>
          <p:nvPr>
            <p:ph type="body" idx="1"/>
          </p:nvPr>
        </p:nvSpPr>
        <p:spPr/>
        <p:txBody>
          <a:bodyPr/>
          <a:lstStyle/>
          <a:p>
            <a:r>
              <a:rPr lang="zh-TW" altLang="en-US" dirty="0"/>
              <a:t>接著介紹本研究</a:t>
            </a:r>
            <a:r>
              <a:rPr lang="en-US" altLang="zh-TW" dirty="0"/>
              <a:t>API</a:t>
            </a:r>
            <a:r>
              <a:rPr lang="zh-TW" altLang="en-US" dirty="0"/>
              <a:t>模組</a:t>
            </a:r>
          </a:p>
        </p:txBody>
      </p:sp>
      <p:sp>
        <p:nvSpPr>
          <p:cNvPr id="4" name="投影片編號版面配置區 3">
            <a:extLst>
              <a:ext uri="{FF2B5EF4-FFF2-40B4-BE49-F238E27FC236}">
                <a16:creationId xmlns:a16="http://schemas.microsoft.com/office/drawing/2014/main" id="{AB5D102B-B7E9-7E4F-BBB7-23141611402C}"/>
              </a:ext>
            </a:extLst>
          </p:cNvPr>
          <p:cNvSpPr>
            <a:spLocks noGrp="1"/>
          </p:cNvSpPr>
          <p:nvPr>
            <p:ph type="sldNum" sz="quarter" idx="5"/>
          </p:nvPr>
        </p:nvSpPr>
        <p:spPr/>
        <p:txBody>
          <a:bodyPr/>
          <a:lstStyle/>
          <a:p>
            <a:fld id="{C1134DBE-7CC5-4F23-841F-273EC3D50B7F}" type="slidenum">
              <a:rPr lang="zh-TW" altLang="en-US" smtClean="0"/>
              <a:t>11</a:t>
            </a:fld>
            <a:endParaRPr lang="zh-TW" altLang="en-US"/>
          </a:p>
        </p:txBody>
      </p:sp>
    </p:spTree>
    <p:extLst>
      <p:ext uri="{BB962C8B-B14F-4D97-AF65-F5344CB8AC3E}">
        <p14:creationId xmlns:p14="http://schemas.microsoft.com/office/powerpoint/2010/main" val="10078581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73F1-A16B-FA43-739A-1E3B9B9B06A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DE20796-1616-6940-239A-6B0A8B36B0B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C3A4B5D-D08E-C717-A48D-2821D96368D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kern="1200" dirty="0">
                <a:solidFill>
                  <a:schemeClr val="tx1"/>
                </a:solidFill>
                <a:effectLst/>
                <a:latin typeface="+mn-lt"/>
                <a:ea typeface="+mn-ea"/>
                <a:cs typeface="+mn-cs"/>
              </a:rPr>
              <a:t>API</a:t>
            </a:r>
            <a:r>
              <a:rPr lang="zh-TW" altLang="en-US" sz="1200" kern="1200" dirty="0">
                <a:solidFill>
                  <a:schemeClr val="tx1"/>
                </a:solidFill>
                <a:effectLst/>
                <a:latin typeface="+mn-lt"/>
                <a:ea typeface="+mn-ea"/>
                <a:cs typeface="+mn-cs"/>
              </a:rPr>
              <a:t>模組</a:t>
            </a:r>
            <a:r>
              <a:rPr lang="zh-TW" altLang="zh-TW" sz="1200" kern="1200" dirty="0">
                <a:solidFill>
                  <a:schemeClr val="tx1"/>
                </a:solidFill>
                <a:effectLst/>
                <a:latin typeface="+mn-lt"/>
                <a:ea typeface="+mn-ea"/>
                <a:cs typeface="+mn-cs"/>
              </a:rPr>
              <a:t>負責與外部服務進行串接</a:t>
            </a:r>
            <a:endParaRPr lang="en-US" altLang="zh-TW"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在路線規劃階段，本研究採用 Open Source Routing Machine</a:t>
            </a:r>
            <a:r>
              <a:rPr lang="zh-TW" altLang="en-US" dirty="0"/>
              <a:t> </a:t>
            </a:r>
            <a:r>
              <a:rPr lang="zh-TW" altLang="zh-TW" dirty="0"/>
              <a:t>來取得店舖間的距離與行駛時間矩陣</a:t>
            </a:r>
            <a:r>
              <a:rPr lang="zh-TW" altLang="en-US" dirty="0"/>
              <a:t>進行路線規劃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200" dirty="0">
                <a:solidFill>
                  <a:schemeClr val="tx1"/>
                </a:solidFill>
                <a:effectLst/>
                <a:latin typeface="+mn-lt"/>
                <a:ea typeface="+mn-ea"/>
                <a:cs typeface="+mn-cs"/>
              </a:rPr>
              <a:t>在驗證及評估階段，</a:t>
            </a:r>
            <a:r>
              <a:rPr lang="zh-TW" altLang="zh-TW" dirty="0"/>
              <a:t>使用 Google Maps Routes API 取得實際道路網路資訊</a:t>
            </a:r>
            <a:r>
              <a:rPr lang="zh-TW" altLang="en-US" dirty="0"/>
              <a:t>，</a:t>
            </a:r>
            <a:r>
              <a:rPr lang="zh-TW" altLang="zh-TW" dirty="0"/>
              <a:t>對規劃結果進行驗證與評估</a:t>
            </a:r>
            <a:endParaRPr lang="en-US" altLang="zh-TW" sz="1200"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CE20DF7-79BA-D7A1-E1D8-95335EA7060D}"/>
              </a:ext>
            </a:extLst>
          </p:cNvPr>
          <p:cNvSpPr>
            <a:spLocks noGrp="1"/>
          </p:cNvSpPr>
          <p:nvPr>
            <p:ph type="sldNum" sz="quarter" idx="5"/>
          </p:nvPr>
        </p:nvSpPr>
        <p:spPr/>
        <p:txBody>
          <a:bodyPr/>
          <a:lstStyle/>
          <a:p>
            <a:fld id="{C1134DBE-7CC5-4F23-841F-273EC3D50B7F}" type="slidenum">
              <a:rPr lang="zh-TW" altLang="en-US" smtClean="0"/>
              <a:t>12</a:t>
            </a:fld>
            <a:endParaRPr lang="zh-TW" altLang="en-US"/>
          </a:p>
        </p:txBody>
      </p:sp>
    </p:spTree>
    <p:extLst>
      <p:ext uri="{BB962C8B-B14F-4D97-AF65-F5344CB8AC3E}">
        <p14:creationId xmlns:p14="http://schemas.microsoft.com/office/powerpoint/2010/main" val="1669126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BC1BE-993D-B181-E1EF-CCABB26AF7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2D5A7ED-26C9-C8DD-B348-01849E71914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EB72154-4A0A-8AB4-C3BF-10EBC175E275}"/>
              </a:ext>
            </a:extLst>
          </p:cNvPr>
          <p:cNvSpPr>
            <a:spLocks noGrp="1"/>
          </p:cNvSpPr>
          <p:nvPr>
            <p:ph type="body" idx="1"/>
          </p:nvPr>
        </p:nvSpPr>
        <p:spPr/>
        <p:txBody>
          <a:bodyPr/>
          <a:lstStyle/>
          <a:p>
            <a:r>
              <a:rPr lang="zh-TW" altLang="en-US" dirty="0"/>
              <a:t>接著介紹本研究資料模組部分</a:t>
            </a:r>
          </a:p>
        </p:txBody>
      </p:sp>
      <p:sp>
        <p:nvSpPr>
          <p:cNvPr id="4" name="投影片編號版面配置區 3">
            <a:extLst>
              <a:ext uri="{FF2B5EF4-FFF2-40B4-BE49-F238E27FC236}">
                <a16:creationId xmlns:a16="http://schemas.microsoft.com/office/drawing/2014/main" id="{A02100C7-912D-9101-27F4-1883BE9BA690}"/>
              </a:ext>
            </a:extLst>
          </p:cNvPr>
          <p:cNvSpPr>
            <a:spLocks noGrp="1"/>
          </p:cNvSpPr>
          <p:nvPr>
            <p:ph type="sldNum" sz="quarter" idx="5"/>
          </p:nvPr>
        </p:nvSpPr>
        <p:spPr/>
        <p:txBody>
          <a:bodyPr/>
          <a:lstStyle/>
          <a:p>
            <a:fld id="{C1134DBE-7CC5-4F23-841F-273EC3D50B7F}" type="slidenum">
              <a:rPr lang="zh-TW" altLang="en-US" smtClean="0"/>
              <a:t>13</a:t>
            </a:fld>
            <a:endParaRPr lang="zh-TW" altLang="en-US"/>
          </a:p>
        </p:txBody>
      </p:sp>
    </p:spTree>
    <p:extLst>
      <p:ext uri="{BB962C8B-B14F-4D97-AF65-F5344CB8AC3E}">
        <p14:creationId xmlns:p14="http://schemas.microsoft.com/office/powerpoint/2010/main" val="12304918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E6F0F-F143-4905-B305-B45348B18E8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4ECDCF3-9001-EC2F-4521-1BD21D36482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9719A4C9-AE3D-10A5-5A61-6B8E097584FD}"/>
              </a:ext>
            </a:extLst>
          </p:cNvPr>
          <p:cNvSpPr>
            <a:spLocks noGrp="1"/>
          </p:cNvSpPr>
          <p:nvPr>
            <p:ph type="body" idx="1"/>
          </p:nvPr>
        </p:nvSpPr>
        <p:spPr/>
        <p:txBody>
          <a:bodyPr/>
          <a:lstStyle/>
          <a:p>
            <a:r>
              <a:rPr lang="zh-TW" altLang="en-US" dirty="0"/>
              <a:t>本研究的資料模組負責對物流公司提供之資料進行前處理</a:t>
            </a:r>
            <a:endParaRPr lang="en-US" altLang="zh-TW" dirty="0"/>
          </a:p>
          <a:p>
            <a:r>
              <a:rPr lang="zh-TW" altLang="en-US" dirty="0"/>
              <a:t>主要分成兩個部分</a:t>
            </a:r>
            <a:endParaRPr lang="en-US" altLang="zh-TW" dirty="0"/>
          </a:p>
          <a:p>
            <a:r>
              <a:rPr lang="zh-TW" altLang="en-US" dirty="0"/>
              <a:t>分別是資料清理及資料轉換</a:t>
            </a:r>
            <a:endParaRPr lang="en-US" altLang="zh-TW" dirty="0"/>
          </a:p>
          <a:p>
            <a:endParaRPr lang="en-US" altLang="zh-TW" dirty="0"/>
          </a:p>
          <a:p>
            <a:r>
              <a:rPr lang="zh-TW" altLang="en-US" dirty="0"/>
              <a:t>首先</a:t>
            </a:r>
            <a:r>
              <a:rPr lang="zh-TW" altLang="zh-TW" dirty="0"/>
              <a:t>針對缺失或不完整之店鋪資訊進行補齊與修正</a:t>
            </a:r>
            <a:endParaRPr lang="en-US" altLang="zh-TW" dirty="0"/>
          </a:p>
          <a:p>
            <a:r>
              <a:rPr lang="zh-TW" altLang="zh-TW" dirty="0"/>
              <a:t>將資料進行結構化整理與統一，轉換</a:t>
            </a:r>
            <a:r>
              <a:rPr lang="zh-TW" altLang="en-US" dirty="0"/>
              <a:t>為後續</a:t>
            </a:r>
            <a:r>
              <a:rPr lang="zh-TW" altLang="zh-TW" dirty="0"/>
              <a:t>路線規劃</a:t>
            </a:r>
            <a:r>
              <a:rPr lang="zh-TW" altLang="en-US" dirty="0"/>
              <a:t>所需</a:t>
            </a:r>
            <a:r>
              <a:rPr lang="zh-TW" altLang="zh-TW" dirty="0"/>
              <a:t>格式</a:t>
            </a:r>
            <a:endParaRPr lang="en-US" altLang="zh-TW" dirty="0"/>
          </a:p>
        </p:txBody>
      </p:sp>
      <p:sp>
        <p:nvSpPr>
          <p:cNvPr id="4" name="投影片編號版面配置區 3">
            <a:extLst>
              <a:ext uri="{FF2B5EF4-FFF2-40B4-BE49-F238E27FC236}">
                <a16:creationId xmlns:a16="http://schemas.microsoft.com/office/drawing/2014/main" id="{AEB7897C-731B-9BF1-DA00-92097FA9C23F}"/>
              </a:ext>
            </a:extLst>
          </p:cNvPr>
          <p:cNvSpPr>
            <a:spLocks noGrp="1"/>
          </p:cNvSpPr>
          <p:nvPr>
            <p:ph type="sldNum" sz="quarter" idx="5"/>
          </p:nvPr>
        </p:nvSpPr>
        <p:spPr/>
        <p:txBody>
          <a:bodyPr/>
          <a:lstStyle/>
          <a:p>
            <a:fld id="{C1134DBE-7CC5-4F23-841F-273EC3D50B7F}" type="slidenum">
              <a:rPr lang="zh-TW" altLang="en-US" smtClean="0"/>
              <a:t>14</a:t>
            </a:fld>
            <a:endParaRPr lang="zh-TW" altLang="en-US"/>
          </a:p>
        </p:txBody>
      </p:sp>
    </p:spTree>
    <p:extLst>
      <p:ext uri="{BB962C8B-B14F-4D97-AF65-F5344CB8AC3E}">
        <p14:creationId xmlns:p14="http://schemas.microsoft.com/office/powerpoint/2010/main" val="41603025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CA88B-C458-0683-BE99-F86DE574DA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76D5C62-DE35-0F68-D9F3-7A51EC618B7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6B133E7-A145-43B5-9C16-5737C19BF621}"/>
              </a:ext>
            </a:extLst>
          </p:cNvPr>
          <p:cNvSpPr>
            <a:spLocks noGrp="1"/>
          </p:cNvSpPr>
          <p:nvPr>
            <p:ph type="body" idx="1"/>
          </p:nvPr>
        </p:nvSpPr>
        <p:spPr/>
        <p:txBody>
          <a:bodyPr/>
          <a:lstStyle/>
          <a:p>
            <a:r>
              <a:rPr lang="zh-TW" altLang="en-US" dirty="0"/>
              <a:t>接下來介紹本研究的路由模組</a:t>
            </a:r>
            <a:endParaRPr lang="en-US" altLang="zh-TW" dirty="0"/>
          </a:p>
        </p:txBody>
      </p:sp>
      <p:sp>
        <p:nvSpPr>
          <p:cNvPr id="4" name="投影片編號版面配置區 3">
            <a:extLst>
              <a:ext uri="{FF2B5EF4-FFF2-40B4-BE49-F238E27FC236}">
                <a16:creationId xmlns:a16="http://schemas.microsoft.com/office/drawing/2014/main" id="{2A268668-ED82-A85C-113F-9C6ED9F2798A}"/>
              </a:ext>
            </a:extLst>
          </p:cNvPr>
          <p:cNvSpPr>
            <a:spLocks noGrp="1"/>
          </p:cNvSpPr>
          <p:nvPr>
            <p:ph type="sldNum" sz="quarter" idx="5"/>
          </p:nvPr>
        </p:nvSpPr>
        <p:spPr/>
        <p:txBody>
          <a:bodyPr/>
          <a:lstStyle/>
          <a:p>
            <a:fld id="{C1134DBE-7CC5-4F23-841F-273EC3D50B7F}" type="slidenum">
              <a:rPr lang="zh-TW" altLang="en-US" smtClean="0"/>
              <a:t>15</a:t>
            </a:fld>
            <a:endParaRPr lang="zh-TW" altLang="en-US"/>
          </a:p>
        </p:txBody>
      </p:sp>
    </p:spTree>
    <p:extLst>
      <p:ext uri="{BB962C8B-B14F-4D97-AF65-F5344CB8AC3E}">
        <p14:creationId xmlns:p14="http://schemas.microsoft.com/office/powerpoint/2010/main" val="7187783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41A5D-EA24-6D3F-0F5D-0BA8A1BC58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915156-FBD8-ECE3-2B85-A652598EF25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24812ED-F62A-1E83-17EF-324A825A445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本研究提出之架構</a:t>
            </a:r>
            <a:r>
              <a:rPr lang="zh-TW" altLang="zh-TW" dirty="0"/>
              <a:t>主要在物流公司的營運限制下進行設計</a:t>
            </a:r>
            <a:r>
              <a:rPr lang="zh-TW" altLang="en-US" dirty="0"/>
              <a:t>，並分為三個階段，分別為店鋪抽取、店鋪分配、支援線規劃</a:t>
            </a:r>
            <a:br>
              <a:rPr lang="en-US" altLang="zh-TW" dirty="0"/>
            </a:br>
            <a:r>
              <a:rPr lang="zh-TW" altLang="zh-TW" dirty="0"/>
              <a:t>店鋪抽取階段，從超載主線中選取適當店鋪進行移除</a:t>
            </a:r>
            <a:br>
              <a:rPr lang="en-US" altLang="zh-TW" dirty="0"/>
            </a:br>
            <a:r>
              <a:rPr lang="zh-TW" altLang="zh-TW" dirty="0"/>
              <a:t>店鋪分配階段，決定被抽取店鋪應分配至哪條</a:t>
            </a:r>
            <a:r>
              <a:rPr lang="zh-TW" altLang="en-US" dirty="0"/>
              <a:t>主線以最大化主線配送效率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支援線規劃階段</a:t>
            </a:r>
            <a:r>
              <a:rPr lang="zh-TW" altLang="en-US" dirty="0"/>
              <a:t>，針對無法被安排進主線的店鋪，</a:t>
            </a:r>
            <a:r>
              <a:rPr lang="zh-TW" altLang="zh-TW" dirty="0"/>
              <a:t>建構支援線，以完成整體配送規劃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因為本研究的整體配送問題本質上可以視為車輛路徑問題的延伸變體</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a:t>
            </a:r>
            <a:r>
              <a:rPr lang="zh-TW" altLang="zh-TW" dirty="0"/>
              <a:t>在介紹</a:t>
            </a:r>
            <a:r>
              <a:rPr lang="zh-TW" altLang="en-US" dirty="0"/>
              <a:t>路由模組各階段</a:t>
            </a:r>
            <a:r>
              <a:rPr lang="zh-TW" altLang="zh-TW" dirty="0"/>
              <a:t>之前，接下來將先說明</a:t>
            </a:r>
            <a:r>
              <a:rPr lang="zh-TW" altLang="en-US" dirty="0"/>
              <a:t>車輛路徑問題</a:t>
            </a:r>
            <a:r>
              <a:rPr lang="zh-TW" altLang="zh-TW" dirty="0"/>
              <a:t>以及相關限制條</a:t>
            </a:r>
            <a:r>
              <a:rPr lang="zh-TW" altLang="en-US" dirty="0"/>
              <a:t>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i="0" kern="1200" dirty="0">
                <a:solidFill>
                  <a:schemeClr val="tx1"/>
                </a:solidFill>
                <a:effectLst/>
                <a:latin typeface="+mn-lt"/>
                <a:ea typeface="+mn-ea"/>
                <a:cs typeface="+mn-cs"/>
              </a:rPr>
              <a:t>整個路徑規劃流程被formulate成VRP，那跟VRP相比，你的</a:t>
            </a:r>
            <a:r>
              <a:rPr lang="zh-TW" altLang="en-US" sz="1200" b="0" i="0" kern="1200" dirty="0">
                <a:solidFill>
                  <a:schemeClr val="tx1"/>
                </a:solidFill>
                <a:effectLst/>
                <a:latin typeface="+mn-lt"/>
                <a:ea typeface="+mn-ea"/>
                <a:cs typeface="+mn-cs"/>
              </a:rPr>
              <a:t>問題</a:t>
            </a:r>
            <a:r>
              <a:rPr lang="zh-TW" altLang="zh-TW" sz="1200" b="0" i="0" kern="1200" dirty="0">
                <a:solidFill>
                  <a:schemeClr val="tx1"/>
                </a:solidFill>
                <a:effectLst/>
                <a:latin typeface="+mn-lt"/>
                <a:ea typeface="+mn-ea"/>
                <a:cs typeface="+mn-cs"/>
              </a:rPr>
              <a:t>多了哪些限制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物流公司</a:t>
            </a:r>
            <a:r>
              <a:rPr lang="zh-TW" altLang="zh-TW" dirty="0"/>
              <a:t>固定</a:t>
            </a:r>
            <a:r>
              <a:rPr lang="zh-TW" altLang="en-US" dirty="0"/>
              <a:t>主</a:t>
            </a:r>
            <a:r>
              <a:rPr lang="zh-TW" altLang="zh-TW" dirty="0"/>
              <a:t>線結構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服務限制</a:t>
            </a:r>
            <a:r>
              <a:rPr lang="zh-TW" altLang="en-US" dirty="0"/>
              <a:t> </a:t>
            </a:r>
            <a:r>
              <a:rPr lang="en-US" altLang="zh-TW" dirty="0"/>
              <a:t>(</a:t>
            </a:r>
            <a:r>
              <a:rPr lang="zh-TW" altLang="en-US" dirty="0"/>
              <a:t>容量 </a:t>
            </a:r>
            <a:r>
              <a:rPr lang="en-US" altLang="zh-TW" dirty="0"/>
              <a:t>&amp;</a:t>
            </a:r>
            <a:r>
              <a:rPr lang="zh-TW" altLang="en-US" dirty="0"/>
              <a:t> </a:t>
            </a:r>
            <a:r>
              <a:rPr lang="zh-TW" altLang="zh-TW" dirty="0"/>
              <a:t>時間窗限制</a:t>
            </a:r>
            <a:r>
              <a:rPr lang="en-US" altLang="zh-TW" dirty="0"/>
              <a:t>)</a:t>
            </a:r>
          </a:p>
        </p:txBody>
      </p:sp>
      <p:sp>
        <p:nvSpPr>
          <p:cNvPr id="4" name="投影片編號版面配置區 3">
            <a:extLst>
              <a:ext uri="{FF2B5EF4-FFF2-40B4-BE49-F238E27FC236}">
                <a16:creationId xmlns:a16="http://schemas.microsoft.com/office/drawing/2014/main" id="{A879A534-DF38-D149-4D84-71384B761C6D}"/>
              </a:ext>
            </a:extLst>
          </p:cNvPr>
          <p:cNvSpPr>
            <a:spLocks noGrp="1"/>
          </p:cNvSpPr>
          <p:nvPr>
            <p:ph type="sldNum" sz="quarter" idx="5"/>
          </p:nvPr>
        </p:nvSpPr>
        <p:spPr/>
        <p:txBody>
          <a:bodyPr/>
          <a:lstStyle/>
          <a:p>
            <a:fld id="{C1134DBE-7CC5-4F23-841F-273EC3D50B7F}" type="slidenum">
              <a:rPr lang="zh-TW" altLang="en-US" smtClean="0"/>
              <a:t>16</a:t>
            </a:fld>
            <a:endParaRPr lang="zh-TW" altLang="en-US"/>
          </a:p>
        </p:txBody>
      </p:sp>
    </p:spTree>
    <p:extLst>
      <p:ext uri="{BB962C8B-B14F-4D97-AF65-F5344CB8AC3E}">
        <p14:creationId xmlns:p14="http://schemas.microsoft.com/office/powerpoint/2010/main" val="25019160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72A19-E296-2490-FB38-65E631B105E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AC288A4-4ED1-2C4F-BB6F-96E923880D5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8E23A75-A286-79E6-8C88-7B58897763CE}"/>
              </a:ext>
            </a:extLst>
          </p:cNvPr>
          <p:cNvSpPr>
            <a:spLocks noGrp="1"/>
          </p:cNvSpPr>
          <p:nvPr>
            <p:ph type="body" idx="1"/>
          </p:nvPr>
        </p:nvSpPr>
        <p:spPr/>
        <p:txBody>
          <a:bodyPr/>
          <a:lstStyle/>
          <a:p>
            <a:r>
              <a:rPr lang="en-US" altLang="zh-TW" dirty="0"/>
              <a:t>VRP </a:t>
            </a:r>
            <a:r>
              <a:rPr lang="zh-TW" altLang="en-US" dirty="0"/>
              <a:t>是組合最佳化與整數規劃領域中的 </a:t>
            </a:r>
            <a:r>
              <a:rPr lang="en-US" altLang="zh-TW" dirty="0"/>
              <a:t>NP-hard </a:t>
            </a:r>
            <a:r>
              <a:rPr lang="zh-TW" altLang="en-US" dirty="0"/>
              <a:t>問題。</a:t>
            </a:r>
            <a:endParaRPr lang="en-US" altLang="zh-TW" dirty="0"/>
          </a:p>
          <a:p>
            <a:r>
              <a:rPr lang="zh-TW" altLang="en-US" dirty="0"/>
              <a:t>其目標是在滿足各項配送限制的前提下，規劃出一組最佳配送路線，使車輛能夠完成所有顧客的配送需求，同時最小化配送成本。</a:t>
            </a:r>
          </a:p>
          <a:p>
            <a:endParaRPr lang="en-US" altLang="zh-TW" dirty="0"/>
          </a:p>
          <a:p>
            <a:r>
              <a:rPr lang="zh-TW" altLang="zh-TW" dirty="0"/>
              <a:t>標準 VRP 中，需要滿足以下幾項基本限制條件</a:t>
            </a:r>
            <a:endParaRPr lang="en-US" altLang="zh-TW" dirty="0"/>
          </a:p>
          <a:p>
            <a:pPr lvl="0"/>
            <a:r>
              <a:rPr lang="zh-TW" altLang="zh-TW" sz="1200" kern="1200" dirty="0">
                <a:solidFill>
                  <a:schemeClr val="tx1"/>
                </a:solidFill>
                <a:effectLst/>
                <a:latin typeface="+mn-lt"/>
                <a:ea typeface="+mn-ea"/>
                <a:cs typeface="+mn-cs"/>
              </a:rPr>
              <a:t>每輛車必須從配送中心出發並返回配送中心。</a:t>
            </a:r>
          </a:p>
          <a:p>
            <a:pPr lvl="0"/>
            <a:r>
              <a:rPr lang="zh-TW" altLang="zh-TW" sz="1200" kern="1200" dirty="0">
                <a:solidFill>
                  <a:schemeClr val="tx1"/>
                </a:solidFill>
                <a:effectLst/>
                <a:latin typeface="+mn-lt"/>
                <a:ea typeface="+mn-ea"/>
                <a:cs typeface="+mn-cs"/>
              </a:rPr>
              <a:t>每個顧客僅允許被拜訪一次且僅能由一輛車負責配送。</a:t>
            </a:r>
          </a:p>
          <a:p>
            <a:pPr lvl="0"/>
            <a:r>
              <a:rPr lang="zh-TW" altLang="zh-TW" sz="1200" kern="1200" dirty="0">
                <a:solidFill>
                  <a:schemeClr val="tx1"/>
                </a:solidFill>
                <a:effectLst/>
                <a:latin typeface="+mn-lt"/>
                <a:ea typeface="+mn-ea"/>
                <a:cs typeface="+mn-cs"/>
              </a:rPr>
              <a:t>每個顧客</a:t>
            </a:r>
            <a:r>
              <a:rPr lang="zh-TW" altLang="en-US" sz="1200" kern="1200" dirty="0">
                <a:solidFill>
                  <a:schemeClr val="tx1"/>
                </a:solidFill>
                <a:effectLst/>
                <a:latin typeface="+mn-lt"/>
                <a:ea typeface="+mn-ea"/>
                <a:cs typeface="+mn-cs"/>
              </a:rPr>
              <a:t>的需求</a:t>
            </a:r>
            <a:r>
              <a:rPr lang="zh-TW" altLang="zh-TW" sz="1200" kern="1200" dirty="0">
                <a:solidFill>
                  <a:schemeClr val="tx1"/>
                </a:solidFill>
                <a:effectLst/>
                <a:latin typeface="+mn-lt"/>
                <a:ea typeface="+mn-ea"/>
                <a:cs typeface="+mn-cs"/>
              </a:rPr>
              <a:t>都必須</a:t>
            </a:r>
            <a:r>
              <a:rPr lang="zh-TW" altLang="en-US" sz="1200" kern="1200" dirty="0">
                <a:solidFill>
                  <a:schemeClr val="tx1"/>
                </a:solidFill>
                <a:effectLst/>
                <a:latin typeface="+mn-lt"/>
                <a:ea typeface="+mn-ea"/>
                <a:cs typeface="+mn-cs"/>
              </a:rPr>
              <a:t>被滿足</a:t>
            </a:r>
            <a:r>
              <a:rPr lang="zh-TW" altLang="zh-TW" sz="1200" kern="1200" dirty="0">
                <a:solidFill>
                  <a:schemeClr val="tx1"/>
                </a:solidFill>
                <a:effectLst/>
                <a:latin typeface="+mn-lt"/>
                <a:ea typeface="+mn-ea"/>
                <a:cs typeface="+mn-cs"/>
              </a:rPr>
              <a:t>。</a:t>
            </a:r>
            <a:endParaRPr lang="en-US" altLang="zh-TW" sz="1200" kern="1200" dirty="0">
              <a:solidFill>
                <a:schemeClr val="tx1"/>
              </a:solidFill>
              <a:effectLst/>
              <a:latin typeface="+mn-lt"/>
              <a:ea typeface="+mn-ea"/>
              <a:cs typeface="+mn-cs"/>
            </a:endParaRPr>
          </a:p>
          <a:p>
            <a:pPr lvl="0"/>
            <a:endParaRPr lang="en-US" altLang="zh-TW" sz="1200" kern="1200" dirty="0">
              <a:solidFill>
                <a:schemeClr val="tx1"/>
              </a:solidFill>
              <a:effectLst/>
              <a:latin typeface="+mn-lt"/>
              <a:ea typeface="+mn-ea"/>
              <a:cs typeface="+mn-cs"/>
            </a:endParaRPr>
          </a:p>
          <a:p>
            <a:pPr lvl="0"/>
            <a:r>
              <a:rPr lang="en-US" altLang="zh-TW" sz="1200" kern="1200" dirty="0">
                <a:solidFill>
                  <a:schemeClr val="tx1"/>
                </a:solidFill>
                <a:effectLst/>
                <a:latin typeface="+mn-lt"/>
                <a:ea typeface="+mn-ea"/>
                <a:cs typeface="+mn-cs"/>
              </a:rPr>
              <a:t>Q&amp;A</a:t>
            </a:r>
          </a:p>
          <a:p>
            <a:pPr lvl="0"/>
            <a:r>
              <a:rPr lang="en-US" altLang="zh-TW" dirty="0"/>
              <a:t>1.</a:t>
            </a:r>
            <a:r>
              <a:rPr lang="zh-TW" altLang="en-US" dirty="0"/>
              <a:t> </a:t>
            </a:r>
            <a:r>
              <a:rPr lang="zh-TW" altLang="zh-TW" dirty="0"/>
              <a:t>VRP是NP-hard問題，這對你選擇用metaheuristic而不是exact method</a:t>
            </a:r>
            <a:r>
              <a:rPr lang="zh-TW" altLang="en-US" dirty="0"/>
              <a:t> </a:t>
            </a:r>
            <a:r>
              <a:rPr lang="en-US" altLang="zh-TW" dirty="0"/>
              <a:t>(ILP)</a:t>
            </a:r>
            <a:r>
              <a:rPr lang="zh-TW" altLang="en-US" dirty="0"/>
              <a:t> </a:t>
            </a:r>
            <a:r>
              <a:rPr lang="zh-TW" altLang="zh-TW" dirty="0"/>
              <a:t>來解決有什麼直接關係</a:t>
            </a:r>
            <a:endParaRPr lang="en-US" altLang="zh-TW" dirty="0"/>
          </a:p>
          <a:p>
            <a:pPr lvl="0"/>
            <a:r>
              <a:rPr lang="zh-TW" altLang="zh-TW" dirty="0"/>
              <a:t>因為VRP是NP-hard問題，當問題規模變大時，exact method要花非常多時間才能找到最優解，不符合實務上需要快速規劃的需求。所以選擇metaheuristic</a:t>
            </a:r>
            <a:endParaRPr lang="en-US" altLang="zh-TW" dirty="0"/>
          </a:p>
        </p:txBody>
      </p:sp>
      <p:sp>
        <p:nvSpPr>
          <p:cNvPr id="4" name="投影片編號版面配置區 3">
            <a:extLst>
              <a:ext uri="{FF2B5EF4-FFF2-40B4-BE49-F238E27FC236}">
                <a16:creationId xmlns:a16="http://schemas.microsoft.com/office/drawing/2014/main" id="{9CD009CE-2EDE-722C-BF90-B33BC5FA8CD3}"/>
              </a:ext>
            </a:extLst>
          </p:cNvPr>
          <p:cNvSpPr>
            <a:spLocks noGrp="1"/>
          </p:cNvSpPr>
          <p:nvPr>
            <p:ph type="sldNum" sz="quarter" idx="5"/>
          </p:nvPr>
        </p:nvSpPr>
        <p:spPr/>
        <p:txBody>
          <a:bodyPr/>
          <a:lstStyle/>
          <a:p>
            <a:fld id="{C1134DBE-7CC5-4F23-841F-273EC3D50B7F}" type="slidenum">
              <a:rPr lang="zh-TW" altLang="en-US" smtClean="0"/>
              <a:t>17</a:t>
            </a:fld>
            <a:endParaRPr lang="zh-TW" altLang="en-US"/>
          </a:p>
        </p:txBody>
      </p:sp>
    </p:spTree>
    <p:extLst>
      <p:ext uri="{BB962C8B-B14F-4D97-AF65-F5344CB8AC3E}">
        <p14:creationId xmlns:p14="http://schemas.microsoft.com/office/powerpoint/2010/main" val="7830555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BE992-4D24-B6CF-5B08-26DE7FBFB26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789354B-3A90-2123-A1DF-CA3465D19A1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359DD81-AADA-2CA5-6E73-4B4E645766FA}"/>
              </a:ext>
            </a:extLst>
          </p:cNvPr>
          <p:cNvSpPr>
            <a:spLocks noGrp="1"/>
          </p:cNvSpPr>
          <p:nvPr>
            <p:ph type="body" idx="1"/>
          </p:nvPr>
        </p:nvSpPr>
        <p:spPr/>
        <p:txBody>
          <a:bodyPr/>
          <a:lstStyle/>
          <a:p>
            <a:r>
              <a:rPr lang="zh-TW" altLang="zh-TW" dirty="0"/>
              <a:t>由於實際物流環境相當複雜，因此 VRP 衍生出許多不同的變體，以符合不同的配送需求。</a:t>
            </a:r>
            <a:endParaRPr lang="en-US" altLang="zh-TW" dirty="0"/>
          </a:p>
          <a:p>
            <a:r>
              <a:rPr lang="en-US" altLang="zh-TW" dirty="0"/>
              <a:t>CVRP</a:t>
            </a:r>
            <a:r>
              <a:rPr lang="zh-TW" altLang="en-US" dirty="0"/>
              <a:t>容量限制車輛途程問題，</a:t>
            </a:r>
            <a:r>
              <a:rPr lang="zh-TW" altLang="zh-TW" dirty="0"/>
              <a:t>除了基本 VRP 條件外，還必須考慮車輛容量限制，確保每輛車所承載的需求量不超過其載重上限</a:t>
            </a:r>
            <a:endParaRPr lang="en-US" altLang="zh-TW" dirty="0"/>
          </a:p>
          <a:p>
            <a:r>
              <a:rPr lang="zh-TW" altLang="zh-TW" dirty="0"/>
              <a:t>VRPTW具時間窗限制的車輛途程問題</a:t>
            </a:r>
            <a:r>
              <a:rPr lang="zh-TW" altLang="en-US" dirty="0"/>
              <a:t>，除了容量限制以外，還</a:t>
            </a:r>
            <a:r>
              <a:rPr lang="zh-TW" altLang="zh-TW" dirty="0"/>
              <a:t>要求車輛必須在顧客指定的時間區間內完成配送服務</a:t>
            </a:r>
            <a:endParaRPr lang="en-US" altLang="zh-TW" dirty="0"/>
          </a:p>
          <a:p>
            <a:r>
              <a:rPr lang="en-US" altLang="zh-TW" dirty="0"/>
              <a:t>VRPPC</a:t>
            </a:r>
            <a:r>
              <a:rPr lang="zh-TW" altLang="en-US" dirty="0"/>
              <a:t>具委外及外部運輸商的車輛路徑問題，需要同時考量</a:t>
            </a:r>
            <a:r>
              <a:rPr lang="zh-TW" altLang="zh-TW" dirty="0"/>
              <a:t>配送成本、車輛容量限制及委外決策等因素</a:t>
            </a:r>
            <a:endParaRPr lang="en-US" altLang="zh-TW" dirty="0"/>
          </a:p>
          <a:p>
            <a:endParaRPr lang="en-US" altLang="zh-TW" dirty="0"/>
          </a:p>
          <a:p>
            <a:r>
              <a:rPr lang="zh-TW" altLang="zh-TW" dirty="0"/>
              <a:t>本研究所探討的配送問題同時具有車輛容量限制、配送時間窗限制等特性，因此可視為結合 VRPTW </a:t>
            </a:r>
            <a:r>
              <a:rPr lang="zh-TW" altLang="en-US" dirty="0"/>
              <a:t>以及物流公司主線架構</a:t>
            </a:r>
            <a:r>
              <a:rPr lang="zh-TW" altLang="zh-TW" dirty="0"/>
              <a:t>特性</a:t>
            </a:r>
            <a:r>
              <a:rPr lang="zh-TW" altLang="en-US" dirty="0"/>
              <a:t>符合營運限制的</a:t>
            </a:r>
            <a:r>
              <a:rPr lang="zh-TW" altLang="zh-TW" dirty="0"/>
              <a:t>車輛</a:t>
            </a:r>
            <a:r>
              <a:rPr lang="zh-TW" altLang="en-US" dirty="0"/>
              <a:t>路徑</a:t>
            </a:r>
            <a:r>
              <a:rPr lang="zh-TW" altLang="zh-TW" dirty="0"/>
              <a:t>問題。</a:t>
            </a:r>
            <a:endParaRPr lang="en-US" altLang="zh-TW" dirty="0"/>
          </a:p>
          <a:p>
            <a:endParaRPr lang="en-US" altLang="zh-TW" dirty="0"/>
          </a:p>
          <a:p>
            <a:r>
              <a:rPr lang="en-US" altLang="zh-TW" dirty="0"/>
              <a:t>Q&amp;A</a:t>
            </a:r>
          </a:p>
          <a:p>
            <a:r>
              <a:rPr lang="en-US" altLang="zh-TW" dirty="0"/>
              <a:t>1.</a:t>
            </a:r>
            <a:r>
              <a:rPr lang="zh-TW" altLang="en-US" dirty="0"/>
              <a:t> </a:t>
            </a:r>
            <a:r>
              <a:rPr lang="zh-TW" altLang="zh-TW" dirty="0"/>
              <a:t>VRPPC</a:t>
            </a:r>
            <a:r>
              <a:rPr lang="zh-TW" altLang="en-US" dirty="0"/>
              <a:t>與你的研究的差異</a:t>
            </a:r>
            <a:endParaRPr lang="en-US" altLang="zh-TW" dirty="0"/>
          </a:p>
          <a:p>
            <a:r>
              <a:rPr lang="zh-TW" altLang="zh-TW" dirty="0"/>
              <a:t>VRPPC是一次性的全域分配問題，而我的研究建立在</a:t>
            </a:r>
            <a:r>
              <a:rPr lang="zh-TW" altLang="en-US" dirty="0"/>
              <a:t>主線架構</a:t>
            </a:r>
            <a:r>
              <a:rPr lang="zh-TW" altLang="zh-TW" dirty="0"/>
              <a:t>的前提下，針對超載部分做局部的資源再分配</a:t>
            </a:r>
            <a:endParaRPr lang="en-US" altLang="zh-TW" dirty="0"/>
          </a:p>
          <a:p>
            <a:r>
              <a:rPr lang="zh-TW" altLang="zh-TW" dirty="0"/>
              <a:t>VRPPC只決定哪些需求要委外，路線規劃由承運商自行處理；而</a:t>
            </a:r>
            <a:r>
              <a:rPr lang="zh-TW" altLang="en-US" dirty="0"/>
              <a:t>本</a:t>
            </a:r>
            <a:r>
              <a:rPr lang="zh-TW" altLang="zh-TW" dirty="0"/>
              <a:t>研究還需要由物流公司先規劃好支援路線，再交給外部承運商執行</a:t>
            </a:r>
            <a:endParaRPr lang="en-US" altLang="zh-TW" dirty="0"/>
          </a:p>
        </p:txBody>
      </p:sp>
      <p:sp>
        <p:nvSpPr>
          <p:cNvPr id="4" name="投影片編號版面配置區 3">
            <a:extLst>
              <a:ext uri="{FF2B5EF4-FFF2-40B4-BE49-F238E27FC236}">
                <a16:creationId xmlns:a16="http://schemas.microsoft.com/office/drawing/2014/main" id="{F9D36EC1-C688-738E-A346-0D2246E88493}"/>
              </a:ext>
            </a:extLst>
          </p:cNvPr>
          <p:cNvSpPr>
            <a:spLocks noGrp="1"/>
          </p:cNvSpPr>
          <p:nvPr>
            <p:ph type="sldNum" sz="quarter" idx="5"/>
          </p:nvPr>
        </p:nvSpPr>
        <p:spPr/>
        <p:txBody>
          <a:bodyPr/>
          <a:lstStyle/>
          <a:p>
            <a:fld id="{C1134DBE-7CC5-4F23-841F-273EC3D50B7F}" type="slidenum">
              <a:rPr lang="zh-TW" altLang="en-US" smtClean="0"/>
              <a:t>18</a:t>
            </a:fld>
            <a:endParaRPr lang="zh-TW" altLang="en-US"/>
          </a:p>
        </p:txBody>
      </p:sp>
    </p:spTree>
    <p:extLst>
      <p:ext uri="{BB962C8B-B14F-4D97-AF65-F5344CB8AC3E}">
        <p14:creationId xmlns:p14="http://schemas.microsoft.com/office/powerpoint/2010/main" val="15171552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F07E6-C9F4-5F5C-3201-CEC28A86A9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625A0DD-C77A-F26A-112F-99D76C9C711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6DF49FB-BF20-F6BA-2BD6-AE32F71B73DA}"/>
              </a:ext>
            </a:extLst>
          </p:cNvPr>
          <p:cNvSpPr>
            <a:spLocks noGrp="1"/>
          </p:cNvSpPr>
          <p:nvPr>
            <p:ph type="body" idx="1"/>
          </p:nvPr>
        </p:nvSpPr>
        <p:spPr/>
        <p:txBody>
          <a:bodyPr/>
          <a:lstStyle/>
          <a:p>
            <a:r>
              <a:rPr lang="zh-TW" altLang="zh-TW" dirty="0"/>
              <a:t>本頁介紹本研究最佳化模型的主要限制條件</a:t>
            </a:r>
            <a:endParaRPr lang="en-US" altLang="zh-TW" dirty="0"/>
          </a:p>
          <a:p>
            <a:r>
              <a:rPr lang="zh-TW" altLang="en-US" dirty="0"/>
              <a:t>分別為容量限制，確保車輛不會超載</a:t>
            </a:r>
          </a:p>
          <a:p>
            <a:r>
              <a:rPr lang="zh-TW" altLang="en-US" dirty="0"/>
              <a:t>時間窗限制，確保店鋪配送時間符合要求</a:t>
            </a:r>
          </a:p>
          <a:p>
            <a:r>
              <a:rPr lang="zh-TW" altLang="en-US" dirty="0"/>
              <a:t>配送時間限制，確保每條路線不超過最大工作時間</a:t>
            </a:r>
            <a:endParaRPr lang="en-US" altLang="zh-TW" dirty="0"/>
          </a:p>
        </p:txBody>
      </p:sp>
      <p:sp>
        <p:nvSpPr>
          <p:cNvPr id="4" name="投影片編號版面配置區 3">
            <a:extLst>
              <a:ext uri="{FF2B5EF4-FFF2-40B4-BE49-F238E27FC236}">
                <a16:creationId xmlns:a16="http://schemas.microsoft.com/office/drawing/2014/main" id="{75063F3D-E7C3-C424-4B3F-484155B6CC27}"/>
              </a:ext>
            </a:extLst>
          </p:cNvPr>
          <p:cNvSpPr>
            <a:spLocks noGrp="1"/>
          </p:cNvSpPr>
          <p:nvPr>
            <p:ph type="sldNum" sz="quarter" idx="5"/>
          </p:nvPr>
        </p:nvSpPr>
        <p:spPr/>
        <p:txBody>
          <a:bodyPr/>
          <a:lstStyle/>
          <a:p>
            <a:fld id="{C1134DBE-7CC5-4F23-841F-273EC3D50B7F}" type="slidenum">
              <a:rPr lang="zh-TW" altLang="en-US" smtClean="0"/>
              <a:t>19</a:t>
            </a:fld>
            <a:endParaRPr lang="zh-TW" altLang="en-US"/>
          </a:p>
        </p:txBody>
      </p:sp>
    </p:spTree>
    <p:extLst>
      <p:ext uri="{BB962C8B-B14F-4D97-AF65-F5344CB8AC3E}">
        <p14:creationId xmlns:p14="http://schemas.microsoft.com/office/powerpoint/2010/main" val="276466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4589F-4A7A-560F-A2C3-76772C716B4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55F40A1-9A12-4036-0ACA-A8F56AF434D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EF75648-E149-2F2F-9521-7BDD065D3366}"/>
              </a:ext>
            </a:extLst>
          </p:cNvPr>
          <p:cNvSpPr>
            <a:spLocks noGrp="1"/>
          </p:cNvSpPr>
          <p:nvPr>
            <p:ph type="body" idx="1"/>
          </p:nvPr>
        </p:nvSpPr>
        <p:spPr/>
        <p:txBody>
          <a:bodyPr/>
          <a:lstStyle/>
          <a:p>
            <a:r>
              <a:rPr lang="zh-TW" altLang="en-US" dirty="0"/>
              <a:t>根據物流公司的營運限制，</a:t>
            </a:r>
            <a:r>
              <a:rPr lang="zh-TW" altLang="zh-TW" dirty="0"/>
              <a:t>本研究所考量之限制如下。</a:t>
            </a:r>
          </a:p>
          <a:p>
            <a:r>
              <a:rPr lang="en-US" altLang="zh-TW" dirty="0"/>
              <a:t>1.</a:t>
            </a:r>
            <a:r>
              <a:rPr lang="zh-TW" altLang="en-US" dirty="0"/>
              <a:t> </a:t>
            </a:r>
            <a:r>
              <a:rPr lang="zh-TW" altLang="zh-TW" dirty="0"/>
              <a:t>原有主線的</a:t>
            </a:r>
            <a:r>
              <a:rPr lang="zh-TW" altLang="en-US" dirty="0"/>
              <a:t>店鋪</a:t>
            </a:r>
            <a:r>
              <a:rPr lang="zh-TW" altLang="zh-TW" dirty="0"/>
              <a:t>服務順序不得變更，以維持既有路線結構的穩定性。</a:t>
            </a:r>
            <a:endParaRPr lang="en-US" altLang="zh-TW" dirty="0"/>
          </a:p>
          <a:p>
            <a:r>
              <a:rPr lang="en-US" altLang="zh-TW" dirty="0"/>
              <a:t>2.</a:t>
            </a:r>
            <a:r>
              <a:rPr lang="zh-TW" altLang="en-US" dirty="0"/>
              <a:t> </a:t>
            </a:r>
            <a:r>
              <a:rPr lang="zh-TW" altLang="zh-TW" dirty="0"/>
              <a:t>將路線調整幅度最小化，以維持原有主線架構的完整性。</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3.</a:t>
            </a:r>
            <a:r>
              <a:rPr lang="zh-TW" altLang="en-US" dirty="0"/>
              <a:t> </a:t>
            </a:r>
            <a:r>
              <a:rPr lang="zh-TW" altLang="zh-TW" dirty="0"/>
              <a:t>車輛載重不得超過其容量限制，以確保配送過程中的可行性與安全性。</a:t>
            </a:r>
          </a:p>
          <a:p>
            <a:r>
              <a:rPr lang="en-US" altLang="zh-TW" dirty="0"/>
              <a:t>4.</a:t>
            </a:r>
            <a:r>
              <a:rPr lang="zh-TW" altLang="en-US" dirty="0"/>
              <a:t> </a:t>
            </a:r>
            <a:r>
              <a:rPr lang="zh-TW" altLang="zh-TW" dirty="0"/>
              <a:t>配送時間窗設定為預定時間前一小時至後三十分鐘之內，且不得發生提早或延遲服務的情況。</a:t>
            </a:r>
          </a:p>
          <a:p>
            <a:r>
              <a:rPr lang="en-US" altLang="zh-TW" dirty="0"/>
              <a:t>5.</a:t>
            </a:r>
            <a:r>
              <a:rPr lang="zh-TW" altLang="en-US" dirty="0"/>
              <a:t> </a:t>
            </a:r>
            <a:r>
              <a:rPr lang="zh-TW" altLang="zh-TW" dirty="0"/>
              <a:t>整體配送時間不得超過五小時，以符合實際營運時效需求。</a:t>
            </a:r>
            <a:endParaRPr lang="en-US" altLang="zh-TW" dirty="0"/>
          </a:p>
          <a:p>
            <a:endParaRPr lang="en-US" altLang="zh-TW" dirty="0"/>
          </a:p>
          <a:p>
            <a:r>
              <a:rPr lang="en-US" altLang="zh-TW" dirty="0"/>
              <a:t>Q&amp;A</a:t>
            </a:r>
          </a:p>
          <a:p>
            <a:r>
              <a:rPr lang="zh-TW" altLang="en-US" sz="1200" b="0" i="0" kern="1200" dirty="0">
                <a:solidFill>
                  <a:schemeClr val="tx1"/>
                </a:solidFill>
                <a:effectLst/>
                <a:latin typeface="+mn-lt"/>
                <a:ea typeface="+mn-ea"/>
                <a:cs typeface="+mn-cs"/>
              </a:rPr>
              <a:t>本頁</a:t>
            </a:r>
            <a:r>
              <a:rPr lang="zh-TW" altLang="zh-TW" sz="1200" b="0" i="0" kern="1200" dirty="0">
                <a:solidFill>
                  <a:schemeClr val="tx1"/>
                </a:solidFill>
                <a:effectLst/>
                <a:latin typeface="+mn-lt"/>
                <a:ea typeface="+mn-ea"/>
                <a:cs typeface="+mn-cs"/>
              </a:rPr>
              <a:t>多了「主路線固定順序不可更動」、「路線修改幅度最小化」這兩條，這兩條算是哪一類限制</a:t>
            </a:r>
            <a:endParaRPr lang="en-US" altLang="zh-TW" dirty="0"/>
          </a:p>
          <a:p>
            <a:r>
              <a:rPr lang="zh-TW" altLang="en-US" dirty="0"/>
              <a:t>前述公式限制為</a:t>
            </a:r>
            <a:r>
              <a:rPr lang="zh-TW" altLang="zh-TW" dirty="0"/>
              <a:t>VRP問題中常見的標準限制</a:t>
            </a:r>
            <a:endParaRPr lang="en-US" altLang="zh-TW" dirty="0"/>
          </a:p>
          <a:p>
            <a:r>
              <a:rPr lang="zh-TW" altLang="zh-TW" dirty="0"/>
              <a:t>所以單獨列一頁先說明其定義</a:t>
            </a:r>
            <a:endParaRPr lang="en-US" altLang="zh-TW" dirty="0"/>
          </a:p>
          <a:p>
            <a:r>
              <a:rPr lang="zh-TW" altLang="en-US" dirty="0"/>
              <a:t>本</a:t>
            </a:r>
            <a:r>
              <a:rPr lang="zh-TW" altLang="zh-TW" dirty="0"/>
              <a:t>頁多出的「主路線順序固定不可更動」與「路線修改幅度最小化」</a:t>
            </a:r>
            <a:endParaRPr lang="en-US" altLang="zh-TW" dirty="0"/>
          </a:p>
          <a:p>
            <a:r>
              <a:rPr lang="zh-TW" altLang="zh-TW" dirty="0"/>
              <a:t>是本研究因為</a:t>
            </a:r>
            <a:r>
              <a:rPr lang="zh-TW" altLang="en-US" dirty="0"/>
              <a:t>物流公司主線架構</a:t>
            </a:r>
            <a:r>
              <a:rPr lang="zh-TW" altLang="zh-TW" dirty="0"/>
              <a:t>這個前提，所衍生出來的限制條件，屬於本研究情境特有的限制</a:t>
            </a:r>
            <a:endParaRPr lang="zh-TW" altLang="en-US" dirty="0"/>
          </a:p>
          <a:p>
            <a:endParaRPr lang="zh-TW" altLang="zh-TW" dirty="0"/>
          </a:p>
        </p:txBody>
      </p:sp>
      <p:sp>
        <p:nvSpPr>
          <p:cNvPr id="4" name="投影片編號版面配置區 3">
            <a:extLst>
              <a:ext uri="{FF2B5EF4-FFF2-40B4-BE49-F238E27FC236}">
                <a16:creationId xmlns:a16="http://schemas.microsoft.com/office/drawing/2014/main" id="{C55BFEF2-242E-33AC-7FE6-D9C056259784}"/>
              </a:ext>
            </a:extLst>
          </p:cNvPr>
          <p:cNvSpPr>
            <a:spLocks noGrp="1"/>
          </p:cNvSpPr>
          <p:nvPr>
            <p:ph type="sldNum" sz="quarter" idx="5"/>
          </p:nvPr>
        </p:nvSpPr>
        <p:spPr/>
        <p:txBody>
          <a:bodyPr/>
          <a:lstStyle/>
          <a:p>
            <a:fld id="{C1134DBE-7CC5-4F23-841F-273EC3D50B7F}" type="slidenum">
              <a:rPr lang="zh-TW" altLang="en-US" smtClean="0"/>
              <a:t>20</a:t>
            </a:fld>
            <a:endParaRPr lang="zh-TW" altLang="en-US"/>
          </a:p>
        </p:txBody>
      </p:sp>
    </p:spTree>
    <p:extLst>
      <p:ext uri="{BB962C8B-B14F-4D97-AF65-F5344CB8AC3E}">
        <p14:creationId xmlns:p14="http://schemas.microsoft.com/office/powerpoint/2010/main" val="3797960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A796-99BE-69F8-0FF1-8E8AE04333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060558-5D27-679F-0281-7FA424DA0AE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513C1DB-3122-C002-21CD-F2D6A5A88573}"/>
              </a:ext>
            </a:extLst>
          </p:cNvPr>
          <p:cNvSpPr>
            <a:spLocks noGrp="1"/>
          </p:cNvSpPr>
          <p:nvPr>
            <p:ph type="body" idx="1"/>
          </p:nvPr>
        </p:nvSpPr>
        <p:spPr/>
        <p:txBody>
          <a:bodyPr/>
          <a:lstStyle/>
          <a:p>
            <a:r>
              <a:rPr lang="zh-TW" altLang="en-US" dirty="0"/>
              <a:t>本研究的目標函數採用階層式目標的設計</a:t>
            </a:r>
          </a:p>
          <a:p>
            <a:r>
              <a:rPr lang="zh-TW" altLang="en-US" dirty="0"/>
              <a:t>主要目標是最小化支援路線的數量</a:t>
            </a:r>
          </a:p>
          <a:p>
            <a:r>
              <a:rPr lang="zh-TW" altLang="en-US" dirty="0"/>
              <a:t>次要目標是最小化總行駛距離</a:t>
            </a:r>
          </a:p>
          <a:p>
            <a:endParaRPr lang="zh-TW" altLang="zh-TW" dirty="0"/>
          </a:p>
        </p:txBody>
      </p:sp>
      <p:sp>
        <p:nvSpPr>
          <p:cNvPr id="4" name="投影片編號版面配置區 3">
            <a:extLst>
              <a:ext uri="{FF2B5EF4-FFF2-40B4-BE49-F238E27FC236}">
                <a16:creationId xmlns:a16="http://schemas.microsoft.com/office/drawing/2014/main" id="{0734FEB2-2F62-275A-11D6-84B65C6A1FFA}"/>
              </a:ext>
            </a:extLst>
          </p:cNvPr>
          <p:cNvSpPr>
            <a:spLocks noGrp="1"/>
          </p:cNvSpPr>
          <p:nvPr>
            <p:ph type="sldNum" sz="quarter" idx="5"/>
          </p:nvPr>
        </p:nvSpPr>
        <p:spPr/>
        <p:txBody>
          <a:bodyPr/>
          <a:lstStyle/>
          <a:p>
            <a:fld id="{C1134DBE-7CC5-4F23-841F-273EC3D50B7F}" type="slidenum">
              <a:rPr lang="zh-TW" altLang="en-US" smtClean="0"/>
              <a:t>21</a:t>
            </a:fld>
            <a:endParaRPr lang="zh-TW" altLang="en-US"/>
          </a:p>
        </p:txBody>
      </p:sp>
    </p:spTree>
    <p:extLst>
      <p:ext uri="{BB962C8B-B14F-4D97-AF65-F5344CB8AC3E}">
        <p14:creationId xmlns:p14="http://schemas.microsoft.com/office/powerpoint/2010/main" val="6041576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EB929-D201-1660-716F-AC39835880E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4234CCB-E01C-3DD1-A764-677B1165D10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A179699-E115-9B12-4521-4760523489E3}"/>
              </a:ext>
            </a:extLst>
          </p:cNvPr>
          <p:cNvSpPr>
            <a:spLocks noGrp="1"/>
          </p:cNvSpPr>
          <p:nvPr>
            <p:ph type="body" idx="1"/>
          </p:nvPr>
        </p:nvSpPr>
        <p:spPr/>
        <p:txBody>
          <a:bodyPr/>
          <a:lstStyle/>
          <a:p>
            <a:r>
              <a:rPr lang="zh-TW" altLang="en-US" dirty="0"/>
              <a:t>接著介紹路由模組的店鋪抽取階段</a:t>
            </a:r>
            <a:endParaRPr lang="en-US" altLang="zh-TW" dirty="0"/>
          </a:p>
          <a:p>
            <a:r>
              <a:rPr lang="zh-TW" altLang="en-US" dirty="0"/>
              <a:t>店鋪抽取</a:t>
            </a:r>
            <a:r>
              <a:rPr lang="zh-TW" altLang="zh-TW" dirty="0"/>
              <a:t>主要用來解決因需求波動所造成的車輛超載問題</a:t>
            </a:r>
            <a:endParaRPr lang="en-US" altLang="zh-TW" dirty="0"/>
          </a:p>
          <a:p>
            <a:r>
              <a:rPr lang="zh-TW" altLang="zh-TW" dirty="0"/>
              <a:t>透過從超載主路線中選取並移除部分店舖，使</a:t>
            </a:r>
            <a:r>
              <a:rPr lang="zh-TW" altLang="en-US" dirty="0"/>
              <a:t>主</a:t>
            </a:r>
            <a:r>
              <a:rPr lang="zh-TW" altLang="zh-TW" dirty="0"/>
              <a:t>線能符合容量與時間窗限制。</a:t>
            </a:r>
          </a:p>
          <a:p>
            <a:r>
              <a:rPr lang="zh-TW" altLang="zh-TW" dirty="0"/>
              <a:t>為解決此問題，本研究採用</a:t>
            </a:r>
            <a:r>
              <a:rPr lang="zh-TW" altLang="en-US" dirty="0"/>
              <a:t>合作式</a:t>
            </a:r>
            <a:r>
              <a:rPr lang="zh-TW" altLang="zh-TW" dirty="0"/>
              <a:t>共</a:t>
            </a:r>
            <a:r>
              <a:rPr lang="zh-TW" altLang="en-US" dirty="0"/>
              <a:t>同</a:t>
            </a:r>
            <a:r>
              <a:rPr lang="zh-TW" altLang="zh-TW" dirty="0"/>
              <a:t>演化</a:t>
            </a:r>
            <a:r>
              <a:rPr lang="zh-TW" altLang="en-US" dirty="0"/>
              <a:t>基因</a:t>
            </a:r>
            <a:r>
              <a:rPr lang="zh-TW" altLang="zh-TW" dirty="0"/>
              <a:t>演算法（CCGA）</a:t>
            </a:r>
            <a:endParaRPr lang="en-US" altLang="zh-TW" dirty="0"/>
          </a:p>
          <a:p>
            <a:r>
              <a:rPr lang="zh-TW" altLang="zh-TW" dirty="0"/>
              <a:t>其核心概念是將原始問題拆解為多個較小的子問題，並針對每個子問題分別使用</a:t>
            </a:r>
            <a:r>
              <a:rPr lang="zh-TW" altLang="en-US" dirty="0"/>
              <a:t>基因</a:t>
            </a:r>
            <a:r>
              <a:rPr lang="zh-TW" altLang="zh-TW" dirty="0"/>
              <a:t>演算法進行獨立演化搜尋。</a:t>
            </a:r>
          </a:p>
          <a:p>
            <a:r>
              <a:rPr lang="zh-TW" altLang="zh-TW" dirty="0"/>
              <a:t>最後再將各子問題的部分解進行整合，形成完整解，並以整體結果進行評估。</a:t>
            </a:r>
            <a:endParaRPr lang="en-US" altLang="zh-TW" dirty="0"/>
          </a:p>
          <a:p>
            <a:endParaRPr lang="en-US" altLang="zh-TW" dirty="0"/>
          </a:p>
          <a:p>
            <a:r>
              <a:rPr lang="zh-TW" altLang="en-US" dirty="0"/>
              <a:t>適應值函數分別針對</a:t>
            </a:r>
            <a:r>
              <a:rPr lang="zh-TW" altLang="zh-TW" dirty="0"/>
              <a:t>支援線車輛數量</a:t>
            </a:r>
            <a:r>
              <a:rPr lang="zh-TW" altLang="en-US" dirty="0"/>
              <a:t>及對被抽取店鋪數量</a:t>
            </a:r>
            <a:r>
              <a:rPr lang="zh-TW" altLang="zh-TW" dirty="0"/>
              <a:t>設置獨立的懲罰係數</a:t>
            </a:r>
            <a:r>
              <a:rPr lang="zh-TW" altLang="en-US" dirty="0"/>
              <a:t>，以</a:t>
            </a:r>
            <a:r>
              <a:rPr lang="zh-TW" altLang="zh-TW" dirty="0"/>
              <a:t>降低</a:t>
            </a:r>
            <a:r>
              <a:rPr lang="zh-TW" altLang="en-US" dirty="0"/>
              <a:t>支援線</a:t>
            </a:r>
            <a:r>
              <a:rPr lang="zh-TW" altLang="zh-TW" dirty="0"/>
              <a:t>車輛使用需求，並避免過度抽取店舖</a:t>
            </a:r>
            <a:endParaRPr lang="en-US" altLang="zh-TW" dirty="0"/>
          </a:p>
          <a:p>
            <a:endParaRPr lang="en-US" altLang="zh-TW" dirty="0"/>
          </a:p>
          <a:p>
            <a:r>
              <a:rPr lang="en-US" altLang="zh-TW" dirty="0"/>
              <a:t>Q&amp;A</a:t>
            </a:r>
          </a:p>
          <a:p>
            <a:r>
              <a:rPr lang="en-US" altLang="zh-TW" dirty="0"/>
              <a:t>1.</a:t>
            </a:r>
            <a:r>
              <a:rPr lang="zh-TW" altLang="en-US" dirty="0"/>
              <a:t> 權重如何設置的</a:t>
            </a:r>
            <a:r>
              <a:rPr lang="en-US" altLang="zh-TW" dirty="0"/>
              <a:t>?</a:t>
            </a:r>
          </a:p>
          <a:p>
            <a:r>
              <a:rPr lang="zh-TW" altLang="en-US" dirty="0"/>
              <a:t>權重部分，我們透過敏感度分析測試了 </a:t>
            </a:r>
            <a:r>
              <a:rPr lang="en-US" altLang="zh-TW" dirty="0"/>
              <a:t>w=0, 10, 100,</a:t>
            </a:r>
            <a:r>
              <a:rPr lang="zh-TW" altLang="en-US" dirty="0"/>
              <a:t> </a:t>
            </a:r>
            <a:r>
              <a:rPr lang="en-US" altLang="zh-TW" dirty="0"/>
              <a:t>200</a:t>
            </a:r>
          </a:p>
          <a:p>
            <a:r>
              <a:rPr lang="zh-TW" altLang="en-US" dirty="0"/>
              <a:t>數據顯示當 </a:t>
            </a:r>
            <a:r>
              <a:rPr lang="en-US" altLang="zh-TW" dirty="0"/>
              <a:t>w=100 </a:t>
            </a:r>
            <a:r>
              <a:rPr lang="zh-TW" altLang="en-US" dirty="0"/>
              <a:t>時，平均抽取量會穩定收斂在 </a:t>
            </a:r>
            <a:r>
              <a:rPr lang="en-US" altLang="zh-TW" dirty="0"/>
              <a:t>67 </a:t>
            </a:r>
            <a:r>
              <a:rPr lang="zh-TW" altLang="en-US" dirty="0"/>
              <a:t>間左右，因此定為 </a:t>
            </a:r>
            <a:r>
              <a:rPr lang="en-US" altLang="zh-TW" dirty="0"/>
              <a:t>100</a:t>
            </a:r>
          </a:p>
          <a:p>
            <a:endParaRPr lang="en-US" altLang="zh-TW" dirty="0"/>
          </a:p>
          <a:p>
            <a:r>
              <a:rPr lang="en-US" altLang="zh-TW" dirty="0"/>
              <a:t>2.</a:t>
            </a:r>
            <a:r>
              <a:rPr lang="zh-TW" altLang="zh-TW" dirty="0"/>
              <a:t>為什麼店鋪抽取要使用CCGA，而不是直接使用一般GA</a:t>
            </a:r>
            <a:endParaRPr lang="en-US" altLang="zh-TW" dirty="0"/>
          </a:p>
          <a:p>
            <a:r>
              <a:rPr lang="en-US" altLang="zh-TW" dirty="0"/>
              <a:t>CCGA</a:t>
            </a:r>
            <a:r>
              <a:rPr lang="zh-TW" altLang="zh-TW" dirty="0"/>
              <a:t>透過將問題拆解為多個獨立的子問題，大幅降低了搜尋複雜度</a:t>
            </a:r>
            <a:endParaRPr lang="en-US" altLang="zh-TW" dirty="0"/>
          </a:p>
          <a:p>
            <a:r>
              <a:rPr lang="zh-TW" altLang="en-US" dirty="0"/>
              <a:t>並且根據物流公司主線架構進行拆分，分別進行演化搜尋</a:t>
            </a:r>
            <a:endParaRPr lang="en-US" altLang="zh-TW" dirty="0"/>
          </a:p>
        </p:txBody>
      </p:sp>
      <p:sp>
        <p:nvSpPr>
          <p:cNvPr id="4" name="投影片編號版面配置區 3">
            <a:extLst>
              <a:ext uri="{FF2B5EF4-FFF2-40B4-BE49-F238E27FC236}">
                <a16:creationId xmlns:a16="http://schemas.microsoft.com/office/drawing/2014/main" id="{DDF1F566-5A5B-9298-ADF7-DB1B24766CFF}"/>
              </a:ext>
            </a:extLst>
          </p:cNvPr>
          <p:cNvSpPr>
            <a:spLocks noGrp="1"/>
          </p:cNvSpPr>
          <p:nvPr>
            <p:ph type="sldNum" sz="quarter" idx="5"/>
          </p:nvPr>
        </p:nvSpPr>
        <p:spPr/>
        <p:txBody>
          <a:bodyPr/>
          <a:lstStyle/>
          <a:p>
            <a:fld id="{C1134DBE-7CC5-4F23-841F-273EC3D50B7F}" type="slidenum">
              <a:rPr lang="zh-TW" altLang="en-US" smtClean="0"/>
              <a:t>22</a:t>
            </a:fld>
            <a:endParaRPr lang="zh-TW" altLang="en-US"/>
          </a:p>
        </p:txBody>
      </p:sp>
    </p:spTree>
    <p:extLst>
      <p:ext uri="{BB962C8B-B14F-4D97-AF65-F5344CB8AC3E}">
        <p14:creationId xmlns:p14="http://schemas.microsoft.com/office/powerpoint/2010/main" val="20722414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A1659-C291-A4C7-59CB-D8672C77E30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19A83FC-8B05-A895-B63E-2F61130F779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F4B9F69-CA43-B58A-F7DB-4513464D188D}"/>
              </a:ext>
            </a:extLst>
          </p:cNvPr>
          <p:cNvSpPr>
            <a:spLocks noGrp="1"/>
          </p:cNvSpPr>
          <p:nvPr>
            <p:ph type="body" idx="1"/>
          </p:nvPr>
        </p:nvSpPr>
        <p:spPr/>
        <p:txBody>
          <a:bodyPr/>
          <a:lstStyle/>
          <a:p>
            <a:r>
              <a:rPr lang="zh-TW" altLang="zh-TW" dirty="0"/>
              <a:t>在候選店舖分配階段，會將候選店舖重新</a:t>
            </a:r>
            <a:r>
              <a:rPr lang="zh-TW" altLang="en-US" dirty="0"/>
              <a:t>嘗試</a:t>
            </a:r>
            <a:r>
              <a:rPr lang="zh-TW" altLang="zh-TW" dirty="0"/>
              <a:t>插入至具備剩餘容量的主線中，以提升路線利用率並減少對支援路線的需求</a:t>
            </a:r>
          </a:p>
          <a:p>
            <a:r>
              <a:rPr lang="zh-TW" altLang="zh-TW" dirty="0"/>
              <a:t>為了解決此問題，本研究採用混合式蟻群最佳化演算法</a:t>
            </a:r>
            <a:endParaRPr lang="en-US" altLang="zh-TW" dirty="0"/>
          </a:p>
          <a:p>
            <a:r>
              <a:rPr lang="zh-TW" altLang="zh-TW" dirty="0"/>
              <a:t>HACO 結合了蟻群最佳化（ACO）與變動鄰域下降法（VND）</a:t>
            </a:r>
          </a:p>
          <a:p>
            <a:r>
              <a:rPr lang="zh-TW" altLang="zh-TW" dirty="0"/>
              <a:t>其中，ACO透過模擬螞蟻之間的費洛蒙傳遞機制來引導搜尋方向建構解</a:t>
            </a:r>
            <a:endParaRPr lang="en-US" altLang="zh-TW" dirty="0"/>
          </a:p>
          <a:p>
            <a:r>
              <a:rPr lang="zh-TW" altLang="zh-TW" dirty="0"/>
              <a:t>而 VND 則透過依序探索多種鄰域結構以跳</a:t>
            </a:r>
            <a:r>
              <a:rPr lang="zh-TW" altLang="en-US" dirty="0"/>
              <a:t>脫</a:t>
            </a:r>
            <a:r>
              <a:rPr lang="zh-TW" altLang="zh-TW" dirty="0"/>
              <a:t>局部最佳解提升</a:t>
            </a:r>
            <a:r>
              <a:rPr lang="zh-TW" altLang="en-US" dirty="0"/>
              <a:t>規劃</a:t>
            </a:r>
            <a:r>
              <a:rPr lang="zh-TW" altLang="zh-TW" dirty="0"/>
              <a:t>品質</a:t>
            </a:r>
            <a:endParaRPr lang="en-US" altLang="zh-TW" dirty="0"/>
          </a:p>
          <a:p>
            <a:endParaRPr lang="en-US" altLang="zh-TW" dirty="0"/>
          </a:p>
          <a:p>
            <a:r>
              <a:rPr lang="en-US" altLang="zh-TW" dirty="0"/>
              <a:t>Q&amp;A</a:t>
            </a:r>
          </a:p>
          <a:p>
            <a:r>
              <a:rPr lang="en-US" altLang="zh-TW" dirty="0"/>
              <a:t>VND</a:t>
            </a:r>
            <a:r>
              <a:rPr lang="zh-TW" altLang="en-US" dirty="0"/>
              <a:t>的鄰域結構</a:t>
            </a:r>
            <a:endParaRPr lang="en-US" altLang="zh-TW" dirty="0"/>
          </a:p>
          <a:p>
            <a:r>
              <a:rPr lang="en-US" altLang="zh-TW" dirty="0"/>
              <a:t>2-opt</a:t>
            </a:r>
            <a:r>
              <a:rPr lang="zh-TW" altLang="en-US" dirty="0"/>
              <a:t>、</a:t>
            </a:r>
            <a:r>
              <a:rPr lang="en-US" altLang="zh-TW" dirty="0"/>
              <a:t>swap</a:t>
            </a:r>
            <a:r>
              <a:rPr lang="zh-TW" altLang="en-US" dirty="0"/>
              <a:t>、</a:t>
            </a:r>
            <a:r>
              <a:rPr lang="en-US" altLang="zh-TW" dirty="0"/>
              <a:t>relocation</a:t>
            </a:r>
            <a:r>
              <a:rPr lang="zh-TW" altLang="en-US" dirty="0"/>
              <a:t>、</a:t>
            </a:r>
            <a:r>
              <a:rPr lang="en-US" altLang="zh-TW" dirty="0"/>
              <a:t>cross exchange</a:t>
            </a: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77C245F9-59BF-0C85-507A-0EA2F6DAB44A}"/>
              </a:ext>
            </a:extLst>
          </p:cNvPr>
          <p:cNvSpPr>
            <a:spLocks noGrp="1"/>
          </p:cNvSpPr>
          <p:nvPr>
            <p:ph type="sldNum" sz="quarter" idx="5"/>
          </p:nvPr>
        </p:nvSpPr>
        <p:spPr/>
        <p:txBody>
          <a:bodyPr/>
          <a:lstStyle/>
          <a:p>
            <a:fld id="{C1134DBE-7CC5-4F23-841F-273EC3D50B7F}" type="slidenum">
              <a:rPr lang="zh-TW" altLang="en-US" smtClean="0"/>
              <a:t>23</a:t>
            </a:fld>
            <a:endParaRPr lang="zh-TW" altLang="en-US"/>
          </a:p>
        </p:txBody>
      </p:sp>
    </p:spTree>
    <p:extLst>
      <p:ext uri="{BB962C8B-B14F-4D97-AF65-F5344CB8AC3E}">
        <p14:creationId xmlns:p14="http://schemas.microsoft.com/office/powerpoint/2010/main" val="29547399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F9DE1-440C-7FBA-37E9-3934D47C2E0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200B24E-8190-1C23-0A3A-70E046FA40B7}"/>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9B70E49E-8B91-7559-7FE4-47E56933BE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針對無法編排進主路線的店舖，會進行支援線規劃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本研究採用多蟻群系統（</a:t>
            </a:r>
            <a:r>
              <a:rPr lang="en-US" altLang="zh-TW" dirty="0"/>
              <a:t>MACS</a:t>
            </a:r>
            <a:r>
              <a:rPr lang="zh-TW" altLang="en-US" dirty="0"/>
              <a:t>），</a:t>
            </a:r>
            <a:r>
              <a:rPr lang="zh-TW" altLang="zh-TW" dirty="0"/>
              <a:t>由兩個蟻群組成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其中，</a:t>
            </a:r>
            <a:r>
              <a:rPr lang="en-US" altLang="zh-TW" dirty="0"/>
              <a:t>ACS-VEI</a:t>
            </a:r>
            <a:r>
              <a:rPr lang="zh-TW" altLang="zh-TW" dirty="0"/>
              <a:t>透過在路線建構過程中提升店舖覆蓋率來減少所需車輛</a:t>
            </a:r>
            <a:r>
              <a:rPr lang="zh-TW" altLang="en-US" dirty="0"/>
              <a:t>，以</a:t>
            </a:r>
            <a:r>
              <a:rPr lang="zh-TW" altLang="zh-TW" dirty="0"/>
              <a:t>最小化車輛數量</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而 </a:t>
            </a:r>
            <a:r>
              <a:rPr lang="en-US" altLang="zh-TW" dirty="0"/>
              <a:t>ACS-DIST </a:t>
            </a:r>
            <a:r>
              <a:rPr lang="zh-TW" altLang="en-US" dirty="0"/>
              <a:t>則在路線建構完成後結合局部搜尋策略進行局部最佳化，以最小化總行駛距離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本研究於</a:t>
            </a:r>
            <a:r>
              <a:rPr lang="en-US" altLang="zh-TW" dirty="0"/>
              <a:t>ACS-DIST</a:t>
            </a:r>
            <a:r>
              <a:rPr lang="zh-TW" altLang="en-US" dirty="0"/>
              <a:t>所使用之局部搜尋策略為</a:t>
            </a:r>
            <a:r>
              <a:rPr lang="en-US" altLang="zh-TW" dirty="0"/>
              <a:t>VND</a:t>
            </a:r>
          </a:p>
        </p:txBody>
      </p:sp>
      <p:sp>
        <p:nvSpPr>
          <p:cNvPr id="4" name="投影片編號版面配置區 3">
            <a:extLst>
              <a:ext uri="{FF2B5EF4-FFF2-40B4-BE49-F238E27FC236}">
                <a16:creationId xmlns:a16="http://schemas.microsoft.com/office/drawing/2014/main" id="{033F782B-9695-7503-87B6-50FD5FEE1901}"/>
              </a:ext>
            </a:extLst>
          </p:cNvPr>
          <p:cNvSpPr>
            <a:spLocks noGrp="1"/>
          </p:cNvSpPr>
          <p:nvPr>
            <p:ph type="sldNum" sz="quarter" idx="5"/>
          </p:nvPr>
        </p:nvSpPr>
        <p:spPr/>
        <p:txBody>
          <a:bodyPr/>
          <a:lstStyle/>
          <a:p>
            <a:fld id="{C1134DBE-7CC5-4F23-841F-273EC3D50B7F}" type="slidenum">
              <a:rPr lang="zh-TW" altLang="en-US" smtClean="0"/>
              <a:t>24</a:t>
            </a:fld>
            <a:endParaRPr lang="zh-TW" altLang="en-US"/>
          </a:p>
        </p:txBody>
      </p:sp>
    </p:spTree>
    <p:extLst>
      <p:ext uri="{BB962C8B-B14F-4D97-AF65-F5344CB8AC3E}">
        <p14:creationId xmlns:p14="http://schemas.microsoft.com/office/powerpoint/2010/main" val="2285160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8D303-9C7D-E4CC-2300-2935CFB5568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A0ABB58-D1DB-6C1C-EB82-E6F75950463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8A538F9-0058-51E6-0A05-959F6B2B9D86}"/>
              </a:ext>
            </a:extLst>
          </p:cNvPr>
          <p:cNvSpPr>
            <a:spLocks noGrp="1"/>
          </p:cNvSpPr>
          <p:nvPr>
            <p:ph type="body" idx="1"/>
          </p:nvPr>
        </p:nvSpPr>
        <p:spPr/>
        <p:txBody>
          <a:bodyPr/>
          <a:lstStyle/>
          <a:p>
            <a:r>
              <a:rPr lang="zh-TW" altLang="en-US" dirty="0"/>
              <a:t>接下來介紹本研究評估模組</a:t>
            </a:r>
          </a:p>
        </p:txBody>
      </p:sp>
      <p:sp>
        <p:nvSpPr>
          <p:cNvPr id="4" name="投影片編號版面配置區 3">
            <a:extLst>
              <a:ext uri="{FF2B5EF4-FFF2-40B4-BE49-F238E27FC236}">
                <a16:creationId xmlns:a16="http://schemas.microsoft.com/office/drawing/2014/main" id="{ECDF5527-E784-CDC6-BEAC-B85F416EB538}"/>
              </a:ext>
            </a:extLst>
          </p:cNvPr>
          <p:cNvSpPr>
            <a:spLocks noGrp="1"/>
          </p:cNvSpPr>
          <p:nvPr>
            <p:ph type="sldNum" sz="quarter" idx="5"/>
          </p:nvPr>
        </p:nvSpPr>
        <p:spPr/>
        <p:txBody>
          <a:bodyPr/>
          <a:lstStyle/>
          <a:p>
            <a:fld id="{C1134DBE-7CC5-4F23-841F-273EC3D50B7F}" type="slidenum">
              <a:rPr lang="zh-TW" altLang="en-US" smtClean="0"/>
              <a:t>25</a:t>
            </a:fld>
            <a:endParaRPr lang="zh-TW" altLang="en-US"/>
          </a:p>
        </p:txBody>
      </p:sp>
    </p:spTree>
    <p:extLst>
      <p:ext uri="{BB962C8B-B14F-4D97-AF65-F5344CB8AC3E}">
        <p14:creationId xmlns:p14="http://schemas.microsoft.com/office/powerpoint/2010/main" val="6714740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5F1D4-8E75-BE13-974C-8C81B1EE0FB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71FA09C-E826-F1EB-1EC3-EB4F903129A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067EDF0-CE2D-4823-DAE5-EB7307269F32}"/>
              </a:ext>
            </a:extLst>
          </p:cNvPr>
          <p:cNvSpPr>
            <a:spLocks noGrp="1"/>
          </p:cNvSpPr>
          <p:nvPr>
            <p:ph type="body" idx="1"/>
          </p:nvPr>
        </p:nvSpPr>
        <p:spPr/>
        <p:txBody>
          <a:bodyPr/>
          <a:lstStyle/>
          <a:p>
            <a:r>
              <a:rPr lang="zh-TW" altLang="en-US" sz="1200" kern="1200" dirty="0">
                <a:solidFill>
                  <a:schemeClr val="tx1"/>
                </a:solidFill>
                <a:effectLst/>
                <a:latin typeface="+mn-lt"/>
                <a:ea typeface="+mn-ea"/>
                <a:cs typeface="+mn-cs"/>
              </a:rPr>
              <a:t>在評估模組中，本研究將編排結果以</a:t>
            </a:r>
            <a:r>
              <a:rPr lang="zh-TW" altLang="zh-TW" dirty="0"/>
              <a:t>地圖式視覺化平台進行呈現</a:t>
            </a:r>
            <a:endParaRPr lang="zh-TW" altLang="en-US" dirty="0"/>
          </a:p>
        </p:txBody>
      </p:sp>
      <p:sp>
        <p:nvSpPr>
          <p:cNvPr id="4" name="投影片編號版面配置區 3">
            <a:extLst>
              <a:ext uri="{FF2B5EF4-FFF2-40B4-BE49-F238E27FC236}">
                <a16:creationId xmlns:a16="http://schemas.microsoft.com/office/drawing/2014/main" id="{53367C6C-EC52-43CE-3C96-B3A9D4EBD2BC}"/>
              </a:ext>
            </a:extLst>
          </p:cNvPr>
          <p:cNvSpPr>
            <a:spLocks noGrp="1"/>
          </p:cNvSpPr>
          <p:nvPr>
            <p:ph type="sldNum" sz="quarter" idx="5"/>
          </p:nvPr>
        </p:nvSpPr>
        <p:spPr/>
        <p:txBody>
          <a:bodyPr/>
          <a:lstStyle/>
          <a:p>
            <a:fld id="{C1134DBE-7CC5-4F23-841F-273EC3D50B7F}" type="slidenum">
              <a:rPr lang="zh-TW" altLang="en-US" smtClean="0"/>
              <a:t>26</a:t>
            </a:fld>
            <a:endParaRPr lang="zh-TW" altLang="en-US"/>
          </a:p>
        </p:txBody>
      </p:sp>
    </p:spTree>
    <p:extLst>
      <p:ext uri="{BB962C8B-B14F-4D97-AF65-F5344CB8AC3E}">
        <p14:creationId xmlns:p14="http://schemas.microsoft.com/office/powerpoint/2010/main" val="39593068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6D289-45F1-018B-283C-D5B8EC3ADAB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5AB63DB-BBBC-1A58-C1E0-788E9944D67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5750D86-9304-18C2-A772-0DB512DDF7C9}"/>
              </a:ext>
            </a:extLst>
          </p:cNvPr>
          <p:cNvSpPr>
            <a:spLocks noGrp="1"/>
          </p:cNvSpPr>
          <p:nvPr>
            <p:ph type="body" idx="1"/>
          </p:nvPr>
        </p:nvSpPr>
        <p:spPr/>
        <p:txBody>
          <a:bodyPr/>
          <a:lstStyle/>
          <a:p>
            <a:pPr rtl="0" eaLnBrk="1" latinLnBrk="0" hangingPunct="1"/>
            <a:r>
              <a:rPr lang="zh-TW" altLang="zh-TW" sz="1200" kern="1200" dirty="0">
                <a:solidFill>
                  <a:schemeClr val="tx1"/>
                </a:solidFill>
                <a:effectLst/>
                <a:latin typeface="+mn-lt"/>
                <a:ea typeface="+mn-ea"/>
                <a:cs typeface="+mn-cs"/>
              </a:rPr>
              <a:t>使用以下指標對所提出</a:t>
            </a:r>
            <a:r>
              <a:rPr lang="en-US" altLang="zh-TW" sz="1200" kern="1200" dirty="0">
                <a:solidFill>
                  <a:schemeClr val="tx1"/>
                </a:solidFill>
                <a:effectLst/>
                <a:latin typeface="+mn-lt"/>
                <a:ea typeface="+mn-ea"/>
                <a:cs typeface="+mn-cs"/>
              </a:rPr>
              <a:t>VRP</a:t>
            </a:r>
            <a:r>
              <a:rPr lang="zh-TW" altLang="zh-TW" sz="1200" kern="1200" dirty="0">
                <a:solidFill>
                  <a:schemeClr val="tx1"/>
                </a:solidFill>
                <a:effectLst/>
                <a:latin typeface="+mn-lt"/>
                <a:ea typeface="+mn-ea"/>
                <a:cs typeface="+mn-cs"/>
              </a:rPr>
              <a:t>架構進行評估：</a:t>
            </a:r>
            <a:endParaRPr lang="zh-TW" altLang="zh-TW" dirty="0">
              <a:effectLst/>
            </a:endParaRPr>
          </a:p>
          <a:p>
            <a:pPr marL="228600" indent="-228600" rtl="0" eaLnBrk="1" latinLnBrk="0" hangingPunct="1">
              <a:buAutoNum type="arabicPeriod"/>
            </a:pPr>
            <a:r>
              <a:rPr lang="zh-TW" altLang="zh-TW" sz="1200" kern="1200" dirty="0">
                <a:solidFill>
                  <a:schemeClr val="tx1"/>
                </a:solidFill>
                <a:effectLst/>
                <a:latin typeface="+mn-lt"/>
                <a:ea typeface="+mn-ea"/>
                <a:cs typeface="+mn-cs"/>
              </a:rPr>
              <a:t>車輛數量（NV），用來表示完成所有配送任務所需的車輛總數。</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en-US" sz="1200" kern="1200" dirty="0">
                <a:solidFill>
                  <a:schemeClr val="tx1"/>
                </a:solidFill>
                <a:effectLst/>
                <a:latin typeface="+mn-lt"/>
                <a:ea typeface="+mn-ea"/>
                <a:cs typeface="+mn-cs"/>
              </a:rPr>
              <a:t>支援線數量 </a:t>
            </a:r>
            <a:r>
              <a:rPr lang="en-US" altLang="zh-TW" sz="1200" kern="1200" dirty="0">
                <a:solidFill>
                  <a:schemeClr val="tx1"/>
                </a:solidFill>
                <a:effectLst/>
                <a:latin typeface="+mn-lt"/>
                <a:ea typeface="+mn-ea"/>
                <a:cs typeface="+mn-cs"/>
              </a:rPr>
              <a:t>(SV)</a:t>
            </a:r>
            <a:r>
              <a:rPr lang="zh-TW" altLang="en-US" sz="1200" kern="1200" dirty="0">
                <a:solidFill>
                  <a:schemeClr val="tx1"/>
                </a:solidFill>
                <a:effectLst/>
                <a:latin typeface="+mn-lt"/>
                <a:ea typeface="+mn-ea"/>
                <a:cs typeface="+mn-cs"/>
              </a:rPr>
              <a:t>，用來</a:t>
            </a:r>
            <a:r>
              <a:rPr lang="zh-TW" altLang="zh-TW" sz="1200" kern="1200" dirty="0">
                <a:solidFill>
                  <a:schemeClr val="tx1"/>
                </a:solidFill>
                <a:effectLst/>
                <a:latin typeface="+mn-lt"/>
                <a:ea typeface="+mn-ea"/>
                <a:cs typeface="+mn-cs"/>
              </a:rPr>
              <a:t>表示完成所有配送任務所需的</a:t>
            </a:r>
            <a:r>
              <a:rPr lang="zh-TW" altLang="en-US" sz="1200" kern="1200" dirty="0">
                <a:solidFill>
                  <a:schemeClr val="tx1"/>
                </a:solidFill>
                <a:effectLst/>
                <a:latin typeface="+mn-lt"/>
                <a:ea typeface="+mn-ea"/>
                <a:cs typeface="+mn-cs"/>
              </a:rPr>
              <a:t>支援</a:t>
            </a:r>
            <a:r>
              <a:rPr lang="zh-TW" altLang="zh-TW" sz="1200" kern="1200" dirty="0">
                <a:solidFill>
                  <a:schemeClr val="tx1"/>
                </a:solidFill>
                <a:effectLst/>
                <a:latin typeface="+mn-lt"/>
                <a:ea typeface="+mn-ea"/>
                <a:cs typeface="+mn-cs"/>
              </a:rPr>
              <a:t>車輛總數。</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總行駛距離（TD），用來衡量所有車輛完成配送任務所需的總距離。</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平均裝載率（U），用來評估車輛的</a:t>
            </a:r>
            <a:r>
              <a:rPr lang="zh-TW" altLang="en-US" sz="1200" kern="1200" dirty="0">
                <a:solidFill>
                  <a:schemeClr val="tx1"/>
                </a:solidFill>
                <a:effectLst/>
                <a:latin typeface="+mn-lt"/>
                <a:ea typeface="+mn-ea"/>
                <a:cs typeface="+mn-cs"/>
              </a:rPr>
              <a:t>平均</a:t>
            </a:r>
            <a:r>
              <a:rPr lang="zh-TW" altLang="zh-TW" sz="1200" kern="1200" dirty="0">
                <a:solidFill>
                  <a:schemeClr val="tx1"/>
                </a:solidFill>
                <a:effectLst/>
                <a:latin typeface="+mn-lt"/>
                <a:ea typeface="+mn-ea"/>
                <a:cs typeface="+mn-cs"/>
              </a:rPr>
              <a:t>載重利用情形。</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準點率（O），用來衡量</a:t>
            </a:r>
            <a:r>
              <a:rPr lang="zh-TW" altLang="en-US" sz="1200" kern="1200" dirty="0">
                <a:solidFill>
                  <a:schemeClr val="tx1"/>
                </a:solidFill>
                <a:effectLst/>
                <a:latin typeface="+mn-lt"/>
                <a:ea typeface="+mn-ea"/>
                <a:cs typeface="+mn-cs"/>
              </a:rPr>
              <a:t>店鋪</a:t>
            </a:r>
            <a:r>
              <a:rPr lang="zh-TW" altLang="zh-TW" sz="1200" kern="1200" dirty="0">
                <a:solidFill>
                  <a:schemeClr val="tx1"/>
                </a:solidFill>
                <a:effectLst/>
                <a:latin typeface="+mn-lt"/>
                <a:ea typeface="+mn-ea"/>
                <a:cs typeface="+mn-cs"/>
              </a:rPr>
              <a:t>配送是否能在時間限制內完成。</a:t>
            </a:r>
            <a:endParaRPr lang="en-US" altLang="zh-TW" sz="120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zh-TW" altLang="zh-TW" sz="1200" kern="1200" dirty="0">
                <a:solidFill>
                  <a:schemeClr val="tx1"/>
                </a:solidFill>
                <a:effectLst/>
                <a:latin typeface="+mn-lt"/>
                <a:ea typeface="+mn-ea"/>
                <a:cs typeface="+mn-cs"/>
              </a:rPr>
              <a:t>執行時間（RT），用來評估演算法產生解的計算效率。</a:t>
            </a:r>
            <a:endParaRPr lang="zh-TW" altLang="zh-TW" dirty="0">
              <a:effectLst/>
            </a:endParaRPr>
          </a:p>
        </p:txBody>
      </p:sp>
      <p:sp>
        <p:nvSpPr>
          <p:cNvPr id="4" name="投影片編號版面配置區 3">
            <a:extLst>
              <a:ext uri="{FF2B5EF4-FFF2-40B4-BE49-F238E27FC236}">
                <a16:creationId xmlns:a16="http://schemas.microsoft.com/office/drawing/2014/main" id="{A1A73CA3-7609-A313-1F6B-F9C694F70563}"/>
              </a:ext>
            </a:extLst>
          </p:cNvPr>
          <p:cNvSpPr>
            <a:spLocks noGrp="1"/>
          </p:cNvSpPr>
          <p:nvPr>
            <p:ph type="sldNum" sz="quarter" idx="5"/>
          </p:nvPr>
        </p:nvSpPr>
        <p:spPr/>
        <p:txBody>
          <a:bodyPr/>
          <a:lstStyle/>
          <a:p>
            <a:fld id="{C1134DBE-7CC5-4F23-841F-273EC3D50B7F}" type="slidenum">
              <a:rPr lang="zh-TW" altLang="en-US" smtClean="0"/>
              <a:t>27</a:t>
            </a:fld>
            <a:endParaRPr lang="zh-TW" altLang="en-US"/>
          </a:p>
        </p:txBody>
      </p:sp>
    </p:spTree>
    <p:extLst>
      <p:ext uri="{BB962C8B-B14F-4D97-AF65-F5344CB8AC3E}">
        <p14:creationId xmlns:p14="http://schemas.microsoft.com/office/powerpoint/2010/main" val="6562076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F5C00-B6A4-3ACF-D778-22BAF88366B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A303197-E67C-AA29-9C78-62D5CAE0E38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7322D6F-37F0-98AA-238C-CB97B1B9CFB0}"/>
              </a:ext>
            </a:extLst>
          </p:cNvPr>
          <p:cNvSpPr>
            <a:spLocks noGrp="1"/>
          </p:cNvSpPr>
          <p:nvPr>
            <p:ph type="body" idx="1"/>
          </p:nvPr>
        </p:nvSpPr>
        <p:spPr/>
        <p:txBody>
          <a:bodyPr/>
          <a:lstStyle/>
          <a:p>
            <a:r>
              <a:rPr lang="zh-TW" altLang="en-US" dirty="0"/>
              <a:t>接著介紹最佳化路線資料</a:t>
            </a:r>
          </a:p>
        </p:txBody>
      </p:sp>
      <p:sp>
        <p:nvSpPr>
          <p:cNvPr id="4" name="投影片編號版面配置區 3">
            <a:extLst>
              <a:ext uri="{FF2B5EF4-FFF2-40B4-BE49-F238E27FC236}">
                <a16:creationId xmlns:a16="http://schemas.microsoft.com/office/drawing/2014/main" id="{ED1D59EE-5777-7733-D61F-D47CC11433BD}"/>
              </a:ext>
            </a:extLst>
          </p:cNvPr>
          <p:cNvSpPr>
            <a:spLocks noGrp="1"/>
          </p:cNvSpPr>
          <p:nvPr>
            <p:ph type="sldNum" sz="quarter" idx="5"/>
          </p:nvPr>
        </p:nvSpPr>
        <p:spPr/>
        <p:txBody>
          <a:bodyPr/>
          <a:lstStyle/>
          <a:p>
            <a:fld id="{C1134DBE-7CC5-4F23-841F-273EC3D50B7F}" type="slidenum">
              <a:rPr lang="zh-TW" altLang="en-US" smtClean="0"/>
              <a:t>28</a:t>
            </a:fld>
            <a:endParaRPr lang="zh-TW" altLang="en-US"/>
          </a:p>
        </p:txBody>
      </p:sp>
    </p:spTree>
    <p:extLst>
      <p:ext uri="{BB962C8B-B14F-4D97-AF65-F5344CB8AC3E}">
        <p14:creationId xmlns:p14="http://schemas.microsoft.com/office/powerpoint/2010/main" val="33811750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54A8C-4E48-6074-44BC-CDE40B3EEC5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D4B3B4B-2854-C5A6-1419-86DBB3F54A9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423F1BCE-C6D8-F8CD-1BF9-9C22E086A943}"/>
              </a:ext>
            </a:extLst>
          </p:cNvPr>
          <p:cNvSpPr>
            <a:spLocks noGrp="1"/>
          </p:cNvSpPr>
          <p:nvPr>
            <p:ph type="body" idx="1"/>
          </p:nvPr>
        </p:nvSpPr>
        <p:spPr/>
        <p:txBody>
          <a:bodyPr/>
          <a:lstStyle/>
          <a:p>
            <a:r>
              <a:rPr lang="zh-TW" altLang="zh-TW" dirty="0"/>
              <a:t>本階段將最佳化結果轉換為實際配送路線，作為後續評估分析與實務應用的依據</a:t>
            </a:r>
            <a:endParaRPr lang="en-US" altLang="zh-TW" dirty="0"/>
          </a:p>
        </p:txBody>
      </p:sp>
      <p:sp>
        <p:nvSpPr>
          <p:cNvPr id="4" name="投影片編號版面配置區 3">
            <a:extLst>
              <a:ext uri="{FF2B5EF4-FFF2-40B4-BE49-F238E27FC236}">
                <a16:creationId xmlns:a16="http://schemas.microsoft.com/office/drawing/2014/main" id="{74953761-9BAB-12E7-97CC-16AC0D973C54}"/>
              </a:ext>
            </a:extLst>
          </p:cNvPr>
          <p:cNvSpPr>
            <a:spLocks noGrp="1"/>
          </p:cNvSpPr>
          <p:nvPr>
            <p:ph type="sldNum" sz="quarter" idx="5"/>
          </p:nvPr>
        </p:nvSpPr>
        <p:spPr/>
        <p:txBody>
          <a:bodyPr/>
          <a:lstStyle/>
          <a:p>
            <a:fld id="{C1134DBE-7CC5-4F23-841F-273EC3D50B7F}" type="slidenum">
              <a:rPr lang="zh-TW" altLang="en-US" smtClean="0"/>
              <a:t>29</a:t>
            </a:fld>
            <a:endParaRPr lang="zh-TW" altLang="en-US"/>
          </a:p>
        </p:txBody>
      </p:sp>
    </p:spTree>
    <p:extLst>
      <p:ext uri="{BB962C8B-B14F-4D97-AF65-F5344CB8AC3E}">
        <p14:creationId xmlns:p14="http://schemas.microsoft.com/office/powerpoint/2010/main" val="29537242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2D2E9-0823-2C28-81AD-7C33B032511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5F8B80-CC89-77C0-40E3-867BA3C9AD0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D7A9057-972D-1966-1710-938AADF1DBD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接下來說明本研究的實驗結果</a:t>
            </a:r>
            <a:endParaRPr lang="en-US" altLang="zh-TW" dirty="0"/>
          </a:p>
        </p:txBody>
      </p:sp>
      <p:sp>
        <p:nvSpPr>
          <p:cNvPr id="4" name="投影片編號版面配置區 3">
            <a:extLst>
              <a:ext uri="{FF2B5EF4-FFF2-40B4-BE49-F238E27FC236}">
                <a16:creationId xmlns:a16="http://schemas.microsoft.com/office/drawing/2014/main" id="{608366BC-CEA1-A381-07DD-CE987B2A2D11}"/>
              </a:ext>
            </a:extLst>
          </p:cNvPr>
          <p:cNvSpPr>
            <a:spLocks noGrp="1"/>
          </p:cNvSpPr>
          <p:nvPr>
            <p:ph type="sldNum" sz="quarter" idx="5"/>
          </p:nvPr>
        </p:nvSpPr>
        <p:spPr/>
        <p:txBody>
          <a:bodyPr/>
          <a:lstStyle/>
          <a:p>
            <a:fld id="{C1134DBE-7CC5-4F23-841F-273EC3D50B7F}" type="slidenum">
              <a:rPr lang="zh-TW" altLang="en-US" smtClean="0"/>
              <a:t>30</a:t>
            </a:fld>
            <a:endParaRPr lang="zh-TW" altLang="en-US"/>
          </a:p>
        </p:txBody>
      </p:sp>
    </p:spTree>
    <p:extLst>
      <p:ext uri="{BB962C8B-B14F-4D97-AF65-F5344CB8AC3E}">
        <p14:creationId xmlns:p14="http://schemas.microsoft.com/office/powerpoint/2010/main" val="6315496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DB317-1A8B-820B-CE24-9B9341C892F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EE97C2D-D292-E0AF-D8B3-035AC3E6971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313B45D-41C9-E7FC-DB40-1106B343CC0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首先介紹本研究的實驗環境</a:t>
            </a:r>
          </a:p>
        </p:txBody>
      </p:sp>
      <p:sp>
        <p:nvSpPr>
          <p:cNvPr id="4" name="投影片編號版面配置區 3">
            <a:extLst>
              <a:ext uri="{FF2B5EF4-FFF2-40B4-BE49-F238E27FC236}">
                <a16:creationId xmlns:a16="http://schemas.microsoft.com/office/drawing/2014/main" id="{923CF027-DE3A-EFFB-DC9F-2A8A27985E9F}"/>
              </a:ext>
            </a:extLst>
          </p:cNvPr>
          <p:cNvSpPr>
            <a:spLocks noGrp="1"/>
          </p:cNvSpPr>
          <p:nvPr>
            <p:ph type="sldNum" sz="quarter" idx="5"/>
          </p:nvPr>
        </p:nvSpPr>
        <p:spPr/>
        <p:txBody>
          <a:bodyPr/>
          <a:lstStyle/>
          <a:p>
            <a:fld id="{C1134DBE-7CC5-4F23-841F-273EC3D50B7F}" type="slidenum">
              <a:rPr lang="zh-TW" altLang="en-US" smtClean="0"/>
              <a:t>31</a:t>
            </a:fld>
            <a:endParaRPr lang="zh-TW" altLang="en-US"/>
          </a:p>
        </p:txBody>
      </p:sp>
    </p:spTree>
    <p:extLst>
      <p:ext uri="{BB962C8B-B14F-4D97-AF65-F5344CB8AC3E}">
        <p14:creationId xmlns:p14="http://schemas.microsoft.com/office/powerpoint/2010/main" val="26130326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76FC9-A265-857D-204E-768945FF09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407EDDE-E189-D5F5-7C8D-6DD9952392E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2C22BE0-3B00-73C0-847E-7CA72984215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首先介紹本研究各階段演算法之設定</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en-US" dirty="0"/>
              <a:t> 超參數是如何調整的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由於 VRP 運算本身非常耗時，無法窮舉所有參數組合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因此</a:t>
            </a:r>
            <a:r>
              <a:rPr lang="zh-TW" altLang="en-US" dirty="0"/>
              <a:t>使用</a:t>
            </a:r>
            <a:r>
              <a:rPr lang="zh-TW" altLang="zh-TW" dirty="0"/>
              <a:t>田口方法，首先依據相關文獻與初步實驗結果設定參數範圍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透過建立直交表來減少實驗次數，並計算各參數組合的訊雜比（S/N ratio）</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藉此在合理的時間內找出這組最具穩健性（Robustness）的最佳超參數</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2.</a:t>
            </a:r>
            <a:r>
              <a:rPr lang="zh-TW" altLang="en-US" dirty="0"/>
              <a:t> </a:t>
            </a:r>
            <a:r>
              <a:rPr lang="zh-TW" altLang="zh-TW" dirty="0"/>
              <a:t>HACO 與 MACS 的參數差異</a:t>
            </a:r>
            <a:endParaRPr lang="en-US" altLang="zh-TW" dirty="0"/>
          </a:p>
          <a:p>
            <a:r>
              <a:rPr lang="zh-TW" altLang="zh-TW" dirty="0"/>
              <a:t>HACO 是</a:t>
            </a:r>
            <a:r>
              <a:rPr lang="zh-TW" altLang="en-US" dirty="0"/>
              <a:t>針對</a:t>
            </a:r>
            <a:r>
              <a:rPr lang="zh-TW" altLang="zh-TW" dirty="0"/>
              <a:t>主線結構設計，因此下一個店鋪的選擇會受到主線</a:t>
            </a:r>
            <a:r>
              <a:rPr lang="zh-TW" altLang="en-US" dirty="0"/>
              <a:t>以及可行解</a:t>
            </a:r>
            <a:r>
              <a:rPr lang="zh-TW" altLang="zh-TW" dirty="0"/>
              <a:t>的限制</a:t>
            </a:r>
          </a:p>
          <a:p>
            <a:r>
              <a:rPr lang="zh-TW" altLang="zh-TW" dirty="0"/>
              <a:t>MACS 是直接將問題視為</a:t>
            </a:r>
            <a:r>
              <a:rPr lang="zh-TW" altLang="en-US" dirty="0"/>
              <a:t>嚴格時間窗的</a:t>
            </a:r>
            <a:r>
              <a:rPr lang="zh-TW" altLang="zh-TW" dirty="0"/>
              <a:t>VRPTW 進行求解，雖然同樣有可行性限制，但沒有主線結構的額外約束，因此解空間相對更自由</a:t>
            </a:r>
          </a:p>
        </p:txBody>
      </p:sp>
      <p:sp>
        <p:nvSpPr>
          <p:cNvPr id="4" name="投影片編號版面配置區 3">
            <a:extLst>
              <a:ext uri="{FF2B5EF4-FFF2-40B4-BE49-F238E27FC236}">
                <a16:creationId xmlns:a16="http://schemas.microsoft.com/office/drawing/2014/main" id="{9BDB44C1-48CE-2BC0-28CF-AABF7FCACFBB}"/>
              </a:ext>
            </a:extLst>
          </p:cNvPr>
          <p:cNvSpPr>
            <a:spLocks noGrp="1"/>
          </p:cNvSpPr>
          <p:nvPr>
            <p:ph type="sldNum" sz="quarter" idx="5"/>
          </p:nvPr>
        </p:nvSpPr>
        <p:spPr/>
        <p:txBody>
          <a:bodyPr/>
          <a:lstStyle/>
          <a:p>
            <a:fld id="{C1134DBE-7CC5-4F23-841F-273EC3D50B7F}" type="slidenum">
              <a:rPr lang="zh-TW" altLang="en-US" smtClean="0"/>
              <a:t>32</a:t>
            </a:fld>
            <a:endParaRPr lang="zh-TW" altLang="en-US"/>
          </a:p>
        </p:txBody>
      </p:sp>
    </p:spTree>
    <p:extLst>
      <p:ext uri="{BB962C8B-B14F-4D97-AF65-F5344CB8AC3E}">
        <p14:creationId xmlns:p14="http://schemas.microsoft.com/office/powerpoint/2010/main" val="19860539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41ACCA-4DB5-301F-9CB9-FBD4DB31D82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AD9A2B0-C747-BA7F-09F4-40AB3A7AF4E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78358B0-6E3F-11BB-8BF0-8E6B5F0657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本研究比較所提出</a:t>
            </a:r>
            <a:r>
              <a:rPr lang="zh-TW" altLang="zh-TW" dirty="0"/>
              <a:t>方法</a:t>
            </a:r>
            <a:r>
              <a:rPr lang="zh-TW" altLang="zh-TW" b="1" dirty="0"/>
              <a:t>與</a:t>
            </a:r>
            <a:r>
              <a:rPr lang="zh-TW" altLang="zh-TW" dirty="0"/>
              <a:t>人工規劃的整體配送</a:t>
            </a:r>
            <a:r>
              <a:rPr lang="zh-TW" altLang="en-US" dirty="0"/>
              <a:t>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顯示本研究方法能夠在降低整體編排時間的同時</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降低 總車輛數量 </a:t>
            </a:r>
            <a:r>
              <a:rPr lang="en-US" altLang="zh-TW" dirty="0"/>
              <a:t>&amp;</a:t>
            </a:r>
            <a:r>
              <a:rPr lang="zh-TW" altLang="en-US" dirty="0"/>
              <a:t> 支援線數量 </a:t>
            </a:r>
            <a:r>
              <a:rPr lang="en-US" altLang="zh-TW" dirty="0"/>
              <a:t>&amp;</a:t>
            </a:r>
            <a:r>
              <a:rPr lang="zh-TW" altLang="en-US" dirty="0"/>
              <a:t> 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並且能夠有效提升平均裝載率及準點率</a:t>
            </a:r>
            <a:endParaRPr lang="en-US" altLang="zh-TW" dirty="0"/>
          </a:p>
        </p:txBody>
      </p:sp>
      <p:sp>
        <p:nvSpPr>
          <p:cNvPr id="4" name="投影片編號版面配置區 3">
            <a:extLst>
              <a:ext uri="{FF2B5EF4-FFF2-40B4-BE49-F238E27FC236}">
                <a16:creationId xmlns:a16="http://schemas.microsoft.com/office/drawing/2014/main" id="{836E2863-213B-3948-069B-145407C712C9}"/>
              </a:ext>
            </a:extLst>
          </p:cNvPr>
          <p:cNvSpPr>
            <a:spLocks noGrp="1"/>
          </p:cNvSpPr>
          <p:nvPr>
            <p:ph type="sldNum" sz="quarter" idx="5"/>
          </p:nvPr>
        </p:nvSpPr>
        <p:spPr/>
        <p:txBody>
          <a:bodyPr/>
          <a:lstStyle/>
          <a:p>
            <a:fld id="{C1134DBE-7CC5-4F23-841F-273EC3D50B7F}" type="slidenum">
              <a:rPr lang="zh-TW" altLang="en-US" smtClean="0"/>
              <a:t>33</a:t>
            </a:fld>
            <a:endParaRPr lang="zh-TW" altLang="en-US"/>
          </a:p>
        </p:txBody>
      </p:sp>
    </p:spTree>
    <p:extLst>
      <p:ext uri="{BB962C8B-B14F-4D97-AF65-F5344CB8AC3E}">
        <p14:creationId xmlns:p14="http://schemas.microsoft.com/office/powerpoint/2010/main" val="30148375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A14AA-850A-9997-FDF6-7428D78ED0D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DD6AA3A-F079-682C-12C0-08F3EA89376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54512FB-1035-98C2-7C40-9B71C14A6E3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本頁為各測試案例</a:t>
            </a:r>
            <a:r>
              <a:rPr lang="zh-TW" altLang="en-US" dirty="0"/>
              <a:t>中</a:t>
            </a:r>
            <a:r>
              <a:rPr lang="zh-TW" altLang="zh-TW" dirty="0"/>
              <a:t>車輛使用數比較結果</a:t>
            </a:r>
            <a:br>
              <a:rPr lang="en-US" altLang="zh-TW" dirty="0"/>
            </a:br>
            <a:r>
              <a:rPr lang="en-US" altLang="zh-TW" dirty="0"/>
              <a:t>(</a:t>
            </a:r>
            <a:r>
              <a:rPr lang="zh-TW" altLang="en-US" dirty="0"/>
              <a:t>說明線的顏色代表的意義</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從圖中可知本研究方法於所有案例皆能夠有效降低整體以及支援線的車輛需求</a:t>
            </a:r>
            <a:endParaRPr lang="en-US" altLang="zh-TW" dirty="0"/>
          </a:p>
        </p:txBody>
      </p:sp>
      <p:sp>
        <p:nvSpPr>
          <p:cNvPr id="4" name="投影片編號版面配置區 3">
            <a:extLst>
              <a:ext uri="{FF2B5EF4-FFF2-40B4-BE49-F238E27FC236}">
                <a16:creationId xmlns:a16="http://schemas.microsoft.com/office/drawing/2014/main" id="{F38607FD-9405-0620-96E6-688D71DD0E2A}"/>
              </a:ext>
            </a:extLst>
          </p:cNvPr>
          <p:cNvSpPr>
            <a:spLocks noGrp="1"/>
          </p:cNvSpPr>
          <p:nvPr>
            <p:ph type="sldNum" sz="quarter" idx="5"/>
          </p:nvPr>
        </p:nvSpPr>
        <p:spPr/>
        <p:txBody>
          <a:bodyPr/>
          <a:lstStyle/>
          <a:p>
            <a:fld id="{C1134DBE-7CC5-4F23-841F-273EC3D50B7F}" type="slidenum">
              <a:rPr lang="zh-TW" altLang="en-US" smtClean="0"/>
              <a:t>34</a:t>
            </a:fld>
            <a:endParaRPr lang="zh-TW" altLang="en-US"/>
          </a:p>
        </p:txBody>
      </p:sp>
    </p:spTree>
    <p:extLst>
      <p:ext uri="{BB962C8B-B14F-4D97-AF65-F5344CB8AC3E}">
        <p14:creationId xmlns:p14="http://schemas.microsoft.com/office/powerpoint/2010/main" val="7090603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B6B80-638A-657F-B00B-E0D336B0D70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37F307-F38E-37EB-8B80-84BE82B8D437}"/>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D5D3911-4428-BF8D-2823-70BF17EAD7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本頁為各測試案例</a:t>
            </a:r>
            <a:r>
              <a:rPr lang="zh-TW" altLang="en-US" dirty="0"/>
              <a:t>中行駛距離</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從圖中可知本研究方法於大部分案例中皆能降低總行駛距離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其中有少數幾筆資料顯示略差於 物流公司編排的結果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其原因為本研究之目標優先考量車輛數量，其次為總行駛距離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a:t>
            </a:r>
            <a:r>
              <a:rPr lang="zh-TW" altLang="zh-TW" dirty="0"/>
              <a:t>部分案例會以增加少量行駛距離作為代價，換取減少車輛數量</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進而達到更佳的整體配送</a:t>
            </a:r>
            <a:r>
              <a:rPr lang="zh-TW" altLang="en-US" dirty="0"/>
              <a:t>效果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zh-TW" dirty="0"/>
              <a:t>距離縮減了這幾百公里，對物流公司來說具體的意義是什麼</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第一是油資與車輛耗損的直接降低</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第二是司機整體工時的縮短</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第三是減少了碳排放量</a:t>
            </a:r>
            <a:endParaRPr lang="zh-TW" altLang="en-US" dirty="0"/>
          </a:p>
        </p:txBody>
      </p:sp>
      <p:sp>
        <p:nvSpPr>
          <p:cNvPr id="4" name="投影片編號版面配置區 3">
            <a:extLst>
              <a:ext uri="{FF2B5EF4-FFF2-40B4-BE49-F238E27FC236}">
                <a16:creationId xmlns:a16="http://schemas.microsoft.com/office/drawing/2014/main" id="{CE73C1FC-DA6E-8E12-6850-0FEA8DE18FA8}"/>
              </a:ext>
            </a:extLst>
          </p:cNvPr>
          <p:cNvSpPr>
            <a:spLocks noGrp="1"/>
          </p:cNvSpPr>
          <p:nvPr>
            <p:ph type="sldNum" sz="quarter" idx="5"/>
          </p:nvPr>
        </p:nvSpPr>
        <p:spPr/>
        <p:txBody>
          <a:bodyPr/>
          <a:lstStyle/>
          <a:p>
            <a:fld id="{C1134DBE-7CC5-4F23-841F-273EC3D50B7F}" type="slidenum">
              <a:rPr lang="zh-TW" altLang="en-US" smtClean="0"/>
              <a:t>35</a:t>
            </a:fld>
            <a:endParaRPr lang="zh-TW" altLang="en-US"/>
          </a:p>
        </p:txBody>
      </p:sp>
    </p:spTree>
    <p:extLst>
      <p:ext uri="{BB962C8B-B14F-4D97-AF65-F5344CB8AC3E}">
        <p14:creationId xmlns:p14="http://schemas.microsoft.com/office/powerpoint/2010/main" val="5826998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40C61-25BD-91A1-A17B-76B2E2BCD36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24834C2-B3EC-E9A2-6CF5-6E1CFE21F00B}"/>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23D18E-C9A0-561F-8732-B5D197A05C7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本頁為各測試案例</a:t>
            </a:r>
            <a:r>
              <a:rPr lang="zh-TW" altLang="en-US" dirty="0"/>
              <a:t>中平均裝載率及準點率</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從圖中可知本研究方法於所有案例皆能夠有效提升車輛平均裝載率及店鋪準點率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p:txBody>
      </p:sp>
      <p:sp>
        <p:nvSpPr>
          <p:cNvPr id="4" name="投影片編號版面配置區 3">
            <a:extLst>
              <a:ext uri="{FF2B5EF4-FFF2-40B4-BE49-F238E27FC236}">
                <a16:creationId xmlns:a16="http://schemas.microsoft.com/office/drawing/2014/main" id="{FEF3B2CD-D8D6-E8C9-2730-57AF5FCAFEEF}"/>
              </a:ext>
            </a:extLst>
          </p:cNvPr>
          <p:cNvSpPr>
            <a:spLocks noGrp="1"/>
          </p:cNvSpPr>
          <p:nvPr>
            <p:ph type="sldNum" sz="quarter" idx="5"/>
          </p:nvPr>
        </p:nvSpPr>
        <p:spPr/>
        <p:txBody>
          <a:bodyPr/>
          <a:lstStyle/>
          <a:p>
            <a:fld id="{C1134DBE-7CC5-4F23-841F-273EC3D50B7F}" type="slidenum">
              <a:rPr lang="zh-TW" altLang="en-US" smtClean="0"/>
              <a:t>36</a:t>
            </a:fld>
            <a:endParaRPr lang="zh-TW" altLang="en-US"/>
          </a:p>
        </p:txBody>
      </p:sp>
    </p:spTree>
    <p:extLst>
      <p:ext uri="{BB962C8B-B14F-4D97-AF65-F5344CB8AC3E}">
        <p14:creationId xmlns:p14="http://schemas.microsoft.com/office/powerpoint/2010/main" val="30144726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F04B-F934-9ED9-D2F8-8F497722A2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431C448-BC01-3F12-A3ED-4C0C537F18C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900D42-D3F4-22F5-A185-D8F6BD7217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為驗證路由模組各階段對整體配送</a:t>
            </a:r>
            <a:r>
              <a:rPr lang="zh-TW" altLang="en-US" dirty="0"/>
              <a:t>結果</a:t>
            </a:r>
            <a:r>
              <a:rPr lang="zh-TW" altLang="zh-TW" dirty="0"/>
              <a:t>影響</a:t>
            </a:r>
            <a:r>
              <a:rPr lang="zh-TW" altLang="en-US" dirty="0"/>
              <a:t>，本研究針對所提出方法路由模組中三階段分別進行消融實驗</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第一組實驗將店舖抽取方法改為隨機抽取</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第二組實驗將店鋪分配中只保留</a:t>
            </a:r>
            <a:r>
              <a:rPr lang="en-US" altLang="zh-TW" dirty="0"/>
              <a:t>ACO</a:t>
            </a:r>
            <a:r>
              <a:rPr lang="zh-TW" altLang="en-US" dirty="0"/>
              <a:t>不使用</a:t>
            </a:r>
            <a:r>
              <a:rPr lang="en-US" altLang="zh-TW" dirty="0"/>
              <a:t>VND</a:t>
            </a:r>
            <a:r>
              <a:rPr lang="zh-TW" altLang="en-US" dirty="0"/>
              <a:t>局部搜尋策略</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第三組實驗將支援線規劃只保留原有</a:t>
            </a:r>
            <a:r>
              <a:rPr lang="en-US" altLang="zh-TW" dirty="0"/>
              <a:t>MACS</a:t>
            </a:r>
            <a:r>
              <a:rPr lang="zh-TW" altLang="en-US" dirty="0"/>
              <a:t>架構不使用</a:t>
            </a:r>
            <a:r>
              <a:rPr lang="en-US" altLang="zh-TW" dirty="0"/>
              <a:t>VND</a:t>
            </a:r>
            <a:r>
              <a:rPr lang="zh-TW" altLang="en-US" dirty="0"/>
              <a:t>局部搜尋策略</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表中可以觀察到本研究所提出之完整方法於各指標皆取得最佳結果</a:t>
            </a:r>
            <a:br>
              <a:rPr lang="en-US" altLang="zh-TW" dirty="0"/>
            </a:br>
            <a:r>
              <a:rPr lang="zh-TW" altLang="en-US" dirty="0"/>
              <a:t>本研究進一步針對車輛數量，支援線數量，總行駛距離進行統計分析</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以確認其是否具有顯著差異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964562B9-EB86-04A8-8F70-C8C5ED0F44EC}"/>
              </a:ext>
            </a:extLst>
          </p:cNvPr>
          <p:cNvSpPr>
            <a:spLocks noGrp="1"/>
          </p:cNvSpPr>
          <p:nvPr>
            <p:ph type="sldNum" sz="quarter" idx="5"/>
          </p:nvPr>
        </p:nvSpPr>
        <p:spPr/>
        <p:txBody>
          <a:bodyPr/>
          <a:lstStyle/>
          <a:p>
            <a:fld id="{C1134DBE-7CC5-4F23-841F-273EC3D50B7F}" type="slidenum">
              <a:rPr lang="zh-TW" altLang="en-US" smtClean="0"/>
              <a:t>37</a:t>
            </a:fld>
            <a:endParaRPr lang="zh-TW" altLang="en-US"/>
          </a:p>
        </p:txBody>
      </p:sp>
    </p:spTree>
    <p:extLst>
      <p:ext uri="{BB962C8B-B14F-4D97-AF65-F5344CB8AC3E}">
        <p14:creationId xmlns:p14="http://schemas.microsoft.com/office/powerpoint/2010/main" val="3271605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03E11-61A2-6569-C728-121FB640907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F9CCB07-C914-76B3-4F98-D1056CAFCCD5}"/>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11CFADD-2C0F-3480-AC77-7C0DB5F241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a:t>
            </a:r>
            <a:r>
              <a:rPr lang="zh-TW" altLang="en-US" dirty="0"/>
              <a:t>使用</a:t>
            </a:r>
            <a:r>
              <a:rPr lang="en-US" altLang="zh-TW" b="0" dirty="0"/>
              <a:t>Wilcoxon Signed</a:t>
            </a:r>
            <a:r>
              <a:rPr lang="zh-TW" altLang="en-US" b="0" dirty="0"/>
              <a:t> </a:t>
            </a:r>
            <a:r>
              <a:rPr lang="en-US" altLang="zh-TW" b="0" dirty="0"/>
              <a:t>Rank Test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a:t>
            </a:r>
            <a:r>
              <a:rPr lang="zh-TW" altLang="zh-TW" dirty="0"/>
              <a:t>將顯著水準設為 0.05</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比較完整方法與各消融實驗的結果得到的指標確認其是否顯著差異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結果顯示，將店舖抽取方法改為隨機抽取時，各項指標皆達到顯著差異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當店舖分配階段僅保留 ACO、移除 VND 局部搜尋策略時，</a:t>
            </a:r>
            <a:r>
              <a:rPr lang="zh-TW" altLang="en-US" dirty="0"/>
              <a:t>只有</a:t>
            </a:r>
            <a:r>
              <a:rPr lang="zh-TW" altLang="zh-TW" dirty="0"/>
              <a:t>在總行駛距離指標上達到顯著差異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顯示針對主線規劃</a:t>
            </a:r>
            <a:r>
              <a:rPr lang="en-US" altLang="zh-TW" dirty="0"/>
              <a:t>VND</a:t>
            </a:r>
            <a:r>
              <a:rPr lang="zh-TW" altLang="en-US" dirty="0"/>
              <a:t>能夠有效</a:t>
            </a:r>
            <a:r>
              <a:rPr lang="zh-TW" altLang="zh-TW" dirty="0"/>
              <a:t>縮短總行駛距離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而在支援線規劃</a:t>
            </a:r>
            <a:r>
              <a:rPr lang="zh-TW" altLang="en-US" dirty="0"/>
              <a:t>僅</a:t>
            </a:r>
            <a:r>
              <a:rPr lang="zh-TW" altLang="zh-TW" dirty="0"/>
              <a:t>保留原有 MACS 架構的情況下，各項績效指標皆達到顯著差異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顯示本研究於各階段方法皆能有效提升整體的配送規劃結果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Wilcoxon </a:t>
            </a:r>
            <a:r>
              <a:rPr lang="zh-TW" altLang="en-US" dirty="0"/>
              <a:t>為</a:t>
            </a:r>
            <a:r>
              <a:rPr lang="zh-TW" altLang="zh-TW" dirty="0"/>
              <a:t>無母數檢定</a:t>
            </a:r>
            <a:r>
              <a:rPr lang="zh-TW" altLang="en-US" dirty="0"/>
              <a:t>，本研究</a:t>
            </a:r>
            <a:r>
              <a:rPr lang="zh-TW" altLang="zh-TW" dirty="0"/>
              <a:t>數據分佈並不符合常態分配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E3268D99-197A-298D-767F-3E181FEE1910}"/>
              </a:ext>
            </a:extLst>
          </p:cNvPr>
          <p:cNvSpPr>
            <a:spLocks noGrp="1"/>
          </p:cNvSpPr>
          <p:nvPr>
            <p:ph type="sldNum" sz="quarter" idx="5"/>
          </p:nvPr>
        </p:nvSpPr>
        <p:spPr/>
        <p:txBody>
          <a:bodyPr/>
          <a:lstStyle/>
          <a:p>
            <a:fld id="{C1134DBE-7CC5-4F23-841F-273EC3D50B7F}" type="slidenum">
              <a:rPr lang="zh-TW" altLang="en-US" smtClean="0"/>
              <a:t>38</a:t>
            </a:fld>
            <a:endParaRPr lang="zh-TW" altLang="en-US"/>
          </a:p>
        </p:txBody>
      </p:sp>
    </p:spTree>
    <p:extLst>
      <p:ext uri="{BB962C8B-B14F-4D97-AF65-F5344CB8AC3E}">
        <p14:creationId xmlns:p14="http://schemas.microsoft.com/office/powerpoint/2010/main" val="37218572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F0778-8574-DE04-8A56-97887C8EE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66E4738-CA22-87E5-68B9-703E2F800DA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C236A36-D4D1-83A5-F79A-F87BF22B34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a:t>
            </a:r>
            <a:r>
              <a:rPr lang="zh-TW" altLang="en-US" dirty="0"/>
              <a:t>使用</a:t>
            </a:r>
            <a:r>
              <a:rPr lang="en-US" altLang="zh-TW" b="0" dirty="0"/>
              <a:t>Wilcoxon Signed</a:t>
            </a:r>
            <a:r>
              <a:rPr lang="zh-TW" altLang="en-US" b="0" dirty="0"/>
              <a:t> </a:t>
            </a:r>
            <a:r>
              <a:rPr lang="en-US" altLang="zh-TW" b="0" dirty="0"/>
              <a:t>Rank Test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a:t>
            </a:r>
            <a:r>
              <a:rPr lang="zh-TW" altLang="zh-TW" dirty="0"/>
              <a:t>將顯著水準設為 0.05</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比較完整方法與各消融實驗的結果得到的指標確認其是否顯著差異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結果顯示，將店舖抽取方法改為隨機抽取時，各項指標皆達到顯著差異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當店舖分配階段僅保留 ACO、移除 VND 局部搜尋策略時，</a:t>
            </a:r>
            <a:r>
              <a:rPr lang="zh-TW" altLang="en-US" dirty="0"/>
              <a:t>只有</a:t>
            </a:r>
            <a:r>
              <a:rPr lang="zh-TW" altLang="zh-TW" dirty="0"/>
              <a:t>在總行駛距離指標上達到顯著差異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顯示針對主線規劃</a:t>
            </a:r>
            <a:r>
              <a:rPr lang="en-US" altLang="zh-TW" dirty="0"/>
              <a:t>VND</a:t>
            </a:r>
            <a:r>
              <a:rPr lang="zh-TW" altLang="en-US" dirty="0"/>
              <a:t>能夠有效</a:t>
            </a:r>
            <a:r>
              <a:rPr lang="zh-TW" altLang="zh-TW" dirty="0"/>
              <a:t>縮短總行駛距離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而在支援線規劃</a:t>
            </a:r>
            <a:r>
              <a:rPr lang="zh-TW" altLang="en-US" dirty="0"/>
              <a:t>僅</a:t>
            </a:r>
            <a:r>
              <a:rPr lang="zh-TW" altLang="zh-TW" dirty="0"/>
              <a:t>保留原有 MACS 架構的情況下，各項績效指標皆達到顯著差異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顯示本研究於各階段方法皆能有效提升整體的配送規劃結果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Wilcoxon </a:t>
            </a:r>
            <a:r>
              <a:rPr lang="zh-TW" altLang="en-US" dirty="0"/>
              <a:t>為</a:t>
            </a:r>
            <a:r>
              <a:rPr lang="zh-TW" altLang="zh-TW" dirty="0"/>
              <a:t>無母數檢定</a:t>
            </a:r>
            <a:r>
              <a:rPr lang="zh-TW" altLang="en-US" dirty="0"/>
              <a:t>，本研究</a:t>
            </a:r>
            <a:r>
              <a:rPr lang="zh-TW" altLang="zh-TW" dirty="0"/>
              <a:t>數據分佈並不符合常態分配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ACE53264-977A-64A1-AE4B-DC9EC33A8BA7}"/>
              </a:ext>
            </a:extLst>
          </p:cNvPr>
          <p:cNvSpPr>
            <a:spLocks noGrp="1"/>
          </p:cNvSpPr>
          <p:nvPr>
            <p:ph type="sldNum" sz="quarter" idx="5"/>
          </p:nvPr>
        </p:nvSpPr>
        <p:spPr/>
        <p:txBody>
          <a:bodyPr/>
          <a:lstStyle/>
          <a:p>
            <a:fld id="{C1134DBE-7CC5-4F23-841F-273EC3D50B7F}" type="slidenum">
              <a:rPr lang="zh-TW" altLang="en-US" smtClean="0"/>
              <a:t>39</a:t>
            </a:fld>
            <a:endParaRPr lang="zh-TW" altLang="en-US"/>
          </a:p>
        </p:txBody>
      </p:sp>
    </p:spTree>
    <p:extLst>
      <p:ext uri="{BB962C8B-B14F-4D97-AF65-F5344CB8AC3E}">
        <p14:creationId xmlns:p14="http://schemas.microsoft.com/office/powerpoint/2010/main" val="24101747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CD96-19A2-CAE6-9E92-6C2F2F8EADB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D53B305-5D05-3D9F-83D0-B7B1116F175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F651FDF-1F86-F053-1E0A-D064D282163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本研究為進一步驗證方法的有效性</a:t>
            </a:r>
            <a:br>
              <a:rPr lang="en-US" altLang="zh-TW" dirty="0"/>
            </a:br>
            <a:r>
              <a:rPr lang="zh-TW" altLang="en-US" dirty="0"/>
              <a:t>將所提出之方法與 相關文獻 進行比較</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以驗證其在標準測試資料上的結果</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該論文提出結合</a:t>
            </a:r>
            <a:r>
              <a:rPr lang="zh-TW" altLang="zh-TW" dirty="0"/>
              <a:t>所羅門插入啟發式演算法</a:t>
            </a:r>
            <a:r>
              <a:rPr lang="zh-TW" altLang="en-US" dirty="0"/>
              <a:t>的</a:t>
            </a:r>
            <a:r>
              <a:rPr lang="en-US" altLang="zh-TW" dirty="0"/>
              <a:t>Hybrid Genetic Algorithm</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用來解決具時間窗的車輛路徑問題</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利用 </a:t>
            </a:r>
            <a:r>
              <a:rPr lang="en-US" altLang="zh-TW" dirty="0"/>
              <a:t>SIH </a:t>
            </a:r>
            <a:r>
              <a:rPr lang="zh-TW" altLang="en-US" dirty="0"/>
              <a:t>產生初始解，接著透過 </a:t>
            </a:r>
            <a:r>
              <a:rPr lang="en-US" altLang="zh-TW" dirty="0"/>
              <a:t>PMX crossover </a:t>
            </a:r>
            <a:r>
              <a:rPr lang="zh-TW" altLang="en-US" dirty="0"/>
              <a:t>與 </a:t>
            </a:r>
            <a:r>
              <a:rPr lang="en-US" altLang="zh-TW" dirty="0"/>
              <a:t>inverse mutation </a:t>
            </a:r>
            <a:r>
              <a:rPr lang="zh-TW" altLang="en-US" dirty="0"/>
              <a:t>進行演化搜尋，以降低整體物流成本。</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p:txBody>
      </p:sp>
      <p:sp>
        <p:nvSpPr>
          <p:cNvPr id="4" name="投影片編號版面配置區 3">
            <a:extLst>
              <a:ext uri="{FF2B5EF4-FFF2-40B4-BE49-F238E27FC236}">
                <a16:creationId xmlns:a16="http://schemas.microsoft.com/office/drawing/2014/main" id="{053D8B48-84E3-5D9A-DF24-F21FF24E9680}"/>
              </a:ext>
            </a:extLst>
          </p:cNvPr>
          <p:cNvSpPr>
            <a:spLocks noGrp="1"/>
          </p:cNvSpPr>
          <p:nvPr>
            <p:ph type="sldNum" sz="quarter" idx="5"/>
          </p:nvPr>
        </p:nvSpPr>
        <p:spPr/>
        <p:txBody>
          <a:bodyPr/>
          <a:lstStyle/>
          <a:p>
            <a:fld id="{C1134DBE-7CC5-4F23-841F-273EC3D50B7F}" type="slidenum">
              <a:rPr lang="zh-TW" altLang="en-US" smtClean="0"/>
              <a:t>40</a:t>
            </a:fld>
            <a:endParaRPr lang="zh-TW" altLang="en-US"/>
          </a:p>
        </p:txBody>
      </p:sp>
    </p:spTree>
    <p:extLst>
      <p:ext uri="{BB962C8B-B14F-4D97-AF65-F5344CB8AC3E}">
        <p14:creationId xmlns:p14="http://schemas.microsoft.com/office/powerpoint/2010/main" val="14178933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B23-C1D7-3AC7-019E-C3C40EF2013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676EA0C-C785-3659-48E8-54B8B4E1E77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179BD66-D476-B2DB-2770-F807198055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a:t>
            </a:r>
            <a:r>
              <a:rPr lang="zh-TW" altLang="en-US" dirty="0"/>
              <a:t>與相關文獻的車輛數量</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從圖中可知本研究方法相較於基準方法大部分案例能降低對於車輛數量的需求</a:t>
            </a:r>
            <a:endParaRPr lang="en-US" altLang="zh-TW" dirty="0"/>
          </a:p>
        </p:txBody>
      </p:sp>
      <p:sp>
        <p:nvSpPr>
          <p:cNvPr id="4" name="投影片編號版面配置區 3">
            <a:extLst>
              <a:ext uri="{FF2B5EF4-FFF2-40B4-BE49-F238E27FC236}">
                <a16:creationId xmlns:a16="http://schemas.microsoft.com/office/drawing/2014/main" id="{BE576A40-38CD-B66A-BF66-3F0F3806D915}"/>
              </a:ext>
            </a:extLst>
          </p:cNvPr>
          <p:cNvSpPr>
            <a:spLocks noGrp="1"/>
          </p:cNvSpPr>
          <p:nvPr>
            <p:ph type="sldNum" sz="quarter" idx="5"/>
          </p:nvPr>
        </p:nvSpPr>
        <p:spPr/>
        <p:txBody>
          <a:bodyPr/>
          <a:lstStyle/>
          <a:p>
            <a:fld id="{C1134DBE-7CC5-4F23-841F-273EC3D50B7F}" type="slidenum">
              <a:rPr lang="zh-TW" altLang="en-US" smtClean="0"/>
              <a:t>41</a:t>
            </a:fld>
            <a:endParaRPr lang="zh-TW" altLang="en-US"/>
          </a:p>
        </p:txBody>
      </p:sp>
    </p:spTree>
    <p:extLst>
      <p:ext uri="{BB962C8B-B14F-4D97-AF65-F5344CB8AC3E}">
        <p14:creationId xmlns:p14="http://schemas.microsoft.com/office/powerpoint/2010/main" val="3942795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CDE62-93CA-A918-5884-C167C6606A2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2861509-F27C-ABDF-13DC-6CCB382A33A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47A57C0-F44A-F217-96BB-46A59BF621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本頁為</a:t>
            </a:r>
            <a:r>
              <a:rPr lang="zh-TW" altLang="en-US" dirty="0"/>
              <a:t>與相關文獻的總行駛距離</a:t>
            </a:r>
            <a:r>
              <a:rPr lang="zh-TW" altLang="zh-TW" dirty="0"/>
              <a:t>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從結果可觀察到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兩者在總行駛距離的表現上並沒有明顯一致的優劣趨勢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在部分案例中，本方法的表現較佳，而在另外一些案例中則略遜於</a:t>
            </a:r>
            <a:r>
              <a:rPr lang="zh-TW" altLang="en-US" dirty="0"/>
              <a:t>基準</a:t>
            </a:r>
            <a:r>
              <a:rPr lang="zh-TW" altLang="zh-TW" dirty="0"/>
              <a:t>方法</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因此本研究進一步將兩個指標進行統計檢定</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以觀察其是否具有顯著差異</a:t>
            </a:r>
            <a:endParaRPr lang="en-US" altLang="zh-TW" dirty="0"/>
          </a:p>
        </p:txBody>
      </p:sp>
      <p:sp>
        <p:nvSpPr>
          <p:cNvPr id="4" name="投影片編號版面配置區 3">
            <a:extLst>
              <a:ext uri="{FF2B5EF4-FFF2-40B4-BE49-F238E27FC236}">
                <a16:creationId xmlns:a16="http://schemas.microsoft.com/office/drawing/2014/main" id="{12DE98D7-AA17-EF2A-9A4E-1B6C876B8789}"/>
              </a:ext>
            </a:extLst>
          </p:cNvPr>
          <p:cNvSpPr>
            <a:spLocks noGrp="1"/>
          </p:cNvSpPr>
          <p:nvPr>
            <p:ph type="sldNum" sz="quarter" idx="5"/>
          </p:nvPr>
        </p:nvSpPr>
        <p:spPr/>
        <p:txBody>
          <a:bodyPr/>
          <a:lstStyle/>
          <a:p>
            <a:fld id="{C1134DBE-7CC5-4F23-841F-273EC3D50B7F}" type="slidenum">
              <a:rPr lang="zh-TW" altLang="en-US" smtClean="0"/>
              <a:t>42</a:t>
            </a:fld>
            <a:endParaRPr lang="zh-TW" altLang="en-US"/>
          </a:p>
        </p:txBody>
      </p:sp>
    </p:spTree>
    <p:extLst>
      <p:ext uri="{BB962C8B-B14F-4D97-AF65-F5344CB8AC3E}">
        <p14:creationId xmlns:p14="http://schemas.microsoft.com/office/powerpoint/2010/main" val="197081834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79F28-E500-9578-B07E-0A5635309CD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7043490-CE0F-443C-A154-00A0DFC90BA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26C137C-5217-02DB-2DD5-73407524168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a:t>
            </a:r>
            <a:r>
              <a:rPr lang="zh-TW" altLang="en-US" dirty="0"/>
              <a:t>同樣使用</a:t>
            </a:r>
            <a:r>
              <a:rPr lang="en-US" altLang="zh-TW" b="0" dirty="0"/>
              <a:t>Wilcoxon Signed</a:t>
            </a:r>
            <a:r>
              <a:rPr lang="zh-TW" altLang="en-US" b="0" dirty="0"/>
              <a:t> </a:t>
            </a:r>
            <a:r>
              <a:rPr lang="en-US" altLang="zh-TW" b="0" dirty="0"/>
              <a:t>Rank Test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a:t>
            </a:r>
            <a:r>
              <a:rPr lang="zh-TW" altLang="zh-TW" dirty="0"/>
              <a:t>將顯著水準設為 0.05</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比較本研究的方法與基準方法的結果得到的指標確認其是否顯著差異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結果顯示</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本研究於車輛數量方面達到顯著差異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而在總行駛距離方面則沒有達到顯著差異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說明本研究能夠有效降低整體對於的車輛數量的需求</a:t>
            </a:r>
            <a:r>
              <a:rPr lang="zh-TW" altLang="zh-TW" dirty="0"/>
              <a:t>，達到更好的車輛使用效率</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Q&amp;A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en-US" dirty="0"/>
              <a:t> </a:t>
            </a:r>
            <a:r>
              <a:rPr lang="zh-TW" altLang="zh-TW" dirty="0"/>
              <a:t>這個 Benchmark 實驗是單純把 MACS 抽出來比較，還是整套多階段框架套用到 Solomon 資料集</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物流</a:t>
            </a:r>
            <a:r>
              <a:rPr lang="zh-TW" altLang="en-US" dirty="0"/>
              <a:t>公司具有</a:t>
            </a:r>
            <a:r>
              <a:rPr lang="zh-TW" altLang="zh-TW" dirty="0"/>
              <a:t>固定主線的特徵</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與 VRP 的全局路線重新最佳化有很大的不同</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標準的 Solomon 資料集並沒有『既有主路線』的概念，因此無法套用完整的多階段框架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2.</a:t>
            </a:r>
            <a:r>
              <a:rPr lang="zh-TW" altLang="zh-TW" dirty="0"/>
              <a:t>為何沒有將整個多階段方法套用到其他論文的問題中</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第一階段與第二階段完全是為了處理</a:t>
            </a:r>
            <a:r>
              <a:rPr lang="zh-TW" altLang="en-US" dirty="0"/>
              <a:t>物流公司</a:t>
            </a:r>
            <a:r>
              <a:rPr lang="zh-TW" altLang="zh-TW" dirty="0"/>
              <a:t>主線結構的約束而設計的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相對地，其他學術論文與標準資料集</a:t>
            </a:r>
            <a:r>
              <a:rPr lang="zh-TW" altLang="en-US" dirty="0"/>
              <a:t>，通常是能夠進行</a:t>
            </a:r>
            <a:r>
              <a:rPr lang="zh-TW" altLang="zh-TW" dirty="0"/>
              <a:t>全域路線重組</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針對沒有主路線約束的『支援路線規劃』階段</a:t>
            </a:r>
            <a:r>
              <a:rPr lang="zh-TW" altLang="en-US" dirty="0"/>
              <a:t>，有對其進行相關文獻的比較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結果可以證明，我們的方法在車輛數的最佳化上，是顯著優於其他近期論文的</a:t>
            </a:r>
            <a:endParaRPr lang="en-US" altLang="zh-TW" dirty="0"/>
          </a:p>
        </p:txBody>
      </p:sp>
      <p:sp>
        <p:nvSpPr>
          <p:cNvPr id="4" name="投影片編號版面配置區 3">
            <a:extLst>
              <a:ext uri="{FF2B5EF4-FFF2-40B4-BE49-F238E27FC236}">
                <a16:creationId xmlns:a16="http://schemas.microsoft.com/office/drawing/2014/main" id="{7EBC231B-ADBA-270D-12C0-68C3D5538598}"/>
              </a:ext>
            </a:extLst>
          </p:cNvPr>
          <p:cNvSpPr>
            <a:spLocks noGrp="1"/>
          </p:cNvSpPr>
          <p:nvPr>
            <p:ph type="sldNum" sz="quarter" idx="5"/>
          </p:nvPr>
        </p:nvSpPr>
        <p:spPr/>
        <p:txBody>
          <a:bodyPr/>
          <a:lstStyle/>
          <a:p>
            <a:fld id="{C1134DBE-7CC5-4F23-841F-273EC3D50B7F}" type="slidenum">
              <a:rPr lang="zh-TW" altLang="en-US" smtClean="0"/>
              <a:t>43</a:t>
            </a:fld>
            <a:endParaRPr lang="zh-TW" altLang="en-US"/>
          </a:p>
        </p:txBody>
      </p:sp>
    </p:spTree>
    <p:extLst>
      <p:ext uri="{BB962C8B-B14F-4D97-AF65-F5344CB8AC3E}">
        <p14:creationId xmlns:p14="http://schemas.microsoft.com/office/powerpoint/2010/main" val="84823990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98DED-A852-36B9-D349-6D8C0C5D2C1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C9AAEAF-E461-4F3C-F881-4B4B7FF9FD2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0D530DB-C7A1-C1D2-5865-DBA4654781D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接下來是介紹本研究之討論</a:t>
            </a:r>
            <a:endParaRPr lang="en-US" altLang="zh-TW" dirty="0"/>
          </a:p>
        </p:txBody>
      </p:sp>
      <p:sp>
        <p:nvSpPr>
          <p:cNvPr id="4" name="投影片編號版面配置區 3">
            <a:extLst>
              <a:ext uri="{FF2B5EF4-FFF2-40B4-BE49-F238E27FC236}">
                <a16:creationId xmlns:a16="http://schemas.microsoft.com/office/drawing/2014/main" id="{5FF16008-D0EF-03D6-A6E9-94B2165575FA}"/>
              </a:ext>
            </a:extLst>
          </p:cNvPr>
          <p:cNvSpPr>
            <a:spLocks noGrp="1"/>
          </p:cNvSpPr>
          <p:nvPr>
            <p:ph type="sldNum" sz="quarter" idx="5"/>
          </p:nvPr>
        </p:nvSpPr>
        <p:spPr/>
        <p:txBody>
          <a:bodyPr/>
          <a:lstStyle/>
          <a:p>
            <a:fld id="{C1134DBE-7CC5-4F23-841F-273EC3D50B7F}" type="slidenum">
              <a:rPr lang="zh-TW" altLang="en-US" smtClean="0"/>
              <a:t>44</a:t>
            </a:fld>
            <a:endParaRPr lang="zh-TW" altLang="en-US"/>
          </a:p>
        </p:txBody>
      </p:sp>
    </p:spTree>
    <p:extLst>
      <p:ext uri="{BB962C8B-B14F-4D97-AF65-F5344CB8AC3E}">
        <p14:creationId xmlns:p14="http://schemas.microsoft.com/office/powerpoint/2010/main" val="30514275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0D947-3AAA-2A4F-456E-4406DA35CE0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49B219F-10AD-9F0E-82C0-6D91C3EDA36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33FCD33C-2783-9945-1844-95C5E1EDEF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200" dirty="0">
                <a:solidFill>
                  <a:schemeClr val="tx1"/>
                </a:solidFill>
                <a:latin typeface="+mn-lt"/>
                <a:ea typeface="+mn-ea"/>
                <a:cs typeface="+mn-cs"/>
              </a:rPr>
              <a:t>本研究所探討之問題為物流公司固定主線架構下的實務配送問題</a:t>
            </a:r>
            <a:endParaRPr lang="en-US" altLang="zh-TW" sz="12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相較於</a:t>
            </a:r>
            <a:r>
              <a:rPr lang="zh-TW" altLang="en-US" dirty="0"/>
              <a:t>現有的</a:t>
            </a:r>
            <a:r>
              <a:rPr lang="zh-TW" altLang="zh-TW" dirty="0"/>
              <a:t> VRP 可以自由進行全域路線重組，本研究僅能在既有主線架構下進行店舖抽取、店舖分配以及支援線規劃</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200" dirty="0">
                <a:solidFill>
                  <a:schemeClr val="tx1"/>
                </a:solidFill>
                <a:latin typeface="+mn-lt"/>
                <a:ea typeface="+mn-ea"/>
                <a:cs typeface="+mn-cs"/>
              </a:rPr>
              <a:t>基於此限制</a:t>
            </a:r>
            <a:r>
              <a:rPr lang="zh-TW" altLang="zh-TW" dirty="0"/>
              <a:t>，</a:t>
            </a:r>
            <a:r>
              <a:rPr lang="zh-TW" altLang="en-US" dirty="0"/>
              <a:t>本研究</a:t>
            </a:r>
            <a:r>
              <a:rPr lang="zh-TW" altLang="zh-TW" dirty="0"/>
              <a:t>在標準測試案例的比較，主要聚焦於支援線規劃階段，</a:t>
            </a:r>
            <a:r>
              <a:rPr lang="zh-TW" altLang="en-US" dirty="0"/>
              <a:t>以</a:t>
            </a:r>
            <a:r>
              <a:rPr lang="zh-TW" altLang="zh-TW" dirty="0"/>
              <a:t>驗證所提出路徑規劃方法的能力</a:t>
            </a:r>
            <a:endParaRPr lang="en-US" altLang="zh-TW" sz="1200" kern="1200" dirty="0">
              <a:solidFill>
                <a:schemeClr val="tx1"/>
              </a:solidFill>
              <a:latin typeface="+mn-lt"/>
              <a:ea typeface="+mn-ea"/>
              <a:cs typeface="+mn-cs"/>
            </a:endParaRPr>
          </a:p>
        </p:txBody>
      </p:sp>
      <p:sp>
        <p:nvSpPr>
          <p:cNvPr id="4" name="投影片編號版面配置區 3">
            <a:extLst>
              <a:ext uri="{FF2B5EF4-FFF2-40B4-BE49-F238E27FC236}">
                <a16:creationId xmlns:a16="http://schemas.microsoft.com/office/drawing/2014/main" id="{9338CB47-BDF1-3A0A-E9BF-0931FAE12F0F}"/>
              </a:ext>
            </a:extLst>
          </p:cNvPr>
          <p:cNvSpPr>
            <a:spLocks noGrp="1"/>
          </p:cNvSpPr>
          <p:nvPr>
            <p:ph type="sldNum" sz="quarter" idx="5"/>
          </p:nvPr>
        </p:nvSpPr>
        <p:spPr/>
        <p:txBody>
          <a:bodyPr/>
          <a:lstStyle/>
          <a:p>
            <a:fld id="{C1134DBE-7CC5-4F23-841F-273EC3D50B7F}" type="slidenum">
              <a:rPr lang="zh-TW" altLang="en-US" smtClean="0"/>
              <a:t>45</a:t>
            </a:fld>
            <a:endParaRPr lang="zh-TW" altLang="en-US"/>
          </a:p>
        </p:txBody>
      </p:sp>
    </p:spTree>
    <p:extLst>
      <p:ext uri="{BB962C8B-B14F-4D97-AF65-F5344CB8AC3E}">
        <p14:creationId xmlns:p14="http://schemas.microsoft.com/office/powerpoint/2010/main" val="31164532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49396-5C3E-F4E3-6678-7B93124F51B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A4F90EA-0F91-B118-DA16-EA258DB8366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40C814E-D669-9013-6F7C-7B018634F5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接下來介紹本研究的結論與未來研究方向</a:t>
            </a:r>
            <a:endParaRPr lang="en-US" altLang="zh-TW" dirty="0"/>
          </a:p>
        </p:txBody>
      </p:sp>
      <p:sp>
        <p:nvSpPr>
          <p:cNvPr id="4" name="投影片編號版面配置區 3">
            <a:extLst>
              <a:ext uri="{FF2B5EF4-FFF2-40B4-BE49-F238E27FC236}">
                <a16:creationId xmlns:a16="http://schemas.microsoft.com/office/drawing/2014/main" id="{181F462A-71CD-8010-063E-BCB927B4CCA4}"/>
              </a:ext>
            </a:extLst>
          </p:cNvPr>
          <p:cNvSpPr>
            <a:spLocks noGrp="1"/>
          </p:cNvSpPr>
          <p:nvPr>
            <p:ph type="sldNum" sz="quarter" idx="5"/>
          </p:nvPr>
        </p:nvSpPr>
        <p:spPr/>
        <p:txBody>
          <a:bodyPr/>
          <a:lstStyle/>
          <a:p>
            <a:fld id="{C1134DBE-7CC5-4F23-841F-273EC3D50B7F}" type="slidenum">
              <a:rPr lang="zh-TW" altLang="en-US" smtClean="0"/>
              <a:t>46</a:t>
            </a:fld>
            <a:endParaRPr lang="zh-TW" altLang="en-US"/>
          </a:p>
        </p:txBody>
      </p:sp>
    </p:spTree>
    <p:extLst>
      <p:ext uri="{BB962C8B-B14F-4D97-AF65-F5344CB8AC3E}">
        <p14:creationId xmlns:p14="http://schemas.microsoft.com/office/powerpoint/2010/main" val="111431580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063B5-5867-FB24-7F0E-5B6A24E2F7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2DE6DFE-3FCA-9F2D-A6A1-2DF55B99CB8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C0A78D7-20DF-63F4-8990-24B0E97781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本研究針對</a:t>
            </a:r>
            <a:r>
              <a:rPr lang="zh-TW" altLang="en-US" dirty="0"/>
              <a:t>物流公司</a:t>
            </a:r>
            <a:r>
              <a:rPr lang="zh-TW" altLang="zh-TW" dirty="0"/>
              <a:t>固定主線架構下之物流配送問題，提出一個多階段</a:t>
            </a:r>
            <a:r>
              <a:rPr lang="zh-TW" altLang="en-US" dirty="0"/>
              <a:t>符合營運</a:t>
            </a:r>
            <a:r>
              <a:rPr lang="zh-TW" altLang="zh-TW" dirty="0"/>
              <a:t>限制</a:t>
            </a:r>
            <a:r>
              <a:rPr lang="zh-TW" altLang="en-US" dirty="0"/>
              <a:t>的車輛路徑問題</a:t>
            </a:r>
            <a:r>
              <a:rPr lang="zh-TW" altLang="zh-TW" dirty="0"/>
              <a:t>模型</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將問題分解成三個子問題，並</a:t>
            </a:r>
            <a:r>
              <a:rPr lang="zh-TW" altLang="zh-TW" dirty="0"/>
              <a:t>結合 CCGA、HACO 與 MACS 的混合式最佳化架構</a:t>
            </a:r>
            <a:r>
              <a:rPr lang="zh-TW" altLang="en-US" dirty="0"/>
              <a:t>解決此問題</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實驗結果顯示，本研究方法</a:t>
            </a:r>
            <a:r>
              <a:rPr lang="zh-TW" altLang="en-US" dirty="0"/>
              <a:t>於</a:t>
            </a:r>
            <a:r>
              <a:rPr lang="zh-TW" altLang="zh-TW" dirty="0"/>
              <a:t>實務資料中，能有效提升配送效率，並降低</a:t>
            </a:r>
            <a:r>
              <a:rPr lang="zh-TW" altLang="en-US" dirty="0"/>
              <a:t>整體配送成本</a:t>
            </a:r>
            <a:endParaRPr lang="en-US" altLang="zh-TW" dirty="0"/>
          </a:p>
        </p:txBody>
      </p:sp>
      <p:sp>
        <p:nvSpPr>
          <p:cNvPr id="4" name="投影片編號版面配置區 3">
            <a:extLst>
              <a:ext uri="{FF2B5EF4-FFF2-40B4-BE49-F238E27FC236}">
                <a16:creationId xmlns:a16="http://schemas.microsoft.com/office/drawing/2014/main" id="{F7A58BFF-24F9-DE08-B11D-23A1DD6AD70E}"/>
              </a:ext>
            </a:extLst>
          </p:cNvPr>
          <p:cNvSpPr>
            <a:spLocks noGrp="1"/>
          </p:cNvSpPr>
          <p:nvPr>
            <p:ph type="sldNum" sz="quarter" idx="5"/>
          </p:nvPr>
        </p:nvSpPr>
        <p:spPr/>
        <p:txBody>
          <a:bodyPr/>
          <a:lstStyle/>
          <a:p>
            <a:fld id="{C1134DBE-7CC5-4F23-841F-273EC3D50B7F}" type="slidenum">
              <a:rPr lang="zh-TW" altLang="en-US" smtClean="0"/>
              <a:t>47</a:t>
            </a:fld>
            <a:endParaRPr lang="zh-TW" altLang="en-US"/>
          </a:p>
        </p:txBody>
      </p:sp>
    </p:spTree>
    <p:extLst>
      <p:ext uri="{BB962C8B-B14F-4D97-AF65-F5344CB8AC3E}">
        <p14:creationId xmlns:p14="http://schemas.microsoft.com/office/powerpoint/2010/main" val="4359590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FA125-3886-DA4B-61C9-E97A040C711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CFA92B6-1FEC-1ADF-4F8C-AF74F845E89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8BEB330C-C401-B4D8-5414-832C144C1E80}"/>
              </a:ext>
            </a:extLst>
          </p:cNvPr>
          <p:cNvSpPr>
            <a:spLocks noGrp="1"/>
          </p:cNvSpPr>
          <p:nvPr>
            <p:ph type="body" idx="1"/>
          </p:nvPr>
        </p:nvSpPr>
        <p:spPr/>
        <p:txBody>
          <a:bodyPr/>
          <a:lstStyle/>
          <a:p>
            <a:r>
              <a:rPr lang="zh-TW" altLang="en-US" dirty="0"/>
              <a:t>未來研究方面</a:t>
            </a:r>
            <a:endParaRPr lang="en-US" altLang="zh-TW" dirty="0"/>
          </a:p>
          <a:p>
            <a:r>
              <a:rPr lang="zh-TW" altLang="en-US" dirty="0"/>
              <a:t>主要著重於兩個面向，分別為問題擴展以及方法強化</a:t>
            </a:r>
            <a:endParaRPr lang="en-US" altLang="zh-TW" dirty="0"/>
          </a:p>
          <a:p>
            <a:endParaRPr lang="en-US" altLang="zh-TW" dirty="0"/>
          </a:p>
          <a:p>
            <a:r>
              <a:rPr lang="zh-TW" altLang="zh-TW" dirty="0"/>
              <a:t>在問題擴展方面</a:t>
            </a:r>
            <a:endParaRPr lang="en-US" altLang="zh-TW" dirty="0"/>
          </a:p>
          <a:p>
            <a:r>
              <a:rPr lang="zh-TW" altLang="zh-TW" dirty="0"/>
              <a:t>未來可進一步將所提出的方法延伸至更多不同類型的車輛途程問題。例如，多類型異質車隊車輛路徑問題，不同車輛除了具有不同載重容量外，也可能具備不同的配送成本、服務特性。</a:t>
            </a:r>
          </a:p>
          <a:p>
            <a:r>
              <a:rPr lang="zh-TW" altLang="zh-TW" dirty="0"/>
              <a:t>此外，未來亦可將綠色物流相關考量納入模型之中，例如碳排放量、能源消耗，以及電動車配送等因素，使路徑規劃結果在兼顧配送效率的同時，也能符合永續發展與節能減碳的需求。</a:t>
            </a:r>
          </a:p>
          <a:p>
            <a:endParaRPr lang="zh-TW" altLang="zh-TW" dirty="0"/>
          </a:p>
          <a:p>
            <a:r>
              <a:rPr lang="zh-TW" altLang="zh-TW" dirty="0"/>
              <a:t>在方法方面</a:t>
            </a:r>
            <a:endParaRPr lang="en-US" altLang="zh-TW" dirty="0"/>
          </a:p>
          <a:p>
            <a:r>
              <a:rPr lang="zh-TW" altLang="zh-TW" dirty="0"/>
              <a:t>未來可進一步整合的人工智慧技術</a:t>
            </a:r>
            <a:endParaRPr lang="en-US" altLang="zh-TW" dirty="0"/>
          </a:p>
          <a:p>
            <a:r>
              <a:rPr lang="zh-TW" altLang="zh-TW" dirty="0"/>
              <a:t>例如結合深度學習與強化學習方法，學習</a:t>
            </a:r>
            <a:r>
              <a:rPr lang="zh-TW" altLang="en-US" dirty="0"/>
              <a:t>物流公司的</a:t>
            </a:r>
            <a:r>
              <a:rPr lang="zh-TW" altLang="zh-TW" dirty="0"/>
              <a:t>配送決策，進一步提升大規模物流問題的擴展能力、決策品質</a:t>
            </a:r>
          </a:p>
        </p:txBody>
      </p:sp>
      <p:sp>
        <p:nvSpPr>
          <p:cNvPr id="4" name="投影片編號版面配置區 3">
            <a:extLst>
              <a:ext uri="{FF2B5EF4-FFF2-40B4-BE49-F238E27FC236}">
                <a16:creationId xmlns:a16="http://schemas.microsoft.com/office/drawing/2014/main" id="{7308416B-DF2A-C7A8-918B-801F135F9073}"/>
              </a:ext>
            </a:extLst>
          </p:cNvPr>
          <p:cNvSpPr>
            <a:spLocks noGrp="1"/>
          </p:cNvSpPr>
          <p:nvPr>
            <p:ph type="sldNum" sz="quarter" idx="5"/>
          </p:nvPr>
        </p:nvSpPr>
        <p:spPr/>
        <p:txBody>
          <a:bodyPr/>
          <a:lstStyle/>
          <a:p>
            <a:fld id="{C1134DBE-7CC5-4F23-841F-273EC3D50B7F}" type="slidenum">
              <a:rPr lang="zh-TW" altLang="en-US" smtClean="0"/>
              <a:t>48</a:t>
            </a:fld>
            <a:endParaRPr lang="zh-TW" altLang="en-US"/>
          </a:p>
        </p:txBody>
      </p:sp>
    </p:spTree>
    <p:extLst>
      <p:ext uri="{BB962C8B-B14F-4D97-AF65-F5344CB8AC3E}">
        <p14:creationId xmlns:p14="http://schemas.microsoft.com/office/powerpoint/2010/main" val="21334381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C1FF8-A54F-35B6-2FCF-978AFDC5EA5B}"/>
            </a:ext>
          </a:extLst>
        </p:cNvPr>
        <p:cNvGrpSpPr/>
        <p:nvPr/>
      </p:nvGrpSpPr>
      <p:grpSpPr>
        <a:xfrm>
          <a:off x="0" y="0"/>
          <a:ext cx="0" cy="0"/>
          <a:chOff x="0" y="0"/>
          <a:chExt cx="0" cy="0"/>
        </a:xfrm>
      </p:grpSpPr>
      <p:sp>
        <p:nvSpPr>
          <p:cNvPr id="2" name="投影片圖像版面配置區 1">
            <a:extLst>
              <a:ext uri="{FF2B5EF4-FFF2-40B4-BE49-F238E27FC236}">
                <a16:creationId xmlns:a16="http://schemas.microsoft.com/office/drawing/2014/main" id="{74FEC18D-32CB-B808-7156-9130E163D0C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87E7F8D-11EB-5DE8-7669-9C2E9606BCC3}"/>
              </a:ext>
            </a:extLst>
          </p:cNvPr>
          <p:cNvSpPr>
            <a:spLocks noGrp="1"/>
          </p:cNvSpPr>
          <p:nvPr>
            <p:ph type="body" idx="1"/>
          </p:nvPr>
        </p:nvSpPr>
        <p:spPr/>
        <p:txBody>
          <a:bodyPr/>
          <a:lstStyle/>
          <a:p>
            <a:r>
              <a:rPr lang="zh-TW" altLang="en-US" dirty="0"/>
              <a:t>我的報告到此結束，謝謝各位口試委員的聆聽。</a:t>
            </a:r>
          </a:p>
        </p:txBody>
      </p:sp>
      <p:sp>
        <p:nvSpPr>
          <p:cNvPr id="4" name="投影片編號版面配置區 3">
            <a:extLst>
              <a:ext uri="{FF2B5EF4-FFF2-40B4-BE49-F238E27FC236}">
                <a16:creationId xmlns:a16="http://schemas.microsoft.com/office/drawing/2014/main" id="{37935761-A00F-80CE-B28F-172EAB01429B}"/>
              </a:ext>
            </a:extLst>
          </p:cNvPr>
          <p:cNvSpPr>
            <a:spLocks noGrp="1"/>
          </p:cNvSpPr>
          <p:nvPr>
            <p:ph type="sldNum" sz="quarter" idx="10"/>
          </p:nvPr>
        </p:nvSpPr>
        <p:spPr/>
        <p:txBody>
          <a:bodyPr/>
          <a:lstStyle/>
          <a:p>
            <a:fld id="{504706DC-D834-4F28-8B12-F5017493D9BA}" type="slidenum">
              <a:rPr lang="zh-TW" altLang="en-US" smtClean="0"/>
              <a:t>49</a:t>
            </a:fld>
            <a:endParaRPr lang="zh-TW" altLang="en-US"/>
          </a:p>
        </p:txBody>
      </p:sp>
    </p:spTree>
    <p:extLst>
      <p:ext uri="{BB962C8B-B14F-4D97-AF65-F5344CB8AC3E}">
        <p14:creationId xmlns:p14="http://schemas.microsoft.com/office/powerpoint/2010/main" val="41103281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482D5-ED03-A157-9D34-4272990D9DA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67931A-0EAB-54B0-4D6C-4D06BA0C6CD5}"/>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7288000-874B-B8C1-600B-035199D8608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本頁為於標準測試資料集的車輛數量以及總行駛距離的比較結果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比較結果顯示</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本研究方法在車輛數量方面，於 R1、R2 及 RC2 資料集皆取得較佳結果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在總行駛距離方面，則於 R2、C1 及 RC1 資料集表現較佳</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但</a:t>
            </a:r>
            <a:r>
              <a:rPr lang="zh-TW" altLang="zh-TW" dirty="0"/>
              <a:t>由於 VRPTW </a:t>
            </a:r>
            <a:r>
              <a:rPr lang="zh-TW" altLang="en-US" dirty="0"/>
              <a:t>同樣</a:t>
            </a:r>
            <a:r>
              <a:rPr lang="zh-TW" altLang="zh-TW" dirty="0"/>
              <a:t>採用階層式目標以最小化車輛數量為優先考量，並於車輛數量相同時再進一步比較總行駛距離</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dirty="0"/>
              <a:t>因此整體而言，本研究方法於多數測試案例中</a:t>
            </a:r>
            <a:r>
              <a:rPr lang="zh-TW" altLang="en-US" dirty="0"/>
              <a:t>能夠取得</a:t>
            </a:r>
            <a:r>
              <a:rPr lang="zh-TW" altLang="zh-TW" dirty="0"/>
              <a:t>較佳</a:t>
            </a:r>
            <a:r>
              <a:rPr lang="zh-TW" altLang="en-US" dirty="0"/>
              <a:t>結果</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為此本研究進一步進行統計分析以觀察其是否具有顯著性</a:t>
            </a:r>
          </a:p>
        </p:txBody>
      </p:sp>
      <p:sp>
        <p:nvSpPr>
          <p:cNvPr id="4" name="投影片編號版面配置區 3">
            <a:extLst>
              <a:ext uri="{FF2B5EF4-FFF2-40B4-BE49-F238E27FC236}">
                <a16:creationId xmlns:a16="http://schemas.microsoft.com/office/drawing/2014/main" id="{F79D9C85-31F5-007F-B9EC-574A57DC1117}"/>
              </a:ext>
            </a:extLst>
          </p:cNvPr>
          <p:cNvSpPr>
            <a:spLocks noGrp="1"/>
          </p:cNvSpPr>
          <p:nvPr>
            <p:ph type="sldNum" sz="quarter" idx="5"/>
          </p:nvPr>
        </p:nvSpPr>
        <p:spPr/>
        <p:txBody>
          <a:bodyPr/>
          <a:lstStyle/>
          <a:p>
            <a:fld id="{C1134DBE-7CC5-4F23-841F-273EC3D50B7F}" type="slidenum">
              <a:rPr lang="zh-TW" altLang="en-US" smtClean="0"/>
              <a:t>50</a:t>
            </a:fld>
            <a:endParaRPr lang="zh-TW" altLang="en-US"/>
          </a:p>
        </p:txBody>
      </p:sp>
    </p:spTree>
    <p:extLst>
      <p:ext uri="{BB962C8B-B14F-4D97-AF65-F5344CB8AC3E}">
        <p14:creationId xmlns:p14="http://schemas.microsoft.com/office/powerpoint/2010/main" val="39669594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zh-TW" altLang="en-US"/>
              <a:t>按一下以編輯母片標題樣式</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4615597C-F572-4A2F-8DB3-4E70DD865481}" type="datetime1">
              <a:rPr lang="zh-TW" altLang="en-US" smtClean="0"/>
              <a:t>2026/6/29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40417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lstStyle>
            <a:lvl3pPr>
              <a:spcBef>
                <a:spcPts val="600"/>
              </a:spcBef>
              <a:spcAft>
                <a:spcPts val="600"/>
              </a:spcAft>
              <a:buClr>
                <a:schemeClr val="accent1">
                  <a:lumMod val="50000"/>
                </a:schemeClr>
              </a:buClr>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10"/>
          </p:nvPr>
        </p:nvSpPr>
        <p:spPr/>
        <p:txBody>
          <a:bodyPr/>
          <a:lstStyle/>
          <a:p>
            <a:fld id="{37A0302E-DE4D-4787-9FB6-0B2A2A238E02}" type="datetime1">
              <a:rPr lang="zh-TW" altLang="en-US" smtClean="0"/>
              <a:t>2026/6/29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727954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章節標題">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zh-TW" altLang="en-US"/>
              <a:t>按一下以編輯母片標題樣式</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編輯母片文字樣式</a:t>
            </a:r>
          </a:p>
        </p:txBody>
      </p:sp>
      <p:sp>
        <p:nvSpPr>
          <p:cNvPr id="4" name="Date Placeholder 3"/>
          <p:cNvSpPr>
            <a:spLocks noGrp="1"/>
          </p:cNvSpPr>
          <p:nvPr>
            <p:ph type="dt" sz="half" idx="10"/>
          </p:nvPr>
        </p:nvSpPr>
        <p:spPr/>
        <p:txBody>
          <a:bodyPr/>
          <a:lstStyle/>
          <a:p>
            <a:fld id="{305B98BF-7504-47B1-8CFB-9D9962CBFE76}" type="datetime1">
              <a:rPr lang="zh-TW" altLang="en-US" smtClean="0"/>
              <a:t>2026/6/29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6271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1097278" y="1845734"/>
            <a:ext cx="4937760" cy="4023360"/>
          </a:xfrm>
        </p:spPr>
        <p:txBody>
          <a:bodyPr/>
          <a:lstStyle>
            <a:lvl1pPr>
              <a:defRPr sz="2400"/>
            </a:lvl1pPr>
            <a:lvl2pPr marL="384048" indent="-182880">
              <a:buFont typeface="Wingdings" panose="05000000000000000000" pitchFamily="2" charset="2"/>
              <a:buChar char="Ø"/>
              <a:defRPr/>
            </a:lvl2pPr>
            <a:lvl3pPr marL="566928" indent="-182880">
              <a:buFont typeface="Wingdings" panose="05000000000000000000" pitchFamily="2" charset="2"/>
              <a:buChar char="l"/>
              <a:defRPr/>
            </a:lvl3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Content Placeholder 3"/>
          <p:cNvSpPr>
            <a:spLocks noGrp="1"/>
          </p:cNvSpPr>
          <p:nvPr>
            <p:ph sz="half" idx="2"/>
          </p:nvPr>
        </p:nvSpPr>
        <p:spPr>
          <a:xfrm>
            <a:off x="6217920" y="1845735"/>
            <a:ext cx="4937760" cy="4023360"/>
          </a:xfrm>
        </p:spPr>
        <p:txBody>
          <a:bodyPr/>
          <a:lstStyle>
            <a:lvl1pPr>
              <a:defRPr sz="2400"/>
            </a:lvl1p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5" name="Date Placeholder 4"/>
          <p:cNvSpPr>
            <a:spLocks noGrp="1"/>
          </p:cNvSpPr>
          <p:nvPr>
            <p:ph type="dt" sz="half" idx="10"/>
          </p:nvPr>
        </p:nvSpPr>
        <p:spPr/>
        <p:txBody>
          <a:bodyPr/>
          <a:lstStyle/>
          <a:p>
            <a:fld id="{3294B217-F04C-499F-B3C3-2495ADA884A1}" type="datetime1">
              <a:rPr lang="zh-TW" altLang="en-US" smtClean="0"/>
              <a:t>2026/6/29</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947762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Content Placeholder 3"/>
          <p:cNvSpPr>
            <a:spLocks noGrp="1"/>
          </p:cNvSpPr>
          <p:nvPr>
            <p:ph sz="half" idx="2"/>
          </p:nvPr>
        </p:nvSpPr>
        <p:spPr>
          <a:xfrm>
            <a:off x="109728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Content Placeholder 5"/>
          <p:cNvSpPr>
            <a:spLocks noGrp="1"/>
          </p:cNvSpPr>
          <p:nvPr>
            <p:ph sz="quarter" idx="4"/>
          </p:nvPr>
        </p:nvSpPr>
        <p:spPr>
          <a:xfrm>
            <a:off x="6217920" y="2582334"/>
            <a:ext cx="4937760" cy="33782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69589430-20CC-4CB6-8099-6D6F8AD9126B}" type="datetime1">
              <a:rPr lang="zh-TW" altLang="en-US" smtClean="0"/>
              <a:t>2026/6/29</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6859661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0B64F23A-ADA9-4B81-BA25-B90A125A7E29}" type="datetime1">
              <a:rPr lang="zh-TW" altLang="en-US" smtClean="0"/>
              <a:t>2026/6/29</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953415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873358DE-BAB7-43C6-B230-87048C96B64C}" type="datetime1">
              <a:rPr lang="zh-TW" altLang="en-US" smtClean="0"/>
              <a:t>2026/6/29</a:t>
            </a:fld>
            <a:endParaRPr lang="zh-TW" alt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zh-TW" altLang="en-US"/>
          </a:p>
        </p:txBody>
      </p:sp>
      <p:sp>
        <p:nvSpPr>
          <p:cNvPr id="9" name="Slide Number Placeholder 8"/>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893399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zh-TW" altLang="en-US"/>
              <a:t>按一下以編輯母片標題樣式</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B69258C-861B-4A67-93B0-E5B8B2157AFE}" type="datetime1">
              <a:rPr lang="zh-TW" altLang="en-US" smtClean="0"/>
              <a:t>2026/6/29</a:t>
            </a:fld>
            <a:endParaRPr lang="zh-TW" alt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zh-TW" alt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199355627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zh-TW" altLang="en-US"/>
              <a:t>按一下以編輯母片標題樣式</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編輯母片文字樣式</a:t>
            </a:r>
          </a:p>
        </p:txBody>
      </p:sp>
      <p:sp>
        <p:nvSpPr>
          <p:cNvPr id="5" name="Date Placeholder 4"/>
          <p:cNvSpPr>
            <a:spLocks noGrp="1"/>
          </p:cNvSpPr>
          <p:nvPr>
            <p:ph type="dt" sz="half" idx="10"/>
          </p:nvPr>
        </p:nvSpPr>
        <p:spPr/>
        <p:txBody>
          <a:bodyPr/>
          <a:lstStyle/>
          <a:p>
            <a:fld id="{6B69258C-861B-4A67-93B0-E5B8B2157AFE}" type="datetime1">
              <a:rPr lang="zh-TW" altLang="en-US" smtClean="0"/>
              <a:t>2026/6/29</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2890032295"/>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511B4937-A29C-4193-9DD1-4AB39B0FC9A5}" type="datetime1">
              <a:rPr lang="zh-TW" altLang="en-US" smtClean="0"/>
              <a:t>2026/6/29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16982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4ABB3EA8-8FA6-47FB-B4CB-5B3095828625}" type="datetime1">
              <a:rPr lang="zh-TW" altLang="en-US" smtClean="0"/>
              <a:t>2026/6/29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5AC25633-CB68-4D6B-BEE8-144406895708}" type="slidenum">
              <a:rPr lang="zh-TW" altLang="en-US" smtClean="0"/>
              <a:t>‹#›</a:t>
            </a:fld>
            <a:endParaRPr lang="zh-TW" altLang="en-US"/>
          </a:p>
        </p:txBody>
      </p:sp>
    </p:spTree>
    <p:extLst>
      <p:ext uri="{BB962C8B-B14F-4D97-AF65-F5344CB8AC3E}">
        <p14:creationId xmlns:p14="http://schemas.microsoft.com/office/powerpoint/2010/main" val="3383738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zh-TW" altLang="en-US" dirty="0"/>
              <a:t>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B69258C-861B-4A67-93B0-E5B8B2157AFE}" type="datetime1">
              <a:rPr lang="zh-TW" altLang="en-US" smtClean="0"/>
              <a:t>2026/6/29</a:t>
            </a:fld>
            <a:endParaRPr lang="zh-TW" alt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zh-TW" alt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5AC25633-CB68-4D6B-BEE8-144406895708}" type="slidenum">
              <a:rPr lang="zh-TW" altLang="en-US" smtClean="0"/>
              <a:t>‹#›</a:t>
            </a:fld>
            <a:endParaRPr lang="zh-TW" alt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309255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3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chart" Target="../charts/char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chart" Target="../charts/char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598A351-EA25-436B-B36F-4AF45C795F89}"/>
              </a:ext>
            </a:extLst>
          </p:cNvPr>
          <p:cNvSpPr>
            <a:spLocks noGrp="1"/>
          </p:cNvSpPr>
          <p:nvPr>
            <p:ph type="title"/>
          </p:nvPr>
        </p:nvSpPr>
        <p:spPr>
          <a:xfrm>
            <a:off x="515793" y="2008972"/>
            <a:ext cx="11221374" cy="1750588"/>
          </a:xfrm>
        </p:spPr>
        <p:txBody>
          <a:bodyPr>
            <a:noAutofit/>
          </a:bodyPr>
          <a:lstStyle/>
          <a:p>
            <a:pPr algn="ctr"/>
            <a:r>
              <a:rPr lang="en-US" altLang="zh-TW" sz="4800" b="1" dirty="0"/>
              <a:t>Multi-Stage Optimization for Supporting Lines in Logistics Companies</a:t>
            </a:r>
            <a:endParaRPr lang="zh-TW" altLang="en-US" sz="4800" b="1" dirty="0"/>
          </a:p>
        </p:txBody>
      </p:sp>
      <p:sp>
        <p:nvSpPr>
          <p:cNvPr id="4" name="投影片編號版面配置區 3">
            <a:extLst>
              <a:ext uri="{FF2B5EF4-FFF2-40B4-BE49-F238E27FC236}">
                <a16:creationId xmlns:a16="http://schemas.microsoft.com/office/drawing/2014/main" id="{3F9DE4A7-02C9-437F-8E5D-A0C80B45D07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a:t>
            </a:fld>
            <a:endParaRPr lang="zh-TW" altLang="en-US" sz="1600" dirty="0"/>
          </a:p>
        </p:txBody>
      </p:sp>
      <p:sp>
        <p:nvSpPr>
          <p:cNvPr id="9" name="文字版面配置區 8">
            <a:extLst>
              <a:ext uri="{FF2B5EF4-FFF2-40B4-BE49-F238E27FC236}">
                <a16:creationId xmlns:a16="http://schemas.microsoft.com/office/drawing/2014/main" id="{C9626854-F57D-1205-9F35-ADDFB7CE8AA1}"/>
              </a:ext>
            </a:extLst>
          </p:cNvPr>
          <p:cNvSpPr txBox="1">
            <a:spLocks noGrp="1"/>
          </p:cNvSpPr>
          <p:nvPr>
            <p:ph type="body" idx="1"/>
          </p:nvPr>
        </p:nvSpPr>
        <p:spPr>
          <a:xfrm>
            <a:off x="3815273" y="4452938"/>
            <a:ext cx="4621778" cy="1477328"/>
          </a:xfrm>
          <a:prstGeom prst="rect">
            <a:avLst/>
          </a:prstGeom>
          <a:noFill/>
        </p:spPr>
        <p:txBody>
          <a:bodyPr wrap="none" rtlCol="0">
            <a:spAutoFit/>
          </a:bodyPr>
          <a:lstStyle/>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Student: Hong-Jie Yang</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Advisor: Jong-Yih Kuo, </a:t>
            </a:r>
            <a:r>
              <a:rPr lang="en-US" altLang="zh-TW" sz="1800" cap="none" spc="0" dirty="0" err="1">
                <a:solidFill>
                  <a:schemeClr val="dk1"/>
                </a:solidFill>
                <a:latin typeface="Times New Roman" panose="02020603050405020304" pitchFamily="18" charset="0"/>
                <a:ea typeface="Times New Roman"/>
                <a:cs typeface="Times New Roman" panose="02020603050405020304" pitchFamily="18" charset="0"/>
                <a:sym typeface="Times New Roman"/>
              </a:rPr>
              <a:t>Ph.D</a:t>
            </a:r>
            <a:endPar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Computer Science and Information Engineering</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National Taipei University of Technology</a:t>
            </a:r>
            <a:endParaRPr lang="en-US" altLang="zh-TW" sz="1800" spc="0" dirty="0">
              <a:latin typeface="Times New Roman" panose="02020603050405020304" pitchFamily="18" charset="0"/>
              <a:cs typeface="Times New Roman" panose="02020603050405020304" pitchFamily="18" charset="0"/>
            </a:endParaRPr>
          </a:p>
          <a:p>
            <a:pPr marL="0" lvl="0" indent="0" algn="ctr" rtl="0">
              <a:lnSpc>
                <a:spcPct val="100000"/>
              </a:lnSpc>
              <a:spcBef>
                <a:spcPts val="0"/>
              </a:spcBef>
              <a:spcAft>
                <a:spcPts val="0"/>
              </a:spcAft>
              <a:buSzPts val="2200"/>
              <a:buNone/>
            </a:pPr>
            <a:r>
              <a:rPr lang="en-US" altLang="zh-TW" sz="1800" cap="none" spc="0" dirty="0">
                <a:solidFill>
                  <a:schemeClr val="dk1"/>
                </a:solidFill>
                <a:latin typeface="Times New Roman" panose="02020603050405020304" pitchFamily="18" charset="0"/>
                <a:ea typeface="Times New Roman"/>
                <a:cs typeface="Times New Roman" panose="02020603050405020304" pitchFamily="18" charset="0"/>
                <a:sym typeface="Times New Roman"/>
              </a:rPr>
              <a:t>2026/06/16</a:t>
            </a:r>
            <a:endParaRPr lang="zh-TW" altLang="en-US" dirty="0"/>
          </a:p>
        </p:txBody>
      </p:sp>
    </p:spTree>
    <p:extLst>
      <p:ext uri="{BB962C8B-B14F-4D97-AF65-F5344CB8AC3E}">
        <p14:creationId xmlns:p14="http://schemas.microsoft.com/office/powerpoint/2010/main" val="1114137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t>Discussion</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a:t>
            </a:fld>
            <a:endParaRPr lang="zh-TW" altLang="en-US" sz="1600"/>
          </a:p>
        </p:txBody>
      </p:sp>
    </p:spTree>
    <p:extLst>
      <p:ext uri="{BB962C8B-B14F-4D97-AF65-F5344CB8AC3E}">
        <p14:creationId xmlns:p14="http://schemas.microsoft.com/office/powerpoint/2010/main" val="31586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a:t>
            </a:fld>
            <a:endParaRPr lang="zh-TW" altLang="en-US" sz="1600"/>
          </a:p>
        </p:txBody>
      </p:sp>
    </p:spTree>
    <p:extLst>
      <p:ext uri="{BB962C8B-B14F-4D97-AF65-F5344CB8AC3E}">
        <p14:creationId xmlns:p14="http://schemas.microsoft.com/office/powerpoint/2010/main" val="138597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Motivation</a:t>
            </a:r>
            <a:endParaRPr lang="zh-TW" altLang="en-US" dirty="0"/>
          </a:p>
        </p:txBody>
      </p:sp>
      <p:sp>
        <p:nvSpPr>
          <p:cNvPr id="3" name="內容版面配置區 2">
            <a:extLst>
              <a:ext uri="{FF2B5EF4-FFF2-40B4-BE49-F238E27FC236}">
                <a16:creationId xmlns:a16="http://schemas.microsoft.com/office/drawing/2014/main" id="{A3F0BA10-9BD8-44CF-8049-9A706AE1DDF4}"/>
              </a:ext>
            </a:extLst>
          </p:cNvPr>
          <p:cNvSpPr>
            <a:spLocks noGrp="1"/>
          </p:cNvSpPr>
          <p:nvPr>
            <p:ph idx="1"/>
          </p:nvPr>
        </p:nvSpPr>
        <p:spPr>
          <a:xfrm>
            <a:off x="1097280" y="1845734"/>
            <a:ext cx="10058400" cy="4492922"/>
          </a:xfrm>
        </p:spPr>
        <p:txBody>
          <a:bodyPr>
            <a:normAutofit/>
          </a:bodyPr>
          <a:lstStyle/>
          <a:p>
            <a:pPr>
              <a:buFont typeface="Wingdings" panose="05000000000000000000" pitchFamily="2" charset="2"/>
              <a:buChar char="Ø"/>
            </a:pPr>
            <a:r>
              <a:rPr lang="en-US" altLang="zh-TW" dirty="0"/>
              <a:t>Logistics distribution demand is continuously increasing</a:t>
            </a:r>
          </a:p>
          <a:p>
            <a:pPr marL="395478" lvl="1" indent="-285750">
              <a:buFont typeface="Arial" panose="020B0604020202020204" pitchFamily="34" charset="0"/>
              <a:buChar char="•"/>
            </a:pPr>
            <a:r>
              <a:rPr lang="zh-TW" altLang="zh-TW" dirty="0"/>
              <a:t>Growth of logistics and e-commerce increases delivery complexit</a:t>
            </a:r>
            <a:r>
              <a:rPr lang="en-US" altLang="zh-TW" dirty="0"/>
              <a:t>y</a:t>
            </a:r>
          </a:p>
          <a:p>
            <a:pPr marL="395478" lvl="1" indent="-285750">
              <a:buFont typeface="Arial" panose="020B0604020202020204" pitchFamily="34" charset="0"/>
              <a:buChar char="•"/>
            </a:pPr>
            <a:r>
              <a:rPr lang="zh-TW" altLang="zh-TW" dirty="0"/>
              <a:t>Efficient route planning is </a:t>
            </a:r>
            <a:r>
              <a:rPr lang="en-US" altLang="zh-TW" dirty="0"/>
              <a:t>critical</a:t>
            </a:r>
            <a:r>
              <a:rPr lang="zh-TW" altLang="zh-TW" dirty="0"/>
              <a:t> for reducing operational cost</a:t>
            </a:r>
            <a:r>
              <a:rPr lang="en-US" altLang="zh-TW" dirty="0"/>
              <a:t>s</a:t>
            </a:r>
          </a:p>
          <a:p>
            <a:pPr marL="109728" lvl="1" indent="0">
              <a:buNone/>
            </a:pPr>
            <a:endParaRPr lang="en-US" altLang="zh-TW" dirty="0"/>
          </a:p>
          <a:p>
            <a:pPr>
              <a:buFont typeface="Wingdings" panose="05000000000000000000" pitchFamily="2" charset="2"/>
              <a:buChar char="Ø"/>
            </a:pPr>
            <a:r>
              <a:rPr lang="zh-TW" altLang="zh-TW" dirty="0"/>
              <a:t>Real-world logistics operations differ from </a:t>
            </a:r>
            <a:r>
              <a:rPr lang="en-US" altLang="zh-TW" dirty="0"/>
              <a:t>Vehicle Routing Problem (</a:t>
            </a:r>
            <a:r>
              <a:rPr lang="zh-TW" altLang="zh-TW" dirty="0"/>
              <a:t>VRP</a:t>
            </a:r>
            <a:r>
              <a:rPr lang="en-US" altLang="zh-TW" dirty="0"/>
              <a:t>) models</a:t>
            </a:r>
          </a:p>
          <a:p>
            <a:pPr lvl="1">
              <a:buFont typeface="Arial" panose="020B0604020202020204" pitchFamily="34" charset="0"/>
              <a:buChar char="•"/>
            </a:pPr>
            <a:r>
              <a:rPr lang="zh-TW" altLang="zh-TW" dirty="0"/>
              <a:t>Fixed-route structures and service restrictions are rarely considered</a:t>
            </a:r>
            <a:r>
              <a:rPr lang="en-US" altLang="zh-TW" dirty="0"/>
              <a:t> in VRP studies</a:t>
            </a:r>
          </a:p>
          <a:p>
            <a:pPr marL="201168" lvl="1" indent="0">
              <a:buNone/>
            </a:pPr>
            <a:endParaRPr lang="en-US" altLang="zh-TW" dirty="0"/>
          </a:p>
          <a:p>
            <a:pPr>
              <a:buFont typeface="Wingdings" panose="05000000000000000000" pitchFamily="2" charset="2"/>
              <a:buChar char="Ø"/>
            </a:pPr>
            <a:r>
              <a:rPr lang="en-US" altLang="zh-TW" dirty="0"/>
              <a:t>Route planning is performed manually</a:t>
            </a:r>
          </a:p>
          <a:p>
            <a:pPr lvl="1">
              <a:buFont typeface="Arial" panose="020B0604020202020204" pitchFamily="34" charset="0"/>
              <a:buChar char="•"/>
            </a:pPr>
            <a:r>
              <a:rPr lang="zh-TW" altLang="zh-TW" dirty="0"/>
              <a:t>Route planning is a time-consuming</a:t>
            </a:r>
            <a:endParaRPr lang="en-US" altLang="zh-TW" dirty="0"/>
          </a:p>
          <a:p>
            <a:pPr lvl="1">
              <a:buFont typeface="Arial" panose="020B0604020202020204" pitchFamily="34" charset="0"/>
              <a:buChar char="•"/>
            </a:pPr>
            <a:r>
              <a:rPr lang="en-US" altLang="zh-TW" dirty="0"/>
              <a:t>Route planning is highly dependent on human experience</a:t>
            </a:r>
          </a:p>
        </p:txBody>
      </p:sp>
      <p:sp>
        <p:nvSpPr>
          <p:cNvPr id="4" name="投影片編號版面配置區 3">
            <a:extLst>
              <a:ext uri="{FF2B5EF4-FFF2-40B4-BE49-F238E27FC236}">
                <a16:creationId xmlns:a16="http://schemas.microsoft.com/office/drawing/2014/main" id="{CBCC8382-3E42-4175-A9E0-F9F79B8357E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a:t>
            </a:fld>
            <a:endParaRPr lang="zh-TW" altLang="en-US" sz="1600" dirty="0"/>
          </a:p>
        </p:txBody>
      </p:sp>
    </p:spTree>
    <p:extLst>
      <p:ext uri="{BB962C8B-B14F-4D97-AF65-F5344CB8AC3E}">
        <p14:creationId xmlns:p14="http://schemas.microsoft.com/office/powerpoint/2010/main" val="3712867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6ED77C9-E9AE-4295-A29B-C5B04C6C0F84}"/>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AA3B7F4D-32A3-41E9-BD73-E34204462DB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EC3E75BF-F0EA-4036-BF71-34C7F697411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5</a:t>
            </a:fld>
            <a:endParaRPr lang="zh-TW" altLang="en-US" sz="1600"/>
          </a:p>
        </p:txBody>
      </p:sp>
    </p:spTree>
    <p:extLst>
      <p:ext uri="{BB962C8B-B14F-4D97-AF65-F5344CB8AC3E}">
        <p14:creationId xmlns:p14="http://schemas.microsoft.com/office/powerpoint/2010/main" val="2944705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F25F604-5187-444F-BBAA-92953D6FC196}"/>
              </a:ext>
            </a:extLst>
          </p:cNvPr>
          <p:cNvSpPr>
            <a:spLocks noGrp="1"/>
          </p:cNvSpPr>
          <p:nvPr>
            <p:ph type="title"/>
          </p:nvPr>
        </p:nvSpPr>
        <p:spPr/>
        <p:txBody>
          <a:bodyPr/>
          <a:lstStyle/>
          <a:p>
            <a:r>
              <a:rPr lang="en-US" altLang="zh-TW" dirty="0"/>
              <a:t>The proposed approach</a:t>
            </a:r>
            <a:endParaRPr lang="zh-TW" altLang="en-US" dirty="0"/>
          </a:p>
        </p:txBody>
      </p:sp>
      <p:sp>
        <p:nvSpPr>
          <p:cNvPr id="3" name="內容版面配置區 2">
            <a:extLst>
              <a:ext uri="{FF2B5EF4-FFF2-40B4-BE49-F238E27FC236}">
                <a16:creationId xmlns:a16="http://schemas.microsoft.com/office/drawing/2014/main" id="{F3F3023D-8FAB-45FA-9088-07342E8DDB88}"/>
              </a:ext>
            </a:extLst>
          </p:cNvPr>
          <p:cNvSpPr>
            <a:spLocks noGrp="1"/>
          </p:cNvSpPr>
          <p:nvPr>
            <p:ph idx="1"/>
          </p:nvPr>
        </p:nvSpPr>
        <p:spPr>
          <a:xfrm>
            <a:off x="1097279" y="1845734"/>
            <a:ext cx="10350533" cy="4023360"/>
          </a:xfrm>
        </p:spPr>
        <p:txBody>
          <a:bodyPr>
            <a:normAutofit/>
          </a:bodyPr>
          <a:lstStyle/>
          <a:p>
            <a:pPr marL="0" indent="0">
              <a:buNone/>
            </a:pPr>
            <a:r>
              <a:rPr lang="en-US" altLang="zh-TW" dirty="0"/>
              <a:t>Multi-stage Operationally Constrained VRP Framework composed of four main modules</a:t>
            </a:r>
          </a:p>
          <a:p>
            <a:pPr marL="457200" indent="-457200">
              <a:buClr>
                <a:schemeClr val="accent1">
                  <a:lumMod val="50000"/>
                </a:schemeClr>
              </a:buClr>
              <a:buFont typeface="+mj-lt"/>
              <a:buAutoNum type="arabicPeriod"/>
            </a:pPr>
            <a:r>
              <a:rPr lang="en-US" altLang="zh-TW" dirty="0"/>
              <a:t>API Module</a:t>
            </a:r>
          </a:p>
          <a:p>
            <a:pPr marL="749808" lvl="1" indent="-457200"/>
            <a:r>
              <a:rPr lang="zh-TW" altLang="zh-TW" dirty="0"/>
              <a:t>Provide distance and travel-time data through </a:t>
            </a:r>
            <a:r>
              <a:rPr lang="en-US" altLang="zh-TW" dirty="0"/>
              <a:t>Open Source Routing Machine (OSRM)</a:t>
            </a:r>
            <a:r>
              <a:rPr lang="zh-TW" altLang="zh-TW" dirty="0"/>
              <a:t> and Routes API</a:t>
            </a:r>
            <a:endParaRPr lang="en-US" altLang="zh-TW" dirty="0"/>
          </a:p>
          <a:p>
            <a:pPr marL="457200" indent="-457200">
              <a:buClr>
                <a:schemeClr val="accent1">
                  <a:lumMod val="50000"/>
                </a:schemeClr>
              </a:buClr>
              <a:buFont typeface="+mj-lt"/>
              <a:buAutoNum type="arabicPeriod"/>
            </a:pPr>
            <a:r>
              <a:rPr lang="en-US" altLang="zh-TW" dirty="0"/>
              <a:t>Data Module</a:t>
            </a:r>
          </a:p>
          <a:p>
            <a:pPr marL="749808" lvl="1" indent="-457200"/>
            <a:r>
              <a:rPr lang="zh-TW" altLang="zh-TW" dirty="0"/>
              <a:t>Preprocess raw routing data for route planning</a:t>
            </a:r>
            <a:endParaRPr lang="en-US" altLang="zh-TW" dirty="0"/>
          </a:p>
          <a:p>
            <a:pPr marL="457200" indent="-457200">
              <a:buClr>
                <a:schemeClr val="accent1">
                  <a:lumMod val="50000"/>
                </a:schemeClr>
              </a:buClr>
              <a:buFont typeface="+mj-lt"/>
              <a:buAutoNum type="arabicPeriod"/>
            </a:pPr>
            <a:r>
              <a:rPr lang="en-US" altLang="zh-TW" dirty="0"/>
              <a:t>Routing Module</a:t>
            </a:r>
          </a:p>
          <a:p>
            <a:pPr marL="749808" lvl="1" indent="-457200"/>
            <a:r>
              <a:rPr lang="en-US" altLang="zh-TW" dirty="0"/>
              <a:t>Perform store extraction, assignment, and support route planning under operational constraints</a:t>
            </a:r>
          </a:p>
          <a:p>
            <a:pPr marL="457200" indent="-457200">
              <a:buClr>
                <a:schemeClr val="accent1">
                  <a:lumMod val="50000"/>
                </a:schemeClr>
              </a:buClr>
              <a:buFont typeface="+mj-lt"/>
              <a:buAutoNum type="arabicPeriod"/>
            </a:pPr>
            <a:r>
              <a:rPr lang="en-US" altLang="zh-TW" dirty="0"/>
              <a:t>Evaluation Module</a:t>
            </a:r>
          </a:p>
          <a:p>
            <a:pPr marL="749808" lvl="1" indent="-457200"/>
            <a:r>
              <a:rPr lang="en-US" altLang="zh-TW" dirty="0"/>
              <a:t>Provide route visualization and performance evaluation using multiple routing metrics</a:t>
            </a:r>
          </a:p>
        </p:txBody>
      </p:sp>
      <p:sp>
        <p:nvSpPr>
          <p:cNvPr id="4" name="投影片編號版面配置區 3">
            <a:extLst>
              <a:ext uri="{FF2B5EF4-FFF2-40B4-BE49-F238E27FC236}">
                <a16:creationId xmlns:a16="http://schemas.microsoft.com/office/drawing/2014/main" id="{890DAC88-58ED-4794-BEB6-6B1FAFD1C7D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6</a:t>
            </a:fld>
            <a:endParaRPr lang="zh-TW" altLang="en-US" sz="1600"/>
          </a:p>
        </p:txBody>
      </p:sp>
    </p:spTree>
    <p:extLst>
      <p:ext uri="{BB962C8B-B14F-4D97-AF65-F5344CB8AC3E}">
        <p14:creationId xmlns:p14="http://schemas.microsoft.com/office/powerpoint/2010/main" val="1112248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23D1BB-6D12-4C72-81FB-7062B86D27A2}"/>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4A4BCDA3-19D4-4822-9389-695E95BCED0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7</a:t>
            </a:fld>
            <a:endParaRPr lang="zh-TW" altLang="en-US" sz="1600"/>
          </a:p>
        </p:txBody>
      </p:sp>
      <p:sp>
        <p:nvSpPr>
          <p:cNvPr id="172" name="矩形 171">
            <a:extLst>
              <a:ext uri="{FF2B5EF4-FFF2-40B4-BE49-F238E27FC236}">
                <a16:creationId xmlns:a16="http://schemas.microsoft.com/office/drawing/2014/main" id="{9D69D38C-44A0-14DE-E1EA-D315DBF6C776}"/>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3" name="矩形 172">
            <a:extLst>
              <a:ext uri="{FF2B5EF4-FFF2-40B4-BE49-F238E27FC236}">
                <a16:creationId xmlns:a16="http://schemas.microsoft.com/office/drawing/2014/main" id="{8E71A7A6-572D-3CDA-988F-CE3694C9990E}"/>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174" name="矩形 173">
            <a:extLst>
              <a:ext uri="{FF2B5EF4-FFF2-40B4-BE49-F238E27FC236}">
                <a16:creationId xmlns:a16="http://schemas.microsoft.com/office/drawing/2014/main" id="{D69977D4-7D5B-75F1-0F12-CCDAB92D70C6}"/>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175" name="矩形 174">
            <a:extLst>
              <a:ext uri="{FF2B5EF4-FFF2-40B4-BE49-F238E27FC236}">
                <a16:creationId xmlns:a16="http://schemas.microsoft.com/office/drawing/2014/main" id="{EAFC525D-25CD-B081-3B05-E329107B02BF}"/>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176" name="矩形 175">
            <a:extLst>
              <a:ext uri="{FF2B5EF4-FFF2-40B4-BE49-F238E27FC236}">
                <a16:creationId xmlns:a16="http://schemas.microsoft.com/office/drawing/2014/main" id="{66F1F7C1-F5D7-5FA0-113A-7E32F3B92E42}"/>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177" name="矩形 176">
            <a:extLst>
              <a:ext uri="{FF2B5EF4-FFF2-40B4-BE49-F238E27FC236}">
                <a16:creationId xmlns:a16="http://schemas.microsoft.com/office/drawing/2014/main" id="{6CA444DA-B87E-929F-C983-8D83E00EA694}"/>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178" name="矩形 177">
            <a:extLst>
              <a:ext uri="{FF2B5EF4-FFF2-40B4-BE49-F238E27FC236}">
                <a16:creationId xmlns:a16="http://schemas.microsoft.com/office/drawing/2014/main" id="{BF6D9718-6BF4-F6A9-C9FA-C51CD2C5BC6E}"/>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179" name="直線單箭頭接點 178">
            <a:extLst>
              <a:ext uri="{FF2B5EF4-FFF2-40B4-BE49-F238E27FC236}">
                <a16:creationId xmlns:a16="http://schemas.microsoft.com/office/drawing/2014/main" id="{CA3C18F4-EFB4-1E80-265A-CF190E40F26C}"/>
              </a:ext>
            </a:extLst>
          </p:cNvPr>
          <p:cNvCxnSpPr>
            <a:cxnSpLocks/>
            <a:endCxn id="173"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直線單箭頭接點 179">
            <a:extLst>
              <a:ext uri="{FF2B5EF4-FFF2-40B4-BE49-F238E27FC236}">
                <a16:creationId xmlns:a16="http://schemas.microsoft.com/office/drawing/2014/main" id="{8251C3D4-530D-E3B1-48F1-1C959DC59BFB}"/>
              </a:ext>
            </a:extLst>
          </p:cNvPr>
          <p:cNvCxnSpPr>
            <a:cxnSpLocks/>
            <a:stCxn id="176"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1" name="文字方塊 180">
            <a:extLst>
              <a:ext uri="{FF2B5EF4-FFF2-40B4-BE49-F238E27FC236}">
                <a16:creationId xmlns:a16="http://schemas.microsoft.com/office/drawing/2014/main" id="{E8F55DD7-6C66-2FD7-7AF1-FC92EE6CB5D0}"/>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182" name="直線單箭頭接點 181">
            <a:extLst>
              <a:ext uri="{FF2B5EF4-FFF2-40B4-BE49-F238E27FC236}">
                <a16:creationId xmlns:a16="http://schemas.microsoft.com/office/drawing/2014/main" id="{10930DB9-9129-F325-4DD2-092A349452E6}"/>
              </a:ext>
            </a:extLst>
          </p:cNvPr>
          <p:cNvCxnSpPr>
            <a:cxnSpLocks/>
            <a:stCxn id="173" idx="3"/>
            <a:endCxn id="174"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3" name="直線單箭頭接點 182">
            <a:extLst>
              <a:ext uri="{FF2B5EF4-FFF2-40B4-BE49-F238E27FC236}">
                <a16:creationId xmlns:a16="http://schemas.microsoft.com/office/drawing/2014/main" id="{06538F09-9AB6-7CE9-55AA-07842A0BF988}"/>
              </a:ext>
            </a:extLst>
          </p:cNvPr>
          <p:cNvCxnSpPr>
            <a:cxnSpLocks/>
            <a:stCxn id="174" idx="3"/>
            <a:endCxn id="175"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4" name="矩形 183">
            <a:extLst>
              <a:ext uri="{FF2B5EF4-FFF2-40B4-BE49-F238E27FC236}">
                <a16:creationId xmlns:a16="http://schemas.microsoft.com/office/drawing/2014/main" id="{6AA396CE-99DA-E3D5-0565-85AA2A15ACAF}"/>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5" name="矩形 184">
            <a:extLst>
              <a:ext uri="{FF2B5EF4-FFF2-40B4-BE49-F238E27FC236}">
                <a16:creationId xmlns:a16="http://schemas.microsoft.com/office/drawing/2014/main" id="{673AC6C1-9D38-9289-76F6-86C70A399375}"/>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6" name="文字方塊 185">
            <a:extLst>
              <a:ext uri="{FF2B5EF4-FFF2-40B4-BE49-F238E27FC236}">
                <a16:creationId xmlns:a16="http://schemas.microsoft.com/office/drawing/2014/main" id="{5BCC180E-59BB-ED92-DDCB-599EDA1DE7C6}"/>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187" name="矩形 186">
            <a:extLst>
              <a:ext uri="{FF2B5EF4-FFF2-40B4-BE49-F238E27FC236}">
                <a16:creationId xmlns:a16="http://schemas.microsoft.com/office/drawing/2014/main" id="{3786ECA4-8B90-411B-6160-C70F7FBED422}"/>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188" name="直線單箭頭接點 187">
            <a:extLst>
              <a:ext uri="{FF2B5EF4-FFF2-40B4-BE49-F238E27FC236}">
                <a16:creationId xmlns:a16="http://schemas.microsoft.com/office/drawing/2014/main" id="{33691792-869A-FD61-6A37-8C1D38401A2B}"/>
              </a:ext>
            </a:extLst>
          </p:cNvPr>
          <p:cNvCxnSpPr>
            <a:cxnSpLocks/>
            <a:stCxn id="175" idx="3"/>
            <a:endCxn id="187"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9" name="文字方塊 188">
            <a:extLst>
              <a:ext uri="{FF2B5EF4-FFF2-40B4-BE49-F238E27FC236}">
                <a16:creationId xmlns:a16="http://schemas.microsoft.com/office/drawing/2014/main" id="{528B902F-5983-DAB6-8CD4-D16446BBB166}"/>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190" name="矩形 189">
            <a:extLst>
              <a:ext uri="{FF2B5EF4-FFF2-40B4-BE49-F238E27FC236}">
                <a16:creationId xmlns:a16="http://schemas.microsoft.com/office/drawing/2014/main" id="{48571EB6-1E29-0A1A-C34D-143A761FA26F}"/>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1" name="文字方塊 190">
            <a:extLst>
              <a:ext uri="{FF2B5EF4-FFF2-40B4-BE49-F238E27FC236}">
                <a16:creationId xmlns:a16="http://schemas.microsoft.com/office/drawing/2014/main" id="{DECD945B-ECFB-58B7-6987-95518587A91A}"/>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192" name="接點: 肘形 191">
            <a:extLst>
              <a:ext uri="{FF2B5EF4-FFF2-40B4-BE49-F238E27FC236}">
                <a16:creationId xmlns:a16="http://schemas.microsoft.com/office/drawing/2014/main" id="{671B1BB2-48FF-E726-9979-A55001841824}"/>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3" name="接點: 肘形 192">
            <a:extLst>
              <a:ext uri="{FF2B5EF4-FFF2-40B4-BE49-F238E27FC236}">
                <a16:creationId xmlns:a16="http://schemas.microsoft.com/office/drawing/2014/main" id="{88F97789-B714-CFA8-DF3E-556F2A297133}"/>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195" name="流程圖: 磁碟 194">
            <a:extLst>
              <a:ext uri="{FF2B5EF4-FFF2-40B4-BE49-F238E27FC236}">
                <a16:creationId xmlns:a16="http://schemas.microsoft.com/office/drawing/2014/main" id="{D0B2F0AB-6326-F82A-A214-76CCC7BADA54}"/>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97" name="流程圖: 磁碟 196">
            <a:extLst>
              <a:ext uri="{FF2B5EF4-FFF2-40B4-BE49-F238E27FC236}">
                <a16:creationId xmlns:a16="http://schemas.microsoft.com/office/drawing/2014/main" id="{C19FFD95-30B9-BF1D-8B12-7F1F0F0859D9}"/>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201" name="文字方塊 8">
            <a:extLst>
              <a:ext uri="{FF2B5EF4-FFF2-40B4-BE49-F238E27FC236}">
                <a16:creationId xmlns:a16="http://schemas.microsoft.com/office/drawing/2014/main" id="{D38F179D-C93A-F49D-80D3-D90579D0558E}"/>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202" name="文字方塊 8">
            <a:extLst>
              <a:ext uri="{FF2B5EF4-FFF2-40B4-BE49-F238E27FC236}">
                <a16:creationId xmlns:a16="http://schemas.microsoft.com/office/drawing/2014/main" id="{A0444FB2-FEBE-7883-C0AA-74EA17B7BD8A}"/>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203" name="直線單箭頭接點 202">
            <a:extLst>
              <a:ext uri="{FF2B5EF4-FFF2-40B4-BE49-F238E27FC236}">
                <a16:creationId xmlns:a16="http://schemas.microsoft.com/office/drawing/2014/main" id="{FDA3CF09-A957-D659-C7C4-AFBA9CE987E6}"/>
              </a:ext>
            </a:extLst>
          </p:cNvPr>
          <p:cNvCxnSpPr>
            <a:cxnSpLocks/>
            <a:stCxn id="187" idx="3"/>
            <a:endCxn id="176"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5" name="接點: 肘形 204">
            <a:extLst>
              <a:ext uri="{FF2B5EF4-FFF2-40B4-BE49-F238E27FC236}">
                <a16:creationId xmlns:a16="http://schemas.microsoft.com/office/drawing/2014/main" id="{C56053C4-9DFD-1BB4-540D-3EFB513B48A4}"/>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6" name="接點: 肘形 205">
            <a:extLst>
              <a:ext uri="{FF2B5EF4-FFF2-40B4-BE49-F238E27FC236}">
                <a16:creationId xmlns:a16="http://schemas.microsoft.com/office/drawing/2014/main" id="{BE174483-93A4-CC5D-C1D4-EEFFA8641E2A}"/>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BB972648-97FF-E8C8-9E25-A7DE60B97E90}"/>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A3A2E296-B4C0-37A0-ABF4-81088E069F5F}"/>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文字方塊 8">
            <a:extLst>
              <a:ext uri="{FF2B5EF4-FFF2-40B4-BE49-F238E27FC236}">
                <a16:creationId xmlns:a16="http://schemas.microsoft.com/office/drawing/2014/main" id="{13F30499-215B-519E-0386-4105B16A9AE7}"/>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0" name="文字方塊 8">
            <a:extLst>
              <a:ext uri="{FF2B5EF4-FFF2-40B4-BE49-F238E27FC236}">
                <a16:creationId xmlns:a16="http://schemas.microsoft.com/office/drawing/2014/main" id="{A861499A-696B-5518-FE9F-FF42C47E7ABF}"/>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458246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7427FF-3E2F-DAB7-3290-3BE6F49EE00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AA07354-3D22-65E1-3B22-54C1F4E9B16C}"/>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42379682-85ED-E6EB-B13D-083A40FA97D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8</a:t>
            </a:fld>
            <a:endParaRPr lang="zh-TW" altLang="en-US" sz="1600" dirty="0"/>
          </a:p>
        </p:txBody>
      </p:sp>
      <p:sp>
        <p:nvSpPr>
          <p:cNvPr id="19" name="矩形 18">
            <a:extLst>
              <a:ext uri="{FF2B5EF4-FFF2-40B4-BE49-F238E27FC236}">
                <a16:creationId xmlns:a16="http://schemas.microsoft.com/office/drawing/2014/main" id="{33D42A98-0C85-DC6E-94F4-9C6AAC792EFF}"/>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D8C786D5-9660-B05B-EFEF-FF46CC5AE08F}"/>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1" name="矩形 20">
            <a:extLst>
              <a:ext uri="{FF2B5EF4-FFF2-40B4-BE49-F238E27FC236}">
                <a16:creationId xmlns:a16="http://schemas.microsoft.com/office/drawing/2014/main" id="{FECF1497-4CD5-4C49-AB03-BB5A595AF5CE}"/>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2" name="矩形 21">
            <a:extLst>
              <a:ext uri="{FF2B5EF4-FFF2-40B4-BE49-F238E27FC236}">
                <a16:creationId xmlns:a16="http://schemas.microsoft.com/office/drawing/2014/main" id="{7D4AF265-282B-8470-39B9-97223F186D80}"/>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3" name="矩形 22">
            <a:extLst>
              <a:ext uri="{FF2B5EF4-FFF2-40B4-BE49-F238E27FC236}">
                <a16:creationId xmlns:a16="http://schemas.microsoft.com/office/drawing/2014/main" id="{50F108C5-496A-A1A7-482F-9539BBDF08FF}"/>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146D040A-9EC4-A35D-AF37-19AC795BAE91}"/>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5" name="矩形 24">
            <a:extLst>
              <a:ext uri="{FF2B5EF4-FFF2-40B4-BE49-F238E27FC236}">
                <a16:creationId xmlns:a16="http://schemas.microsoft.com/office/drawing/2014/main" id="{7A6C219F-AD48-2F4E-32E4-03B708DD2347}"/>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6" name="直線單箭頭接點 25">
            <a:extLst>
              <a:ext uri="{FF2B5EF4-FFF2-40B4-BE49-F238E27FC236}">
                <a16:creationId xmlns:a16="http://schemas.microsoft.com/office/drawing/2014/main" id="{80D2F1E9-7642-A5F0-AD45-9E5854068823}"/>
              </a:ext>
            </a:extLst>
          </p:cNvPr>
          <p:cNvCxnSpPr>
            <a:cxnSpLocks/>
            <a:endCxn id="2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單箭頭接點 26">
            <a:extLst>
              <a:ext uri="{FF2B5EF4-FFF2-40B4-BE49-F238E27FC236}">
                <a16:creationId xmlns:a16="http://schemas.microsoft.com/office/drawing/2014/main" id="{723CD18D-D78D-6F08-EC70-8E4A8F794510}"/>
              </a:ext>
            </a:extLst>
          </p:cNvPr>
          <p:cNvCxnSpPr>
            <a:cxnSpLocks/>
            <a:stCxn id="23"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B315D609-7A8E-6735-733C-98E020DCC39F}"/>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29" name="直線單箭頭接點 28">
            <a:extLst>
              <a:ext uri="{FF2B5EF4-FFF2-40B4-BE49-F238E27FC236}">
                <a16:creationId xmlns:a16="http://schemas.microsoft.com/office/drawing/2014/main" id="{55411CC5-7666-9BAB-5111-0DFA48D8D9F4}"/>
              </a:ext>
            </a:extLst>
          </p:cNvPr>
          <p:cNvCxnSpPr>
            <a:cxnSpLocks/>
            <a:stCxn id="20" idx="3"/>
            <a:endCxn id="2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單箭頭接點 30">
            <a:extLst>
              <a:ext uri="{FF2B5EF4-FFF2-40B4-BE49-F238E27FC236}">
                <a16:creationId xmlns:a16="http://schemas.microsoft.com/office/drawing/2014/main" id="{A3C861E2-3EFC-BCB6-FF54-92DE7F9A40FB}"/>
              </a:ext>
            </a:extLst>
          </p:cNvPr>
          <p:cNvCxnSpPr>
            <a:cxnSpLocks/>
            <a:stCxn id="21" idx="3"/>
            <a:endCxn id="2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35C36FAD-75AE-CD7F-73D5-57CB5AAA1AA2}"/>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2F7E82B5-9F85-2BF4-455B-45BE584C00FD}"/>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文字方塊 35">
            <a:extLst>
              <a:ext uri="{FF2B5EF4-FFF2-40B4-BE49-F238E27FC236}">
                <a16:creationId xmlns:a16="http://schemas.microsoft.com/office/drawing/2014/main" id="{A1E88D47-09B5-18B1-068A-89BDBE36DF85}"/>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7" name="矩形 36">
            <a:extLst>
              <a:ext uri="{FF2B5EF4-FFF2-40B4-BE49-F238E27FC236}">
                <a16:creationId xmlns:a16="http://schemas.microsoft.com/office/drawing/2014/main" id="{9F5B8023-8903-2FFB-B168-2838E7A2A3F6}"/>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38" name="直線單箭頭接點 37">
            <a:extLst>
              <a:ext uri="{FF2B5EF4-FFF2-40B4-BE49-F238E27FC236}">
                <a16:creationId xmlns:a16="http://schemas.microsoft.com/office/drawing/2014/main" id="{1FC2BD2B-53FB-4366-674C-B05A77DDCAFB}"/>
              </a:ext>
            </a:extLst>
          </p:cNvPr>
          <p:cNvCxnSpPr>
            <a:cxnSpLocks/>
            <a:stCxn id="22" idx="3"/>
            <a:endCxn id="37"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文字方塊 38">
            <a:extLst>
              <a:ext uri="{FF2B5EF4-FFF2-40B4-BE49-F238E27FC236}">
                <a16:creationId xmlns:a16="http://schemas.microsoft.com/office/drawing/2014/main" id="{224C6FC8-ED8B-9591-77CB-65F6E7F02FBD}"/>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0" name="矩形 39">
            <a:extLst>
              <a:ext uri="{FF2B5EF4-FFF2-40B4-BE49-F238E27FC236}">
                <a16:creationId xmlns:a16="http://schemas.microsoft.com/office/drawing/2014/main" id="{4394D476-2795-6B86-44E7-3A9F73729294}"/>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1" name="文字方塊 40">
            <a:extLst>
              <a:ext uri="{FF2B5EF4-FFF2-40B4-BE49-F238E27FC236}">
                <a16:creationId xmlns:a16="http://schemas.microsoft.com/office/drawing/2014/main" id="{E1CBF46A-09C4-23ED-0985-16515DB29220}"/>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2" name="接點: 肘形 41">
            <a:extLst>
              <a:ext uri="{FF2B5EF4-FFF2-40B4-BE49-F238E27FC236}">
                <a16:creationId xmlns:a16="http://schemas.microsoft.com/office/drawing/2014/main" id="{78B63CF8-5164-598C-95BA-768B17D0D8CB}"/>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接點: 肘形 42">
            <a:extLst>
              <a:ext uri="{FF2B5EF4-FFF2-40B4-BE49-F238E27FC236}">
                <a16:creationId xmlns:a16="http://schemas.microsoft.com/office/drawing/2014/main" id="{42CE0211-A15F-80E9-AC4A-113BE18DEE58}"/>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流程圖: 磁碟 45">
            <a:extLst>
              <a:ext uri="{FF2B5EF4-FFF2-40B4-BE49-F238E27FC236}">
                <a16:creationId xmlns:a16="http://schemas.microsoft.com/office/drawing/2014/main" id="{7B17E985-88B2-883B-926E-E933C5B3859F}"/>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3" name="文字方塊 8">
            <a:extLst>
              <a:ext uri="{FF2B5EF4-FFF2-40B4-BE49-F238E27FC236}">
                <a16:creationId xmlns:a16="http://schemas.microsoft.com/office/drawing/2014/main" id="{5A44E232-1303-A330-D292-D8B7284DCFBD}"/>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4" name="文字方塊 8">
            <a:extLst>
              <a:ext uri="{FF2B5EF4-FFF2-40B4-BE49-F238E27FC236}">
                <a16:creationId xmlns:a16="http://schemas.microsoft.com/office/drawing/2014/main" id="{E6E17B25-2B07-47FF-A8BE-65FE08AFFEE7}"/>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5" name="直線單箭頭接點 54">
            <a:extLst>
              <a:ext uri="{FF2B5EF4-FFF2-40B4-BE49-F238E27FC236}">
                <a16:creationId xmlns:a16="http://schemas.microsoft.com/office/drawing/2014/main" id="{FE9F2901-AD61-4228-AA95-ADEE0BDDD15D}"/>
              </a:ext>
            </a:extLst>
          </p:cNvPr>
          <p:cNvCxnSpPr>
            <a:cxnSpLocks/>
            <a:stCxn id="37" idx="3"/>
            <a:endCxn id="23"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接點: 肘形 56">
            <a:extLst>
              <a:ext uri="{FF2B5EF4-FFF2-40B4-BE49-F238E27FC236}">
                <a16:creationId xmlns:a16="http://schemas.microsoft.com/office/drawing/2014/main" id="{A6CC9D86-3C6B-3D74-D06B-62CDF4D31141}"/>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接點: 肘形 57">
            <a:extLst>
              <a:ext uri="{FF2B5EF4-FFF2-40B4-BE49-F238E27FC236}">
                <a16:creationId xmlns:a16="http://schemas.microsoft.com/office/drawing/2014/main" id="{0EFC66F2-D0A9-CAB3-E81F-CC241CE16470}"/>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F03662E9-DF26-C719-6563-EA396AD07BC3}"/>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7088894B-6511-3F1B-ABEE-5C00AA1AEBA2}"/>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流程圖: 磁碟 8">
            <a:extLst>
              <a:ext uri="{FF2B5EF4-FFF2-40B4-BE49-F238E27FC236}">
                <a16:creationId xmlns:a16="http://schemas.microsoft.com/office/drawing/2014/main" id="{0AF766AF-1CCD-05C9-46A3-56B1998B596F}"/>
              </a:ext>
            </a:extLst>
          </p:cNvPr>
          <p:cNvSpPr/>
          <p:nvPr/>
        </p:nvSpPr>
        <p:spPr>
          <a:xfrm>
            <a:off x="901102" y="3823855"/>
            <a:ext cx="792480" cy="896431"/>
          </a:xfrm>
          <a:prstGeom prst="flowChartMagneticDisk">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0" name="文字方塊 9">
            <a:extLst>
              <a:ext uri="{FF2B5EF4-FFF2-40B4-BE49-F238E27FC236}">
                <a16:creationId xmlns:a16="http://schemas.microsoft.com/office/drawing/2014/main" id="{A9EF1F1F-160C-5583-2199-686A4D8DD536}"/>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1" name="文字方塊 8">
            <a:extLst>
              <a:ext uri="{FF2B5EF4-FFF2-40B4-BE49-F238E27FC236}">
                <a16:creationId xmlns:a16="http://schemas.microsoft.com/office/drawing/2014/main" id="{140109E7-D67B-49AC-F5EC-70B8E8BDAA70}"/>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9744622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64F368-B436-09D1-ABB9-FF2C3801FDCE}"/>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1B6B781-BDFC-BFCB-0BF5-FFE5ABD536FB}"/>
              </a:ext>
            </a:extLst>
          </p:cNvPr>
          <p:cNvPicPr>
            <a:picLocks noChangeAspect="1"/>
          </p:cNvPicPr>
          <p:nvPr/>
        </p:nvPicPr>
        <p:blipFill>
          <a:blip r:embed="rId3"/>
          <a:stretch>
            <a:fillRect/>
          </a:stretch>
        </p:blipFill>
        <p:spPr>
          <a:xfrm>
            <a:off x="1083167" y="2441879"/>
            <a:ext cx="9594394" cy="3503835"/>
          </a:xfrm>
          <a:prstGeom prst="rect">
            <a:avLst/>
          </a:prstGeom>
        </p:spPr>
      </p:pic>
      <p:sp>
        <p:nvSpPr>
          <p:cNvPr id="2" name="標題 1">
            <a:extLst>
              <a:ext uri="{FF2B5EF4-FFF2-40B4-BE49-F238E27FC236}">
                <a16:creationId xmlns:a16="http://schemas.microsoft.com/office/drawing/2014/main" id="{0C688DDC-89F3-45C4-956B-0800C9F474CC}"/>
              </a:ext>
            </a:extLst>
          </p:cNvPr>
          <p:cNvSpPr>
            <a:spLocks noGrp="1"/>
          </p:cNvSpPr>
          <p:nvPr>
            <p:ph type="title"/>
          </p:nvPr>
        </p:nvSpPr>
        <p:spPr/>
        <p:txBody>
          <a:bodyPr/>
          <a:lstStyle/>
          <a:p>
            <a:r>
              <a:rPr lang="en-US" altLang="zh-TW" dirty="0"/>
              <a:t>Original Route Data</a:t>
            </a:r>
            <a:endParaRPr lang="zh-TW" altLang="en-US" dirty="0"/>
          </a:p>
        </p:txBody>
      </p:sp>
      <p:sp>
        <p:nvSpPr>
          <p:cNvPr id="3" name="內容版面配置區 2">
            <a:extLst>
              <a:ext uri="{FF2B5EF4-FFF2-40B4-BE49-F238E27FC236}">
                <a16:creationId xmlns:a16="http://schemas.microsoft.com/office/drawing/2014/main" id="{8B38213A-E731-BDCE-CC60-02A95818F737}"/>
              </a:ext>
            </a:extLst>
          </p:cNvPr>
          <p:cNvSpPr>
            <a:spLocks noGrp="1"/>
          </p:cNvSpPr>
          <p:nvPr>
            <p:ph idx="1"/>
          </p:nvPr>
        </p:nvSpPr>
        <p:spPr>
          <a:xfrm>
            <a:off x="1154083" y="1922354"/>
            <a:ext cx="10058400" cy="4023360"/>
          </a:xfrm>
        </p:spPr>
        <p:txBody>
          <a:bodyPr>
            <a:normAutofit/>
          </a:bodyPr>
          <a:lstStyle/>
          <a:p>
            <a:pPr marL="0" indent="0">
              <a:buNone/>
            </a:pPr>
            <a:r>
              <a:rPr lang="en-US" altLang="zh-TW" dirty="0"/>
              <a:t>The experimental dataset consists of 26 working days of original route data</a:t>
            </a:r>
          </a:p>
        </p:txBody>
      </p:sp>
      <p:sp>
        <p:nvSpPr>
          <p:cNvPr id="4" name="投影片編號版面配置區 3">
            <a:extLst>
              <a:ext uri="{FF2B5EF4-FFF2-40B4-BE49-F238E27FC236}">
                <a16:creationId xmlns:a16="http://schemas.microsoft.com/office/drawing/2014/main" id="{740735A7-4670-F5BF-4AA2-CF1D474A2A6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9</a:t>
            </a:fld>
            <a:endParaRPr lang="zh-TW" altLang="en-US" sz="1600" dirty="0"/>
          </a:p>
        </p:txBody>
      </p:sp>
      <p:sp>
        <p:nvSpPr>
          <p:cNvPr id="6" name="矩形 5">
            <a:extLst>
              <a:ext uri="{FF2B5EF4-FFF2-40B4-BE49-F238E27FC236}">
                <a16:creationId xmlns:a16="http://schemas.microsoft.com/office/drawing/2014/main" id="{FC1C9E0A-A96B-1757-1AB9-E365A6374141}"/>
              </a:ext>
            </a:extLst>
          </p:cNvPr>
          <p:cNvSpPr/>
          <p:nvPr/>
        </p:nvSpPr>
        <p:spPr>
          <a:xfrm>
            <a:off x="2465069" y="2626995"/>
            <a:ext cx="8212491" cy="8020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0158679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234D71-680D-7102-8267-196D576CDF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FC1126F-91EF-8CEA-79E6-B498203844C9}"/>
              </a:ext>
            </a:extLst>
          </p:cNvPr>
          <p:cNvSpPr>
            <a:spLocks noGrp="1"/>
          </p:cNvSpPr>
          <p:nvPr>
            <p:ph type="title"/>
          </p:nvPr>
        </p:nvSpPr>
        <p:spPr/>
        <p:txBody>
          <a:bodyPr/>
          <a:lstStyle/>
          <a:p>
            <a:r>
              <a:rPr lang="en-US" altLang="zh-TW" dirty="0"/>
              <a:t>Original Route Data</a:t>
            </a:r>
            <a:endParaRPr lang="zh-TW" altLang="en-US" dirty="0"/>
          </a:p>
        </p:txBody>
      </p:sp>
      <p:sp>
        <p:nvSpPr>
          <p:cNvPr id="3" name="內容版面配置區 2">
            <a:extLst>
              <a:ext uri="{FF2B5EF4-FFF2-40B4-BE49-F238E27FC236}">
                <a16:creationId xmlns:a16="http://schemas.microsoft.com/office/drawing/2014/main" id="{6F2C743C-ACB4-195D-A212-C3F213F74424}"/>
              </a:ext>
            </a:extLst>
          </p:cNvPr>
          <p:cNvSpPr>
            <a:spLocks noGrp="1"/>
          </p:cNvSpPr>
          <p:nvPr>
            <p:ph idx="1"/>
          </p:nvPr>
        </p:nvSpPr>
        <p:spPr>
          <a:xfrm>
            <a:off x="1154083" y="1922354"/>
            <a:ext cx="10058400" cy="4023360"/>
          </a:xfrm>
        </p:spPr>
        <p:txBody>
          <a:bodyPr>
            <a:normAutofit/>
          </a:bodyPr>
          <a:lstStyle/>
          <a:p>
            <a:pPr marL="0" indent="0">
              <a:buNone/>
            </a:pPr>
            <a:r>
              <a:rPr lang="zh-TW" altLang="zh-TW" dirty="0"/>
              <a:t>Daily demand fluctuations may </a:t>
            </a:r>
            <a:r>
              <a:rPr lang="en-US" altLang="zh-TW" dirty="0"/>
              <a:t>lead to</a:t>
            </a:r>
            <a:r>
              <a:rPr lang="zh-TW" altLang="zh-TW" dirty="0"/>
              <a:t> route overloading</a:t>
            </a:r>
            <a:endParaRPr lang="en-US" altLang="zh-TW" dirty="0"/>
          </a:p>
        </p:txBody>
      </p:sp>
      <p:sp>
        <p:nvSpPr>
          <p:cNvPr id="4" name="投影片編號版面配置區 3">
            <a:extLst>
              <a:ext uri="{FF2B5EF4-FFF2-40B4-BE49-F238E27FC236}">
                <a16:creationId xmlns:a16="http://schemas.microsoft.com/office/drawing/2014/main" id="{8E696E3A-5893-B515-A010-0DF3C68B66D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10</a:t>
            </a:fld>
            <a:endParaRPr lang="zh-TW" altLang="en-US" sz="1600" dirty="0"/>
          </a:p>
        </p:txBody>
      </p:sp>
      <p:pic>
        <p:nvPicPr>
          <p:cNvPr id="16" name="圖片 15">
            <a:extLst>
              <a:ext uri="{FF2B5EF4-FFF2-40B4-BE49-F238E27FC236}">
                <a16:creationId xmlns:a16="http://schemas.microsoft.com/office/drawing/2014/main" id="{70F3D5FE-CF93-D3C1-1A6E-1F826222C291}"/>
              </a:ext>
            </a:extLst>
          </p:cNvPr>
          <p:cNvPicPr>
            <a:picLocks noChangeAspect="1"/>
          </p:cNvPicPr>
          <p:nvPr/>
        </p:nvPicPr>
        <p:blipFill>
          <a:blip r:embed="rId3"/>
          <a:stretch>
            <a:fillRect/>
          </a:stretch>
        </p:blipFill>
        <p:spPr>
          <a:xfrm>
            <a:off x="1078230" y="2321622"/>
            <a:ext cx="9555133" cy="3624092"/>
          </a:xfrm>
          <a:prstGeom prst="rect">
            <a:avLst/>
          </a:prstGeom>
        </p:spPr>
      </p:pic>
      <p:sp>
        <p:nvSpPr>
          <p:cNvPr id="18" name="矩形 17">
            <a:extLst>
              <a:ext uri="{FF2B5EF4-FFF2-40B4-BE49-F238E27FC236}">
                <a16:creationId xmlns:a16="http://schemas.microsoft.com/office/drawing/2014/main" id="{56EB8A5E-94D7-430B-D9D4-E8AE69991221}"/>
              </a:ext>
            </a:extLst>
          </p:cNvPr>
          <p:cNvSpPr/>
          <p:nvPr/>
        </p:nvSpPr>
        <p:spPr>
          <a:xfrm>
            <a:off x="2465069" y="2524125"/>
            <a:ext cx="8168294" cy="18192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1376299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6E9F67-42A0-1946-C7D5-885B588B16CC}"/>
            </a:ext>
          </a:extLst>
        </p:cNvPr>
        <p:cNvGrpSpPr/>
        <p:nvPr/>
      </p:nvGrpSpPr>
      <p:grpSpPr>
        <a:xfrm>
          <a:off x="0" y="0"/>
          <a:ext cx="0" cy="0"/>
          <a:chOff x="0" y="0"/>
          <a:chExt cx="0" cy="0"/>
        </a:xfrm>
      </p:grpSpPr>
      <p:sp>
        <p:nvSpPr>
          <p:cNvPr id="42" name="矩形 41">
            <a:extLst>
              <a:ext uri="{FF2B5EF4-FFF2-40B4-BE49-F238E27FC236}">
                <a16:creationId xmlns:a16="http://schemas.microsoft.com/office/drawing/2014/main" id="{4DE34C45-7884-2B19-53A3-257DEDBE0F39}"/>
              </a:ext>
            </a:extLst>
          </p:cNvPr>
          <p:cNvSpPr/>
          <p:nvPr/>
        </p:nvSpPr>
        <p:spPr>
          <a:xfrm>
            <a:off x="3814907" y="2221202"/>
            <a:ext cx="2757055"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D4A3E128-97F4-B35E-7800-22BCB28C9E4C}"/>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B29CA8E0-62EE-A2B5-2A39-404CD35F746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11</a:t>
            </a:fld>
            <a:endParaRPr lang="zh-TW" altLang="en-US" sz="1600" dirty="0"/>
          </a:p>
        </p:txBody>
      </p:sp>
      <p:sp>
        <p:nvSpPr>
          <p:cNvPr id="21" name="矩形 20">
            <a:extLst>
              <a:ext uri="{FF2B5EF4-FFF2-40B4-BE49-F238E27FC236}">
                <a16:creationId xmlns:a16="http://schemas.microsoft.com/office/drawing/2014/main" id="{8B1E76D2-6668-B33E-B93C-CF4187003DD9}"/>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50A2DE06-6A4E-5621-1488-5714FF043EFB}"/>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3" name="矩形 22">
            <a:extLst>
              <a:ext uri="{FF2B5EF4-FFF2-40B4-BE49-F238E27FC236}">
                <a16:creationId xmlns:a16="http://schemas.microsoft.com/office/drawing/2014/main" id="{7632BD4B-B5AC-8302-1B37-CD92DA6DB1F2}"/>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27C3B73A-096E-B7FA-1999-1CF1326456A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5" name="矩形 24">
            <a:extLst>
              <a:ext uri="{FF2B5EF4-FFF2-40B4-BE49-F238E27FC236}">
                <a16:creationId xmlns:a16="http://schemas.microsoft.com/office/drawing/2014/main" id="{6E132534-0D1D-9BA4-C526-75FF6FAC935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6" name="矩形 25">
            <a:extLst>
              <a:ext uri="{FF2B5EF4-FFF2-40B4-BE49-F238E27FC236}">
                <a16:creationId xmlns:a16="http://schemas.microsoft.com/office/drawing/2014/main" id="{8FEE3DCA-5C48-EF32-9F91-A0800284B161}"/>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7" name="矩形 26">
            <a:extLst>
              <a:ext uri="{FF2B5EF4-FFF2-40B4-BE49-F238E27FC236}">
                <a16:creationId xmlns:a16="http://schemas.microsoft.com/office/drawing/2014/main" id="{984110D7-298C-3AEC-2A1B-58F928E58C33}"/>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8" name="直線單箭頭接點 27">
            <a:extLst>
              <a:ext uri="{FF2B5EF4-FFF2-40B4-BE49-F238E27FC236}">
                <a16:creationId xmlns:a16="http://schemas.microsoft.com/office/drawing/2014/main" id="{A10F9F39-CA95-44FE-01F1-B0FE1CD124FA}"/>
              </a:ext>
            </a:extLst>
          </p:cNvPr>
          <p:cNvCxnSpPr>
            <a:cxnSpLocks/>
            <a:endCxn id="22"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線單箭頭接點 28">
            <a:extLst>
              <a:ext uri="{FF2B5EF4-FFF2-40B4-BE49-F238E27FC236}">
                <a16:creationId xmlns:a16="http://schemas.microsoft.com/office/drawing/2014/main" id="{2E86EE81-8515-3E13-1410-F2F508132810}"/>
              </a:ext>
            </a:extLst>
          </p:cNvPr>
          <p:cNvCxnSpPr>
            <a:cxnSpLocks/>
            <a:stCxn id="25"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35D09B4E-2498-F289-0636-536DD9E45D65}"/>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32" name="直線單箭頭接點 31">
            <a:extLst>
              <a:ext uri="{FF2B5EF4-FFF2-40B4-BE49-F238E27FC236}">
                <a16:creationId xmlns:a16="http://schemas.microsoft.com/office/drawing/2014/main" id="{70775EB4-8F87-8B95-FF86-5C8E8CB06D55}"/>
              </a:ext>
            </a:extLst>
          </p:cNvPr>
          <p:cNvCxnSpPr>
            <a:cxnSpLocks/>
            <a:stCxn id="22" idx="3"/>
            <a:endCxn id="23"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F34BCE55-C565-43A9-EFFA-33DCF9A6AD2D}"/>
              </a:ext>
            </a:extLst>
          </p:cNvPr>
          <p:cNvCxnSpPr>
            <a:cxnSpLocks/>
            <a:stCxn id="23" idx="3"/>
            <a:endCxn id="24"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43FE14F3-E099-6C67-DE05-F06AF91D3530}"/>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E6796C75-D59C-A16C-CF45-513289E6673E}"/>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C8A47E66-A424-0ACB-ED09-FBC960B82122}"/>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9" name="矩形 38">
            <a:extLst>
              <a:ext uri="{FF2B5EF4-FFF2-40B4-BE49-F238E27FC236}">
                <a16:creationId xmlns:a16="http://schemas.microsoft.com/office/drawing/2014/main" id="{E65DE6C4-78BE-FAD0-034B-6BD6B1EE2AD3}"/>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40" name="直線單箭頭接點 39">
            <a:extLst>
              <a:ext uri="{FF2B5EF4-FFF2-40B4-BE49-F238E27FC236}">
                <a16:creationId xmlns:a16="http://schemas.microsoft.com/office/drawing/2014/main" id="{B422E84B-BB3C-1E6B-2CF7-FAEB820E71A3}"/>
              </a:ext>
            </a:extLst>
          </p:cNvPr>
          <p:cNvCxnSpPr>
            <a:cxnSpLocks/>
            <a:stCxn id="24" idx="3"/>
            <a:endCxn id="39"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文字方塊 40">
            <a:extLst>
              <a:ext uri="{FF2B5EF4-FFF2-40B4-BE49-F238E27FC236}">
                <a16:creationId xmlns:a16="http://schemas.microsoft.com/office/drawing/2014/main" id="{30F9379F-72D6-A3E9-4B91-CCD9B3C4355B}"/>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3" name="文字方塊 42">
            <a:extLst>
              <a:ext uri="{FF2B5EF4-FFF2-40B4-BE49-F238E27FC236}">
                <a16:creationId xmlns:a16="http://schemas.microsoft.com/office/drawing/2014/main" id="{B36E7CF0-26B0-3F07-D95E-13FAA005737C}"/>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5" name="接點: 肘形 44">
            <a:extLst>
              <a:ext uri="{FF2B5EF4-FFF2-40B4-BE49-F238E27FC236}">
                <a16:creationId xmlns:a16="http://schemas.microsoft.com/office/drawing/2014/main" id="{9BBF8663-AF33-9A4F-47A0-71AD7582C4CD}"/>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接點: 肘形 45">
            <a:extLst>
              <a:ext uri="{FF2B5EF4-FFF2-40B4-BE49-F238E27FC236}">
                <a16:creationId xmlns:a16="http://schemas.microsoft.com/office/drawing/2014/main" id="{B100FBD4-A1F6-84E9-A97E-772D765F66E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流程圖: 磁碟 48">
            <a:extLst>
              <a:ext uri="{FF2B5EF4-FFF2-40B4-BE49-F238E27FC236}">
                <a16:creationId xmlns:a16="http://schemas.microsoft.com/office/drawing/2014/main" id="{F409F682-A017-F5A7-9DAD-207C87FF5009}"/>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5" name="文字方塊 8">
            <a:extLst>
              <a:ext uri="{FF2B5EF4-FFF2-40B4-BE49-F238E27FC236}">
                <a16:creationId xmlns:a16="http://schemas.microsoft.com/office/drawing/2014/main" id="{24A99D8B-E4E8-85F0-A4D2-1C39D269BDD2}"/>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6" name="文字方塊 8">
            <a:extLst>
              <a:ext uri="{FF2B5EF4-FFF2-40B4-BE49-F238E27FC236}">
                <a16:creationId xmlns:a16="http://schemas.microsoft.com/office/drawing/2014/main" id="{DD335CC4-2351-F11E-C85B-A4DC04E3B78E}"/>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7" name="直線單箭頭接點 56">
            <a:extLst>
              <a:ext uri="{FF2B5EF4-FFF2-40B4-BE49-F238E27FC236}">
                <a16:creationId xmlns:a16="http://schemas.microsoft.com/office/drawing/2014/main" id="{B0F3BBD8-FCCF-BB99-CDD4-630934B61F3B}"/>
              </a:ext>
            </a:extLst>
          </p:cNvPr>
          <p:cNvCxnSpPr>
            <a:cxnSpLocks/>
            <a:stCxn id="39" idx="3"/>
            <a:endCxn id="25"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接點: 肘形 63">
            <a:extLst>
              <a:ext uri="{FF2B5EF4-FFF2-40B4-BE49-F238E27FC236}">
                <a16:creationId xmlns:a16="http://schemas.microsoft.com/office/drawing/2014/main" id="{E6AC299C-BE1F-5B68-B4C8-0F3250E8C572}"/>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接點: 肘形 64">
            <a:extLst>
              <a:ext uri="{FF2B5EF4-FFF2-40B4-BE49-F238E27FC236}">
                <a16:creationId xmlns:a16="http://schemas.microsoft.com/office/drawing/2014/main" id="{992B4A75-4552-BA7B-9245-DC83F82BCB2C}"/>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C92114A5-D451-F032-9DAF-9C0E0C09B72E}"/>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2CCB469C-566E-E2CE-A772-F2A197EA9FB3}"/>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流程圖: 磁碟 5">
            <a:extLst>
              <a:ext uri="{FF2B5EF4-FFF2-40B4-BE49-F238E27FC236}">
                <a16:creationId xmlns:a16="http://schemas.microsoft.com/office/drawing/2014/main" id="{1C0CD1E2-CD28-636E-60EF-DE53E59F768B}"/>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7" name="文字方塊 6">
            <a:extLst>
              <a:ext uri="{FF2B5EF4-FFF2-40B4-BE49-F238E27FC236}">
                <a16:creationId xmlns:a16="http://schemas.microsoft.com/office/drawing/2014/main" id="{3424B553-62E2-6CA3-8214-28E89F40352E}"/>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 name="文字方塊 8">
            <a:extLst>
              <a:ext uri="{FF2B5EF4-FFF2-40B4-BE49-F238E27FC236}">
                <a16:creationId xmlns:a16="http://schemas.microsoft.com/office/drawing/2014/main" id="{1809D396-1F58-1E48-4044-A9B39B357829}"/>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23727953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CBF164-222A-550A-F947-B6A2F595800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DBF1CB7-E22F-AC32-65B0-9C45B05EEDD5}"/>
              </a:ext>
            </a:extLst>
          </p:cNvPr>
          <p:cNvSpPr>
            <a:spLocks noGrp="1"/>
          </p:cNvSpPr>
          <p:nvPr>
            <p:ph type="title"/>
          </p:nvPr>
        </p:nvSpPr>
        <p:spPr/>
        <p:txBody>
          <a:bodyPr/>
          <a:lstStyle/>
          <a:p>
            <a:r>
              <a:rPr lang="en-US" altLang="zh-TW" dirty="0"/>
              <a:t>API Module</a:t>
            </a:r>
          </a:p>
        </p:txBody>
      </p:sp>
      <p:sp>
        <p:nvSpPr>
          <p:cNvPr id="4" name="投影片編號版面配置區 3">
            <a:extLst>
              <a:ext uri="{FF2B5EF4-FFF2-40B4-BE49-F238E27FC236}">
                <a16:creationId xmlns:a16="http://schemas.microsoft.com/office/drawing/2014/main" id="{2878BCB0-E8D5-7FCA-0A39-23E9DF9EEA1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12</a:t>
            </a:fld>
            <a:endParaRPr lang="zh-TW" altLang="en-US" sz="1600" dirty="0"/>
          </a:p>
        </p:txBody>
      </p:sp>
      <p:sp>
        <p:nvSpPr>
          <p:cNvPr id="3" name="內容版面配置區 2">
            <a:extLst>
              <a:ext uri="{FF2B5EF4-FFF2-40B4-BE49-F238E27FC236}">
                <a16:creationId xmlns:a16="http://schemas.microsoft.com/office/drawing/2014/main" id="{9BBF2121-AB3E-BBB2-F2CF-950FCA41383C}"/>
              </a:ext>
            </a:extLst>
          </p:cNvPr>
          <p:cNvSpPr>
            <a:spLocks noGrp="1"/>
          </p:cNvSpPr>
          <p:nvPr>
            <p:ph idx="1"/>
          </p:nvPr>
        </p:nvSpPr>
        <p:spPr>
          <a:xfrm>
            <a:off x="1097280" y="1845734"/>
            <a:ext cx="10058400" cy="4023360"/>
          </a:xfrm>
        </p:spPr>
        <p:txBody>
          <a:bodyPr>
            <a:normAutofit/>
          </a:bodyPr>
          <a:lstStyle/>
          <a:p>
            <a:pPr marL="457200" indent="-457200">
              <a:buClr>
                <a:schemeClr val="accent1">
                  <a:lumMod val="50000"/>
                </a:schemeClr>
              </a:buClr>
              <a:buFont typeface="+mj-lt"/>
              <a:buAutoNum type="arabicPeriod"/>
            </a:pPr>
            <a:r>
              <a:rPr lang="en-US" altLang="zh-TW" dirty="0">
                <a:solidFill>
                  <a:schemeClr val="tx1"/>
                </a:solidFill>
              </a:rPr>
              <a:t>Open Source Routing Machine (OSRM)</a:t>
            </a:r>
          </a:p>
          <a:p>
            <a:pPr marL="749808" lvl="1" indent="-457200">
              <a:lnSpc>
                <a:spcPct val="150000"/>
              </a:lnSpc>
            </a:pPr>
            <a:r>
              <a:rPr lang="en-US" altLang="zh-TW" dirty="0"/>
              <a:t>Provides distance and travel time matrices for efficient route planning and optimization</a:t>
            </a:r>
            <a:endParaRPr lang="en-US" altLang="zh-TW" dirty="0">
              <a:solidFill>
                <a:schemeClr val="tx1"/>
              </a:solidFill>
            </a:endParaRPr>
          </a:p>
          <a:p>
            <a:pPr marL="457200" indent="-457200">
              <a:buClr>
                <a:schemeClr val="accent1">
                  <a:lumMod val="50000"/>
                </a:schemeClr>
              </a:buClr>
              <a:buFont typeface="+mj-lt"/>
              <a:buAutoNum type="arabicPeriod"/>
            </a:pPr>
            <a:r>
              <a:rPr lang="en-US" altLang="zh-TW" dirty="0">
                <a:solidFill>
                  <a:schemeClr val="tx1"/>
                </a:solidFill>
              </a:rPr>
              <a:t>Google Maps Routes API</a:t>
            </a:r>
          </a:p>
          <a:p>
            <a:pPr marL="749808" lvl="1" indent="-457200">
              <a:lnSpc>
                <a:spcPct val="150000"/>
              </a:lnSpc>
            </a:pPr>
            <a:r>
              <a:rPr lang="en-US" altLang="zh-TW" dirty="0"/>
              <a:t>Validate and evaluate routing results using real-world road network data</a:t>
            </a:r>
            <a:endParaRPr lang="en-US" altLang="zh-TW" dirty="0">
              <a:solidFill>
                <a:schemeClr val="tx1"/>
              </a:solidFill>
            </a:endParaRPr>
          </a:p>
        </p:txBody>
      </p:sp>
    </p:spTree>
    <p:extLst>
      <p:ext uri="{BB962C8B-B14F-4D97-AF65-F5344CB8AC3E}">
        <p14:creationId xmlns:p14="http://schemas.microsoft.com/office/powerpoint/2010/main" val="10944919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39C1CA-DD24-4A12-5D5F-3A82C96C9BC6}"/>
            </a:ext>
          </a:extLst>
        </p:cNvPr>
        <p:cNvGrpSpPr/>
        <p:nvPr/>
      </p:nvGrpSpPr>
      <p:grpSpPr>
        <a:xfrm>
          <a:off x="0" y="0"/>
          <a:ext cx="0" cy="0"/>
          <a:chOff x="0" y="0"/>
          <a:chExt cx="0" cy="0"/>
        </a:xfrm>
      </p:grpSpPr>
      <p:sp>
        <p:nvSpPr>
          <p:cNvPr id="34" name="矩形 33">
            <a:extLst>
              <a:ext uri="{FF2B5EF4-FFF2-40B4-BE49-F238E27FC236}">
                <a16:creationId xmlns:a16="http://schemas.microsoft.com/office/drawing/2014/main" id="{29A02197-68A9-A4FD-D546-DE3598D28A89}"/>
              </a:ext>
            </a:extLst>
          </p:cNvPr>
          <p:cNvSpPr/>
          <p:nvPr/>
        </p:nvSpPr>
        <p:spPr>
          <a:xfrm>
            <a:off x="2207260" y="3713020"/>
            <a:ext cx="137277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F9EB62B6-C05B-B826-3AD0-8E789DB586F6}"/>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55DF2276-5FE8-2AF5-E14A-71839C0B500C}"/>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13</a:t>
            </a:fld>
            <a:endParaRPr lang="zh-TW" altLang="en-US" sz="1600" dirty="0"/>
          </a:p>
        </p:txBody>
      </p:sp>
      <p:sp>
        <p:nvSpPr>
          <p:cNvPr id="70" name="矩形 69">
            <a:extLst>
              <a:ext uri="{FF2B5EF4-FFF2-40B4-BE49-F238E27FC236}">
                <a16:creationId xmlns:a16="http://schemas.microsoft.com/office/drawing/2014/main" id="{6D433C4F-C116-D753-F10C-2ACE65D08501}"/>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71" name="矩形 70">
            <a:extLst>
              <a:ext uri="{FF2B5EF4-FFF2-40B4-BE49-F238E27FC236}">
                <a16:creationId xmlns:a16="http://schemas.microsoft.com/office/drawing/2014/main" id="{7C9FC527-0D13-C3D0-98DB-092E8E243681}"/>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72" name="矩形 71">
            <a:extLst>
              <a:ext uri="{FF2B5EF4-FFF2-40B4-BE49-F238E27FC236}">
                <a16:creationId xmlns:a16="http://schemas.microsoft.com/office/drawing/2014/main" id="{2256E83E-13B4-D1C5-00C6-7E924A8F8126}"/>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74" name="矩形 73">
            <a:extLst>
              <a:ext uri="{FF2B5EF4-FFF2-40B4-BE49-F238E27FC236}">
                <a16:creationId xmlns:a16="http://schemas.microsoft.com/office/drawing/2014/main" id="{44403AE3-C179-8837-098B-1CB13A28415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75" name="矩形 74">
            <a:extLst>
              <a:ext uri="{FF2B5EF4-FFF2-40B4-BE49-F238E27FC236}">
                <a16:creationId xmlns:a16="http://schemas.microsoft.com/office/drawing/2014/main" id="{05C9C2D2-4C78-41ED-22C4-1362FD0A5173}"/>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76" name="矩形 75">
            <a:extLst>
              <a:ext uri="{FF2B5EF4-FFF2-40B4-BE49-F238E27FC236}">
                <a16:creationId xmlns:a16="http://schemas.microsoft.com/office/drawing/2014/main" id="{CD586774-D59E-E108-CC7A-DF11509C22C3}"/>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8" name="直線單箭頭接點 7">
            <a:extLst>
              <a:ext uri="{FF2B5EF4-FFF2-40B4-BE49-F238E27FC236}">
                <a16:creationId xmlns:a16="http://schemas.microsoft.com/office/drawing/2014/main" id="{EADE8EE8-4BCC-DA45-8205-9238E3425C84}"/>
              </a:ext>
            </a:extLst>
          </p:cNvPr>
          <p:cNvCxnSpPr>
            <a:cxnSpLocks/>
            <a:endCxn id="7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線單箭頭接點 29">
            <a:extLst>
              <a:ext uri="{FF2B5EF4-FFF2-40B4-BE49-F238E27FC236}">
                <a16:creationId xmlns:a16="http://schemas.microsoft.com/office/drawing/2014/main" id="{8C21C82C-A38A-CF8A-22A3-3954A785B804}"/>
              </a:ext>
            </a:extLst>
          </p:cNvPr>
          <p:cNvCxnSpPr>
            <a:cxnSpLocks/>
            <a:stCxn id="74"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D6689092-10C8-3F9A-9985-F5B8D94A3FB9}"/>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44" name="直線單箭頭接點 43">
            <a:extLst>
              <a:ext uri="{FF2B5EF4-FFF2-40B4-BE49-F238E27FC236}">
                <a16:creationId xmlns:a16="http://schemas.microsoft.com/office/drawing/2014/main" id="{0D406E31-B4FC-DF48-55B3-5841648A58FC}"/>
              </a:ext>
            </a:extLst>
          </p:cNvPr>
          <p:cNvCxnSpPr>
            <a:cxnSpLocks/>
            <a:stCxn id="70" idx="3"/>
            <a:endCxn id="7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線單箭頭接點 46">
            <a:extLst>
              <a:ext uri="{FF2B5EF4-FFF2-40B4-BE49-F238E27FC236}">
                <a16:creationId xmlns:a16="http://schemas.microsoft.com/office/drawing/2014/main" id="{57F2F843-4E20-1BD7-F2FE-95BBDEE32CAC}"/>
              </a:ext>
            </a:extLst>
          </p:cNvPr>
          <p:cNvCxnSpPr>
            <a:cxnSpLocks/>
            <a:stCxn id="71" idx="3"/>
            <a:endCxn id="7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138ECD51-95EE-D28D-86FC-F8D2807A2A35}"/>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a:extLst>
              <a:ext uri="{FF2B5EF4-FFF2-40B4-BE49-F238E27FC236}">
                <a16:creationId xmlns:a16="http://schemas.microsoft.com/office/drawing/2014/main" id="{0CDEF641-C9F3-0D29-D3E0-45BEC5CCA826}"/>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文字方塊 80">
            <a:extLst>
              <a:ext uri="{FF2B5EF4-FFF2-40B4-BE49-F238E27FC236}">
                <a16:creationId xmlns:a16="http://schemas.microsoft.com/office/drawing/2014/main" id="{290E37EA-476E-3318-71F6-66515E756E90}"/>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90" name="矩形 89">
            <a:extLst>
              <a:ext uri="{FF2B5EF4-FFF2-40B4-BE49-F238E27FC236}">
                <a16:creationId xmlns:a16="http://schemas.microsoft.com/office/drawing/2014/main" id="{CD84B0AC-7937-98FF-B926-0BEEB31009B9}"/>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91" name="直線單箭頭接點 90">
            <a:extLst>
              <a:ext uri="{FF2B5EF4-FFF2-40B4-BE49-F238E27FC236}">
                <a16:creationId xmlns:a16="http://schemas.microsoft.com/office/drawing/2014/main" id="{F7003A2E-AF3B-57D3-4FD7-A007BB7CC2AF}"/>
              </a:ext>
            </a:extLst>
          </p:cNvPr>
          <p:cNvCxnSpPr>
            <a:cxnSpLocks/>
            <a:stCxn id="72" idx="3"/>
            <a:endCxn id="90"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4" name="文字方塊 93">
            <a:extLst>
              <a:ext uri="{FF2B5EF4-FFF2-40B4-BE49-F238E27FC236}">
                <a16:creationId xmlns:a16="http://schemas.microsoft.com/office/drawing/2014/main" id="{10E7B7B2-90FC-5EBE-E056-386470EF927C}"/>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104" name="矩形 103">
            <a:extLst>
              <a:ext uri="{FF2B5EF4-FFF2-40B4-BE49-F238E27FC236}">
                <a16:creationId xmlns:a16="http://schemas.microsoft.com/office/drawing/2014/main" id="{99F50C1B-B115-4887-6882-5B6836AE2C95}"/>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7" name="文字方塊 106">
            <a:extLst>
              <a:ext uri="{FF2B5EF4-FFF2-40B4-BE49-F238E27FC236}">
                <a16:creationId xmlns:a16="http://schemas.microsoft.com/office/drawing/2014/main" id="{03140A68-8EED-9682-60AC-861D8A5A46A3}"/>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140" name="接點: 肘形 139">
            <a:extLst>
              <a:ext uri="{FF2B5EF4-FFF2-40B4-BE49-F238E27FC236}">
                <a16:creationId xmlns:a16="http://schemas.microsoft.com/office/drawing/2014/main" id="{C3F899A0-D982-68B2-8632-F2417DCAEC8A}"/>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接點: 肘形 144">
            <a:extLst>
              <a:ext uri="{FF2B5EF4-FFF2-40B4-BE49-F238E27FC236}">
                <a16:creationId xmlns:a16="http://schemas.microsoft.com/office/drawing/2014/main" id="{A425C25F-D584-4BB8-82FA-89DA25A9213B}"/>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流程圖: 磁碟 12">
            <a:extLst>
              <a:ext uri="{FF2B5EF4-FFF2-40B4-BE49-F238E27FC236}">
                <a16:creationId xmlns:a16="http://schemas.microsoft.com/office/drawing/2014/main" id="{EC19F867-725C-021C-7FE6-5E45B3AAE183}"/>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9" name="文字方塊 8">
            <a:extLst>
              <a:ext uri="{FF2B5EF4-FFF2-40B4-BE49-F238E27FC236}">
                <a16:creationId xmlns:a16="http://schemas.microsoft.com/office/drawing/2014/main" id="{D4930C9A-8C8F-9189-046B-C7D99C931A92}"/>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20" name="文字方塊 8">
            <a:extLst>
              <a:ext uri="{FF2B5EF4-FFF2-40B4-BE49-F238E27FC236}">
                <a16:creationId xmlns:a16="http://schemas.microsoft.com/office/drawing/2014/main" id="{FEFD8DD3-0ABA-3EC3-61FD-44F2CE86ED68}"/>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21" name="直線單箭頭接點 20">
            <a:extLst>
              <a:ext uri="{FF2B5EF4-FFF2-40B4-BE49-F238E27FC236}">
                <a16:creationId xmlns:a16="http://schemas.microsoft.com/office/drawing/2014/main" id="{97BC4CD7-1BAA-FDE9-601E-B8CCD6327E39}"/>
              </a:ext>
            </a:extLst>
          </p:cNvPr>
          <p:cNvCxnSpPr>
            <a:cxnSpLocks/>
            <a:stCxn id="90" idx="3"/>
            <a:endCxn id="74"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接點: 肘形 39">
            <a:extLst>
              <a:ext uri="{FF2B5EF4-FFF2-40B4-BE49-F238E27FC236}">
                <a16:creationId xmlns:a16="http://schemas.microsoft.com/office/drawing/2014/main" id="{6D8C7326-BD4D-73DE-B003-F516F5FE7A42}"/>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接點: 肘形 47">
            <a:extLst>
              <a:ext uri="{FF2B5EF4-FFF2-40B4-BE49-F238E27FC236}">
                <a16:creationId xmlns:a16="http://schemas.microsoft.com/office/drawing/2014/main" id="{792AFDE7-7349-695C-D56A-02AC8AFB9835}"/>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2377B2C2-A331-04B8-AEB4-ED04D4ED7B27}"/>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CF8ED433-9397-66EF-FE12-AC70FFA589A7}"/>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流程圖: 磁碟 8">
            <a:extLst>
              <a:ext uri="{FF2B5EF4-FFF2-40B4-BE49-F238E27FC236}">
                <a16:creationId xmlns:a16="http://schemas.microsoft.com/office/drawing/2014/main" id="{5E2181D1-8613-B60F-5F0F-B4223DABACDA}"/>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10" name="文字方塊 9">
            <a:extLst>
              <a:ext uri="{FF2B5EF4-FFF2-40B4-BE49-F238E27FC236}">
                <a16:creationId xmlns:a16="http://schemas.microsoft.com/office/drawing/2014/main" id="{27D31FDA-518F-4DEE-A9AD-DB2FFC2F32B3}"/>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11" name="文字方塊 8">
            <a:extLst>
              <a:ext uri="{FF2B5EF4-FFF2-40B4-BE49-F238E27FC236}">
                <a16:creationId xmlns:a16="http://schemas.microsoft.com/office/drawing/2014/main" id="{EC415E7D-136C-E691-2683-3353E7658532}"/>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6422927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5D5740-47DF-0445-B214-A9CA7FC9B27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D586047-D1EB-B261-6175-FC49FBE48FE7}"/>
              </a:ext>
            </a:extLst>
          </p:cNvPr>
          <p:cNvSpPr>
            <a:spLocks noGrp="1"/>
          </p:cNvSpPr>
          <p:nvPr>
            <p:ph type="title"/>
          </p:nvPr>
        </p:nvSpPr>
        <p:spPr/>
        <p:txBody>
          <a:bodyPr/>
          <a:lstStyle/>
          <a:p>
            <a:r>
              <a:rPr lang="en-US" altLang="zh-TW" dirty="0"/>
              <a:t>Data Preprocessing</a:t>
            </a:r>
            <a:endParaRPr lang="zh-TW" altLang="en-US" dirty="0"/>
          </a:p>
        </p:txBody>
      </p:sp>
      <p:sp>
        <p:nvSpPr>
          <p:cNvPr id="3" name="內容版面配置區 2">
            <a:extLst>
              <a:ext uri="{FF2B5EF4-FFF2-40B4-BE49-F238E27FC236}">
                <a16:creationId xmlns:a16="http://schemas.microsoft.com/office/drawing/2014/main" id="{BAA90961-2B7B-ABEF-C5B4-6C4099DD6FEB}"/>
              </a:ext>
            </a:extLst>
          </p:cNvPr>
          <p:cNvSpPr>
            <a:spLocks noGrp="1"/>
          </p:cNvSpPr>
          <p:nvPr>
            <p:ph idx="1"/>
          </p:nvPr>
        </p:nvSpPr>
        <p:spPr>
          <a:xfrm>
            <a:off x="1154083" y="1922354"/>
            <a:ext cx="10058400" cy="4023360"/>
          </a:xfrm>
        </p:spPr>
        <p:txBody>
          <a:bodyPr>
            <a:normAutofit/>
          </a:bodyPr>
          <a:lstStyle/>
          <a:p>
            <a:pPr marL="0" indent="0">
              <a:buNone/>
            </a:pPr>
            <a:r>
              <a:rPr lang="zh-TW" altLang="zh-TW" dirty="0"/>
              <a:t>Data preprocessing consists of data cleaning and data transformation processes</a:t>
            </a:r>
            <a:endParaRPr lang="en-US" altLang="zh-TW" dirty="0"/>
          </a:p>
          <a:p>
            <a:pPr marL="457200" indent="-457200">
              <a:buClr>
                <a:schemeClr val="accent1">
                  <a:lumMod val="50000"/>
                </a:schemeClr>
              </a:buClr>
              <a:buFont typeface="+mj-lt"/>
              <a:buAutoNum type="arabicPeriod"/>
            </a:pPr>
            <a:r>
              <a:rPr lang="en-US" altLang="zh-TW" dirty="0"/>
              <a:t>Data Cleaning</a:t>
            </a:r>
          </a:p>
          <a:p>
            <a:pPr marL="749808" lvl="1" indent="-457200">
              <a:lnSpc>
                <a:spcPct val="150000"/>
              </a:lnSpc>
            </a:pPr>
            <a:r>
              <a:rPr lang="en-US" altLang="zh-TW" dirty="0"/>
              <a:t>Handle missing or incomplete store attributes</a:t>
            </a:r>
          </a:p>
          <a:p>
            <a:pPr marL="457200" indent="-457200">
              <a:buClr>
                <a:schemeClr val="accent1">
                  <a:lumMod val="50000"/>
                </a:schemeClr>
              </a:buClr>
              <a:buFont typeface="+mj-lt"/>
              <a:buAutoNum type="arabicPeriod"/>
            </a:pPr>
            <a:r>
              <a:rPr lang="en-US" altLang="zh-TW" dirty="0"/>
              <a:t>Data Transformation</a:t>
            </a:r>
          </a:p>
          <a:p>
            <a:pPr marL="749808" lvl="1" indent="-457200">
              <a:lnSpc>
                <a:spcPct val="150000"/>
              </a:lnSpc>
            </a:pPr>
            <a:r>
              <a:rPr lang="en-US" altLang="zh-TW" dirty="0"/>
              <a:t>Convert the </a:t>
            </a:r>
            <a:r>
              <a:rPr lang="zh-TW" altLang="zh-TW" dirty="0"/>
              <a:t>data</a:t>
            </a:r>
            <a:r>
              <a:rPr lang="en-US" altLang="zh-TW" dirty="0"/>
              <a:t> into a structured format for routing optimization</a:t>
            </a:r>
          </a:p>
        </p:txBody>
      </p:sp>
      <p:sp>
        <p:nvSpPr>
          <p:cNvPr id="4" name="投影片編號版面配置區 3">
            <a:extLst>
              <a:ext uri="{FF2B5EF4-FFF2-40B4-BE49-F238E27FC236}">
                <a16:creationId xmlns:a16="http://schemas.microsoft.com/office/drawing/2014/main" id="{A3F0DF4D-A988-76A4-1C40-A2604F798E5C}"/>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14</a:t>
            </a:fld>
            <a:endParaRPr lang="zh-TW" altLang="en-US" sz="1600" dirty="0"/>
          </a:p>
        </p:txBody>
      </p:sp>
    </p:spTree>
    <p:extLst>
      <p:ext uri="{BB962C8B-B14F-4D97-AF65-F5344CB8AC3E}">
        <p14:creationId xmlns:p14="http://schemas.microsoft.com/office/powerpoint/2010/main" val="1137932624"/>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917184-93EA-DDB1-3A13-4F2AB2A1AEFA}"/>
            </a:ext>
          </a:extLst>
        </p:cNvPr>
        <p:cNvGrpSpPr/>
        <p:nvPr/>
      </p:nvGrpSpPr>
      <p:grpSpPr>
        <a:xfrm>
          <a:off x="0" y="0"/>
          <a:ext cx="0" cy="0"/>
          <a:chOff x="0" y="0"/>
          <a:chExt cx="0" cy="0"/>
        </a:xfrm>
      </p:grpSpPr>
      <p:sp>
        <p:nvSpPr>
          <p:cNvPr id="37" name="矩形 36">
            <a:extLst>
              <a:ext uri="{FF2B5EF4-FFF2-40B4-BE49-F238E27FC236}">
                <a16:creationId xmlns:a16="http://schemas.microsoft.com/office/drawing/2014/main" id="{09159969-96DE-2414-7C04-685AFF1892A0}"/>
              </a:ext>
            </a:extLst>
          </p:cNvPr>
          <p:cNvSpPr/>
          <p:nvPr/>
        </p:nvSpPr>
        <p:spPr>
          <a:xfrm>
            <a:off x="3814907" y="3713020"/>
            <a:ext cx="414453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0A833890-DA4C-BD15-26ED-DE6D81557D49}"/>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695D1273-A037-C083-AC5B-6DF320A10F9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15</a:t>
            </a:fld>
            <a:endParaRPr lang="zh-TW" altLang="en-US" sz="1600" dirty="0"/>
          </a:p>
        </p:txBody>
      </p:sp>
      <p:sp>
        <p:nvSpPr>
          <p:cNvPr id="21" name="矩形 20">
            <a:extLst>
              <a:ext uri="{FF2B5EF4-FFF2-40B4-BE49-F238E27FC236}">
                <a16:creationId xmlns:a16="http://schemas.microsoft.com/office/drawing/2014/main" id="{7DF78278-D091-96ED-BCFD-F9A62F2A0CFA}"/>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2AB1863C-77FF-8B05-CFF3-0E5CA7E884FF}"/>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23" name="矩形 22">
            <a:extLst>
              <a:ext uri="{FF2B5EF4-FFF2-40B4-BE49-F238E27FC236}">
                <a16:creationId xmlns:a16="http://schemas.microsoft.com/office/drawing/2014/main" id="{D18E3EF6-E867-FA00-D24A-648C48355F48}"/>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24" name="矩形 23">
            <a:extLst>
              <a:ext uri="{FF2B5EF4-FFF2-40B4-BE49-F238E27FC236}">
                <a16:creationId xmlns:a16="http://schemas.microsoft.com/office/drawing/2014/main" id="{703E00C2-917A-CC9E-EBAB-96F38F1DBED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25" name="矩形 24">
            <a:extLst>
              <a:ext uri="{FF2B5EF4-FFF2-40B4-BE49-F238E27FC236}">
                <a16:creationId xmlns:a16="http://schemas.microsoft.com/office/drawing/2014/main" id="{9DF65256-92EB-FFF4-9CEB-4F1F110CD6A2}"/>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26" name="矩形 25">
            <a:extLst>
              <a:ext uri="{FF2B5EF4-FFF2-40B4-BE49-F238E27FC236}">
                <a16:creationId xmlns:a16="http://schemas.microsoft.com/office/drawing/2014/main" id="{57994DE3-112C-F927-64F6-6C69F57BFFF0}"/>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27" name="矩形 26">
            <a:extLst>
              <a:ext uri="{FF2B5EF4-FFF2-40B4-BE49-F238E27FC236}">
                <a16:creationId xmlns:a16="http://schemas.microsoft.com/office/drawing/2014/main" id="{BB094508-D559-AD4C-03D5-AA2703CE8849}"/>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8" name="直線單箭頭接點 27">
            <a:extLst>
              <a:ext uri="{FF2B5EF4-FFF2-40B4-BE49-F238E27FC236}">
                <a16:creationId xmlns:a16="http://schemas.microsoft.com/office/drawing/2014/main" id="{18C7852B-220E-3E57-EEB6-82C5580F9183}"/>
              </a:ext>
            </a:extLst>
          </p:cNvPr>
          <p:cNvCxnSpPr>
            <a:cxnSpLocks/>
            <a:endCxn id="22"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線單箭頭接點 28">
            <a:extLst>
              <a:ext uri="{FF2B5EF4-FFF2-40B4-BE49-F238E27FC236}">
                <a16:creationId xmlns:a16="http://schemas.microsoft.com/office/drawing/2014/main" id="{38194188-B3B9-5B6F-ECE7-9F8E4BAC6F08}"/>
              </a:ext>
            </a:extLst>
          </p:cNvPr>
          <p:cNvCxnSpPr>
            <a:cxnSpLocks/>
            <a:stCxn id="25"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85A96671-9275-D83F-667E-E61F65070E70}"/>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32" name="直線單箭頭接點 31">
            <a:extLst>
              <a:ext uri="{FF2B5EF4-FFF2-40B4-BE49-F238E27FC236}">
                <a16:creationId xmlns:a16="http://schemas.microsoft.com/office/drawing/2014/main" id="{3FFEEE69-A0E6-EBB2-8D18-1572135C6486}"/>
              </a:ext>
            </a:extLst>
          </p:cNvPr>
          <p:cNvCxnSpPr>
            <a:cxnSpLocks/>
            <a:stCxn id="22" idx="3"/>
            <a:endCxn id="23"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4C733326-DFE0-7B1A-B48B-21D5497D74F0}"/>
              </a:ext>
            </a:extLst>
          </p:cNvPr>
          <p:cNvCxnSpPr>
            <a:cxnSpLocks/>
            <a:stCxn id="23" idx="3"/>
            <a:endCxn id="24"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856AA079-8038-06AE-55B2-420632127194}"/>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120709D5-CB70-82AB-BFF1-0C038C5AF01A}"/>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39" name="矩形 38">
            <a:extLst>
              <a:ext uri="{FF2B5EF4-FFF2-40B4-BE49-F238E27FC236}">
                <a16:creationId xmlns:a16="http://schemas.microsoft.com/office/drawing/2014/main" id="{5308B44A-D481-D1FC-B7C2-5D1A21D6E9EC}"/>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40" name="直線單箭頭接點 39">
            <a:extLst>
              <a:ext uri="{FF2B5EF4-FFF2-40B4-BE49-F238E27FC236}">
                <a16:creationId xmlns:a16="http://schemas.microsoft.com/office/drawing/2014/main" id="{9431D27C-BCC4-0ECB-00F2-4C046AE2287A}"/>
              </a:ext>
            </a:extLst>
          </p:cNvPr>
          <p:cNvCxnSpPr>
            <a:cxnSpLocks/>
            <a:stCxn id="24" idx="3"/>
            <a:endCxn id="39"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文字方塊 40">
            <a:extLst>
              <a:ext uri="{FF2B5EF4-FFF2-40B4-BE49-F238E27FC236}">
                <a16:creationId xmlns:a16="http://schemas.microsoft.com/office/drawing/2014/main" id="{D79E2643-3509-6294-7390-46434BDE960D}"/>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42" name="矩形 41">
            <a:extLst>
              <a:ext uri="{FF2B5EF4-FFF2-40B4-BE49-F238E27FC236}">
                <a16:creationId xmlns:a16="http://schemas.microsoft.com/office/drawing/2014/main" id="{ADDCF806-5380-C025-4D3C-8996566C9E2F}"/>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3" name="文字方塊 42">
            <a:extLst>
              <a:ext uri="{FF2B5EF4-FFF2-40B4-BE49-F238E27FC236}">
                <a16:creationId xmlns:a16="http://schemas.microsoft.com/office/drawing/2014/main" id="{6ECD02AE-D2E1-4E5D-B8B1-3C23650DB426}"/>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45" name="接點: 肘形 44">
            <a:extLst>
              <a:ext uri="{FF2B5EF4-FFF2-40B4-BE49-F238E27FC236}">
                <a16:creationId xmlns:a16="http://schemas.microsoft.com/office/drawing/2014/main" id="{D2457337-DE23-9B59-AD66-44054787D36B}"/>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接點: 肘形 45">
            <a:extLst>
              <a:ext uri="{FF2B5EF4-FFF2-40B4-BE49-F238E27FC236}">
                <a16:creationId xmlns:a16="http://schemas.microsoft.com/office/drawing/2014/main" id="{7EED67C6-2581-78E9-6165-6EE01856A70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流程圖: 磁碟 48">
            <a:extLst>
              <a:ext uri="{FF2B5EF4-FFF2-40B4-BE49-F238E27FC236}">
                <a16:creationId xmlns:a16="http://schemas.microsoft.com/office/drawing/2014/main" id="{67A26891-6175-B0FA-5C0A-69E45EE57F7B}"/>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55" name="文字方塊 8">
            <a:extLst>
              <a:ext uri="{FF2B5EF4-FFF2-40B4-BE49-F238E27FC236}">
                <a16:creationId xmlns:a16="http://schemas.microsoft.com/office/drawing/2014/main" id="{430873D7-7A2C-E997-42EC-3A8EDD5EC264}"/>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56" name="文字方塊 8">
            <a:extLst>
              <a:ext uri="{FF2B5EF4-FFF2-40B4-BE49-F238E27FC236}">
                <a16:creationId xmlns:a16="http://schemas.microsoft.com/office/drawing/2014/main" id="{D68C66C5-6F5B-B0E7-2154-CCE6C7842AA0}"/>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57" name="直線單箭頭接點 56">
            <a:extLst>
              <a:ext uri="{FF2B5EF4-FFF2-40B4-BE49-F238E27FC236}">
                <a16:creationId xmlns:a16="http://schemas.microsoft.com/office/drawing/2014/main" id="{CD2563A3-EA51-3B31-EDA6-F41B16878C6F}"/>
              </a:ext>
            </a:extLst>
          </p:cNvPr>
          <p:cNvCxnSpPr>
            <a:cxnSpLocks/>
            <a:stCxn id="39" idx="3"/>
            <a:endCxn id="25"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接點: 肘形 63">
            <a:extLst>
              <a:ext uri="{FF2B5EF4-FFF2-40B4-BE49-F238E27FC236}">
                <a16:creationId xmlns:a16="http://schemas.microsoft.com/office/drawing/2014/main" id="{2F814A8B-385D-9DB5-3A8D-15FB79689CC4}"/>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接點: 肘形 64">
            <a:extLst>
              <a:ext uri="{FF2B5EF4-FFF2-40B4-BE49-F238E27FC236}">
                <a16:creationId xmlns:a16="http://schemas.microsoft.com/office/drawing/2014/main" id="{94D4A820-31C8-11C6-E819-AAB5B95DA631}"/>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2420C91C-11B3-D738-7A14-D9F4E84E320F}"/>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 name="直線單箭頭接點 4">
            <a:extLst>
              <a:ext uri="{FF2B5EF4-FFF2-40B4-BE49-F238E27FC236}">
                <a16:creationId xmlns:a16="http://schemas.microsoft.com/office/drawing/2014/main" id="{E291AE6E-D216-1184-4257-1244FC086C38}"/>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流程圖: 磁碟 5">
            <a:extLst>
              <a:ext uri="{FF2B5EF4-FFF2-40B4-BE49-F238E27FC236}">
                <a16:creationId xmlns:a16="http://schemas.microsoft.com/office/drawing/2014/main" id="{9F9D287D-DE48-AB50-B06B-C320B6A023D5}"/>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7" name="文字方塊 6">
            <a:extLst>
              <a:ext uri="{FF2B5EF4-FFF2-40B4-BE49-F238E27FC236}">
                <a16:creationId xmlns:a16="http://schemas.microsoft.com/office/drawing/2014/main" id="{6F02E731-8806-0F3F-45E5-B684542DB213}"/>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 name="文字方塊 8">
            <a:extLst>
              <a:ext uri="{FF2B5EF4-FFF2-40B4-BE49-F238E27FC236}">
                <a16:creationId xmlns:a16="http://schemas.microsoft.com/office/drawing/2014/main" id="{E90EDB7E-B456-2E43-1C4D-62A11B6C91B7}"/>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28682314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0607BA-65E0-9671-82C1-A3D835CD0A1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E4DB061-6C80-17AF-4B5E-84CB8C1F8A56}"/>
              </a:ext>
            </a:extLst>
          </p:cNvPr>
          <p:cNvSpPr>
            <a:spLocks noGrp="1"/>
          </p:cNvSpPr>
          <p:nvPr>
            <p:ph type="title"/>
          </p:nvPr>
        </p:nvSpPr>
        <p:spPr/>
        <p:txBody>
          <a:bodyPr/>
          <a:lstStyle/>
          <a:p>
            <a:r>
              <a:rPr lang="en-US" altLang="zh-TW" dirty="0"/>
              <a:t>Routing Module</a:t>
            </a:r>
            <a:endParaRPr lang="zh-TW" altLang="en-US" dirty="0"/>
          </a:p>
        </p:txBody>
      </p:sp>
      <p:sp>
        <p:nvSpPr>
          <p:cNvPr id="3" name="內容版面配置區 2">
            <a:extLst>
              <a:ext uri="{FF2B5EF4-FFF2-40B4-BE49-F238E27FC236}">
                <a16:creationId xmlns:a16="http://schemas.microsoft.com/office/drawing/2014/main" id="{6523EA98-4841-AB80-5022-30741AC4A77C}"/>
              </a:ext>
            </a:extLst>
          </p:cNvPr>
          <p:cNvSpPr>
            <a:spLocks noGrp="1"/>
          </p:cNvSpPr>
          <p:nvPr>
            <p:ph idx="1"/>
          </p:nvPr>
        </p:nvSpPr>
        <p:spPr>
          <a:xfrm>
            <a:off x="1097280" y="1845734"/>
            <a:ext cx="10718668" cy="4023360"/>
          </a:xfrm>
        </p:spPr>
        <p:txBody>
          <a:bodyPr>
            <a:normAutofit/>
          </a:bodyPr>
          <a:lstStyle/>
          <a:p>
            <a:pPr marL="0" indent="0">
              <a:buNone/>
            </a:pPr>
            <a:r>
              <a:rPr lang="zh-TW" altLang="zh-TW" dirty="0"/>
              <a:t>The proposed framework is developed by considering the constraints of the logistics company, and mainly consists of three stage</a:t>
            </a:r>
            <a:r>
              <a:rPr lang="en-US" altLang="zh-TW" dirty="0"/>
              <a:t>s</a:t>
            </a:r>
          </a:p>
          <a:p>
            <a:pPr marL="457200" indent="-457200">
              <a:buClr>
                <a:schemeClr val="accent1">
                  <a:lumMod val="50000"/>
                </a:schemeClr>
              </a:buClr>
              <a:buFont typeface="+mj-lt"/>
              <a:buAutoNum type="arabicPeriod"/>
            </a:pPr>
            <a:r>
              <a:rPr lang="en-US" altLang="zh-TW" dirty="0"/>
              <a:t>Store Extraction</a:t>
            </a:r>
          </a:p>
          <a:p>
            <a:pPr marL="457200" indent="-457200">
              <a:buClr>
                <a:schemeClr val="accent1">
                  <a:lumMod val="50000"/>
                </a:schemeClr>
              </a:buClr>
              <a:buFont typeface="+mj-lt"/>
              <a:buAutoNum type="arabicPeriod"/>
            </a:pPr>
            <a:r>
              <a:rPr lang="en-US" altLang="zh-TW" dirty="0"/>
              <a:t>Store Assignment</a:t>
            </a:r>
          </a:p>
          <a:p>
            <a:pPr marL="457200" indent="-457200">
              <a:buClr>
                <a:schemeClr val="accent1">
                  <a:lumMod val="50000"/>
                </a:schemeClr>
              </a:buClr>
              <a:buFont typeface="+mj-lt"/>
              <a:buAutoNum type="arabicPeriod"/>
            </a:pPr>
            <a:r>
              <a:rPr lang="en-US" altLang="zh-TW" dirty="0"/>
              <a:t>Support Route Planning</a:t>
            </a:r>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r>
              <a:rPr lang="en-US" altLang="zh-TW" dirty="0"/>
              <a:t>The routing process in the proposed framework is </a:t>
            </a:r>
            <a:r>
              <a:rPr lang="zh-TW" altLang="zh-TW" dirty="0"/>
              <a:t>formulated as a Vehicle Routing Problem (VRP)</a:t>
            </a:r>
            <a:endParaRPr lang="en-US" altLang="zh-TW" dirty="0"/>
          </a:p>
        </p:txBody>
      </p:sp>
      <p:sp>
        <p:nvSpPr>
          <p:cNvPr id="4" name="投影片編號版面配置區 3">
            <a:extLst>
              <a:ext uri="{FF2B5EF4-FFF2-40B4-BE49-F238E27FC236}">
                <a16:creationId xmlns:a16="http://schemas.microsoft.com/office/drawing/2014/main" id="{FC74B726-3822-BF3C-0167-C409891BECC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16</a:t>
            </a:fld>
            <a:endParaRPr lang="zh-TW" altLang="en-US" sz="1600" dirty="0"/>
          </a:p>
        </p:txBody>
      </p:sp>
    </p:spTree>
    <p:extLst>
      <p:ext uri="{BB962C8B-B14F-4D97-AF65-F5344CB8AC3E}">
        <p14:creationId xmlns:p14="http://schemas.microsoft.com/office/powerpoint/2010/main" val="31900446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E61BFB-70A7-6BB9-36E2-8F0073A3B00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F1D6FF3-8321-6BA7-AE4C-8A998842A8EA}"/>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B8C8CF03-1754-8007-99D3-9DA64B4A4C36}"/>
              </a:ext>
            </a:extLst>
          </p:cNvPr>
          <p:cNvSpPr>
            <a:spLocks noGrp="1"/>
          </p:cNvSpPr>
          <p:nvPr>
            <p:ph idx="1"/>
          </p:nvPr>
        </p:nvSpPr>
        <p:spPr/>
        <p:txBody>
          <a:bodyPr>
            <a:normAutofit/>
          </a:bodyPr>
          <a:lstStyle/>
          <a:p>
            <a:pPr marL="0" indent="0">
              <a:buClr>
                <a:schemeClr val="accent1">
                  <a:lumMod val="50000"/>
                </a:schemeClr>
              </a:buClr>
              <a:buNone/>
            </a:pPr>
            <a:r>
              <a:rPr lang="en-US" altLang="zh-TW" dirty="0"/>
              <a:t>Vehicle Routing Problem</a:t>
            </a:r>
            <a:r>
              <a:rPr lang="zh-TW" altLang="en-US" dirty="0"/>
              <a:t> </a:t>
            </a:r>
            <a:r>
              <a:rPr lang="en-US" altLang="zh-TW" dirty="0"/>
              <a:t>(VRP)[1]</a:t>
            </a:r>
          </a:p>
          <a:p>
            <a:pPr>
              <a:buClr>
                <a:schemeClr val="accent1">
                  <a:lumMod val="50000"/>
                </a:schemeClr>
              </a:buClr>
              <a:buFont typeface="Wingdings" panose="05000000000000000000" pitchFamily="2" charset="2"/>
              <a:buChar char="Ø"/>
            </a:pPr>
            <a:r>
              <a:rPr lang="en-US" altLang="zh-TW" dirty="0"/>
              <a:t>NP-hard problem in combinatorial optimization and integer programming</a:t>
            </a:r>
          </a:p>
          <a:p>
            <a:pPr>
              <a:buClr>
                <a:schemeClr val="accent1">
                  <a:lumMod val="50000"/>
                </a:schemeClr>
              </a:buClr>
              <a:buFont typeface="Wingdings" panose="05000000000000000000" pitchFamily="2" charset="2"/>
              <a:buChar char="Ø"/>
            </a:pPr>
            <a:r>
              <a:rPr lang="en-US" altLang="zh-TW" dirty="0"/>
              <a:t>The objective is to ensure that all customer demands are satisfied while complying with operational constraints and minimizing the overall cost</a:t>
            </a:r>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r>
              <a:rPr lang="en-US" altLang="zh-TW" dirty="0"/>
              <a:t>Constraints</a:t>
            </a:r>
          </a:p>
          <a:p>
            <a:pPr lvl="1">
              <a:buFont typeface="Arial" panose="020B0604020202020204" pitchFamily="34" charset="0"/>
              <a:buChar char="•"/>
            </a:pPr>
            <a:r>
              <a:rPr lang="en-US" altLang="zh-TW" sz="2000" dirty="0"/>
              <a:t>Each vehicle starts and ends its route at the depot</a:t>
            </a:r>
          </a:p>
          <a:p>
            <a:pPr lvl="1">
              <a:buFont typeface="Arial" panose="020B0604020202020204" pitchFamily="34" charset="0"/>
              <a:buChar char="•"/>
            </a:pPr>
            <a:r>
              <a:rPr lang="en-US" altLang="zh-TW" sz="2000" dirty="0"/>
              <a:t>Each customer is visited exactly once and served by exactly one vehicle</a:t>
            </a:r>
          </a:p>
          <a:p>
            <a:pPr lvl="1">
              <a:buFont typeface="Arial" panose="020B0604020202020204" pitchFamily="34" charset="0"/>
              <a:buChar char="•"/>
            </a:pPr>
            <a:r>
              <a:rPr lang="en-US" altLang="zh-TW" sz="2000" dirty="0"/>
              <a:t>The demand of every customer must be satisfied</a:t>
            </a:r>
          </a:p>
        </p:txBody>
      </p:sp>
      <p:sp>
        <p:nvSpPr>
          <p:cNvPr id="4" name="投影片編號版面配置區 3">
            <a:extLst>
              <a:ext uri="{FF2B5EF4-FFF2-40B4-BE49-F238E27FC236}">
                <a16:creationId xmlns:a16="http://schemas.microsoft.com/office/drawing/2014/main" id="{02E53523-D08A-59D4-99E5-9EFFBBF165E4}"/>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17</a:t>
            </a:fld>
            <a:endParaRPr lang="zh-TW" altLang="en-US" sz="1600" dirty="0"/>
          </a:p>
        </p:txBody>
      </p:sp>
      <p:sp>
        <p:nvSpPr>
          <p:cNvPr id="6" name="文字方塊 5">
            <a:extLst>
              <a:ext uri="{FF2B5EF4-FFF2-40B4-BE49-F238E27FC236}">
                <a16:creationId xmlns:a16="http://schemas.microsoft.com/office/drawing/2014/main" id="{066D4813-1FB8-4F04-92C2-DBEDECC35DA1}"/>
              </a:ext>
            </a:extLst>
          </p:cNvPr>
          <p:cNvSpPr txBox="1"/>
          <p:nvPr/>
        </p:nvSpPr>
        <p:spPr>
          <a:xfrm>
            <a:off x="979517" y="6365348"/>
            <a:ext cx="6096000" cy="276999"/>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[1]</a:t>
            </a:r>
            <a:r>
              <a:rPr lang="zh-TW" altLang="en-US" sz="1200" kern="100" dirty="0">
                <a:solidFill>
                  <a:schemeClr val="bg1"/>
                </a:solidFill>
                <a:effectLst/>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P. Toth and D. Vigo, </a:t>
            </a:r>
            <a:r>
              <a:rPr lang="en-US" altLang="zh-TW" sz="1200" i="1" kern="100" dirty="0">
                <a:solidFill>
                  <a:schemeClr val="bg1"/>
                </a:solidFill>
                <a:effectLst/>
                <a:latin typeface="Times New Roman" panose="02020603050405020304" pitchFamily="18" charset="0"/>
                <a:ea typeface="新細明體" panose="02020500000000000000" pitchFamily="18" charset="-120"/>
              </a:rPr>
              <a:t>The vehicle routing problem</a:t>
            </a:r>
            <a:r>
              <a:rPr lang="en-US" altLang="zh-TW" sz="1200" kern="100" dirty="0">
                <a:solidFill>
                  <a:schemeClr val="bg1"/>
                </a:solidFill>
                <a:effectLst/>
                <a:latin typeface="Times New Roman" panose="02020603050405020304" pitchFamily="18" charset="0"/>
                <a:ea typeface="新細明體" panose="02020500000000000000" pitchFamily="18" charset="-120"/>
              </a:rPr>
              <a:t>. SIAM, 2002.</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22234904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8104D2-0CE3-C978-B9C9-0773B24D5B3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ED79EAB-D062-209B-78B8-12963C7A691B}"/>
              </a:ext>
            </a:extLst>
          </p:cNvPr>
          <p:cNvSpPr>
            <a:spLocks noGrp="1"/>
          </p:cNvSpPr>
          <p:nvPr>
            <p:ph type="title"/>
          </p:nvPr>
        </p:nvSpPr>
        <p:spPr/>
        <p:txBody>
          <a:bodyPr/>
          <a:lstStyle/>
          <a:p>
            <a:r>
              <a:rPr lang="en-US" altLang="zh-TW" dirty="0"/>
              <a:t>VRP</a:t>
            </a:r>
            <a:endParaRPr lang="zh-TW" altLang="en-US" dirty="0"/>
          </a:p>
        </p:txBody>
      </p:sp>
      <p:sp>
        <p:nvSpPr>
          <p:cNvPr id="3" name="內容版面配置區 2">
            <a:extLst>
              <a:ext uri="{FF2B5EF4-FFF2-40B4-BE49-F238E27FC236}">
                <a16:creationId xmlns:a16="http://schemas.microsoft.com/office/drawing/2014/main" id="{DD3524AB-C7F0-330E-01E5-DC326524A3FC}"/>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Variants</a:t>
            </a:r>
          </a:p>
          <a:p>
            <a:pPr lvl="1">
              <a:lnSpc>
                <a:spcPct val="150000"/>
              </a:lnSpc>
              <a:buFont typeface="Arial" panose="020B0604020202020204" pitchFamily="34" charset="0"/>
              <a:buChar char="•"/>
            </a:pPr>
            <a:r>
              <a:rPr lang="en-US" altLang="zh-TW" sz="2000" dirty="0"/>
              <a:t>Capacitated Vehicle Routing Problem</a:t>
            </a:r>
            <a:r>
              <a:rPr lang="zh-TW" altLang="en-US" sz="2000" dirty="0"/>
              <a:t> </a:t>
            </a:r>
            <a:r>
              <a:rPr lang="en-US" altLang="zh-TW" sz="2000" dirty="0"/>
              <a:t>(CVRP)</a:t>
            </a:r>
          </a:p>
          <a:p>
            <a:pPr lvl="1">
              <a:lnSpc>
                <a:spcPct val="150000"/>
              </a:lnSpc>
              <a:buFont typeface="Arial" panose="020B0604020202020204" pitchFamily="34" charset="0"/>
              <a:buChar char="•"/>
            </a:pPr>
            <a:r>
              <a:rPr lang="en-US" altLang="zh-TW" sz="2000" dirty="0"/>
              <a:t>Vehicle Routing Problem with Time Windows</a:t>
            </a:r>
            <a:r>
              <a:rPr lang="zh-TW" altLang="en-US" sz="2000" dirty="0"/>
              <a:t> </a:t>
            </a:r>
            <a:r>
              <a:rPr lang="en-US" altLang="zh-TW" sz="2000" dirty="0"/>
              <a:t>(VRPTW)</a:t>
            </a:r>
          </a:p>
          <a:p>
            <a:pPr lvl="1">
              <a:lnSpc>
                <a:spcPct val="150000"/>
              </a:lnSpc>
              <a:buFont typeface="Arial" panose="020B0604020202020204" pitchFamily="34" charset="0"/>
              <a:buChar char="•"/>
            </a:pPr>
            <a:r>
              <a:rPr lang="en-US" altLang="zh-TW" sz="2000" dirty="0"/>
              <a:t>Vehicle Routing Problem with Private Fleet and Common Carrier (VRPPC)</a:t>
            </a:r>
          </a:p>
          <a:p>
            <a:pPr lvl="1">
              <a:lnSpc>
                <a:spcPct val="150000"/>
              </a:lnSpc>
              <a:buFont typeface="Arial" panose="020B0604020202020204" pitchFamily="34" charset="0"/>
              <a:buChar char="•"/>
            </a:pPr>
            <a:r>
              <a:rPr lang="en-US" altLang="zh-TW" sz="2000" dirty="0"/>
              <a:t>etc.</a:t>
            </a:r>
          </a:p>
          <a:p>
            <a:pPr lvl="1">
              <a:buFont typeface="Arial" panose="020B0604020202020204" pitchFamily="34" charset="0"/>
              <a:buChar char="•"/>
            </a:pPr>
            <a:endParaRPr lang="en-US" altLang="zh-TW" sz="2000" dirty="0"/>
          </a:p>
          <a:p>
            <a:pPr lvl="1">
              <a:buFont typeface="Arial" panose="020B0604020202020204" pitchFamily="34" charset="0"/>
              <a:buChar char="•"/>
            </a:pPr>
            <a:endParaRPr lang="en-US" altLang="zh-TW" sz="2200" dirty="0"/>
          </a:p>
          <a:p>
            <a:pPr>
              <a:buFont typeface="Arial" panose="020B0604020202020204" pitchFamily="34" charset="0"/>
              <a:buChar char="•"/>
            </a:pPr>
            <a:endParaRPr lang="en-US" altLang="zh-TW" sz="2200" dirty="0"/>
          </a:p>
        </p:txBody>
      </p:sp>
      <p:sp>
        <p:nvSpPr>
          <p:cNvPr id="4" name="投影片編號版面配置區 3">
            <a:extLst>
              <a:ext uri="{FF2B5EF4-FFF2-40B4-BE49-F238E27FC236}">
                <a16:creationId xmlns:a16="http://schemas.microsoft.com/office/drawing/2014/main" id="{5A70888C-E0D4-917B-D15D-FCA24FDBA5E8}"/>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18</a:t>
            </a:fld>
            <a:endParaRPr lang="zh-TW" altLang="en-US" sz="1600"/>
          </a:p>
        </p:txBody>
      </p:sp>
    </p:spTree>
    <p:extLst>
      <p:ext uri="{BB962C8B-B14F-4D97-AF65-F5344CB8AC3E}">
        <p14:creationId xmlns:p14="http://schemas.microsoft.com/office/powerpoint/2010/main" val="2165522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FC1CE8-DCAA-6FE6-3CF3-C7528399F7B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5F1A81F-3820-F890-1303-AE1D1C032FB6}"/>
              </a:ext>
            </a:extLst>
          </p:cNvPr>
          <p:cNvSpPr>
            <a:spLocks noGrp="1"/>
          </p:cNvSpPr>
          <p:nvPr>
            <p:ph type="title"/>
          </p:nvPr>
        </p:nvSpPr>
        <p:spPr/>
        <p:txBody>
          <a:bodyPr/>
          <a:lstStyle/>
          <a:p>
            <a:r>
              <a:rPr lang="en-US" altLang="zh-TW" dirty="0"/>
              <a:t>Constraints</a:t>
            </a:r>
            <a:endParaRPr lang="zh-TW" altLang="en-US" dirty="0"/>
          </a:p>
        </p:txBody>
      </p:sp>
      <p:sp>
        <p:nvSpPr>
          <p:cNvPr id="4" name="投影片編號版面配置區 3">
            <a:extLst>
              <a:ext uri="{FF2B5EF4-FFF2-40B4-BE49-F238E27FC236}">
                <a16:creationId xmlns:a16="http://schemas.microsoft.com/office/drawing/2014/main" id="{B8418E6D-C692-6E6D-C633-4A189AD57786}"/>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19</a:t>
            </a:fld>
            <a:endParaRPr lang="zh-TW" altLang="en-US" sz="1600"/>
          </a:p>
        </p:txBody>
      </p:sp>
      <mc:AlternateContent xmlns:mc="http://schemas.openxmlformats.org/markup-compatibility/2006" xmlns:a14="http://schemas.microsoft.com/office/drawing/2010/main">
        <mc:Choice Requires="a14">
          <p:sp>
            <p:nvSpPr>
              <p:cNvPr id="8" name="內容版面配置區 2">
                <a:extLst>
                  <a:ext uri="{FF2B5EF4-FFF2-40B4-BE49-F238E27FC236}">
                    <a16:creationId xmlns:a16="http://schemas.microsoft.com/office/drawing/2014/main" id="{9FC5B85C-837A-236F-5CD8-339253B13179}"/>
                  </a:ext>
                </a:extLst>
              </p:cNvPr>
              <p:cNvSpPr>
                <a:spLocks noGrp="1"/>
              </p:cNvSpPr>
              <p:nvPr>
                <p:ph idx="1"/>
              </p:nvPr>
            </p:nvSpPr>
            <p:spPr>
              <a:xfrm>
                <a:off x="1097280" y="1845734"/>
                <a:ext cx="10058400" cy="4023360"/>
              </a:xfrm>
            </p:spPr>
            <p:txBody>
              <a:bodyPr>
                <a:normAutofit/>
              </a:bodyPr>
              <a:lstStyle/>
              <a:p>
                <a:pPr>
                  <a:lnSpc>
                    <a:spcPct val="150000"/>
                  </a:lnSpc>
                  <a:buClr>
                    <a:schemeClr val="accent1">
                      <a:lumMod val="50000"/>
                    </a:schemeClr>
                  </a:buClr>
                  <a:buFont typeface="Wingdings" panose="05000000000000000000" pitchFamily="2" charset="2"/>
                  <a:buChar char="Ø"/>
                </a:pPr>
                <a:r>
                  <a:rPr lang="zh-TW" altLang="zh-TW" dirty="0">
                    <a:solidFill>
                      <a:schemeClr val="tx1">
                        <a:lumMod val="75000"/>
                        <a:lumOff val="25000"/>
                      </a:schemeClr>
                    </a:solidFill>
                  </a:rPr>
                  <a:t>The proposed optimization model is subject to the following constraints</a:t>
                </a:r>
                <a:endParaRPr lang="en-US" altLang="zh-TW" dirty="0">
                  <a:solidFill>
                    <a:schemeClr val="tx1">
                      <a:lumMod val="75000"/>
                      <a:lumOff val="25000"/>
                    </a:schemeClr>
                  </a:solidFill>
                </a:endParaRPr>
              </a:p>
              <a:p>
                <a:pPr lvl="1">
                  <a:lnSpc>
                    <a:spcPct val="150000"/>
                  </a:lnSpc>
                  <a:buFont typeface="Arial" panose="020B0604020202020204" pitchFamily="34" charset="0"/>
                  <a:buChar char="•"/>
                </a:pPr>
                <a:r>
                  <a:rPr lang="en-US" altLang="zh-TW" dirty="0">
                    <a:solidFill>
                      <a:schemeClr val="tx1">
                        <a:lumMod val="75000"/>
                        <a:lumOff val="25000"/>
                      </a:schemeClr>
                    </a:solidFill>
                  </a:rPr>
                  <a:t>Capacity Constraint</a:t>
                </a:r>
              </a:p>
              <a:p>
                <a:pPr marL="201168" lvl="1" indent="0">
                  <a:buNone/>
                </a:pPr>
                <a14:m>
                  <m:oMathPara xmlns:m="http://schemas.openxmlformats.org/officeDocument/2006/math">
                    <m:oMathParaPr>
                      <m:jc m:val="centerGroup"/>
                    </m:oMathParaPr>
                    <m:oMath xmlns:m="http://schemas.openxmlformats.org/officeDocument/2006/math">
                      <m:nary>
                        <m:naryPr>
                          <m:chr m:val="∑"/>
                          <m:limLoc m:val="undOvr"/>
                          <m:supHide m:val="on"/>
                          <m:ctrlPr>
                            <a:rPr lang="zh-TW" altLang="en-US" i="1">
                              <a:solidFill>
                                <a:schemeClr val="tx1">
                                  <a:lumMod val="75000"/>
                                  <a:lumOff val="25000"/>
                                </a:schemeClr>
                              </a:solidFill>
                              <a:latin typeface="Cambria Math" panose="02040503050406030204" pitchFamily="18" charset="0"/>
                            </a:rPr>
                          </m:ctrlPr>
                        </m:naryPr>
                        <m:sub>
                          <m:r>
                            <a:rPr lang="zh-TW" altLang="en-US" i="1">
                              <a:solidFill>
                                <a:schemeClr val="tx1">
                                  <a:lumMod val="75000"/>
                                  <a:lumOff val="25000"/>
                                </a:schemeClr>
                              </a:solidFill>
                              <a:latin typeface="Cambria Math" panose="02040503050406030204" pitchFamily="18" charset="0"/>
                            </a:rPr>
                            <m:t>𝑖</m:t>
                          </m:r>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𝑟</m:t>
                              </m:r>
                            </m:e>
                            <m:sub>
                              <m:r>
                                <a:rPr lang="zh-TW" altLang="en-US" i="1">
                                  <a:solidFill>
                                    <a:schemeClr val="tx1">
                                      <a:lumMod val="75000"/>
                                      <a:lumOff val="25000"/>
                                    </a:schemeClr>
                                  </a:solidFill>
                                  <a:latin typeface="Cambria Math" panose="02040503050406030204" pitchFamily="18" charset="0"/>
                                </a:rPr>
                                <m:t>𝑘</m:t>
                              </m:r>
                            </m:sub>
                          </m:sSub>
                        </m:sub>
                        <m:sup/>
                        <m:e>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𝑣</m:t>
                              </m:r>
                            </m:e>
                            <m:sub>
                              <m:r>
                                <a:rPr lang="zh-TW" altLang="en-US" i="1">
                                  <a:solidFill>
                                    <a:schemeClr val="tx1">
                                      <a:lumMod val="75000"/>
                                      <a:lumOff val="25000"/>
                                    </a:schemeClr>
                                  </a:solidFill>
                                  <a:latin typeface="Cambria Math" panose="02040503050406030204" pitchFamily="18" charset="0"/>
                                </a:rPr>
                                <m:t>𝑖</m:t>
                              </m:r>
                            </m:sub>
                          </m:sSub>
                        </m:e>
                      </m:nary>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𝑄</m:t>
                          </m:r>
                        </m:e>
                        <m:sub>
                          <m:r>
                            <a:rPr lang="zh-TW" altLang="en-US" i="1">
                              <a:solidFill>
                                <a:schemeClr val="tx1">
                                  <a:lumMod val="75000"/>
                                  <a:lumOff val="25000"/>
                                </a:schemeClr>
                              </a:solidFill>
                              <a:latin typeface="Cambria Math" panose="02040503050406030204" pitchFamily="18" charset="0"/>
                            </a:rPr>
                            <m:t>𝑘</m:t>
                          </m:r>
                        </m:sub>
                      </m:sSub>
                      <m:r>
                        <a:rPr lang="en-US" altLang="zh-TW" i="1">
                          <a:solidFill>
                            <a:schemeClr val="tx1">
                              <a:lumMod val="75000"/>
                              <a:lumOff val="25000"/>
                            </a:schemeClr>
                          </a:solidFill>
                          <a:latin typeface="Cambria Math" panose="02040503050406030204" pitchFamily="18" charset="0"/>
                        </a:rPr>
                        <m:t>,</m:t>
                      </m:r>
                    </m:oMath>
                  </m:oMathPara>
                </a14:m>
                <a:endParaRPr lang="en-US" altLang="zh-TW" dirty="0">
                  <a:solidFill>
                    <a:schemeClr val="tx1">
                      <a:lumMod val="75000"/>
                      <a:lumOff val="25000"/>
                    </a:schemeClr>
                  </a:solidFill>
                </a:endParaRPr>
              </a:p>
              <a:p>
                <a:pPr lvl="1">
                  <a:buFont typeface="Arial" panose="020B0604020202020204" pitchFamily="34" charset="0"/>
                  <a:buChar char="•"/>
                </a:pPr>
                <a:r>
                  <a:rPr lang="en-US" altLang="zh-TW" dirty="0">
                    <a:solidFill>
                      <a:schemeClr val="tx1">
                        <a:lumMod val="75000"/>
                        <a:lumOff val="25000"/>
                      </a:schemeClr>
                    </a:solidFill>
                  </a:rPr>
                  <a:t>Time Window Constraint</a:t>
                </a:r>
              </a:p>
              <a:p>
                <a:pPr marL="201168" lvl="1" indent="0">
                  <a:buNone/>
                </a:pPr>
                <a:endParaRPr lang="en-US" altLang="zh-TW" dirty="0">
                  <a:solidFill>
                    <a:schemeClr val="tx1">
                      <a:lumMod val="75000"/>
                      <a:lumOff val="25000"/>
                    </a:schemeClr>
                  </a:solidFill>
                </a:endParaRPr>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𝑒</m:t>
                          </m:r>
                        </m:e>
                        <m:sub>
                          <m:r>
                            <a:rPr lang="zh-TW" altLang="en-US" i="1">
                              <a:solidFill>
                                <a:schemeClr val="tx1">
                                  <a:lumMod val="75000"/>
                                  <a:lumOff val="25000"/>
                                </a:schemeClr>
                              </a:solidFill>
                              <a:latin typeface="Cambria Math" panose="02040503050406030204" pitchFamily="18" charset="0"/>
                            </a:rPr>
                            <m:t>𝑗</m:t>
                          </m:r>
                        </m:sub>
                      </m:sSub>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𝑡</m:t>
                          </m:r>
                        </m:e>
                        <m:sub>
                          <m:r>
                            <a:rPr lang="zh-TW" altLang="en-US" i="1">
                              <a:solidFill>
                                <a:schemeClr val="tx1">
                                  <a:lumMod val="75000"/>
                                  <a:lumOff val="25000"/>
                                </a:schemeClr>
                              </a:solidFill>
                              <a:latin typeface="Cambria Math" panose="02040503050406030204" pitchFamily="18" charset="0"/>
                            </a:rPr>
                            <m:t>𝑗</m:t>
                          </m:r>
                        </m:sub>
                      </m:sSub>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𝑙</m:t>
                          </m:r>
                        </m:e>
                        <m:sub>
                          <m:r>
                            <a:rPr lang="zh-TW" altLang="en-US" i="1">
                              <a:solidFill>
                                <a:schemeClr val="tx1">
                                  <a:lumMod val="75000"/>
                                  <a:lumOff val="25000"/>
                                </a:schemeClr>
                              </a:solidFill>
                              <a:latin typeface="Cambria Math" panose="02040503050406030204" pitchFamily="18" charset="0"/>
                            </a:rPr>
                            <m:t>𝑗</m:t>
                          </m:r>
                        </m:sub>
                      </m:sSub>
                    </m:oMath>
                  </m:oMathPara>
                </a14:m>
                <a:endParaRPr lang="en-US" altLang="zh-TW" dirty="0">
                  <a:solidFill>
                    <a:schemeClr val="tx1">
                      <a:lumMod val="75000"/>
                      <a:lumOff val="25000"/>
                    </a:schemeClr>
                  </a:solidFill>
                </a:endParaRPr>
              </a:p>
              <a:p>
                <a:pPr marL="201168" lvl="1" indent="0">
                  <a:buNone/>
                </a:pPr>
                <a:endParaRPr lang="en-US" altLang="zh-TW" dirty="0">
                  <a:solidFill>
                    <a:schemeClr val="tx1">
                      <a:lumMod val="75000"/>
                      <a:lumOff val="25000"/>
                    </a:schemeClr>
                  </a:solidFill>
                </a:endParaRPr>
              </a:p>
              <a:p>
                <a:pPr lvl="1">
                  <a:buFont typeface="Arial" panose="020B0604020202020204" pitchFamily="34" charset="0"/>
                  <a:buChar char="•"/>
                </a:pPr>
                <a:r>
                  <a:rPr lang="en-US" altLang="zh-TW" dirty="0">
                    <a:solidFill>
                      <a:schemeClr val="tx1">
                        <a:lumMod val="75000"/>
                        <a:lumOff val="25000"/>
                      </a:schemeClr>
                    </a:solidFill>
                  </a:rPr>
                  <a:t>Duration Constraint</a:t>
                </a:r>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𝑇</m:t>
                          </m:r>
                        </m:e>
                        <m:sub>
                          <m:r>
                            <a:rPr lang="zh-TW" altLang="en-US" i="1">
                              <a:solidFill>
                                <a:schemeClr val="tx1">
                                  <a:lumMod val="75000"/>
                                  <a:lumOff val="25000"/>
                                </a:schemeClr>
                              </a:solidFill>
                              <a:latin typeface="Cambria Math" panose="02040503050406030204" pitchFamily="18" charset="0"/>
                            </a:rPr>
                            <m:t>𝑘</m:t>
                          </m:r>
                        </m:sub>
                      </m:sSub>
                      <m:r>
                        <a:rPr lang="zh-TW" altLang="en-US" i="1">
                          <a:solidFill>
                            <a:schemeClr val="tx1">
                              <a:lumMod val="75000"/>
                              <a:lumOff val="25000"/>
                            </a:schemeClr>
                          </a:solidFill>
                          <a:latin typeface="Cambria Math" panose="02040503050406030204" pitchFamily="18" charset="0"/>
                        </a:rPr>
                        <m:t>≤</m:t>
                      </m:r>
                      <m:sSub>
                        <m:sSubPr>
                          <m:ctrlPr>
                            <a:rPr lang="zh-TW" altLang="en-US" i="1">
                              <a:solidFill>
                                <a:schemeClr val="tx1">
                                  <a:lumMod val="75000"/>
                                  <a:lumOff val="25000"/>
                                </a:schemeClr>
                              </a:solidFill>
                              <a:latin typeface="Cambria Math" panose="02040503050406030204" pitchFamily="18" charset="0"/>
                            </a:rPr>
                          </m:ctrlPr>
                        </m:sSubPr>
                        <m:e>
                          <m:r>
                            <a:rPr lang="zh-TW" altLang="en-US" i="1">
                              <a:solidFill>
                                <a:schemeClr val="tx1">
                                  <a:lumMod val="75000"/>
                                  <a:lumOff val="25000"/>
                                </a:schemeClr>
                              </a:solidFill>
                              <a:latin typeface="Cambria Math" panose="02040503050406030204" pitchFamily="18" charset="0"/>
                            </a:rPr>
                            <m:t>𝑇</m:t>
                          </m:r>
                        </m:e>
                        <m:sub>
                          <m:r>
                            <a:rPr lang="zh-TW" altLang="en-US" i="1">
                              <a:solidFill>
                                <a:schemeClr val="tx1">
                                  <a:lumMod val="75000"/>
                                  <a:lumOff val="25000"/>
                                </a:schemeClr>
                              </a:solidFill>
                              <a:latin typeface="Cambria Math" panose="02040503050406030204" pitchFamily="18" charset="0"/>
                            </a:rPr>
                            <m:t>𝑚𝑎𝑥</m:t>
                          </m:r>
                        </m:sub>
                      </m:sSub>
                    </m:oMath>
                  </m:oMathPara>
                </a14:m>
                <a:endParaRPr lang="en-US" altLang="zh-TW" dirty="0">
                  <a:solidFill>
                    <a:schemeClr val="tx1">
                      <a:lumMod val="75000"/>
                      <a:lumOff val="25000"/>
                    </a:schemeClr>
                  </a:solidFill>
                </a:endParaRPr>
              </a:p>
            </p:txBody>
          </p:sp>
        </mc:Choice>
        <mc:Fallback xmlns="">
          <p:sp>
            <p:nvSpPr>
              <p:cNvPr id="8" name="內容版面配置區 2">
                <a:extLst>
                  <a:ext uri="{FF2B5EF4-FFF2-40B4-BE49-F238E27FC236}">
                    <a16:creationId xmlns:a16="http://schemas.microsoft.com/office/drawing/2014/main" id="{9FC5B85C-837A-236F-5CD8-339253B13179}"/>
                  </a:ext>
                </a:extLst>
              </p:cNvPr>
              <p:cNvSpPr>
                <a:spLocks noGrp="1" noRot="1" noChangeAspect="1" noMove="1" noResize="1" noEditPoints="1" noAdjustHandles="1" noChangeArrowheads="1" noChangeShapeType="1" noTextEdit="1"/>
              </p:cNvSpPr>
              <p:nvPr>
                <p:ph idx="1"/>
              </p:nvPr>
            </p:nvSpPr>
            <p:spPr>
              <a:xfrm>
                <a:off x="1097280" y="1845734"/>
                <a:ext cx="10058400" cy="4023360"/>
              </a:xfrm>
              <a:blipFill>
                <a:blip r:embed="rId3"/>
                <a:stretch>
                  <a:fillRect l="-1455"/>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058671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09F6C5-5171-E6A8-FD20-1EF3761BF85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0C26BB0-BF47-53A8-7DA2-5364CFDD8AE8}"/>
              </a:ext>
            </a:extLst>
          </p:cNvPr>
          <p:cNvSpPr>
            <a:spLocks noGrp="1"/>
          </p:cNvSpPr>
          <p:nvPr>
            <p:ph type="title"/>
          </p:nvPr>
        </p:nvSpPr>
        <p:spPr/>
        <p:txBody>
          <a:bodyPr/>
          <a:lstStyle/>
          <a:p>
            <a:r>
              <a:rPr lang="en-US" altLang="zh-TW" dirty="0"/>
              <a:t>Constraints</a:t>
            </a:r>
            <a:endParaRPr lang="zh-TW" altLang="en-US" dirty="0"/>
          </a:p>
        </p:txBody>
      </p:sp>
      <p:sp>
        <p:nvSpPr>
          <p:cNvPr id="3" name="內容版面配置區 2">
            <a:extLst>
              <a:ext uri="{FF2B5EF4-FFF2-40B4-BE49-F238E27FC236}">
                <a16:creationId xmlns:a16="http://schemas.microsoft.com/office/drawing/2014/main" id="{05A92964-F95B-68C8-CF3F-8C885349A082}"/>
              </a:ext>
            </a:extLst>
          </p:cNvPr>
          <p:cNvSpPr>
            <a:spLocks noGrp="1"/>
          </p:cNvSpPr>
          <p:nvPr>
            <p:ph idx="1"/>
          </p:nvPr>
        </p:nvSpPr>
        <p:spPr>
          <a:xfrm>
            <a:off x="1066800" y="1857610"/>
            <a:ext cx="10058400" cy="4023360"/>
          </a:xfrm>
        </p:spPr>
        <p:txBody>
          <a:bodyPr>
            <a:normAutofit/>
          </a:bodyPr>
          <a:lstStyle/>
          <a:p>
            <a:pPr marL="0" indent="0">
              <a:buClr>
                <a:schemeClr val="accent1">
                  <a:lumMod val="50000"/>
                </a:schemeClr>
              </a:buClr>
              <a:buNone/>
            </a:pPr>
            <a:r>
              <a:rPr lang="en-US" altLang="zh-TW" dirty="0"/>
              <a:t>The constraints considered in this study</a:t>
            </a:r>
            <a:r>
              <a:rPr lang="zh-TW" altLang="en-US" dirty="0"/>
              <a:t> </a:t>
            </a:r>
            <a:r>
              <a:rPr lang="en-US" altLang="zh-TW" dirty="0"/>
              <a:t>are defined as follows</a:t>
            </a:r>
          </a:p>
          <a:p>
            <a:pPr marL="457200" indent="-457200">
              <a:buClr>
                <a:schemeClr val="accent1">
                  <a:lumMod val="50000"/>
                </a:schemeClr>
              </a:buClr>
              <a:buFont typeface="+mj-lt"/>
              <a:buAutoNum type="arabicPeriod"/>
            </a:pPr>
            <a:r>
              <a:rPr lang="en-US" altLang="zh-TW" dirty="0"/>
              <a:t>The main routes are defined with a fixed sequence of stores, and the ordering cannot be modified</a:t>
            </a:r>
          </a:p>
          <a:p>
            <a:pPr marL="457200" indent="-457200">
              <a:buClr>
                <a:schemeClr val="accent1">
                  <a:lumMod val="50000"/>
                </a:schemeClr>
              </a:buClr>
              <a:buFont typeface="+mj-lt"/>
              <a:buAutoNum type="arabicPeriod"/>
            </a:pPr>
            <a:r>
              <a:rPr lang="zh-TW" altLang="zh-TW" dirty="0"/>
              <a:t>The extent of route modification is minimized while preserving the main</a:t>
            </a:r>
            <a:r>
              <a:rPr lang="zh-TW" altLang="en-US" dirty="0"/>
              <a:t> </a:t>
            </a:r>
            <a:r>
              <a:rPr lang="zh-TW" altLang="zh-TW" dirty="0"/>
              <a:t>route structure</a:t>
            </a:r>
            <a:endParaRPr lang="en-US" altLang="zh-TW" dirty="0"/>
          </a:p>
          <a:p>
            <a:pPr marL="457200" indent="-457200">
              <a:buClr>
                <a:schemeClr val="accent1">
                  <a:lumMod val="50000"/>
                </a:schemeClr>
              </a:buClr>
              <a:buFont typeface="+mj-lt"/>
              <a:buAutoNum type="arabicPeriod"/>
            </a:pPr>
            <a:r>
              <a:rPr lang="zh-TW" altLang="zh-TW" dirty="0"/>
              <a:t>The vehicle capacity must not be exceeded</a:t>
            </a:r>
            <a:endParaRPr lang="en-US" altLang="zh-TW" dirty="0"/>
          </a:p>
          <a:p>
            <a:pPr marL="457200" indent="-457200">
              <a:buClr>
                <a:schemeClr val="accent1">
                  <a:lumMod val="50000"/>
                </a:schemeClr>
              </a:buClr>
              <a:buFont typeface="+mj-lt"/>
              <a:buAutoNum type="arabicPeriod"/>
            </a:pPr>
            <a:r>
              <a:rPr lang="en-US" altLang="zh-TW" dirty="0"/>
              <a:t>The time window is defined as 1 hour before and 30 minutes after the scheduled time</a:t>
            </a:r>
          </a:p>
          <a:p>
            <a:pPr marL="457200" indent="-457200">
              <a:buClr>
                <a:schemeClr val="accent1">
                  <a:lumMod val="50000"/>
                </a:schemeClr>
              </a:buClr>
              <a:buFont typeface="+mj-lt"/>
              <a:buAutoNum type="arabicPeriod"/>
            </a:pPr>
            <a:r>
              <a:rPr lang="zh-TW" altLang="zh-TW" dirty="0"/>
              <a:t>The total route duration must not exceed 5 hours</a:t>
            </a:r>
            <a:endParaRPr lang="en-US" altLang="zh-TW" dirty="0"/>
          </a:p>
          <a:p>
            <a:pPr marL="457200" indent="-457200">
              <a:buClr>
                <a:schemeClr val="accent1">
                  <a:lumMod val="50000"/>
                </a:schemeClr>
              </a:buClr>
              <a:buFont typeface="+mj-lt"/>
              <a:buAutoNum type="arabicPeriod"/>
            </a:pPr>
            <a:endParaRPr lang="en-US" altLang="zh-TW" dirty="0"/>
          </a:p>
        </p:txBody>
      </p:sp>
      <p:sp>
        <p:nvSpPr>
          <p:cNvPr id="4" name="投影片編號版面配置區 3">
            <a:extLst>
              <a:ext uri="{FF2B5EF4-FFF2-40B4-BE49-F238E27FC236}">
                <a16:creationId xmlns:a16="http://schemas.microsoft.com/office/drawing/2014/main" id="{145AF1E6-4B73-3F2B-E889-C720196F0E4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20</a:t>
            </a:fld>
            <a:endParaRPr lang="zh-TW" altLang="en-US" sz="1600" dirty="0"/>
          </a:p>
        </p:txBody>
      </p:sp>
    </p:spTree>
    <p:extLst>
      <p:ext uri="{BB962C8B-B14F-4D97-AF65-F5344CB8AC3E}">
        <p14:creationId xmlns:p14="http://schemas.microsoft.com/office/powerpoint/2010/main" val="1557681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E3C3B2-2A84-30FC-3E24-FCD661D51B9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9766BD8-6B89-AC9C-68DB-C51037D518A2}"/>
              </a:ext>
            </a:extLst>
          </p:cNvPr>
          <p:cNvSpPr>
            <a:spLocks noGrp="1"/>
          </p:cNvSpPr>
          <p:nvPr>
            <p:ph type="title"/>
          </p:nvPr>
        </p:nvSpPr>
        <p:spPr/>
        <p:txBody>
          <a:bodyPr/>
          <a:lstStyle/>
          <a:p>
            <a:r>
              <a:rPr lang="zh-TW" altLang="zh-TW" dirty="0"/>
              <a:t>Objective Function</a:t>
            </a:r>
            <a:endParaRPr lang="zh-TW" altLang="en-US" dirty="0"/>
          </a:p>
        </p:txBody>
      </p:sp>
      <mc:AlternateContent xmlns:mc="http://schemas.openxmlformats.org/markup-compatibility/2006" xmlns:a14="http://schemas.microsoft.com/office/drawing/2010/main">
        <mc:Choice Requires="a14">
          <p:sp>
            <p:nvSpPr>
              <p:cNvPr id="3" name="內容版面配置區 2">
                <a:extLst>
                  <a:ext uri="{FF2B5EF4-FFF2-40B4-BE49-F238E27FC236}">
                    <a16:creationId xmlns:a16="http://schemas.microsoft.com/office/drawing/2014/main" id="{6E3BE9A6-9026-B190-CFE2-00DB532533B2}"/>
                  </a:ext>
                </a:extLst>
              </p:cNvPr>
              <p:cNvSpPr>
                <a:spLocks noGrp="1"/>
              </p:cNvSpPr>
              <p:nvPr>
                <p:ph idx="1"/>
              </p:nvPr>
            </p:nvSpPr>
            <p:spPr/>
            <p:txBody>
              <a:bodyPr>
                <a:normAutofit/>
              </a:bodyPr>
              <a:lstStyle/>
              <a:p>
                <a:pPr>
                  <a:lnSpc>
                    <a:spcPct val="150000"/>
                  </a:lnSpc>
                  <a:buClr>
                    <a:schemeClr val="accent1">
                      <a:lumMod val="50000"/>
                    </a:schemeClr>
                  </a:buClr>
                  <a:buFont typeface="Wingdings" panose="05000000000000000000" pitchFamily="2" charset="2"/>
                  <a:buChar char="Ø"/>
                </a:pPr>
                <a:r>
                  <a:rPr lang="en-US" altLang="zh-TW" dirty="0"/>
                  <a:t>The objective function is formulated as a hierarchical objective</a:t>
                </a:r>
              </a:p>
              <a:p>
                <a:pPr lvl="1">
                  <a:lnSpc>
                    <a:spcPct val="150000"/>
                  </a:lnSpc>
                  <a:buFont typeface="Arial" panose="020B0604020202020204" pitchFamily="34" charset="0"/>
                  <a:buChar char="•"/>
                </a:pPr>
                <a:r>
                  <a:rPr lang="zh-TW" altLang="zh-TW" dirty="0"/>
                  <a:t>Minimize Number of Support Routes</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𝑣𝑒</m:t>
                          </m:r>
                          <m:r>
                            <a:rPr lang="en-US" altLang="zh-TW" i="1">
                              <a:latin typeface="Cambria Math" panose="02040503050406030204" pitchFamily="18" charset="0"/>
                            </a:rPr>
                            <m:t>h</m:t>
                          </m:r>
                          <m:r>
                            <a:rPr lang="zh-TW" altLang="en-US" i="1">
                              <a:latin typeface="Cambria Math" panose="02040503050406030204" pitchFamily="18" charset="0"/>
                            </a:rPr>
                            <m:t>𝑖𝑐𝑙𝑒</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en-US" altLang="zh-TW" i="1">
                              <a:latin typeface="Cambria Math" panose="02040503050406030204" pitchFamily="18" charset="0"/>
                            </a:rPr>
                            <m:t>h</m:t>
                          </m:r>
                          <m:r>
                            <a:rPr lang="en-US" altLang="zh-TW" i="1">
                              <a:latin typeface="Cambria Math" panose="02040503050406030204" pitchFamily="18" charset="0"/>
                            </a:rPr>
                            <m:t>∈</m:t>
                          </m:r>
                          <m:r>
                            <a:rPr lang="zh-TW" altLang="en-US" i="1">
                              <a:latin typeface="Cambria Math" panose="02040503050406030204" pitchFamily="18" charset="0"/>
                            </a:rPr>
                            <m:t>𝐻</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≠0)</m:t>
                                  </m:r>
                                </m:e>
                              </m:eqArr>
                            </m:sub>
                            <m:sup/>
                            <m:e>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en-US" altLang="zh-TW" i="1">
                                      <a:latin typeface="Cambria Math" panose="02040503050406030204" pitchFamily="18" charset="0"/>
                                    </a:rPr>
                                    <m:t>0,</m:t>
                                  </m:r>
                                  <m:r>
                                    <a:rPr lang="zh-TW" altLang="en-US" i="1">
                                      <a:latin typeface="Cambria Math" panose="02040503050406030204" pitchFamily="18" charset="0"/>
                                    </a:rPr>
                                    <m:t>𝑗</m:t>
                                  </m:r>
                                </m:sub>
                                <m:sup>
                                  <m:r>
                                    <a:rPr lang="en-US" altLang="zh-TW" i="1">
                                      <a:latin typeface="Cambria Math" panose="02040503050406030204" pitchFamily="18" charset="0"/>
                                    </a:rPr>
                                    <m:t>h</m:t>
                                  </m:r>
                                </m:sup>
                              </m:sSubSup>
                            </m:e>
                          </m:nary>
                        </m:e>
                      </m:nary>
                    </m:oMath>
                  </m:oMathPara>
                </a14:m>
                <a:endParaRPr lang="en-US" altLang="zh-TW" dirty="0"/>
              </a:p>
              <a:p>
                <a:pPr lvl="1">
                  <a:buFont typeface="Arial" panose="020B0604020202020204" pitchFamily="34" charset="0"/>
                  <a:buChar char="•"/>
                </a:pPr>
                <a:r>
                  <a:rPr lang="zh-TW" altLang="zh-TW" dirty="0"/>
                  <a:t>Minimize Total Distance</a:t>
                </a:r>
                <a:endParaRPr lang="en-US" altLang="zh-TW" dirty="0"/>
              </a:p>
              <a:p>
                <a:pPr marL="201168" lvl="1" indent="0">
                  <a:buNone/>
                </a:pPr>
                <a14:m>
                  <m:oMathPara xmlns:m="http://schemas.openxmlformats.org/officeDocument/2006/math">
                    <m:oMathParaPr>
                      <m:jc m:val="centerGroup"/>
                    </m:oMathParaPr>
                    <m:oMath xmlns:m="http://schemas.openxmlformats.org/officeDocument/2006/math">
                      <m:sSub>
                        <m:sSubPr>
                          <m:ctrlPr>
                            <a:rPr lang="zh-TW" altLang="en-US" i="1">
                              <a:latin typeface="Cambria Math" panose="02040503050406030204" pitchFamily="18" charset="0"/>
                            </a:rPr>
                          </m:ctrlPr>
                        </m:sSubPr>
                        <m:e>
                          <m:r>
                            <a:rPr lang="zh-TW" altLang="en-US" i="1">
                              <a:latin typeface="Cambria Math" panose="02040503050406030204" pitchFamily="18" charset="0"/>
                            </a:rPr>
                            <m:t>𝑓</m:t>
                          </m:r>
                        </m:e>
                        <m:sub>
                          <m:r>
                            <a:rPr lang="zh-TW" altLang="en-US" i="1">
                              <a:latin typeface="Cambria Math" panose="02040503050406030204" pitchFamily="18" charset="0"/>
                            </a:rPr>
                            <m:t>𝑡𝑟𝑎𝑣𝑒𝑙</m:t>
                          </m:r>
                        </m:sub>
                      </m:sSub>
                      <m:d>
                        <m:dPr>
                          <m:ctrlPr>
                            <a:rPr lang="zh-TW" altLang="en-US" i="1">
                              <a:latin typeface="Cambria Math" panose="02040503050406030204" pitchFamily="18" charset="0"/>
                            </a:rPr>
                          </m:ctrlPr>
                        </m:dPr>
                        <m:e>
                          <m:r>
                            <a:rPr lang="zh-TW" altLang="en-US" i="1">
                              <a:latin typeface="Cambria Math" panose="02040503050406030204" pitchFamily="18" charset="0"/>
                            </a:rPr>
                            <m:t>𝑆</m:t>
                          </m:r>
                        </m:e>
                      </m:d>
                      <m:r>
                        <a:rPr lang="en-US" altLang="zh-TW" i="1">
                          <a:latin typeface="Cambria Math" panose="02040503050406030204" pitchFamily="18" charset="0"/>
                        </a:rPr>
                        <m:t>=</m:t>
                      </m:r>
                      <m:nary>
                        <m:naryPr>
                          <m:chr m:val="∑"/>
                          <m:limLoc m:val="undOvr"/>
                          <m:supHide m:val="on"/>
                          <m:ctrlPr>
                            <a:rPr lang="zh-TW" altLang="en-US" i="1">
                              <a:latin typeface="Cambria Math" panose="02040503050406030204" pitchFamily="18" charset="0"/>
                            </a:rPr>
                          </m:ctrlPr>
                        </m:naryPr>
                        <m:sub>
                          <m:r>
                            <a:rPr lang="zh-TW" altLang="en-US" i="1">
                              <a:latin typeface="Cambria Math" panose="02040503050406030204" pitchFamily="18" charset="0"/>
                            </a:rPr>
                            <m:t>𝑘</m:t>
                          </m:r>
                          <m:r>
                            <a:rPr lang="zh-TW" altLang="en-US" i="1">
                              <a:latin typeface="Cambria Math" panose="02040503050406030204" pitchFamily="18" charset="0"/>
                            </a:rPr>
                            <m:t>∈</m:t>
                          </m:r>
                          <m:r>
                            <a:rPr lang="zh-TW" altLang="en-US" i="1">
                              <a:latin typeface="Cambria Math" panose="02040503050406030204" pitchFamily="18" charset="0"/>
                            </a:rPr>
                            <m:t>𝐾</m:t>
                          </m:r>
                        </m:sub>
                        <m:sup/>
                        <m:e>
                          <m:nary>
                            <m:naryPr>
                              <m:chr m:val="∑"/>
                              <m:supHide m:val="on"/>
                              <m:ctrlPr>
                                <a:rPr lang="zh-TW" altLang="en-US" i="1">
                                  <a:latin typeface="Cambria Math" panose="02040503050406030204" pitchFamily="18" charset="0"/>
                                </a:rPr>
                              </m:ctrlPr>
                            </m:naryPr>
                            <m:sub>
                              <m:r>
                                <a:rPr lang="zh-TW" altLang="en-US" i="1">
                                  <a:latin typeface="Cambria Math" panose="02040503050406030204" pitchFamily="18" charset="0"/>
                                </a:rPr>
                                <m:t>𝑖</m:t>
                              </m:r>
                              <m:r>
                                <a:rPr lang="zh-TW" altLang="en-US" i="1">
                                  <a:latin typeface="Cambria Math" panose="02040503050406030204" pitchFamily="18" charset="0"/>
                                </a:rPr>
                                <m:t>∈</m:t>
                              </m:r>
                              <m:r>
                                <a:rPr lang="zh-TW" altLang="en-US" i="1">
                                  <a:latin typeface="Cambria Math" panose="02040503050406030204" pitchFamily="18" charset="0"/>
                                </a:rPr>
                                <m:t>𝑁</m:t>
                              </m:r>
                            </m:sub>
                            <m:sup/>
                            <m:e>
                              <m:nary>
                                <m:naryPr>
                                  <m:chr m:val="∑"/>
                                  <m:supHide m:val="on"/>
                                  <m:ctrlPr>
                                    <a:rPr lang="zh-TW" altLang="en-US" i="1">
                                      <a:latin typeface="Cambria Math" panose="02040503050406030204" pitchFamily="18" charset="0"/>
                                    </a:rPr>
                                  </m:ctrlPr>
                                </m:naryPr>
                                <m:sub>
                                  <m:eqArr>
                                    <m:eqArrPr>
                                      <m:ctrlPr>
                                        <a:rPr lang="zh-TW" altLang="en-US" i="1">
                                          <a:latin typeface="Cambria Math" panose="02040503050406030204" pitchFamily="18" charset="0"/>
                                        </a:rPr>
                                      </m:ctrlPr>
                                    </m:eqArrPr>
                                    <m:e>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𝑁</m:t>
                                      </m:r>
                                    </m:e>
                                    <m:e>
                                      <m:r>
                                        <a:rPr lang="en-US" altLang="zh-TW" i="1">
                                          <a:latin typeface="Cambria Math" panose="02040503050406030204" pitchFamily="18" charset="0"/>
                                        </a:rPr>
                                        <m:t>(</m:t>
                                      </m:r>
                                      <m:r>
                                        <a:rPr lang="zh-TW" altLang="en-US" i="1">
                                          <a:latin typeface="Cambria Math" panose="02040503050406030204" pitchFamily="18" charset="0"/>
                                        </a:rPr>
                                        <m:t>𝑗</m:t>
                                      </m:r>
                                      <m:r>
                                        <a:rPr lang="zh-TW" altLang="en-US" i="1">
                                          <a:latin typeface="Cambria Math" panose="02040503050406030204" pitchFamily="18" charset="0"/>
                                        </a:rPr>
                                        <m:t>≠</m:t>
                                      </m:r>
                                      <m:r>
                                        <a:rPr lang="zh-TW" altLang="en-US" i="1">
                                          <a:latin typeface="Cambria Math" panose="02040503050406030204" pitchFamily="18" charset="0"/>
                                        </a:rPr>
                                        <m:t>𝑖</m:t>
                                      </m:r>
                                      <m:r>
                                        <a:rPr lang="en-US" altLang="zh-TW" i="1">
                                          <a:latin typeface="Cambria Math" panose="02040503050406030204" pitchFamily="18" charset="0"/>
                                        </a:rPr>
                                        <m:t>)</m:t>
                                      </m:r>
                                    </m:e>
                                  </m:eqArr>
                                </m:sub>
                                <m:sup/>
                                <m:e>
                                  <m:sSub>
                                    <m:sSubPr>
                                      <m:ctrlPr>
                                        <a:rPr lang="zh-TW" altLang="en-US" i="1">
                                          <a:latin typeface="Cambria Math" panose="02040503050406030204" pitchFamily="18" charset="0"/>
                                        </a:rPr>
                                      </m:ctrlPr>
                                    </m:sSubPr>
                                    <m:e>
                                      <m:r>
                                        <a:rPr lang="zh-TW" altLang="en-US" i="1">
                                          <a:latin typeface="Cambria Math" panose="02040503050406030204" pitchFamily="18" charset="0"/>
                                        </a:rPr>
                                        <m:t>𝑑</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Sub>
                                  <m:r>
                                    <a:rPr lang="zh-TW" altLang="en-US" i="1">
                                      <a:latin typeface="Cambria Math" panose="02040503050406030204" pitchFamily="18" charset="0"/>
                                    </a:rPr>
                                    <m:t>⋅</m:t>
                                  </m:r>
                                  <m:sSubSup>
                                    <m:sSubSupPr>
                                      <m:ctrlPr>
                                        <a:rPr lang="zh-TW" altLang="en-US" i="1">
                                          <a:latin typeface="Cambria Math" panose="02040503050406030204" pitchFamily="18" charset="0"/>
                                        </a:rPr>
                                      </m:ctrlPr>
                                    </m:sSubSupPr>
                                    <m:e>
                                      <m:r>
                                        <a:rPr lang="zh-TW" altLang="en-US" i="1">
                                          <a:latin typeface="Cambria Math" panose="02040503050406030204" pitchFamily="18" charset="0"/>
                                        </a:rPr>
                                        <m:t>𝑥</m:t>
                                      </m:r>
                                    </m:e>
                                    <m:sub>
                                      <m:r>
                                        <a:rPr lang="zh-TW" altLang="en-US" i="1">
                                          <a:latin typeface="Cambria Math" panose="02040503050406030204" pitchFamily="18" charset="0"/>
                                        </a:rPr>
                                        <m:t>𝑖</m:t>
                                      </m:r>
                                      <m:r>
                                        <a:rPr lang="en-US" altLang="zh-TW" i="1">
                                          <a:latin typeface="Cambria Math" panose="02040503050406030204" pitchFamily="18" charset="0"/>
                                        </a:rPr>
                                        <m:t>,</m:t>
                                      </m:r>
                                      <m:r>
                                        <a:rPr lang="zh-TW" altLang="en-US" i="1">
                                          <a:latin typeface="Cambria Math" panose="02040503050406030204" pitchFamily="18" charset="0"/>
                                        </a:rPr>
                                        <m:t>𝑗</m:t>
                                      </m:r>
                                    </m:sub>
                                    <m:sup>
                                      <m:r>
                                        <a:rPr lang="zh-TW" altLang="en-US" i="1">
                                          <a:latin typeface="Cambria Math" panose="02040503050406030204" pitchFamily="18" charset="0"/>
                                        </a:rPr>
                                        <m:t>𝑘</m:t>
                                      </m:r>
                                    </m:sup>
                                  </m:sSubSup>
                                </m:e>
                              </m:nary>
                            </m:e>
                          </m:nary>
                        </m:e>
                      </m:nary>
                    </m:oMath>
                  </m:oMathPara>
                </a14:m>
                <a:endParaRPr lang="en-US" altLang="zh-TW" dirty="0">
                  <a:solidFill>
                    <a:schemeClr val="tx1"/>
                  </a:solidFill>
                </a:endParaRPr>
              </a:p>
            </p:txBody>
          </p:sp>
        </mc:Choice>
        <mc:Fallback xmlns="">
          <p:sp>
            <p:nvSpPr>
              <p:cNvPr id="3" name="內容版面配置區 2">
                <a:extLst>
                  <a:ext uri="{FF2B5EF4-FFF2-40B4-BE49-F238E27FC236}">
                    <a16:creationId xmlns:a16="http://schemas.microsoft.com/office/drawing/2014/main" id="{6E3BE9A6-9026-B190-CFE2-00DB532533B2}"/>
                  </a:ext>
                </a:extLst>
              </p:cNvPr>
              <p:cNvSpPr>
                <a:spLocks noGrp="1" noRot="1" noChangeAspect="1" noMove="1" noResize="1" noEditPoints="1" noAdjustHandles="1" noChangeArrowheads="1" noChangeShapeType="1" noTextEdit="1"/>
              </p:cNvSpPr>
              <p:nvPr>
                <p:ph idx="1"/>
              </p:nvPr>
            </p:nvSpPr>
            <p:spPr>
              <a:blipFill>
                <a:blip r:embed="rId3"/>
                <a:stretch>
                  <a:fillRect l="-1455"/>
                </a:stretch>
              </a:blipFill>
            </p:spPr>
            <p:txBody>
              <a:bodyPr/>
              <a:lstStyle/>
              <a:p>
                <a:r>
                  <a:rPr lang="zh-TW" altLang="en-US">
                    <a:noFill/>
                  </a:rPr>
                  <a:t> </a:t>
                </a:r>
              </a:p>
            </p:txBody>
          </p:sp>
        </mc:Fallback>
      </mc:AlternateContent>
      <p:sp>
        <p:nvSpPr>
          <p:cNvPr id="4" name="投影片編號版面配置區 3">
            <a:extLst>
              <a:ext uri="{FF2B5EF4-FFF2-40B4-BE49-F238E27FC236}">
                <a16:creationId xmlns:a16="http://schemas.microsoft.com/office/drawing/2014/main" id="{E861939F-C541-3267-E13A-7960BD01B0F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21</a:t>
            </a:fld>
            <a:endParaRPr lang="zh-TW" altLang="en-US" sz="1600" dirty="0"/>
          </a:p>
        </p:txBody>
      </p:sp>
    </p:spTree>
    <p:extLst>
      <p:ext uri="{BB962C8B-B14F-4D97-AF65-F5344CB8AC3E}">
        <p14:creationId xmlns:p14="http://schemas.microsoft.com/office/powerpoint/2010/main" val="1285402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044FBE-870B-6CE6-D0E2-6496330753D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FAB3E21-8E5F-D6B8-7F35-98A15BDDE328}"/>
              </a:ext>
            </a:extLst>
          </p:cNvPr>
          <p:cNvSpPr>
            <a:spLocks noGrp="1"/>
          </p:cNvSpPr>
          <p:nvPr>
            <p:ph type="title"/>
          </p:nvPr>
        </p:nvSpPr>
        <p:spPr/>
        <p:txBody>
          <a:bodyPr/>
          <a:lstStyle/>
          <a:p>
            <a:r>
              <a:rPr lang="en-US" altLang="zh-TW" dirty="0"/>
              <a:t>Store Extraction</a:t>
            </a:r>
            <a:endParaRPr lang="zh-TW" altLang="en-US" dirty="0"/>
          </a:p>
        </p:txBody>
      </p:sp>
      <mc:AlternateContent xmlns:mc="http://schemas.openxmlformats.org/markup-compatibility/2006" xmlns:a14="http://schemas.microsoft.com/office/drawing/2010/main">
        <mc:Choice Requires="a14">
          <p:sp>
            <p:nvSpPr>
              <p:cNvPr id="3" name="內容版面配置區 2">
                <a:extLst>
                  <a:ext uri="{FF2B5EF4-FFF2-40B4-BE49-F238E27FC236}">
                    <a16:creationId xmlns:a16="http://schemas.microsoft.com/office/drawing/2014/main" id="{EA78B2D5-FD0C-4825-3993-15B67F0BCAEC}"/>
                  </a:ext>
                </a:extLst>
              </p:cNvPr>
              <p:cNvSpPr>
                <a:spLocks noGrp="1"/>
              </p:cNvSpPr>
              <p:nvPr>
                <p:ph idx="1"/>
              </p:nvPr>
            </p:nvSpPr>
            <p:spPr/>
            <p:txBody>
              <a:bodyPr>
                <a:normAutofit/>
              </a:bodyPr>
              <a:lstStyle/>
              <a:p>
                <a:pPr>
                  <a:lnSpc>
                    <a:spcPct val="150000"/>
                  </a:lnSpc>
                  <a:buFont typeface="Wingdings" panose="05000000000000000000" pitchFamily="2" charset="2"/>
                  <a:buChar char="Ø"/>
                </a:pPr>
                <a:r>
                  <a:rPr lang="en-US" altLang="zh-TW" dirty="0"/>
                  <a:t>A</a:t>
                </a:r>
                <a:r>
                  <a:rPr lang="zh-TW" altLang="zh-TW" dirty="0"/>
                  <a:t>ddress vehicle overloading caused by demand fluctuations by removing selected stores from overloaded </a:t>
                </a:r>
                <a:r>
                  <a:rPr lang="en-US" altLang="zh-TW" dirty="0"/>
                  <a:t>main </a:t>
                </a:r>
                <a:r>
                  <a:rPr lang="zh-TW" altLang="zh-TW" dirty="0"/>
                  <a:t>routes</a:t>
                </a:r>
                <a:r>
                  <a:rPr lang="en-US" altLang="zh-TW" dirty="0"/>
                  <a:t> to </a:t>
                </a:r>
                <a:r>
                  <a:rPr lang="zh-TW" altLang="zh-TW" dirty="0"/>
                  <a:t>satisfy capacity and time window constraints</a:t>
                </a:r>
                <a:endParaRPr lang="en-US" altLang="zh-TW" dirty="0"/>
              </a:p>
              <a:p>
                <a:pPr>
                  <a:lnSpc>
                    <a:spcPct val="150000"/>
                  </a:lnSpc>
                  <a:buFont typeface="Wingdings" panose="05000000000000000000" pitchFamily="2" charset="2"/>
                  <a:buChar char="Ø"/>
                </a:pPr>
                <a:r>
                  <a:rPr lang="en-US" altLang="zh-TW" dirty="0"/>
                  <a:t>Cooperative Co-evolutionary Genetic Algorithm</a:t>
                </a:r>
                <a:r>
                  <a:rPr lang="zh-TW" altLang="en-US" dirty="0"/>
                  <a:t> </a:t>
                </a:r>
                <a:r>
                  <a:rPr lang="en-US" altLang="zh-TW" dirty="0"/>
                  <a:t>(CCGA)[2]</a:t>
                </a:r>
              </a:p>
              <a:p>
                <a:pPr lvl="1">
                  <a:lnSpc>
                    <a:spcPct val="150000"/>
                  </a:lnSpc>
                  <a:buFont typeface="Arial" panose="020B0604020202020204" pitchFamily="34" charset="0"/>
                  <a:buChar char="•"/>
                </a:pPr>
                <a:r>
                  <a:rPr lang="zh-TW" altLang="zh-TW" dirty="0"/>
                  <a:t>Decompose the problem into </a:t>
                </a:r>
                <a:r>
                  <a:rPr lang="en-US" altLang="zh-TW" dirty="0"/>
                  <a:t>multiple </a:t>
                </a:r>
                <a:r>
                  <a:rPr lang="zh-TW" altLang="zh-TW" dirty="0"/>
                  <a:t>smaller subproblems</a:t>
                </a:r>
                <a:endParaRPr lang="en-US" altLang="zh-TW" dirty="0"/>
              </a:p>
              <a:p>
                <a:pPr lvl="1">
                  <a:lnSpc>
                    <a:spcPct val="150000"/>
                  </a:lnSpc>
                  <a:buFont typeface="Arial" panose="020B0604020202020204" pitchFamily="34" charset="0"/>
                  <a:buChar char="•"/>
                </a:pPr>
                <a:r>
                  <a:rPr lang="zh-TW" altLang="zh-TW" dirty="0"/>
                  <a:t>Evolve each subproblem independently using Genetic Algorithms</a:t>
                </a:r>
                <a:endParaRPr lang="en-US" altLang="zh-TW" dirty="0"/>
              </a:p>
              <a:p>
                <a:pPr lvl="1">
                  <a:lnSpc>
                    <a:spcPct val="150000"/>
                  </a:lnSpc>
                  <a:buFont typeface="Arial" panose="020B0604020202020204" pitchFamily="34" charset="0"/>
                  <a:buChar char="•"/>
                </a:pPr>
                <a:r>
                  <a:rPr lang="zh-TW" altLang="zh-TW" dirty="0"/>
                  <a:t>Combine partial solutions and evaluate the complete solution</a:t>
                </a:r>
                <a:endParaRPr lang="en-US" altLang="zh-TW" dirty="0"/>
              </a:p>
              <a:p>
                <a:pPr lvl="1">
                  <a:lnSpc>
                    <a:spcPct val="150000"/>
                  </a:lnSpc>
                  <a:buFont typeface="Arial" panose="020B0604020202020204" pitchFamily="34" charset="0"/>
                  <a:buChar char="•"/>
                </a:pPr>
                <a14:m>
                  <m:oMath xmlns:m="http://schemas.openxmlformats.org/officeDocument/2006/math">
                    <m:r>
                      <a:rPr lang="en-US" altLang="zh-TW" i="1" smtClean="0">
                        <a:latin typeface="Cambria Math" panose="02040503050406030204" pitchFamily="18" charset="0"/>
                      </a:rPr>
                      <m:t>𝑓𝑖𝑡𝑛𝑒𝑠𝑠</m:t>
                    </m:r>
                    <m:r>
                      <a:rPr lang="en-US" altLang="zh-TW" i="1" smtClean="0">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𝑤</m:t>
                        </m:r>
                      </m:e>
                      <m:sub>
                        <m:r>
                          <a:rPr lang="en-US" altLang="zh-TW" i="1">
                            <a:latin typeface="Cambria Math" panose="02040503050406030204" pitchFamily="18" charset="0"/>
                          </a:rPr>
                          <m:t>1</m:t>
                        </m:r>
                      </m:sub>
                    </m:sSub>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𝑓</m:t>
                        </m:r>
                      </m:e>
                      <m:sub>
                        <m:r>
                          <a:rPr lang="en-US" altLang="zh-TW" i="1">
                            <a:latin typeface="Cambria Math" panose="02040503050406030204" pitchFamily="18" charset="0"/>
                          </a:rPr>
                          <m:t>𝑣𝑒h𝑖𝑐𝑙𝑒</m:t>
                        </m:r>
                      </m:sub>
                    </m:sSub>
                    <m:r>
                      <a:rPr lang="en-US" altLang="zh-TW" i="1">
                        <a:latin typeface="Cambria Math" panose="02040503050406030204" pitchFamily="18" charset="0"/>
                      </a:rPr>
                      <m:t>(</m:t>
                    </m:r>
                    <m:r>
                      <a:rPr lang="en-US" altLang="zh-TW" i="1">
                        <a:latin typeface="Cambria Math" panose="02040503050406030204" pitchFamily="18" charset="0"/>
                      </a:rPr>
                      <m:t>𝑆</m:t>
                    </m:r>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𝑤</m:t>
                        </m:r>
                      </m:e>
                      <m:sub>
                        <m:r>
                          <a:rPr lang="en-US" altLang="zh-TW" i="1">
                            <a:latin typeface="Cambria Math" panose="02040503050406030204" pitchFamily="18" charset="0"/>
                          </a:rPr>
                          <m:t>2</m:t>
                        </m:r>
                      </m:sub>
                    </m:sSub>
                    <m:r>
                      <a:rPr lang="en-US" altLang="zh-TW" i="1">
                        <a:latin typeface="Cambria Math" panose="02040503050406030204" pitchFamily="18" charset="0"/>
                      </a:rPr>
                      <m:t>⋅|</m:t>
                    </m:r>
                    <m:r>
                      <a:rPr lang="en-US" altLang="zh-TW" i="1">
                        <a:latin typeface="Cambria Math" panose="02040503050406030204" pitchFamily="18" charset="0"/>
                      </a:rPr>
                      <m:t>𝑅</m:t>
                    </m:r>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𝑓</m:t>
                        </m:r>
                      </m:e>
                      <m:sub>
                        <m:r>
                          <a:rPr lang="en-US" altLang="zh-TW" i="1">
                            <a:latin typeface="Cambria Math" panose="02040503050406030204" pitchFamily="18" charset="0"/>
                          </a:rPr>
                          <m:t>𝑡𝑟𝑎𝑣𝑒𝑙</m:t>
                        </m:r>
                      </m:sub>
                    </m:sSub>
                    <m:r>
                      <a:rPr lang="en-US" altLang="zh-TW" i="1">
                        <a:latin typeface="Cambria Math" panose="02040503050406030204" pitchFamily="18" charset="0"/>
                      </a:rPr>
                      <m:t>(</m:t>
                    </m:r>
                    <m:r>
                      <a:rPr lang="en-US" altLang="zh-TW" i="1">
                        <a:latin typeface="Cambria Math" panose="02040503050406030204" pitchFamily="18" charset="0"/>
                      </a:rPr>
                      <m:t>𝑆</m:t>
                    </m:r>
                    <m:r>
                      <a:rPr lang="en-US" altLang="zh-TW" i="1">
                        <a:latin typeface="Cambria Math" panose="02040503050406030204" pitchFamily="18" charset="0"/>
                      </a:rPr>
                      <m:t>)</m:t>
                    </m:r>
                  </m:oMath>
                </a14:m>
                <a:endParaRPr lang="zh-TW" altLang="en-US" dirty="0"/>
              </a:p>
              <a:p>
                <a:pPr lvl="1">
                  <a:lnSpc>
                    <a:spcPct val="150000"/>
                  </a:lnSpc>
                  <a:buFont typeface="Arial" panose="020B0604020202020204" pitchFamily="34" charset="0"/>
                  <a:buChar char="•"/>
                </a:pPr>
                <a:endParaRPr lang="en-US" altLang="zh-TW" dirty="0"/>
              </a:p>
            </p:txBody>
          </p:sp>
        </mc:Choice>
        <mc:Fallback xmlns="">
          <p:sp>
            <p:nvSpPr>
              <p:cNvPr id="3" name="內容版面配置區 2">
                <a:extLst>
                  <a:ext uri="{FF2B5EF4-FFF2-40B4-BE49-F238E27FC236}">
                    <a16:creationId xmlns:a16="http://schemas.microsoft.com/office/drawing/2014/main" id="{EA78B2D5-FD0C-4825-3993-15B67F0BCAEC}"/>
                  </a:ext>
                </a:extLst>
              </p:cNvPr>
              <p:cNvSpPr>
                <a:spLocks noGrp="1" noRot="1" noChangeAspect="1" noMove="1" noResize="1" noEditPoints="1" noAdjustHandles="1" noChangeArrowheads="1" noChangeShapeType="1" noTextEdit="1"/>
              </p:cNvSpPr>
              <p:nvPr>
                <p:ph idx="1"/>
              </p:nvPr>
            </p:nvSpPr>
            <p:spPr>
              <a:blipFill>
                <a:blip r:embed="rId3"/>
                <a:stretch>
                  <a:fillRect l="-1455"/>
                </a:stretch>
              </a:blipFill>
            </p:spPr>
            <p:txBody>
              <a:bodyPr/>
              <a:lstStyle/>
              <a:p>
                <a:r>
                  <a:rPr lang="zh-TW" altLang="en-US">
                    <a:noFill/>
                  </a:rPr>
                  <a:t> </a:t>
                </a:r>
              </a:p>
            </p:txBody>
          </p:sp>
        </mc:Fallback>
      </mc:AlternateContent>
      <p:sp>
        <p:nvSpPr>
          <p:cNvPr id="4" name="投影片編號版面配置區 3">
            <a:extLst>
              <a:ext uri="{FF2B5EF4-FFF2-40B4-BE49-F238E27FC236}">
                <a16:creationId xmlns:a16="http://schemas.microsoft.com/office/drawing/2014/main" id="{206079BC-B004-5D1E-9240-90A6D47A6A1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22</a:t>
            </a:fld>
            <a:endParaRPr lang="zh-TW" altLang="en-US" sz="1600"/>
          </a:p>
        </p:txBody>
      </p:sp>
      <p:sp>
        <p:nvSpPr>
          <p:cNvPr id="6" name="文字方塊 5">
            <a:extLst>
              <a:ext uri="{FF2B5EF4-FFF2-40B4-BE49-F238E27FC236}">
                <a16:creationId xmlns:a16="http://schemas.microsoft.com/office/drawing/2014/main" id="{0F56D1B6-D6D2-E7FF-2C69-DA6C48344B92}"/>
              </a:ext>
            </a:extLst>
          </p:cNvPr>
          <p:cNvSpPr txBox="1"/>
          <p:nvPr/>
        </p:nvSpPr>
        <p:spPr>
          <a:xfrm>
            <a:off x="979517" y="6367183"/>
            <a:ext cx="10058400" cy="276999"/>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[2]</a:t>
            </a:r>
            <a:r>
              <a:rPr lang="en-US" altLang="zh-TW" sz="1200" kern="100" dirty="0">
                <a:solidFill>
                  <a:schemeClr val="bg1"/>
                </a:solidFill>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X. Ma</a:t>
            </a:r>
            <a:r>
              <a:rPr lang="en-US" altLang="zh-TW" sz="1200" i="1" kern="100" dirty="0">
                <a:solidFill>
                  <a:schemeClr val="bg1"/>
                </a:solidFill>
                <a:effectLst/>
                <a:latin typeface="Times New Roman" panose="02020603050405020304" pitchFamily="18" charset="0"/>
                <a:ea typeface="新細明體" panose="02020500000000000000" pitchFamily="18" charset="-120"/>
              </a:rPr>
              <a:t> et al.</a:t>
            </a:r>
            <a:r>
              <a:rPr lang="en-US" altLang="zh-TW" sz="1200" kern="100" dirty="0">
                <a:solidFill>
                  <a:schemeClr val="bg1"/>
                </a:solidFill>
                <a:effectLst/>
                <a:latin typeface="Times New Roman" panose="02020603050405020304" pitchFamily="18" charset="0"/>
                <a:ea typeface="新細明體" panose="02020500000000000000" pitchFamily="18" charset="-120"/>
              </a:rPr>
              <a:t>, "A survey on cooperative co-evolutionary algorithms," </a:t>
            </a:r>
            <a:r>
              <a:rPr lang="en-US" altLang="zh-TW" sz="1200" i="1" kern="100" dirty="0">
                <a:solidFill>
                  <a:schemeClr val="bg1"/>
                </a:solidFill>
                <a:effectLst/>
                <a:latin typeface="Times New Roman" panose="02020603050405020304" pitchFamily="18" charset="0"/>
                <a:ea typeface="新細明體" panose="02020500000000000000" pitchFamily="18" charset="-120"/>
              </a:rPr>
              <a:t>IEEE Transactions on Evolutionary Computation, </a:t>
            </a:r>
            <a:r>
              <a:rPr lang="en-US" altLang="zh-TW" sz="1200" kern="100" dirty="0">
                <a:solidFill>
                  <a:schemeClr val="bg1"/>
                </a:solidFill>
                <a:effectLst/>
                <a:latin typeface="Times New Roman" panose="02020603050405020304" pitchFamily="18" charset="0"/>
                <a:ea typeface="新細明體" panose="02020500000000000000" pitchFamily="18" charset="-120"/>
              </a:rPr>
              <a:t>vol. 23, no. 3, pp. 421–441, 2018.</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20892512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192A1B-6FA4-DCC6-808A-EA3C1F5B386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3112EE1-1BD1-368D-9159-8B09BB76048D}"/>
              </a:ext>
            </a:extLst>
          </p:cNvPr>
          <p:cNvSpPr>
            <a:spLocks noGrp="1"/>
          </p:cNvSpPr>
          <p:nvPr>
            <p:ph type="title"/>
          </p:nvPr>
        </p:nvSpPr>
        <p:spPr/>
        <p:txBody>
          <a:bodyPr/>
          <a:lstStyle/>
          <a:p>
            <a:r>
              <a:rPr lang="en-US" altLang="zh-TW" dirty="0"/>
              <a:t>Store Assignment</a:t>
            </a:r>
          </a:p>
        </p:txBody>
      </p:sp>
      <p:sp>
        <p:nvSpPr>
          <p:cNvPr id="4" name="投影片編號版面配置區 3">
            <a:extLst>
              <a:ext uri="{FF2B5EF4-FFF2-40B4-BE49-F238E27FC236}">
                <a16:creationId xmlns:a16="http://schemas.microsoft.com/office/drawing/2014/main" id="{EFC6B11F-0DD8-3CC4-3966-337A9A8737A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23</a:t>
            </a:fld>
            <a:endParaRPr lang="zh-TW" altLang="en-US" sz="1600"/>
          </a:p>
        </p:txBody>
      </p:sp>
      <p:sp>
        <p:nvSpPr>
          <p:cNvPr id="6" name="內容版面配置區 2">
            <a:extLst>
              <a:ext uri="{FF2B5EF4-FFF2-40B4-BE49-F238E27FC236}">
                <a16:creationId xmlns:a16="http://schemas.microsoft.com/office/drawing/2014/main" id="{893B6B56-560F-B365-4615-811B1CC8C4D1}"/>
              </a:ext>
            </a:extLst>
          </p:cNvPr>
          <p:cNvSpPr txBox="1">
            <a:spLocks/>
          </p:cNvSpPr>
          <p:nvPr/>
        </p:nvSpPr>
        <p:spPr>
          <a:xfrm>
            <a:off x="1097280" y="1845734"/>
            <a:ext cx="10058400" cy="4023360"/>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600"/>
              </a:spcBef>
              <a:spcAft>
                <a:spcPts val="600"/>
              </a:spcAft>
              <a:buClr>
                <a:schemeClr val="accent1">
                  <a:lumMod val="50000"/>
                </a:schemeClr>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nSpc>
                <a:spcPct val="150000"/>
              </a:lnSpc>
              <a:buFont typeface="Wingdings" panose="05000000000000000000" pitchFamily="2" charset="2"/>
              <a:buChar char="Ø"/>
            </a:pPr>
            <a:r>
              <a:rPr lang="en-US" altLang="zh-TW" dirty="0"/>
              <a:t>I</a:t>
            </a:r>
            <a:r>
              <a:rPr lang="zh-TW" altLang="zh-TW" dirty="0"/>
              <a:t>nsert candidate stores into main routes with available capacity to improve utilization</a:t>
            </a:r>
            <a:endParaRPr lang="en-US" altLang="zh-TW" dirty="0"/>
          </a:p>
          <a:p>
            <a:pPr>
              <a:lnSpc>
                <a:spcPct val="150000"/>
              </a:lnSpc>
              <a:buFont typeface="Wingdings" panose="05000000000000000000" pitchFamily="2" charset="2"/>
              <a:buChar char="Ø"/>
            </a:pPr>
            <a:r>
              <a:rPr lang="en-US" altLang="zh-TW" dirty="0"/>
              <a:t>Hybrid Ant Colony Optimization (HACO)[3]</a:t>
            </a:r>
          </a:p>
          <a:p>
            <a:pPr lvl="1">
              <a:lnSpc>
                <a:spcPct val="150000"/>
              </a:lnSpc>
              <a:buFont typeface="Arial" panose="020B0604020202020204" pitchFamily="34" charset="0"/>
              <a:buChar char="•"/>
            </a:pPr>
            <a:r>
              <a:rPr lang="en-US" altLang="zh-TW" dirty="0"/>
              <a:t>Combine Ant Colony Optimization</a:t>
            </a:r>
            <a:r>
              <a:rPr lang="zh-TW" altLang="en-US" dirty="0"/>
              <a:t> </a:t>
            </a:r>
            <a:r>
              <a:rPr lang="en-US" altLang="zh-TW" dirty="0"/>
              <a:t>(ACO) and </a:t>
            </a:r>
            <a:r>
              <a:rPr lang="zh-TW" altLang="zh-TW" dirty="0"/>
              <a:t>Variable Neighborhood Descent</a:t>
            </a:r>
            <a:r>
              <a:rPr lang="en-US" altLang="zh-TW" dirty="0"/>
              <a:t> (VND)</a:t>
            </a:r>
          </a:p>
          <a:p>
            <a:pPr lvl="1">
              <a:lnSpc>
                <a:spcPct val="150000"/>
              </a:lnSpc>
              <a:buFont typeface="Arial" panose="020B0604020202020204" pitchFamily="34" charset="0"/>
              <a:buChar char="•"/>
            </a:pPr>
            <a:r>
              <a:rPr lang="zh-TW" altLang="zh-TW" dirty="0"/>
              <a:t>ACO constructs solutions by simulating pheromone-based communication among ants</a:t>
            </a:r>
            <a:endParaRPr lang="en-US" altLang="zh-TW" dirty="0"/>
          </a:p>
          <a:p>
            <a:pPr lvl="1">
              <a:lnSpc>
                <a:spcPct val="150000"/>
              </a:lnSpc>
              <a:buFont typeface="Arial" panose="020B0604020202020204" pitchFamily="34" charset="0"/>
              <a:buChar char="•"/>
            </a:pPr>
            <a:r>
              <a:rPr lang="zh-TW" altLang="zh-TW" dirty="0"/>
              <a:t>VND improves solutions by sequentially exploring multiple neighborhood to escape local optima</a:t>
            </a:r>
            <a:endParaRPr lang="en-US" altLang="zh-TW" dirty="0"/>
          </a:p>
        </p:txBody>
      </p:sp>
      <p:sp>
        <p:nvSpPr>
          <p:cNvPr id="5" name="文字方塊 4">
            <a:extLst>
              <a:ext uri="{FF2B5EF4-FFF2-40B4-BE49-F238E27FC236}">
                <a16:creationId xmlns:a16="http://schemas.microsoft.com/office/drawing/2014/main" id="{2D836BE0-D00E-B521-C7F6-56F78B60D3E4}"/>
              </a:ext>
            </a:extLst>
          </p:cNvPr>
          <p:cNvSpPr txBox="1"/>
          <p:nvPr/>
        </p:nvSpPr>
        <p:spPr>
          <a:xfrm>
            <a:off x="979517" y="6363245"/>
            <a:ext cx="9383683" cy="461665"/>
          </a:xfrm>
          <a:prstGeom prst="rect">
            <a:avLst/>
          </a:prstGeom>
          <a:noFill/>
        </p:spPr>
        <p:txBody>
          <a:bodyPr wrap="square">
            <a:spAutoFit/>
          </a:bodyPr>
          <a:lstStyle/>
          <a:p>
            <a:pPr marL="457200" indent="-457200">
              <a:spcAft>
                <a:spcPts val="800"/>
              </a:spcAft>
              <a:buNone/>
            </a:pPr>
            <a:r>
              <a:rPr lang="en-US" altLang="zh-TW" sz="1200" kern="100" dirty="0">
                <a:solidFill>
                  <a:schemeClr val="bg1"/>
                </a:solidFill>
                <a:effectLst/>
                <a:latin typeface="Times New Roman" panose="02020603050405020304" pitchFamily="18" charset="0"/>
                <a:ea typeface="新細明體" panose="02020500000000000000" pitchFamily="18" charset="-120"/>
              </a:rPr>
              <a:t>[3]</a:t>
            </a:r>
            <a:r>
              <a:rPr lang="zh-TW" altLang="en-US" sz="1200" kern="100" dirty="0">
                <a:solidFill>
                  <a:schemeClr val="bg1"/>
                </a:solidFill>
                <a:effectLst/>
                <a:latin typeface="Times New Roman" panose="02020603050405020304" pitchFamily="18" charset="0"/>
                <a:ea typeface="新細明體" panose="02020500000000000000" pitchFamily="18" charset="-120"/>
              </a:rPr>
              <a:t>  </a:t>
            </a:r>
            <a:r>
              <a:rPr lang="en-US" altLang="zh-TW" sz="1200" kern="100" dirty="0">
                <a:solidFill>
                  <a:schemeClr val="bg1"/>
                </a:solidFill>
                <a:effectLst/>
                <a:latin typeface="Times New Roman" panose="02020603050405020304" pitchFamily="18" charset="0"/>
                <a:ea typeface="新細明體" panose="02020500000000000000" pitchFamily="18" charset="-120"/>
              </a:rPr>
              <a:t>Q. Ding, X. Hu, L. Sun, and Y. Wang, "An improved ant colony optimization and its application to vehicle routing problem with time windows," </a:t>
            </a:r>
            <a:r>
              <a:rPr lang="en-US" altLang="zh-TW" sz="1200" i="1" kern="100" dirty="0">
                <a:solidFill>
                  <a:schemeClr val="bg1"/>
                </a:solidFill>
                <a:effectLst/>
                <a:latin typeface="Times New Roman" panose="02020603050405020304" pitchFamily="18" charset="0"/>
                <a:ea typeface="新細明體" panose="02020500000000000000" pitchFamily="18" charset="-120"/>
              </a:rPr>
              <a:t>Neurocomputing, </a:t>
            </a:r>
            <a:r>
              <a:rPr lang="en-US" altLang="zh-TW" sz="1200" kern="100" dirty="0">
                <a:solidFill>
                  <a:schemeClr val="bg1"/>
                </a:solidFill>
                <a:effectLst/>
                <a:latin typeface="Times New Roman" panose="02020603050405020304" pitchFamily="18" charset="0"/>
                <a:ea typeface="新細明體" panose="02020500000000000000" pitchFamily="18" charset="-120"/>
              </a:rPr>
              <a:t>vol. 98, pp. 101–107, 2012.</a:t>
            </a:r>
            <a:endParaRPr lang="zh-TW" altLang="zh-TW" sz="1200" kern="100" dirty="0">
              <a:solidFill>
                <a:schemeClr val="bg1"/>
              </a:solidFill>
              <a:effectLst/>
              <a:latin typeface="Times New Roman" panose="02020603050405020304" pitchFamily="18" charset="0"/>
              <a:ea typeface="新細明體" panose="02020500000000000000" pitchFamily="18" charset="-120"/>
            </a:endParaRPr>
          </a:p>
        </p:txBody>
      </p:sp>
    </p:spTree>
    <p:extLst>
      <p:ext uri="{BB962C8B-B14F-4D97-AF65-F5344CB8AC3E}">
        <p14:creationId xmlns:p14="http://schemas.microsoft.com/office/powerpoint/2010/main" val="34591617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1FECAD-FCB4-1003-0C95-6C88C2915CA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A7E3B61-AE48-2968-7AD8-1A13ADCE2CE2}"/>
              </a:ext>
            </a:extLst>
          </p:cNvPr>
          <p:cNvSpPr>
            <a:spLocks noGrp="1"/>
          </p:cNvSpPr>
          <p:nvPr>
            <p:ph type="title"/>
          </p:nvPr>
        </p:nvSpPr>
        <p:spPr/>
        <p:txBody>
          <a:bodyPr/>
          <a:lstStyle/>
          <a:p>
            <a:r>
              <a:rPr lang="en-US" altLang="zh-TW" dirty="0"/>
              <a:t>Support Route Planning</a:t>
            </a:r>
          </a:p>
        </p:txBody>
      </p:sp>
      <p:sp>
        <p:nvSpPr>
          <p:cNvPr id="4" name="投影片編號版面配置區 3">
            <a:extLst>
              <a:ext uri="{FF2B5EF4-FFF2-40B4-BE49-F238E27FC236}">
                <a16:creationId xmlns:a16="http://schemas.microsoft.com/office/drawing/2014/main" id="{824B810D-FC73-A553-60E6-7015E00013D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24</a:t>
            </a:fld>
            <a:endParaRPr lang="zh-TW" altLang="en-US" sz="1600"/>
          </a:p>
        </p:txBody>
      </p:sp>
      <p:sp>
        <p:nvSpPr>
          <p:cNvPr id="8" name="內容版面配置區 2">
            <a:extLst>
              <a:ext uri="{FF2B5EF4-FFF2-40B4-BE49-F238E27FC236}">
                <a16:creationId xmlns:a16="http://schemas.microsoft.com/office/drawing/2014/main" id="{BB14FA3D-3001-C747-2DB6-66D5582B47C9}"/>
              </a:ext>
            </a:extLst>
          </p:cNvPr>
          <p:cNvSpPr>
            <a:spLocks noGrp="1"/>
          </p:cNvSpPr>
          <p:nvPr>
            <p:ph idx="1"/>
          </p:nvPr>
        </p:nvSpPr>
        <p:spPr>
          <a:xfrm>
            <a:off x="1097280" y="1845734"/>
            <a:ext cx="10058400" cy="4023360"/>
          </a:xfrm>
        </p:spPr>
        <p:txBody>
          <a:bodyPr>
            <a:normAutofit/>
          </a:bodyPr>
          <a:lstStyle/>
          <a:p>
            <a:pPr>
              <a:lnSpc>
                <a:spcPct val="150000"/>
              </a:lnSpc>
              <a:buFont typeface="Wingdings" panose="05000000000000000000" pitchFamily="2" charset="2"/>
              <a:buChar char="Ø"/>
            </a:pPr>
            <a:r>
              <a:rPr lang="en-US" altLang="zh-TW" dirty="0"/>
              <a:t>Perform routing for stores that cannot be assigned to main routes</a:t>
            </a:r>
          </a:p>
          <a:p>
            <a:pPr>
              <a:lnSpc>
                <a:spcPct val="150000"/>
              </a:lnSpc>
              <a:buFont typeface="Wingdings" panose="05000000000000000000" pitchFamily="2" charset="2"/>
              <a:buChar char="Ø"/>
            </a:pPr>
            <a:r>
              <a:rPr lang="en-US" altLang="zh-TW" dirty="0"/>
              <a:t>Multiple Ant Colony System</a:t>
            </a:r>
            <a:r>
              <a:rPr lang="zh-TW" altLang="en-US" dirty="0"/>
              <a:t> </a:t>
            </a:r>
            <a:r>
              <a:rPr lang="en-US" altLang="zh-TW" dirty="0"/>
              <a:t>(MACS)[4]</a:t>
            </a:r>
          </a:p>
          <a:p>
            <a:pPr lvl="1">
              <a:lnSpc>
                <a:spcPct val="150000"/>
              </a:lnSpc>
              <a:buFont typeface="Arial" panose="020B0604020202020204" pitchFamily="34" charset="0"/>
              <a:buChar char="•"/>
            </a:pPr>
            <a:r>
              <a:rPr lang="zh-TW" altLang="zh-TW" dirty="0"/>
              <a:t>ACS-VEI minimizes the number of vehicles by improving </a:t>
            </a:r>
            <a:r>
              <a:rPr lang="en-US" altLang="zh-TW" dirty="0"/>
              <a:t>store</a:t>
            </a:r>
            <a:r>
              <a:rPr lang="zh-TW" altLang="zh-TW" dirty="0"/>
              <a:t> coverage during route construction</a:t>
            </a:r>
            <a:endParaRPr lang="en-US" altLang="zh-TW" dirty="0"/>
          </a:p>
          <a:p>
            <a:pPr lvl="1">
              <a:lnSpc>
                <a:spcPct val="150000"/>
              </a:lnSpc>
              <a:buFont typeface="Arial" panose="020B0604020202020204" pitchFamily="34" charset="0"/>
              <a:buChar char="•"/>
            </a:pPr>
            <a:r>
              <a:rPr lang="zh-TW" altLang="zh-TW" dirty="0"/>
              <a:t>ACS-DIST minimizes total travel distance by applying VND for local optimization after solution construction.</a:t>
            </a:r>
            <a:endParaRPr lang="en-US" altLang="zh-TW" dirty="0"/>
          </a:p>
        </p:txBody>
      </p:sp>
      <p:sp>
        <p:nvSpPr>
          <p:cNvPr id="5" name="文字方塊 4">
            <a:extLst>
              <a:ext uri="{FF2B5EF4-FFF2-40B4-BE49-F238E27FC236}">
                <a16:creationId xmlns:a16="http://schemas.microsoft.com/office/drawing/2014/main" id="{498658F3-C84B-5B94-8D3E-342C74A5B3E3}"/>
              </a:ext>
            </a:extLst>
          </p:cNvPr>
          <p:cNvSpPr txBox="1"/>
          <p:nvPr/>
        </p:nvSpPr>
        <p:spPr>
          <a:xfrm>
            <a:off x="979517" y="6363245"/>
            <a:ext cx="9648825" cy="461665"/>
          </a:xfrm>
          <a:prstGeom prst="rect">
            <a:avLst/>
          </a:prstGeom>
          <a:noFill/>
        </p:spPr>
        <p:txBody>
          <a:bodyPr wrap="square">
            <a:spAutoFit/>
          </a:bodyPr>
          <a:lstStyle/>
          <a:p>
            <a:r>
              <a:rPr lang="en-US" altLang="zh-TW" sz="1200" dirty="0">
                <a:solidFill>
                  <a:schemeClr val="bg1"/>
                </a:solidFill>
              </a:rPr>
              <a:t>[4]  L. M. Gambardella, É. </a:t>
            </a:r>
            <a:r>
              <a:rPr lang="en-US" altLang="zh-TW" sz="1200" dirty="0" err="1">
                <a:solidFill>
                  <a:schemeClr val="bg1"/>
                </a:solidFill>
              </a:rPr>
              <a:t>Taillard</a:t>
            </a:r>
            <a:r>
              <a:rPr lang="en-US" altLang="zh-TW" sz="1200" dirty="0">
                <a:solidFill>
                  <a:schemeClr val="bg1"/>
                </a:solidFill>
              </a:rPr>
              <a:t>, and G. Agazzi, "MACS-VRPTW: A multiple ant colony system for vehicle routing problems with time windows," ed: Istituto Dalle Molle Di Studi Sull </a:t>
            </a:r>
            <a:r>
              <a:rPr lang="en-US" altLang="zh-TW" sz="1200" dirty="0" err="1">
                <a:solidFill>
                  <a:schemeClr val="bg1"/>
                </a:solidFill>
              </a:rPr>
              <a:t>Intelligenza</a:t>
            </a:r>
            <a:r>
              <a:rPr lang="en-US" altLang="zh-TW" sz="1200" dirty="0">
                <a:solidFill>
                  <a:schemeClr val="bg1"/>
                </a:solidFill>
              </a:rPr>
              <a:t> </a:t>
            </a:r>
            <a:r>
              <a:rPr lang="en-US" altLang="zh-TW" sz="1200" dirty="0" err="1">
                <a:solidFill>
                  <a:schemeClr val="bg1"/>
                </a:solidFill>
              </a:rPr>
              <a:t>Artificiale</a:t>
            </a:r>
            <a:r>
              <a:rPr lang="en-US" altLang="zh-TW" sz="1200" dirty="0">
                <a:solidFill>
                  <a:schemeClr val="bg1"/>
                </a:solidFill>
              </a:rPr>
              <a:t>, 1999</a:t>
            </a:r>
            <a:endParaRPr lang="zh-TW" altLang="en-US" sz="1200" dirty="0">
              <a:solidFill>
                <a:schemeClr val="bg1"/>
              </a:solidFill>
            </a:endParaRPr>
          </a:p>
        </p:txBody>
      </p:sp>
    </p:spTree>
    <p:extLst>
      <p:ext uri="{BB962C8B-B14F-4D97-AF65-F5344CB8AC3E}">
        <p14:creationId xmlns:p14="http://schemas.microsoft.com/office/powerpoint/2010/main" val="42531088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271F19-E799-790E-1B38-E8CFBA1299E9}"/>
            </a:ext>
          </a:extLst>
        </p:cNvPr>
        <p:cNvGrpSpPr/>
        <p:nvPr/>
      </p:nvGrpSpPr>
      <p:grpSpPr>
        <a:xfrm>
          <a:off x="0" y="0"/>
          <a:ext cx="0" cy="0"/>
          <a:chOff x="0" y="0"/>
          <a:chExt cx="0" cy="0"/>
        </a:xfrm>
      </p:grpSpPr>
      <p:sp>
        <p:nvSpPr>
          <p:cNvPr id="25" name="矩形 24">
            <a:extLst>
              <a:ext uri="{FF2B5EF4-FFF2-40B4-BE49-F238E27FC236}">
                <a16:creationId xmlns:a16="http://schemas.microsoft.com/office/drawing/2014/main" id="{8D550C14-D2E6-BA6A-6139-FC2DE4996821}"/>
              </a:ext>
            </a:extLst>
          </p:cNvPr>
          <p:cNvSpPr/>
          <p:nvPr/>
        </p:nvSpPr>
        <p:spPr>
          <a:xfrm>
            <a:off x="8350917" y="3727824"/>
            <a:ext cx="1372770" cy="1246908"/>
          </a:xfrm>
          <a:prstGeom prst="rect">
            <a:avLst/>
          </a:prstGeom>
          <a:solidFill>
            <a:schemeClr val="tx2">
              <a:lumMod val="10000"/>
              <a:lumOff val="90000"/>
            </a:schemeClr>
          </a:solid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0CE1D91A-C9BE-C08C-ACDE-0C413EA2BC1D}"/>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97E64EF5-D0ED-7A56-6228-DDFC5CB9A35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25</a:t>
            </a:fld>
            <a:endParaRPr lang="zh-TW" altLang="en-US" sz="1600" dirty="0"/>
          </a:p>
        </p:txBody>
      </p:sp>
      <p:sp>
        <p:nvSpPr>
          <p:cNvPr id="3" name="矩形 2">
            <a:extLst>
              <a:ext uri="{FF2B5EF4-FFF2-40B4-BE49-F238E27FC236}">
                <a16:creationId xmlns:a16="http://schemas.microsoft.com/office/drawing/2014/main" id="{6069B3B0-57F6-1C92-F5D0-2964B57F70C8}"/>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D5040F68-8DD0-1B11-6EA2-61F5AEF93125}"/>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6" name="矩形 5">
            <a:extLst>
              <a:ext uri="{FF2B5EF4-FFF2-40B4-BE49-F238E27FC236}">
                <a16:creationId xmlns:a16="http://schemas.microsoft.com/office/drawing/2014/main" id="{DA536A47-CA00-3476-6E60-EA4AFD930770}"/>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13" name="矩形 12">
            <a:extLst>
              <a:ext uri="{FF2B5EF4-FFF2-40B4-BE49-F238E27FC236}">
                <a16:creationId xmlns:a16="http://schemas.microsoft.com/office/drawing/2014/main" id="{971E753C-CAD7-BBB5-BF4C-34072D5700C7}"/>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16" name="矩形 15">
            <a:extLst>
              <a:ext uri="{FF2B5EF4-FFF2-40B4-BE49-F238E27FC236}">
                <a16:creationId xmlns:a16="http://schemas.microsoft.com/office/drawing/2014/main" id="{CB5DBFE4-3DAC-DF95-8981-2310B5EDB609}"/>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18" name="矩形 17">
            <a:extLst>
              <a:ext uri="{FF2B5EF4-FFF2-40B4-BE49-F238E27FC236}">
                <a16:creationId xmlns:a16="http://schemas.microsoft.com/office/drawing/2014/main" id="{4EEA4DE1-B8DC-1042-8228-C6FB549C1B0B}"/>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19" name="矩形 18">
            <a:extLst>
              <a:ext uri="{FF2B5EF4-FFF2-40B4-BE49-F238E27FC236}">
                <a16:creationId xmlns:a16="http://schemas.microsoft.com/office/drawing/2014/main" id="{1431D335-5AB8-684C-D394-E438AED28EE6}"/>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20" name="直線單箭頭接點 19">
            <a:extLst>
              <a:ext uri="{FF2B5EF4-FFF2-40B4-BE49-F238E27FC236}">
                <a16:creationId xmlns:a16="http://schemas.microsoft.com/office/drawing/2014/main" id="{A33FB917-6A29-1899-95DF-F148C075EB60}"/>
              </a:ext>
            </a:extLst>
          </p:cNvPr>
          <p:cNvCxnSpPr>
            <a:cxnSpLocks/>
            <a:endCxn id="5"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0E8D8C11-D80E-06FB-CB33-343364DBE0E3}"/>
              </a:ext>
            </a:extLst>
          </p:cNvPr>
          <p:cNvCxnSpPr>
            <a:cxnSpLocks/>
            <a:stCxn id="16"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文字方塊 21">
            <a:extLst>
              <a:ext uri="{FF2B5EF4-FFF2-40B4-BE49-F238E27FC236}">
                <a16:creationId xmlns:a16="http://schemas.microsoft.com/office/drawing/2014/main" id="{94B67E79-4CF3-4650-6E3B-85701FBAB47B}"/>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23" name="直線單箭頭接點 22">
            <a:extLst>
              <a:ext uri="{FF2B5EF4-FFF2-40B4-BE49-F238E27FC236}">
                <a16:creationId xmlns:a16="http://schemas.microsoft.com/office/drawing/2014/main" id="{38918806-091C-F341-9E9D-DA87788324B3}"/>
              </a:ext>
            </a:extLst>
          </p:cNvPr>
          <p:cNvCxnSpPr>
            <a:cxnSpLocks/>
            <a:stCxn id="5" idx="3"/>
            <a:endCxn id="6"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6B5D236E-FF19-A58C-919A-18192EEA1B63}"/>
              </a:ext>
            </a:extLst>
          </p:cNvPr>
          <p:cNvCxnSpPr>
            <a:cxnSpLocks/>
            <a:stCxn id="6" idx="3"/>
            <a:endCxn id="13"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DCF4C5FA-D9A7-6E19-F3EB-6D195C093684}"/>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文字方塊 26">
            <a:extLst>
              <a:ext uri="{FF2B5EF4-FFF2-40B4-BE49-F238E27FC236}">
                <a16:creationId xmlns:a16="http://schemas.microsoft.com/office/drawing/2014/main" id="{DB5A96C0-B90D-25FF-5E91-F11B4E7F101B}"/>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28" name="矩形 27">
            <a:extLst>
              <a:ext uri="{FF2B5EF4-FFF2-40B4-BE49-F238E27FC236}">
                <a16:creationId xmlns:a16="http://schemas.microsoft.com/office/drawing/2014/main" id="{F558FA42-C770-EAB5-C5F8-6B9B3E6D4291}"/>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29" name="直線單箭頭接點 28">
            <a:extLst>
              <a:ext uri="{FF2B5EF4-FFF2-40B4-BE49-F238E27FC236}">
                <a16:creationId xmlns:a16="http://schemas.microsoft.com/office/drawing/2014/main" id="{0BA557FE-2725-DF52-7FB3-BE240B584CE7}"/>
              </a:ext>
            </a:extLst>
          </p:cNvPr>
          <p:cNvCxnSpPr>
            <a:cxnSpLocks/>
            <a:stCxn id="13" idx="3"/>
            <a:endCxn id="28"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文字方塊 30">
            <a:extLst>
              <a:ext uri="{FF2B5EF4-FFF2-40B4-BE49-F238E27FC236}">
                <a16:creationId xmlns:a16="http://schemas.microsoft.com/office/drawing/2014/main" id="{7F9E022A-E1F6-423E-911A-EF1202C47B97}"/>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32" name="矩形 31">
            <a:extLst>
              <a:ext uri="{FF2B5EF4-FFF2-40B4-BE49-F238E27FC236}">
                <a16:creationId xmlns:a16="http://schemas.microsoft.com/office/drawing/2014/main" id="{1B9AEB1A-08A0-1B84-4CBB-6980BA4792B1}"/>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文字方塊 32">
            <a:extLst>
              <a:ext uri="{FF2B5EF4-FFF2-40B4-BE49-F238E27FC236}">
                <a16:creationId xmlns:a16="http://schemas.microsoft.com/office/drawing/2014/main" id="{8A63D81A-054A-F8FF-260C-A3DC7D643812}"/>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36" name="接點: 肘形 35">
            <a:extLst>
              <a:ext uri="{FF2B5EF4-FFF2-40B4-BE49-F238E27FC236}">
                <a16:creationId xmlns:a16="http://schemas.microsoft.com/office/drawing/2014/main" id="{D8C0B731-F037-5458-8BFE-EBCDE32900C1}"/>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接點: 肘形 36">
            <a:extLst>
              <a:ext uri="{FF2B5EF4-FFF2-40B4-BE49-F238E27FC236}">
                <a16:creationId xmlns:a16="http://schemas.microsoft.com/office/drawing/2014/main" id="{0B90D8D3-B235-233F-3C33-541DAAE080D9}"/>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流程圖: 磁碟 38">
            <a:extLst>
              <a:ext uri="{FF2B5EF4-FFF2-40B4-BE49-F238E27FC236}">
                <a16:creationId xmlns:a16="http://schemas.microsoft.com/office/drawing/2014/main" id="{0CE9F9F1-D80D-11B8-A818-61D9BA7D318C}"/>
              </a:ext>
            </a:extLst>
          </p:cNvPr>
          <p:cNvSpPr/>
          <p:nvPr/>
        </p:nvSpPr>
        <p:spPr>
          <a:xfrm>
            <a:off x="10264923"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46" name="文字方塊 8">
            <a:extLst>
              <a:ext uri="{FF2B5EF4-FFF2-40B4-BE49-F238E27FC236}">
                <a16:creationId xmlns:a16="http://schemas.microsoft.com/office/drawing/2014/main" id="{991093C4-5C52-976B-D054-1930309EF128}"/>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48" name="文字方塊 8">
            <a:extLst>
              <a:ext uri="{FF2B5EF4-FFF2-40B4-BE49-F238E27FC236}">
                <a16:creationId xmlns:a16="http://schemas.microsoft.com/office/drawing/2014/main" id="{98AAA2EA-8762-3A66-28E8-A3AA6E5AF035}"/>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49" name="直線單箭頭接點 48">
            <a:extLst>
              <a:ext uri="{FF2B5EF4-FFF2-40B4-BE49-F238E27FC236}">
                <a16:creationId xmlns:a16="http://schemas.microsoft.com/office/drawing/2014/main" id="{34373A1F-BA82-110F-A573-42919A5702A5}"/>
              </a:ext>
            </a:extLst>
          </p:cNvPr>
          <p:cNvCxnSpPr>
            <a:cxnSpLocks/>
            <a:stCxn id="28" idx="3"/>
            <a:endCxn id="16"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接點: 肘形 50">
            <a:extLst>
              <a:ext uri="{FF2B5EF4-FFF2-40B4-BE49-F238E27FC236}">
                <a16:creationId xmlns:a16="http://schemas.microsoft.com/office/drawing/2014/main" id="{EED4FDA1-F8BF-1193-8A74-288BD6E2698B}"/>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接點: 肘形 51">
            <a:extLst>
              <a:ext uri="{FF2B5EF4-FFF2-40B4-BE49-F238E27FC236}">
                <a16:creationId xmlns:a16="http://schemas.microsoft.com/office/drawing/2014/main" id="{98993F70-AE48-80EC-ADFA-D731E19D1DC6}"/>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直線單箭頭接點 52">
            <a:extLst>
              <a:ext uri="{FF2B5EF4-FFF2-40B4-BE49-F238E27FC236}">
                <a16:creationId xmlns:a16="http://schemas.microsoft.com/office/drawing/2014/main" id="{16FDAE27-5A72-428B-6683-46392BAF079A}"/>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直線單箭頭接點 53">
            <a:extLst>
              <a:ext uri="{FF2B5EF4-FFF2-40B4-BE49-F238E27FC236}">
                <a16:creationId xmlns:a16="http://schemas.microsoft.com/office/drawing/2014/main" id="{E3683248-990E-F0F9-E857-8736AABC249B}"/>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流程圖: 磁碟 6">
            <a:extLst>
              <a:ext uri="{FF2B5EF4-FFF2-40B4-BE49-F238E27FC236}">
                <a16:creationId xmlns:a16="http://schemas.microsoft.com/office/drawing/2014/main" id="{36869628-8564-DE77-07B7-81FF3BE303C9}"/>
              </a:ext>
            </a:extLst>
          </p:cNvPr>
          <p:cNvSpPr/>
          <p:nvPr/>
        </p:nvSpPr>
        <p:spPr>
          <a:xfrm>
            <a:off x="901102" y="3823855"/>
            <a:ext cx="792480" cy="896431"/>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8" name="文字方塊 7">
            <a:extLst>
              <a:ext uri="{FF2B5EF4-FFF2-40B4-BE49-F238E27FC236}">
                <a16:creationId xmlns:a16="http://schemas.microsoft.com/office/drawing/2014/main" id="{56E7547D-EF2D-7D5F-176B-04B02B99429C}"/>
              </a:ext>
            </a:extLst>
          </p:cNvPr>
          <p:cNvSpPr txBox="1"/>
          <p:nvPr/>
        </p:nvSpPr>
        <p:spPr>
          <a:xfrm>
            <a:off x="918200" y="4115510"/>
            <a:ext cx="792479" cy="259366"/>
          </a:xfrm>
          <a:prstGeom prst="rect">
            <a:avLst/>
          </a:prstGeom>
          <a:noFill/>
        </p:spPr>
        <p:txBody>
          <a:bodyPr wrap="square" rtlCol="0">
            <a:spAutoFit/>
          </a:bodyPr>
          <a:lstStyle/>
          <a:p>
            <a:pPr algn="ctr">
              <a:lnSpc>
                <a:spcPct val="115000"/>
              </a:lnSpc>
              <a:spcAft>
                <a:spcPts val="800"/>
              </a:spcAft>
              <a:buNone/>
            </a:pPr>
            <a:r>
              <a:rPr lang="en-US" altLang="zh-TW" sz="10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Original</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9" name="文字方塊 8">
            <a:extLst>
              <a:ext uri="{FF2B5EF4-FFF2-40B4-BE49-F238E27FC236}">
                <a16:creationId xmlns:a16="http://schemas.microsoft.com/office/drawing/2014/main" id="{5D51B72D-89BD-053F-9711-B91E94FAF3E9}"/>
              </a:ext>
            </a:extLst>
          </p:cNvPr>
          <p:cNvSpPr txBox="1"/>
          <p:nvPr/>
        </p:nvSpPr>
        <p:spPr>
          <a:xfrm>
            <a:off x="925127"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3690998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C1270F-AB9E-863D-CDBE-EEBAC013D06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B0CABBC-771A-86A2-0F5A-3A478FC55905}"/>
              </a:ext>
            </a:extLst>
          </p:cNvPr>
          <p:cNvSpPr>
            <a:spLocks noGrp="1"/>
          </p:cNvSpPr>
          <p:nvPr>
            <p:ph type="title"/>
          </p:nvPr>
        </p:nvSpPr>
        <p:spPr/>
        <p:txBody>
          <a:bodyPr/>
          <a:lstStyle/>
          <a:p>
            <a:r>
              <a:rPr lang="en-US" altLang="zh-TW" dirty="0"/>
              <a:t>Evaluation Module</a:t>
            </a:r>
          </a:p>
        </p:txBody>
      </p:sp>
      <p:sp>
        <p:nvSpPr>
          <p:cNvPr id="4" name="投影片編號版面配置區 3">
            <a:extLst>
              <a:ext uri="{FF2B5EF4-FFF2-40B4-BE49-F238E27FC236}">
                <a16:creationId xmlns:a16="http://schemas.microsoft.com/office/drawing/2014/main" id="{CF67370C-C16D-8D85-717F-8D8FB23F51D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26</a:t>
            </a:fld>
            <a:endParaRPr lang="zh-TW" altLang="en-US" sz="1600"/>
          </a:p>
        </p:txBody>
      </p:sp>
      <p:sp>
        <p:nvSpPr>
          <p:cNvPr id="59" name="內容版面配置區 2">
            <a:extLst>
              <a:ext uri="{FF2B5EF4-FFF2-40B4-BE49-F238E27FC236}">
                <a16:creationId xmlns:a16="http://schemas.microsoft.com/office/drawing/2014/main" id="{E2FA261F-2938-34FE-08C9-C815CBA1BE70}"/>
              </a:ext>
            </a:extLst>
          </p:cNvPr>
          <p:cNvSpPr>
            <a:spLocks noGrp="1"/>
          </p:cNvSpPr>
          <p:nvPr>
            <p:ph idx="1"/>
          </p:nvPr>
        </p:nvSpPr>
        <p:spPr>
          <a:xfrm>
            <a:off x="1097280" y="1845733"/>
            <a:ext cx="10058400" cy="4614052"/>
          </a:xfrm>
        </p:spPr>
        <p:txBody>
          <a:bodyPr>
            <a:normAutofit/>
          </a:bodyPr>
          <a:lstStyle/>
          <a:p>
            <a:pPr>
              <a:buClr>
                <a:schemeClr val="accent1">
                  <a:lumMod val="50000"/>
                </a:schemeClr>
              </a:buClr>
              <a:buFont typeface="Wingdings" panose="05000000000000000000" pitchFamily="2" charset="2"/>
              <a:buChar char="Ø"/>
            </a:pPr>
            <a:r>
              <a:rPr lang="zh-TW" altLang="zh-TW" dirty="0"/>
              <a:t>The routing results are visualized on map-based visualization platform</a:t>
            </a:r>
            <a:r>
              <a:rPr lang="en-US" altLang="zh-TW" dirty="0"/>
              <a:t>s</a:t>
            </a:r>
          </a:p>
        </p:txBody>
      </p:sp>
      <p:pic>
        <p:nvPicPr>
          <p:cNvPr id="13" name="圖片 12">
            <a:extLst>
              <a:ext uri="{FF2B5EF4-FFF2-40B4-BE49-F238E27FC236}">
                <a16:creationId xmlns:a16="http://schemas.microsoft.com/office/drawing/2014/main" id="{D4A04D76-8FF1-8456-5027-74180B4443D3}"/>
              </a:ext>
            </a:extLst>
          </p:cNvPr>
          <p:cNvPicPr>
            <a:picLocks noChangeAspect="1"/>
          </p:cNvPicPr>
          <p:nvPr/>
        </p:nvPicPr>
        <p:blipFill>
          <a:blip r:embed="rId3"/>
          <a:stretch>
            <a:fillRect/>
          </a:stretch>
        </p:blipFill>
        <p:spPr>
          <a:xfrm>
            <a:off x="1036320" y="2470891"/>
            <a:ext cx="4840670" cy="3261842"/>
          </a:xfrm>
          <a:prstGeom prst="rect">
            <a:avLst/>
          </a:prstGeom>
        </p:spPr>
      </p:pic>
      <p:pic>
        <p:nvPicPr>
          <p:cNvPr id="15" name="圖片 14">
            <a:extLst>
              <a:ext uri="{FF2B5EF4-FFF2-40B4-BE49-F238E27FC236}">
                <a16:creationId xmlns:a16="http://schemas.microsoft.com/office/drawing/2014/main" id="{82027927-72EC-38B6-EB29-BA54587BD2E2}"/>
              </a:ext>
            </a:extLst>
          </p:cNvPr>
          <p:cNvPicPr>
            <a:picLocks noChangeAspect="1"/>
          </p:cNvPicPr>
          <p:nvPr/>
        </p:nvPicPr>
        <p:blipFill>
          <a:blip r:embed="rId4"/>
          <a:srcRect r="3902"/>
          <a:stretch>
            <a:fillRect/>
          </a:stretch>
        </p:blipFill>
        <p:spPr>
          <a:xfrm>
            <a:off x="6096001" y="2470891"/>
            <a:ext cx="5410386" cy="3261842"/>
          </a:xfrm>
          <a:prstGeom prst="rect">
            <a:avLst/>
          </a:prstGeom>
        </p:spPr>
      </p:pic>
    </p:spTree>
    <p:extLst>
      <p:ext uri="{BB962C8B-B14F-4D97-AF65-F5344CB8AC3E}">
        <p14:creationId xmlns:p14="http://schemas.microsoft.com/office/powerpoint/2010/main" val="25493765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10FAB0-A0E4-823A-5AA0-43624A0FEE9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E6E19A9-5195-D404-668B-D18C9BC0BCD0}"/>
              </a:ext>
            </a:extLst>
          </p:cNvPr>
          <p:cNvSpPr>
            <a:spLocks noGrp="1"/>
          </p:cNvSpPr>
          <p:nvPr>
            <p:ph type="title"/>
          </p:nvPr>
        </p:nvSpPr>
        <p:spPr/>
        <p:txBody>
          <a:bodyPr/>
          <a:lstStyle/>
          <a:p>
            <a:r>
              <a:rPr lang="en-US" altLang="zh-TW" dirty="0"/>
              <a:t>Evaluation Module</a:t>
            </a:r>
          </a:p>
        </p:txBody>
      </p:sp>
      <p:sp>
        <p:nvSpPr>
          <p:cNvPr id="4" name="投影片編號版面配置區 3">
            <a:extLst>
              <a:ext uri="{FF2B5EF4-FFF2-40B4-BE49-F238E27FC236}">
                <a16:creationId xmlns:a16="http://schemas.microsoft.com/office/drawing/2014/main" id="{6E3D2A4A-1CCA-129C-2F7F-AFEB57933082}"/>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27</a:t>
            </a:fld>
            <a:endParaRPr lang="zh-TW" altLang="en-US" sz="1600"/>
          </a:p>
        </p:txBody>
      </p:sp>
      <p:sp>
        <p:nvSpPr>
          <p:cNvPr id="10" name="內容版面配置區 9">
            <a:extLst>
              <a:ext uri="{FF2B5EF4-FFF2-40B4-BE49-F238E27FC236}">
                <a16:creationId xmlns:a16="http://schemas.microsoft.com/office/drawing/2014/main" id="{338F5130-24B6-BC8D-93DB-13AC61292434}"/>
              </a:ext>
            </a:extLst>
          </p:cNvPr>
          <p:cNvSpPr>
            <a:spLocks noGrp="1"/>
          </p:cNvSpPr>
          <p:nvPr>
            <p:ph idx="1"/>
          </p:nvPr>
        </p:nvSpPr>
        <p:spPr/>
        <p:txBody>
          <a:bodyPr/>
          <a:lstStyle/>
          <a:p>
            <a:r>
              <a:rPr lang="en-US" altLang="zh-TW" dirty="0"/>
              <a:t>The following metrics are used to evaluate the performance of the proposed VRP framework</a:t>
            </a:r>
          </a:p>
          <a:p>
            <a:pPr marL="457200" indent="-457200">
              <a:buFont typeface="+mj-lt"/>
              <a:buAutoNum type="arabicPeriod"/>
            </a:pPr>
            <a:r>
              <a:rPr lang="en-US" altLang="zh-TW" dirty="0"/>
              <a:t>Number of Vehicles</a:t>
            </a:r>
          </a:p>
          <a:p>
            <a:pPr marL="457200" indent="-457200">
              <a:buFont typeface="+mj-lt"/>
              <a:buAutoNum type="arabicPeriod"/>
            </a:pPr>
            <a:r>
              <a:rPr lang="en-US" altLang="zh-TW" dirty="0"/>
              <a:t>Number of Support Vehicles</a:t>
            </a:r>
          </a:p>
          <a:p>
            <a:pPr marL="457200" indent="-457200">
              <a:buFont typeface="+mj-lt"/>
              <a:buAutoNum type="arabicPeriod"/>
            </a:pPr>
            <a:r>
              <a:rPr lang="en-US" altLang="zh-TW" dirty="0"/>
              <a:t>Total Distance</a:t>
            </a:r>
          </a:p>
          <a:p>
            <a:pPr marL="457200" indent="-457200">
              <a:buFont typeface="+mj-lt"/>
              <a:buAutoNum type="arabicPeriod"/>
            </a:pPr>
            <a:r>
              <a:rPr lang="en-US" altLang="zh-TW" dirty="0"/>
              <a:t>Average Load Rate</a:t>
            </a:r>
          </a:p>
          <a:p>
            <a:pPr marL="457200" indent="-457200">
              <a:buFont typeface="+mj-lt"/>
              <a:buAutoNum type="arabicPeriod"/>
            </a:pPr>
            <a:r>
              <a:rPr lang="en-US" altLang="zh-TW" dirty="0"/>
              <a:t>On Time Rate</a:t>
            </a:r>
          </a:p>
          <a:p>
            <a:pPr marL="457200" indent="-457200">
              <a:buFont typeface="+mj-lt"/>
              <a:buAutoNum type="arabicPeriod"/>
            </a:pPr>
            <a:r>
              <a:rPr lang="en-US" altLang="zh-TW" dirty="0"/>
              <a:t>Runtime</a:t>
            </a:r>
          </a:p>
          <a:p>
            <a:pPr marL="0" indent="0">
              <a:buNone/>
            </a:pPr>
            <a:endParaRPr lang="zh-TW" altLang="en-US" dirty="0"/>
          </a:p>
        </p:txBody>
      </p:sp>
    </p:spTree>
    <p:extLst>
      <p:ext uri="{BB962C8B-B14F-4D97-AF65-F5344CB8AC3E}">
        <p14:creationId xmlns:p14="http://schemas.microsoft.com/office/powerpoint/2010/main" val="2422543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0D6655-5F72-37A7-CF71-2350AC44C7E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48C1114-122B-AC5B-7DF7-4E9E99A08369}"/>
              </a:ext>
            </a:extLst>
          </p:cNvPr>
          <p:cNvSpPr>
            <a:spLocks noGrp="1"/>
          </p:cNvSpPr>
          <p:nvPr>
            <p:ph type="title"/>
          </p:nvPr>
        </p:nvSpPr>
        <p:spPr/>
        <p:txBody>
          <a:bodyPr/>
          <a:lstStyle/>
          <a:p>
            <a:r>
              <a:rPr lang="en-US" altLang="zh-TW" dirty="0"/>
              <a:t>The proposed approach</a:t>
            </a:r>
          </a:p>
        </p:txBody>
      </p:sp>
      <p:sp>
        <p:nvSpPr>
          <p:cNvPr id="4" name="投影片編號版面配置區 3">
            <a:extLst>
              <a:ext uri="{FF2B5EF4-FFF2-40B4-BE49-F238E27FC236}">
                <a16:creationId xmlns:a16="http://schemas.microsoft.com/office/drawing/2014/main" id="{34D2C82C-C853-AAB6-5420-A10EF9D8401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28</a:t>
            </a:fld>
            <a:endParaRPr lang="zh-TW" altLang="en-US" sz="1600"/>
          </a:p>
        </p:txBody>
      </p:sp>
      <p:sp>
        <p:nvSpPr>
          <p:cNvPr id="39" name="矩形 38">
            <a:extLst>
              <a:ext uri="{FF2B5EF4-FFF2-40B4-BE49-F238E27FC236}">
                <a16:creationId xmlns:a16="http://schemas.microsoft.com/office/drawing/2014/main" id="{497F6865-92BD-A6D1-15C9-30A4A3E9CC34}"/>
              </a:ext>
            </a:extLst>
          </p:cNvPr>
          <p:cNvSpPr/>
          <p:nvPr/>
        </p:nvSpPr>
        <p:spPr>
          <a:xfrm>
            <a:off x="2207260" y="3713020"/>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矩形 39">
            <a:extLst>
              <a:ext uri="{FF2B5EF4-FFF2-40B4-BE49-F238E27FC236}">
                <a16:creationId xmlns:a16="http://schemas.microsoft.com/office/drawing/2014/main" id="{FA98F779-FD28-D98F-6853-C4F100582DC6}"/>
              </a:ext>
            </a:extLst>
          </p:cNvPr>
          <p:cNvSpPr/>
          <p:nvPr/>
        </p:nvSpPr>
        <p:spPr>
          <a:xfrm>
            <a:off x="2416093" y="3971496"/>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50" dirty="0">
                <a:solidFill>
                  <a:schemeClr val="tx1"/>
                </a:solidFill>
              </a:rPr>
              <a:t>Data Preprocessing</a:t>
            </a:r>
            <a:endParaRPr lang="zh-TW" altLang="en-US" sz="1050" dirty="0">
              <a:solidFill>
                <a:schemeClr val="tx1"/>
              </a:solidFill>
            </a:endParaRPr>
          </a:p>
        </p:txBody>
      </p:sp>
      <p:sp>
        <p:nvSpPr>
          <p:cNvPr id="41" name="矩形 40">
            <a:extLst>
              <a:ext uri="{FF2B5EF4-FFF2-40B4-BE49-F238E27FC236}">
                <a16:creationId xmlns:a16="http://schemas.microsoft.com/office/drawing/2014/main" id="{353F4F1C-2C8E-5F4D-4615-9189F5A0ECD8}"/>
              </a:ext>
            </a:extLst>
          </p:cNvPr>
          <p:cNvSpPr/>
          <p:nvPr/>
        </p:nvSpPr>
        <p:spPr>
          <a:xfrm>
            <a:off x="4032406" y="3971495"/>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Extraction</a:t>
            </a:r>
            <a:endParaRPr lang="zh-TW" altLang="en-US" sz="1000" dirty="0">
              <a:solidFill>
                <a:schemeClr val="tx1"/>
              </a:solidFill>
            </a:endParaRPr>
          </a:p>
        </p:txBody>
      </p:sp>
      <p:sp>
        <p:nvSpPr>
          <p:cNvPr id="42" name="矩形 41">
            <a:extLst>
              <a:ext uri="{FF2B5EF4-FFF2-40B4-BE49-F238E27FC236}">
                <a16:creationId xmlns:a16="http://schemas.microsoft.com/office/drawing/2014/main" id="{31C5FA5B-B530-E78B-9D29-5B73B86AF785}"/>
              </a:ext>
            </a:extLst>
          </p:cNvPr>
          <p:cNvSpPr/>
          <p:nvPr/>
        </p:nvSpPr>
        <p:spPr>
          <a:xfrm>
            <a:off x="5416858" y="3973089"/>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Store Assignment</a:t>
            </a:r>
            <a:endParaRPr lang="zh-TW" altLang="en-US" sz="1000" dirty="0">
              <a:solidFill>
                <a:schemeClr val="tx1"/>
              </a:solidFill>
            </a:endParaRPr>
          </a:p>
        </p:txBody>
      </p:sp>
      <p:sp>
        <p:nvSpPr>
          <p:cNvPr id="43" name="矩形 42">
            <a:extLst>
              <a:ext uri="{FF2B5EF4-FFF2-40B4-BE49-F238E27FC236}">
                <a16:creationId xmlns:a16="http://schemas.microsoft.com/office/drawing/2014/main" id="{A299B320-2F63-0CF4-0DA8-4404A4280E8A}"/>
              </a:ext>
            </a:extLst>
          </p:cNvPr>
          <p:cNvSpPr/>
          <p:nvPr/>
        </p:nvSpPr>
        <p:spPr>
          <a:xfrm>
            <a:off x="8546197" y="3978422"/>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Performance Evaluation</a:t>
            </a:r>
            <a:endParaRPr lang="zh-TW" altLang="en-US" sz="1000" dirty="0">
              <a:solidFill>
                <a:schemeClr val="tx1"/>
              </a:solidFill>
            </a:endParaRPr>
          </a:p>
        </p:txBody>
      </p:sp>
      <p:sp>
        <p:nvSpPr>
          <p:cNvPr id="45" name="矩形 44">
            <a:extLst>
              <a:ext uri="{FF2B5EF4-FFF2-40B4-BE49-F238E27FC236}">
                <a16:creationId xmlns:a16="http://schemas.microsoft.com/office/drawing/2014/main" id="{FBDCE885-1E36-551E-AD89-174CAE9D3B85}"/>
              </a:ext>
            </a:extLst>
          </p:cNvPr>
          <p:cNvSpPr/>
          <p:nvPr/>
        </p:nvSpPr>
        <p:spPr>
          <a:xfrm>
            <a:off x="5394947" y="2488190"/>
            <a:ext cx="971297"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Google Maps Routes API</a:t>
            </a:r>
            <a:endParaRPr lang="zh-TW" altLang="en-US" sz="1000" dirty="0">
              <a:solidFill>
                <a:schemeClr val="tx1"/>
              </a:solidFill>
            </a:endParaRPr>
          </a:p>
        </p:txBody>
      </p:sp>
      <p:sp>
        <p:nvSpPr>
          <p:cNvPr id="46" name="矩形 45">
            <a:extLst>
              <a:ext uri="{FF2B5EF4-FFF2-40B4-BE49-F238E27FC236}">
                <a16:creationId xmlns:a16="http://schemas.microsoft.com/office/drawing/2014/main" id="{A36DAB94-1763-F371-C6B1-6C96B13528A6}"/>
              </a:ext>
            </a:extLst>
          </p:cNvPr>
          <p:cNvSpPr/>
          <p:nvPr/>
        </p:nvSpPr>
        <p:spPr>
          <a:xfrm>
            <a:off x="4029382" y="2483833"/>
            <a:ext cx="973389"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OSRM</a:t>
            </a:r>
            <a:endParaRPr lang="zh-TW" altLang="en-US" sz="1000" dirty="0">
              <a:solidFill>
                <a:schemeClr val="tx1"/>
              </a:solidFill>
            </a:endParaRPr>
          </a:p>
        </p:txBody>
      </p:sp>
      <p:cxnSp>
        <p:nvCxnSpPr>
          <p:cNvPr id="48" name="直線單箭頭接點 47">
            <a:extLst>
              <a:ext uri="{FF2B5EF4-FFF2-40B4-BE49-F238E27FC236}">
                <a16:creationId xmlns:a16="http://schemas.microsoft.com/office/drawing/2014/main" id="{0E75D82D-D03E-FF41-F172-78C51AEC4A90}"/>
              </a:ext>
            </a:extLst>
          </p:cNvPr>
          <p:cNvCxnSpPr>
            <a:cxnSpLocks/>
            <a:endCxn id="40" idx="1"/>
          </p:cNvCxnSpPr>
          <p:nvPr/>
        </p:nvCxnSpPr>
        <p:spPr>
          <a:xfrm flipV="1">
            <a:off x="1637714" y="4238267"/>
            <a:ext cx="7783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直線單箭頭接點 48">
            <a:extLst>
              <a:ext uri="{FF2B5EF4-FFF2-40B4-BE49-F238E27FC236}">
                <a16:creationId xmlns:a16="http://schemas.microsoft.com/office/drawing/2014/main" id="{EF74ABE5-C2F1-33F4-3FF5-ECE8CCD1777D}"/>
              </a:ext>
            </a:extLst>
          </p:cNvPr>
          <p:cNvCxnSpPr>
            <a:cxnSpLocks/>
            <a:stCxn id="43" idx="3"/>
          </p:cNvCxnSpPr>
          <p:nvPr/>
        </p:nvCxnSpPr>
        <p:spPr>
          <a:xfrm flipV="1">
            <a:off x="9517494" y="4242191"/>
            <a:ext cx="754355" cy="3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文字方塊 49">
            <a:extLst>
              <a:ext uri="{FF2B5EF4-FFF2-40B4-BE49-F238E27FC236}">
                <a16:creationId xmlns:a16="http://schemas.microsoft.com/office/drawing/2014/main" id="{21D800B9-5D1B-A4F8-F1D2-827328AA0B02}"/>
              </a:ext>
            </a:extLst>
          </p:cNvPr>
          <p:cNvSpPr txBox="1"/>
          <p:nvPr/>
        </p:nvSpPr>
        <p:spPr>
          <a:xfrm>
            <a:off x="2352890" y="4642440"/>
            <a:ext cx="1101961" cy="246221"/>
          </a:xfrm>
          <a:prstGeom prst="rect">
            <a:avLst/>
          </a:prstGeom>
          <a:noFill/>
        </p:spPr>
        <p:txBody>
          <a:bodyPr wrap="square" rtlCol="0">
            <a:spAutoFit/>
          </a:bodyPr>
          <a:lstStyle/>
          <a:p>
            <a:pPr algn="ctr"/>
            <a:r>
              <a:rPr lang="en-US" altLang="zh-TW" sz="1000" dirty="0"/>
              <a:t>Data Module</a:t>
            </a:r>
            <a:endParaRPr lang="zh-TW" altLang="en-US" sz="1000" dirty="0"/>
          </a:p>
        </p:txBody>
      </p:sp>
      <p:cxnSp>
        <p:nvCxnSpPr>
          <p:cNvPr id="51" name="直線單箭頭接點 50">
            <a:extLst>
              <a:ext uri="{FF2B5EF4-FFF2-40B4-BE49-F238E27FC236}">
                <a16:creationId xmlns:a16="http://schemas.microsoft.com/office/drawing/2014/main" id="{3E319827-03D4-7150-D8B1-E8904034E1C6}"/>
              </a:ext>
            </a:extLst>
          </p:cNvPr>
          <p:cNvCxnSpPr>
            <a:cxnSpLocks/>
            <a:stCxn id="40" idx="3"/>
            <a:endCxn id="41" idx="1"/>
          </p:cNvCxnSpPr>
          <p:nvPr/>
        </p:nvCxnSpPr>
        <p:spPr>
          <a:xfrm flipV="1">
            <a:off x="3389482" y="4238266"/>
            <a:ext cx="6429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90583BBF-7E12-405A-D563-06ED6D3DA561}"/>
              </a:ext>
            </a:extLst>
          </p:cNvPr>
          <p:cNvCxnSpPr>
            <a:cxnSpLocks/>
            <a:stCxn id="41" idx="3"/>
            <a:endCxn id="42" idx="1"/>
          </p:cNvCxnSpPr>
          <p:nvPr/>
        </p:nvCxnSpPr>
        <p:spPr>
          <a:xfrm>
            <a:off x="5005795" y="4238266"/>
            <a:ext cx="411063" cy="15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矩形 52">
            <a:extLst>
              <a:ext uri="{FF2B5EF4-FFF2-40B4-BE49-F238E27FC236}">
                <a16:creationId xmlns:a16="http://schemas.microsoft.com/office/drawing/2014/main" id="{0E8257BC-7E95-5BC6-679A-01A970D13546}"/>
              </a:ext>
            </a:extLst>
          </p:cNvPr>
          <p:cNvSpPr/>
          <p:nvPr/>
        </p:nvSpPr>
        <p:spPr>
          <a:xfrm>
            <a:off x="8350917" y="3727824"/>
            <a:ext cx="137277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a:extLst>
              <a:ext uri="{FF2B5EF4-FFF2-40B4-BE49-F238E27FC236}">
                <a16:creationId xmlns:a16="http://schemas.microsoft.com/office/drawing/2014/main" id="{992E2BD2-8509-79A5-7AAD-327EECCCC3F3}"/>
              </a:ext>
            </a:extLst>
          </p:cNvPr>
          <p:cNvSpPr/>
          <p:nvPr/>
        </p:nvSpPr>
        <p:spPr>
          <a:xfrm>
            <a:off x="3814907" y="3713020"/>
            <a:ext cx="4144530"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文字方塊 54">
            <a:extLst>
              <a:ext uri="{FF2B5EF4-FFF2-40B4-BE49-F238E27FC236}">
                <a16:creationId xmlns:a16="http://schemas.microsoft.com/office/drawing/2014/main" id="{8B228DAD-7402-E320-D380-338753471CFD}"/>
              </a:ext>
            </a:extLst>
          </p:cNvPr>
          <p:cNvSpPr txBox="1"/>
          <p:nvPr/>
        </p:nvSpPr>
        <p:spPr>
          <a:xfrm>
            <a:off x="3845719" y="4642440"/>
            <a:ext cx="4249007" cy="246221"/>
          </a:xfrm>
          <a:prstGeom prst="rect">
            <a:avLst/>
          </a:prstGeom>
          <a:noFill/>
        </p:spPr>
        <p:txBody>
          <a:bodyPr wrap="square" rtlCol="0">
            <a:spAutoFit/>
          </a:bodyPr>
          <a:lstStyle/>
          <a:p>
            <a:pPr algn="ctr"/>
            <a:r>
              <a:rPr lang="en-US" altLang="zh-TW" sz="1000" dirty="0"/>
              <a:t>Routing Module</a:t>
            </a:r>
            <a:endParaRPr lang="zh-TW" altLang="en-US" sz="1000" dirty="0"/>
          </a:p>
        </p:txBody>
      </p:sp>
      <p:sp>
        <p:nvSpPr>
          <p:cNvPr id="56" name="矩形 55">
            <a:extLst>
              <a:ext uri="{FF2B5EF4-FFF2-40B4-BE49-F238E27FC236}">
                <a16:creationId xmlns:a16="http://schemas.microsoft.com/office/drawing/2014/main" id="{6AFA9B27-F4DC-BA54-3B53-0B536BF52935}"/>
              </a:ext>
            </a:extLst>
          </p:cNvPr>
          <p:cNvSpPr/>
          <p:nvPr/>
        </p:nvSpPr>
        <p:spPr>
          <a:xfrm>
            <a:off x="6784509" y="3977014"/>
            <a:ext cx="969210" cy="533541"/>
          </a:xfrm>
          <a:prstGeom prst="rect">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000" dirty="0">
                <a:solidFill>
                  <a:schemeClr val="tx1"/>
                </a:solidFill>
              </a:rPr>
              <a:t>Support Route</a:t>
            </a:r>
          </a:p>
          <a:p>
            <a:pPr algn="ctr"/>
            <a:r>
              <a:rPr lang="en-US" altLang="zh-TW" sz="1000" dirty="0">
                <a:solidFill>
                  <a:schemeClr val="tx1"/>
                </a:solidFill>
              </a:rPr>
              <a:t>Planning</a:t>
            </a:r>
            <a:endParaRPr lang="zh-TW" altLang="en-US" sz="1000" dirty="0">
              <a:solidFill>
                <a:schemeClr val="tx1"/>
              </a:solidFill>
            </a:endParaRPr>
          </a:p>
        </p:txBody>
      </p:sp>
      <p:cxnSp>
        <p:nvCxnSpPr>
          <p:cNvPr id="57" name="直線單箭頭接點 56">
            <a:extLst>
              <a:ext uri="{FF2B5EF4-FFF2-40B4-BE49-F238E27FC236}">
                <a16:creationId xmlns:a16="http://schemas.microsoft.com/office/drawing/2014/main" id="{C44DC62C-D8D1-6969-52CE-8A0CFA432B55}"/>
              </a:ext>
            </a:extLst>
          </p:cNvPr>
          <p:cNvCxnSpPr>
            <a:cxnSpLocks/>
            <a:stCxn id="42" idx="3"/>
            <a:endCxn id="56" idx="1"/>
          </p:cNvCxnSpPr>
          <p:nvPr/>
        </p:nvCxnSpPr>
        <p:spPr>
          <a:xfrm>
            <a:off x="6390247" y="4239860"/>
            <a:ext cx="394262" cy="39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文字方塊 57">
            <a:extLst>
              <a:ext uri="{FF2B5EF4-FFF2-40B4-BE49-F238E27FC236}">
                <a16:creationId xmlns:a16="http://schemas.microsoft.com/office/drawing/2014/main" id="{E7E2E9C6-2158-8AFF-02E0-52F59C9DCF15}"/>
              </a:ext>
            </a:extLst>
          </p:cNvPr>
          <p:cNvSpPr txBox="1"/>
          <p:nvPr/>
        </p:nvSpPr>
        <p:spPr>
          <a:xfrm>
            <a:off x="8355648" y="4641210"/>
            <a:ext cx="1368040" cy="246221"/>
          </a:xfrm>
          <a:prstGeom prst="rect">
            <a:avLst/>
          </a:prstGeom>
          <a:noFill/>
        </p:spPr>
        <p:txBody>
          <a:bodyPr wrap="square" rtlCol="0">
            <a:spAutoFit/>
          </a:bodyPr>
          <a:lstStyle/>
          <a:p>
            <a:pPr algn="ctr"/>
            <a:r>
              <a:rPr lang="en-US" altLang="zh-TW" sz="1000" dirty="0"/>
              <a:t>Evaluation Module</a:t>
            </a:r>
            <a:endParaRPr lang="zh-TW" altLang="en-US" sz="1000" dirty="0"/>
          </a:p>
        </p:txBody>
      </p:sp>
      <p:sp>
        <p:nvSpPr>
          <p:cNvPr id="64" name="矩形 63">
            <a:extLst>
              <a:ext uri="{FF2B5EF4-FFF2-40B4-BE49-F238E27FC236}">
                <a16:creationId xmlns:a16="http://schemas.microsoft.com/office/drawing/2014/main" id="{D5AF7F7E-0E3E-E23C-83A9-D9EF5DE93C9C}"/>
              </a:ext>
            </a:extLst>
          </p:cNvPr>
          <p:cNvSpPr/>
          <p:nvPr/>
        </p:nvSpPr>
        <p:spPr>
          <a:xfrm>
            <a:off x="3814907" y="2221202"/>
            <a:ext cx="2757055" cy="1246908"/>
          </a:xfrm>
          <a:prstGeom prst="rect">
            <a:avLst/>
          </a:prstGeom>
          <a:noFill/>
          <a:ln w="127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文字方塊 64">
            <a:extLst>
              <a:ext uri="{FF2B5EF4-FFF2-40B4-BE49-F238E27FC236}">
                <a16:creationId xmlns:a16="http://schemas.microsoft.com/office/drawing/2014/main" id="{E48100B4-90E9-6147-5E26-48D6FC3A9A72}"/>
              </a:ext>
            </a:extLst>
          </p:cNvPr>
          <p:cNvSpPr txBox="1"/>
          <p:nvPr/>
        </p:nvSpPr>
        <p:spPr>
          <a:xfrm>
            <a:off x="3814907" y="3150622"/>
            <a:ext cx="2757054" cy="246221"/>
          </a:xfrm>
          <a:prstGeom prst="rect">
            <a:avLst/>
          </a:prstGeom>
          <a:noFill/>
        </p:spPr>
        <p:txBody>
          <a:bodyPr wrap="square" rtlCol="0">
            <a:spAutoFit/>
          </a:bodyPr>
          <a:lstStyle/>
          <a:p>
            <a:pPr algn="ctr"/>
            <a:r>
              <a:rPr lang="en-US" altLang="zh-TW" sz="1000" dirty="0"/>
              <a:t>API Module</a:t>
            </a:r>
            <a:endParaRPr lang="zh-TW" altLang="en-US" sz="1000" dirty="0"/>
          </a:p>
        </p:txBody>
      </p:sp>
      <p:cxnSp>
        <p:nvCxnSpPr>
          <p:cNvPr id="66" name="接點: 肘形 65">
            <a:extLst>
              <a:ext uri="{FF2B5EF4-FFF2-40B4-BE49-F238E27FC236}">
                <a16:creationId xmlns:a16="http://schemas.microsoft.com/office/drawing/2014/main" id="{E94B0C1D-46E5-2A19-FAA8-6F237991A0C7}"/>
              </a:ext>
            </a:extLst>
          </p:cNvPr>
          <p:cNvCxnSpPr>
            <a:cxnSpLocks/>
          </p:cNvCxnSpPr>
          <p:nvPr/>
        </p:nvCxnSpPr>
        <p:spPr>
          <a:xfrm rot="5400000" flipH="1" flipV="1">
            <a:off x="2743068" y="2690702"/>
            <a:ext cx="1342991" cy="1229635"/>
          </a:xfrm>
          <a:prstGeom prst="bentConnector3">
            <a:avLst>
              <a:gd name="adj1" fmla="val 10000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接點: 肘形 66">
            <a:extLst>
              <a:ext uri="{FF2B5EF4-FFF2-40B4-BE49-F238E27FC236}">
                <a16:creationId xmlns:a16="http://schemas.microsoft.com/office/drawing/2014/main" id="{0E62BA7B-6D47-0D34-4FCF-CE6492874848}"/>
              </a:ext>
            </a:extLst>
          </p:cNvPr>
          <p:cNvCxnSpPr>
            <a:cxnSpLocks/>
          </p:cNvCxnSpPr>
          <p:nvPr/>
        </p:nvCxnSpPr>
        <p:spPr>
          <a:xfrm rot="5400000">
            <a:off x="2990892" y="2931332"/>
            <a:ext cx="1106015" cy="970965"/>
          </a:xfrm>
          <a:prstGeom prst="bentConnector3">
            <a:avLst>
              <a:gd name="adj1" fmla="val 26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992F4FA-59FB-1261-5541-87EFA94AD90D}"/>
              </a:ext>
            </a:extLst>
          </p:cNvPr>
          <p:cNvCxnSpPr>
            <a:cxnSpLocks/>
          </p:cNvCxnSpPr>
          <p:nvPr/>
        </p:nvCxnSpPr>
        <p:spPr>
          <a:xfrm flipH="1" flipV="1">
            <a:off x="5780821" y="3021731"/>
            <a:ext cx="1043" cy="9552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流程圖: 磁碟 72">
            <a:extLst>
              <a:ext uri="{FF2B5EF4-FFF2-40B4-BE49-F238E27FC236}">
                <a16:creationId xmlns:a16="http://schemas.microsoft.com/office/drawing/2014/main" id="{ADF9F460-E6A9-85E4-9563-7E156E4E8531}"/>
              </a:ext>
            </a:extLst>
          </p:cNvPr>
          <p:cNvSpPr/>
          <p:nvPr/>
        </p:nvSpPr>
        <p:spPr>
          <a:xfrm>
            <a:off x="10264923" y="3823855"/>
            <a:ext cx="792480" cy="896431"/>
          </a:xfrm>
          <a:prstGeom prst="flowChartMagneticDisk">
            <a:avLst/>
          </a:prstGeom>
          <a:solidFill>
            <a:schemeClr val="tx2">
              <a:lumMod val="10000"/>
              <a:lumOff val="9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grpSp>
        <p:nvGrpSpPr>
          <p:cNvPr id="77" name="群組 76">
            <a:extLst>
              <a:ext uri="{FF2B5EF4-FFF2-40B4-BE49-F238E27FC236}">
                <a16:creationId xmlns:a16="http://schemas.microsoft.com/office/drawing/2014/main" id="{5137084C-E2FF-FB6A-2B7D-F5759395BCF7}"/>
              </a:ext>
            </a:extLst>
          </p:cNvPr>
          <p:cNvGrpSpPr/>
          <p:nvPr/>
        </p:nvGrpSpPr>
        <p:grpSpPr>
          <a:xfrm>
            <a:off x="901099" y="3823855"/>
            <a:ext cx="792483" cy="896431"/>
            <a:chOff x="1181097" y="2391884"/>
            <a:chExt cx="792483" cy="823755"/>
          </a:xfrm>
        </p:grpSpPr>
        <p:sp>
          <p:nvSpPr>
            <p:cNvPr id="78" name="流程圖: 磁碟 77">
              <a:extLst>
                <a:ext uri="{FF2B5EF4-FFF2-40B4-BE49-F238E27FC236}">
                  <a16:creationId xmlns:a16="http://schemas.microsoft.com/office/drawing/2014/main" id="{DDC35C89-675C-222E-08F9-064AD1B9E528}"/>
                </a:ext>
              </a:extLst>
            </p:cNvPr>
            <p:cNvSpPr/>
            <p:nvPr/>
          </p:nvSpPr>
          <p:spPr>
            <a:xfrm>
              <a:off x="1181100" y="2391884"/>
              <a:ext cx="792480" cy="823755"/>
            </a:xfrm>
            <a:prstGeom prst="flowChartMagneticDisk">
              <a:avLst/>
            </a:prstGeom>
            <a:solidFill>
              <a:schemeClr val="bg1"/>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TW" altLang="en-US" dirty="0"/>
            </a:p>
          </p:txBody>
        </p:sp>
        <p:sp>
          <p:nvSpPr>
            <p:cNvPr id="80" name="文字方塊 8">
              <a:extLst>
                <a:ext uri="{FF2B5EF4-FFF2-40B4-BE49-F238E27FC236}">
                  <a16:creationId xmlns:a16="http://schemas.microsoft.com/office/drawing/2014/main" id="{730B14EB-0972-337B-C7FE-52C2C02A3C2F}"/>
                </a:ext>
              </a:extLst>
            </p:cNvPr>
            <p:cNvSpPr txBox="1"/>
            <p:nvPr/>
          </p:nvSpPr>
          <p:spPr>
            <a:xfrm>
              <a:off x="1181097" y="2657183"/>
              <a:ext cx="792481" cy="220881"/>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Manually</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2" name="文字方塊 8">
              <a:extLst>
                <a:ext uri="{FF2B5EF4-FFF2-40B4-BE49-F238E27FC236}">
                  <a16:creationId xmlns:a16="http://schemas.microsoft.com/office/drawing/2014/main" id="{9798D1DD-D3BB-2895-9A44-A1696E4C9892}"/>
                </a:ext>
              </a:extLst>
            </p:cNvPr>
            <p:cNvSpPr txBox="1"/>
            <p:nvPr/>
          </p:nvSpPr>
          <p:spPr>
            <a:xfrm>
              <a:off x="1181099" y="2932347"/>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grpSp>
      <p:sp>
        <p:nvSpPr>
          <p:cNvPr id="83" name="文字方塊 8">
            <a:extLst>
              <a:ext uri="{FF2B5EF4-FFF2-40B4-BE49-F238E27FC236}">
                <a16:creationId xmlns:a16="http://schemas.microsoft.com/office/drawing/2014/main" id="{B5CA1A29-91C7-50C5-A601-125DFB22253F}"/>
              </a:ext>
            </a:extLst>
          </p:cNvPr>
          <p:cNvSpPr txBox="1"/>
          <p:nvPr/>
        </p:nvSpPr>
        <p:spPr>
          <a:xfrm>
            <a:off x="887245" y="427207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Planned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4" name="文字方塊 8">
            <a:extLst>
              <a:ext uri="{FF2B5EF4-FFF2-40B4-BE49-F238E27FC236}">
                <a16:creationId xmlns:a16="http://schemas.microsoft.com/office/drawing/2014/main" id="{2354D72A-F20F-CC55-A818-27EB1C274F1F}"/>
              </a:ext>
            </a:extLst>
          </p:cNvPr>
          <p:cNvSpPr txBox="1"/>
          <p:nvPr/>
        </p:nvSpPr>
        <p:spPr>
          <a:xfrm>
            <a:off x="10271847" y="4115510"/>
            <a:ext cx="792479" cy="259366"/>
          </a:xfrm>
          <a:prstGeom prst="rect">
            <a:avLst/>
          </a:prstGeom>
          <a:noFill/>
        </p:spPr>
        <p:txBody>
          <a:bodyPr wrap="square" rtlCol="0">
            <a:spAutoFit/>
          </a:bodyPr>
          <a:lstStyle/>
          <a:p>
            <a:pPr algn="ctr">
              <a:lnSpc>
                <a:spcPct val="115000"/>
              </a:lnSpc>
              <a:spcAft>
                <a:spcPts val="800"/>
              </a:spcAft>
              <a:buNone/>
            </a:pPr>
            <a:r>
              <a:rPr lang="en-US"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Optimized</a:t>
            </a:r>
            <a:endParaRPr lang="zh-TW"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sp>
        <p:nvSpPr>
          <p:cNvPr id="85" name="文字方塊 8">
            <a:extLst>
              <a:ext uri="{FF2B5EF4-FFF2-40B4-BE49-F238E27FC236}">
                <a16:creationId xmlns:a16="http://schemas.microsoft.com/office/drawing/2014/main" id="{FDA32E35-19D5-4009-E272-4F57717461C8}"/>
              </a:ext>
            </a:extLst>
          </p:cNvPr>
          <p:cNvSpPr txBox="1"/>
          <p:nvPr/>
        </p:nvSpPr>
        <p:spPr>
          <a:xfrm>
            <a:off x="10278774" y="4288508"/>
            <a:ext cx="792479" cy="259366"/>
          </a:xfrm>
          <a:prstGeom prst="rect">
            <a:avLst/>
          </a:prstGeom>
          <a:noFill/>
        </p:spPr>
        <p:txBody>
          <a:bodyPr wrap="square" rtlCol="0">
            <a:spAutoFit/>
          </a:bodyPr>
          <a:lstStyle/>
          <a:p>
            <a:pPr algn="ctr">
              <a:lnSpc>
                <a:spcPct val="115000"/>
              </a:lnSpc>
              <a:spcAft>
                <a:spcPts val="800"/>
              </a:spcAft>
              <a:buNone/>
            </a:pPr>
            <a:r>
              <a:rPr lang="en-US" altLang="zh-TW" sz="1000" kern="12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Route Data</a:t>
            </a:r>
            <a:endParaRPr lang="zh-TW" sz="16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86" name="直線單箭頭接點 85">
            <a:extLst>
              <a:ext uri="{FF2B5EF4-FFF2-40B4-BE49-F238E27FC236}">
                <a16:creationId xmlns:a16="http://schemas.microsoft.com/office/drawing/2014/main" id="{767348D9-7D46-EDC8-656F-7CD08B05B3A6}"/>
              </a:ext>
            </a:extLst>
          </p:cNvPr>
          <p:cNvCxnSpPr>
            <a:cxnSpLocks/>
            <a:stCxn id="56" idx="3"/>
            <a:endCxn id="43" idx="1"/>
          </p:cNvCxnSpPr>
          <p:nvPr/>
        </p:nvCxnSpPr>
        <p:spPr>
          <a:xfrm>
            <a:off x="7753719" y="4243785"/>
            <a:ext cx="792478" cy="1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直線單箭頭接點 86">
            <a:extLst>
              <a:ext uri="{FF2B5EF4-FFF2-40B4-BE49-F238E27FC236}">
                <a16:creationId xmlns:a16="http://schemas.microsoft.com/office/drawing/2014/main" id="{CE2E2493-4061-6B07-CD2E-B874E5BACABD}"/>
              </a:ext>
            </a:extLst>
          </p:cNvPr>
          <p:cNvCxnSpPr>
            <a:cxnSpLocks/>
          </p:cNvCxnSpPr>
          <p:nvPr/>
        </p:nvCxnSpPr>
        <p:spPr>
          <a:xfrm>
            <a:off x="5980564" y="3024694"/>
            <a:ext cx="0" cy="952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接點: 肘形 87">
            <a:extLst>
              <a:ext uri="{FF2B5EF4-FFF2-40B4-BE49-F238E27FC236}">
                <a16:creationId xmlns:a16="http://schemas.microsoft.com/office/drawing/2014/main" id="{2E46868A-33E6-92DA-FEFD-D9912D9CB0FB}"/>
              </a:ext>
            </a:extLst>
          </p:cNvPr>
          <p:cNvCxnSpPr>
            <a:cxnSpLocks/>
          </p:cNvCxnSpPr>
          <p:nvPr/>
        </p:nvCxnSpPr>
        <p:spPr>
          <a:xfrm rot="16200000" flipH="1">
            <a:off x="6216892" y="2796745"/>
            <a:ext cx="1339501" cy="1023856"/>
          </a:xfrm>
          <a:prstGeom prst="bentConnector3">
            <a:avLst>
              <a:gd name="adj1" fmla="val -16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接點: 肘形 88">
            <a:extLst>
              <a:ext uri="{FF2B5EF4-FFF2-40B4-BE49-F238E27FC236}">
                <a16:creationId xmlns:a16="http://schemas.microsoft.com/office/drawing/2014/main" id="{69BF7B68-8B3A-64A6-2A3A-BD3E3F350D49}"/>
              </a:ext>
            </a:extLst>
          </p:cNvPr>
          <p:cNvCxnSpPr>
            <a:cxnSpLocks/>
          </p:cNvCxnSpPr>
          <p:nvPr/>
        </p:nvCxnSpPr>
        <p:spPr>
          <a:xfrm rot="16200000" flipV="1">
            <a:off x="6210910" y="3031511"/>
            <a:ext cx="1103789" cy="776180"/>
          </a:xfrm>
          <a:prstGeom prst="bentConnector3">
            <a:avLst>
              <a:gd name="adj1" fmla="val 10005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77084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94C335-F256-58F4-67A5-81285FACF99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8A9A4C5-60AA-EF04-4AE2-76FB2BC43471}"/>
              </a:ext>
            </a:extLst>
          </p:cNvPr>
          <p:cNvSpPr>
            <a:spLocks noGrp="1"/>
          </p:cNvSpPr>
          <p:nvPr>
            <p:ph type="title"/>
          </p:nvPr>
        </p:nvSpPr>
        <p:spPr/>
        <p:txBody>
          <a:bodyPr/>
          <a:lstStyle/>
          <a:p>
            <a:r>
              <a:rPr lang="en-US" altLang="zh-TW" dirty="0"/>
              <a:t>Optimized Route Data</a:t>
            </a:r>
            <a:endParaRPr lang="zh-TW" altLang="en-US" dirty="0"/>
          </a:p>
        </p:txBody>
      </p:sp>
      <p:sp>
        <p:nvSpPr>
          <p:cNvPr id="4" name="投影片編號版面配置區 3">
            <a:extLst>
              <a:ext uri="{FF2B5EF4-FFF2-40B4-BE49-F238E27FC236}">
                <a16:creationId xmlns:a16="http://schemas.microsoft.com/office/drawing/2014/main" id="{51A51500-0C26-12E4-6808-C3EFE45EF3D1}"/>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29</a:t>
            </a:fld>
            <a:endParaRPr lang="zh-TW" altLang="en-US" sz="1600" dirty="0"/>
          </a:p>
        </p:txBody>
      </p:sp>
      <p:pic>
        <p:nvPicPr>
          <p:cNvPr id="7" name="圖片 6">
            <a:extLst>
              <a:ext uri="{FF2B5EF4-FFF2-40B4-BE49-F238E27FC236}">
                <a16:creationId xmlns:a16="http://schemas.microsoft.com/office/drawing/2014/main" id="{67215ADB-D91F-B5BD-4E84-9DCDAF0FB666}"/>
              </a:ext>
            </a:extLst>
          </p:cNvPr>
          <p:cNvPicPr>
            <a:picLocks noChangeAspect="1"/>
          </p:cNvPicPr>
          <p:nvPr/>
        </p:nvPicPr>
        <p:blipFill>
          <a:blip r:embed="rId3"/>
          <a:srcRect l="1555" t="3209" r="30710" b="38986"/>
          <a:stretch>
            <a:fillRect/>
          </a:stretch>
        </p:blipFill>
        <p:spPr>
          <a:xfrm>
            <a:off x="1154084" y="2229022"/>
            <a:ext cx="8595558" cy="3555176"/>
          </a:xfrm>
          <a:prstGeom prst="rect">
            <a:avLst/>
          </a:prstGeom>
        </p:spPr>
      </p:pic>
    </p:spTree>
    <p:extLst>
      <p:ext uri="{BB962C8B-B14F-4D97-AF65-F5344CB8AC3E}">
        <p14:creationId xmlns:p14="http://schemas.microsoft.com/office/powerpoint/2010/main" val="40333158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9DB30E-D6A4-A194-2B05-8842C85A2907}"/>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ABDC1DF-149D-9936-C341-93B96ECB40BC}"/>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68F62BB8-5859-7DA0-8954-D1FD69C97740}"/>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4E306AF4-B507-B555-86C3-54915D3C799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30</a:t>
            </a:fld>
            <a:endParaRPr lang="zh-TW" altLang="en-US" sz="1600" dirty="0"/>
          </a:p>
        </p:txBody>
      </p:sp>
    </p:spTree>
    <p:extLst>
      <p:ext uri="{BB962C8B-B14F-4D97-AF65-F5344CB8AC3E}">
        <p14:creationId xmlns:p14="http://schemas.microsoft.com/office/powerpoint/2010/main" val="11367220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EA1023-1C36-6CAD-6064-C2B0D42854B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1A638B2-283B-34D1-9BCF-C2FFC07990DD}"/>
              </a:ext>
            </a:extLst>
          </p:cNvPr>
          <p:cNvSpPr>
            <a:spLocks noGrp="1"/>
          </p:cNvSpPr>
          <p:nvPr>
            <p:ph type="title"/>
          </p:nvPr>
        </p:nvSpPr>
        <p:spPr/>
        <p:txBody>
          <a:bodyPr/>
          <a:lstStyle/>
          <a:p>
            <a:r>
              <a:rPr lang="en-US" altLang="zh-TW" dirty="0"/>
              <a:t>Experiment</a:t>
            </a:r>
          </a:p>
        </p:txBody>
      </p:sp>
      <p:sp>
        <p:nvSpPr>
          <p:cNvPr id="4" name="投影片編號版面配置區 3">
            <a:extLst>
              <a:ext uri="{FF2B5EF4-FFF2-40B4-BE49-F238E27FC236}">
                <a16:creationId xmlns:a16="http://schemas.microsoft.com/office/drawing/2014/main" id="{28FCF5AE-BD0F-BF37-0B85-E7D6577D256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31</a:t>
            </a:fld>
            <a:endParaRPr lang="zh-TW" altLang="en-US" sz="1600" dirty="0"/>
          </a:p>
        </p:txBody>
      </p:sp>
      <p:graphicFrame>
        <p:nvGraphicFramePr>
          <p:cNvPr id="5" name="內容版面配置區 4">
            <a:extLst>
              <a:ext uri="{FF2B5EF4-FFF2-40B4-BE49-F238E27FC236}">
                <a16:creationId xmlns:a16="http://schemas.microsoft.com/office/drawing/2014/main" id="{C2D34CE8-74F9-FDE1-D427-1E6A80436B7C}"/>
              </a:ext>
            </a:extLst>
          </p:cNvPr>
          <p:cNvGraphicFramePr>
            <a:graphicFrameLocks noGrp="1"/>
          </p:cNvGraphicFramePr>
          <p:nvPr>
            <p:ph idx="1"/>
            <p:extLst>
              <p:ext uri="{D42A27DB-BD31-4B8C-83A1-F6EECF244321}">
                <p14:modId xmlns:p14="http://schemas.microsoft.com/office/powerpoint/2010/main" val="4197221646"/>
              </p:ext>
            </p:extLst>
          </p:nvPr>
        </p:nvGraphicFramePr>
        <p:xfrm>
          <a:off x="3000935" y="2203181"/>
          <a:ext cx="6190130" cy="3045464"/>
        </p:xfrm>
        <a:graphic>
          <a:graphicData uri="http://schemas.openxmlformats.org/drawingml/2006/table">
            <a:tbl>
              <a:tblPr firstCol="1">
                <a:tableStyleId>{5C22544A-7EE6-4342-B048-85BDC9FD1C3A}</a:tableStyleId>
              </a:tblPr>
              <a:tblGrid>
                <a:gridCol w="1531503">
                  <a:extLst>
                    <a:ext uri="{9D8B030D-6E8A-4147-A177-3AD203B41FA5}">
                      <a16:colId xmlns:a16="http://schemas.microsoft.com/office/drawing/2014/main" val="1458894256"/>
                    </a:ext>
                  </a:extLst>
                </a:gridCol>
                <a:gridCol w="4658627">
                  <a:extLst>
                    <a:ext uri="{9D8B030D-6E8A-4147-A177-3AD203B41FA5}">
                      <a16:colId xmlns:a16="http://schemas.microsoft.com/office/drawing/2014/main" val="4258632931"/>
                    </a:ext>
                  </a:extLst>
                </a:gridCol>
              </a:tblGrid>
              <a:tr h="439138">
                <a:tc>
                  <a:txBody>
                    <a:bodyPr/>
                    <a:lstStyle/>
                    <a:p>
                      <a:pPr algn="ctr">
                        <a:lnSpc>
                          <a:spcPct val="150000"/>
                        </a:lnSpc>
                        <a:spcAft>
                          <a:spcPts val="0"/>
                        </a:spcAft>
                      </a:pPr>
                      <a:r>
                        <a:rPr lang="en-US" altLang="zh-TW" sz="180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Item</a:t>
                      </a:r>
                      <a:endParaRPr lang="zh-TW" sz="180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50000"/>
                        </a:lnSpc>
                        <a:spcAft>
                          <a:spcPts val="0"/>
                        </a:spcAft>
                      </a:pPr>
                      <a:r>
                        <a:rPr lang="en-US" altLang="zh-TW" sz="1800" b="1" kern="100" dirty="0">
                          <a:effectLst/>
                          <a:latin typeface="Times New Roman" panose="02020603050405020304" pitchFamily="18" charset="0"/>
                          <a:ea typeface="標楷體" panose="03000509000000000000" pitchFamily="65" charset="-120"/>
                          <a:cs typeface="Times New Roman" panose="02020603050405020304" pitchFamily="18" charset="0"/>
                        </a:rPr>
                        <a:t>Details</a:t>
                      </a:r>
                      <a:endParaRPr lang="zh-TW" sz="1800" b="1"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4144040492"/>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CPU</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200" dirty="0">
                          <a:solidFill>
                            <a:schemeClr val="dk1"/>
                          </a:solidFill>
                          <a:effectLst/>
                          <a:latin typeface="+mn-lt"/>
                          <a:ea typeface="+mn-ea"/>
                          <a:cs typeface="+mn-cs"/>
                        </a:rPr>
                        <a:t>Intel® Core</a:t>
                      </a:r>
                      <a:r>
                        <a:rPr lang="zh-TW" altLang="zh-TW" sz="1800" kern="1200" dirty="0">
                          <a:solidFill>
                            <a:schemeClr val="dk1"/>
                          </a:solidFill>
                          <a:effectLst/>
                          <a:latin typeface="+mn-lt"/>
                          <a:ea typeface="+mn-ea"/>
                          <a:cs typeface="+mn-cs"/>
                        </a:rPr>
                        <a:t>™</a:t>
                      </a:r>
                      <a:r>
                        <a:rPr lang="en-US" altLang="zh-TW" sz="1800" kern="1200" dirty="0">
                          <a:solidFill>
                            <a:schemeClr val="dk1"/>
                          </a:solidFill>
                          <a:effectLst/>
                          <a:latin typeface="+mn-lt"/>
                          <a:ea typeface="+mn-ea"/>
                          <a:cs typeface="+mn-cs"/>
                        </a:rPr>
                        <a:t> i7-13700 5.20 GHz</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2546818"/>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GPU</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Intel® UHD graphics 770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2821283"/>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RAM</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24GB</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436439"/>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SSD</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1TB HDD</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18033468"/>
                  </a:ext>
                </a:extLst>
              </a:tr>
              <a:tr h="439138">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OS</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200" dirty="0">
                          <a:solidFill>
                            <a:schemeClr val="dk1"/>
                          </a:solidFill>
                          <a:effectLst/>
                          <a:latin typeface="+mn-lt"/>
                          <a:ea typeface="+mn-ea"/>
                          <a:cs typeface="+mn-cs"/>
                        </a:rPr>
                        <a:t>Windows 11</a:t>
                      </a:r>
                      <a:r>
                        <a:rPr lang="zh-TW" altLang="en-US" sz="1800" kern="1200" dirty="0">
                          <a:solidFill>
                            <a:schemeClr val="dk1"/>
                          </a:solidFill>
                          <a:effectLst/>
                          <a:latin typeface="+mn-lt"/>
                          <a:ea typeface="+mn-ea"/>
                          <a:cs typeface="+mn-cs"/>
                        </a:rPr>
                        <a:t> 專業版</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24196668"/>
                  </a:ext>
                </a:extLst>
              </a:tr>
              <a:tr h="410636">
                <a:tc>
                  <a:txBody>
                    <a:bodyPr/>
                    <a:lstStyle/>
                    <a:p>
                      <a:pPr algn="ctr">
                        <a:lnSpc>
                          <a:spcPct val="150000"/>
                        </a:lnSpc>
                        <a:spcAft>
                          <a:spcPts val="0"/>
                        </a:spcAft>
                      </a:pPr>
                      <a:r>
                        <a:rPr lang="en-US" alt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rPr>
                        <a:t>Python</a:t>
                      </a:r>
                      <a:endParaRPr lang="zh-TW" sz="1800" b="0" kern="100" dirty="0">
                        <a:solidFill>
                          <a:schemeClr val="tx1">
                            <a:lumMod val="75000"/>
                            <a:lumOff val="25000"/>
                          </a:schemeClr>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3.12.6</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02993984"/>
                  </a:ext>
                </a:extLst>
              </a:tr>
            </a:tbl>
          </a:graphicData>
        </a:graphic>
      </p:graphicFrame>
    </p:spTree>
    <p:extLst>
      <p:ext uri="{BB962C8B-B14F-4D97-AF65-F5344CB8AC3E}">
        <p14:creationId xmlns:p14="http://schemas.microsoft.com/office/powerpoint/2010/main" val="3748550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0E154C-75C4-9ADD-4818-3095EE5A3A8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A85796E7-A53F-6435-6D8C-59C16957B918}"/>
              </a:ext>
            </a:extLst>
          </p:cNvPr>
          <p:cNvSpPr>
            <a:spLocks noGrp="1"/>
          </p:cNvSpPr>
          <p:nvPr>
            <p:ph type="title"/>
          </p:nvPr>
        </p:nvSpPr>
        <p:spPr/>
        <p:txBody>
          <a:bodyPr/>
          <a:lstStyle/>
          <a:p>
            <a:r>
              <a:rPr lang="en-US" altLang="zh-TW" dirty="0"/>
              <a:t>Experiment Setting</a:t>
            </a:r>
          </a:p>
        </p:txBody>
      </p:sp>
      <p:sp>
        <p:nvSpPr>
          <p:cNvPr id="4" name="投影片編號版面配置區 3">
            <a:extLst>
              <a:ext uri="{FF2B5EF4-FFF2-40B4-BE49-F238E27FC236}">
                <a16:creationId xmlns:a16="http://schemas.microsoft.com/office/drawing/2014/main" id="{3495F4E8-F981-FD93-6EBA-0090750CF55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32</a:t>
            </a:fld>
            <a:endParaRPr lang="zh-TW" altLang="en-US" sz="1600"/>
          </a:p>
        </p:txBody>
      </p:sp>
      <mc:AlternateContent xmlns:mc="http://schemas.openxmlformats.org/markup-compatibility/2006" xmlns:a14="http://schemas.microsoft.com/office/drawing/2010/main">
        <mc:Choice Requires="a14">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2667385175"/>
                  </p:ext>
                </p:extLst>
              </p:nvPr>
            </p:nvGraphicFramePr>
            <p:xfrm>
              <a:off x="2700900" y="2203181"/>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Pheromone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𝛼</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Heuristic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𝛽</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Evaporation (</a:t>
                          </a:r>
                          <a14:m>
                            <m:oMath xmlns:m="http://schemas.openxmlformats.org/officeDocument/2006/math">
                              <m:r>
                                <a:rPr lang="en-US" altLang="zh-TW" sz="1800" b="0" i="1" kern="100" smtClean="0">
                                  <a:solidFill>
                                    <a:schemeClr val="tx1"/>
                                  </a:solidFill>
                                  <a:effectLst/>
                                  <a:latin typeface="Cambria Math" panose="02040503050406030204" pitchFamily="18" charset="0"/>
                                  <a:ea typeface="標楷體" panose="03000509000000000000" pitchFamily="65" charset="-120"/>
                                  <a:cs typeface="Times New Roman" panose="02020603050405020304" pitchFamily="18" charset="0"/>
                                </a:rPr>
                                <m:t>𝜌</m:t>
                              </m:r>
                            </m:oMath>
                          </a14:m>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Choice>
        <mc:Fallback xmlns="">
          <p:graphicFrame>
            <p:nvGraphicFramePr>
              <p:cNvPr id="3" name="內容版面配置區 4">
                <a:extLst>
                  <a:ext uri="{FF2B5EF4-FFF2-40B4-BE49-F238E27FC236}">
                    <a16:creationId xmlns:a16="http://schemas.microsoft.com/office/drawing/2014/main" id="{D13940BF-A90A-FB5C-A08F-BA909B335A98}"/>
                  </a:ext>
                </a:extLst>
              </p:cNvPr>
              <p:cNvGraphicFramePr>
                <a:graphicFrameLocks/>
              </p:cNvGraphicFramePr>
              <p:nvPr>
                <p:extLst>
                  <p:ext uri="{D42A27DB-BD31-4B8C-83A1-F6EECF244321}">
                    <p14:modId xmlns:p14="http://schemas.microsoft.com/office/powerpoint/2010/main" val="2667385175"/>
                  </p:ext>
                </p:extLst>
              </p:nvPr>
            </p:nvGraphicFramePr>
            <p:xfrm>
              <a:off x="2700900" y="2203181"/>
              <a:ext cx="6851159" cy="2833182"/>
            </p:xfrm>
            <a:graphic>
              <a:graphicData uri="http://schemas.openxmlformats.org/drawingml/2006/table">
                <a:tbl>
                  <a:tblPr firstCol="1">
                    <a:tableStyleId>{5C22544A-7EE6-4342-B048-85BDC9FD1C3A}</a:tableStyleId>
                  </a:tblPr>
                  <a:tblGrid>
                    <a:gridCol w="1527810">
                      <a:extLst>
                        <a:ext uri="{9D8B030D-6E8A-4147-A177-3AD203B41FA5}">
                          <a16:colId xmlns:a16="http://schemas.microsoft.com/office/drawing/2014/main" val="1458894256"/>
                        </a:ext>
                      </a:extLst>
                    </a:gridCol>
                    <a:gridCol w="684337">
                      <a:extLst>
                        <a:ext uri="{9D8B030D-6E8A-4147-A177-3AD203B41FA5}">
                          <a16:colId xmlns:a16="http://schemas.microsoft.com/office/drawing/2014/main" val="4258632931"/>
                        </a:ext>
                      </a:extLst>
                    </a:gridCol>
                    <a:gridCol w="1667574">
                      <a:extLst>
                        <a:ext uri="{9D8B030D-6E8A-4147-A177-3AD203B41FA5}">
                          <a16:colId xmlns:a16="http://schemas.microsoft.com/office/drawing/2014/main" val="2614782621"/>
                        </a:ext>
                      </a:extLst>
                    </a:gridCol>
                    <a:gridCol w="651932">
                      <a:extLst>
                        <a:ext uri="{9D8B030D-6E8A-4147-A177-3AD203B41FA5}">
                          <a16:colId xmlns:a16="http://schemas.microsoft.com/office/drawing/2014/main" val="3631343940"/>
                        </a:ext>
                      </a:extLst>
                    </a:gridCol>
                    <a:gridCol w="1667574">
                      <a:extLst>
                        <a:ext uri="{9D8B030D-6E8A-4147-A177-3AD203B41FA5}">
                          <a16:colId xmlns:a16="http://schemas.microsoft.com/office/drawing/2014/main" val="841469282"/>
                        </a:ext>
                      </a:extLst>
                    </a:gridCol>
                    <a:gridCol w="651932">
                      <a:extLst>
                        <a:ext uri="{9D8B030D-6E8A-4147-A177-3AD203B41FA5}">
                          <a16:colId xmlns:a16="http://schemas.microsoft.com/office/drawing/2014/main" val="735290427"/>
                        </a:ext>
                      </a:extLst>
                    </a:gridCol>
                  </a:tblGrid>
                  <a:tr h="472197">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CCGA</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00000"/>
                            </a:lnSpc>
                            <a:spcAft>
                              <a:spcPts val="0"/>
                            </a:spcAft>
                          </a:pP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HACO</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gridSpan="2">
                      <a:txBody>
                        <a:bodyPr/>
                        <a:lstStyle/>
                        <a:p>
                          <a:pPr algn="ctr">
                            <a:lnSpc>
                              <a:spcPct val="150000"/>
                            </a:lnSpc>
                            <a:spcAft>
                              <a:spcPts val="0"/>
                            </a:spcAft>
                          </a:pPr>
                          <a:r>
                            <a:rPr lang="en-US" alt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MACS</a:t>
                          </a: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hMerge="1">
                      <a:txBody>
                        <a:bodyPr/>
                        <a:lstStyle/>
                        <a:p>
                          <a:pPr algn="ctr">
                            <a:lnSpc>
                              <a:spcPct val="150000"/>
                            </a:lnSpc>
                            <a:spcAft>
                              <a:spcPts val="0"/>
                            </a:spcAft>
                          </a:pPr>
                          <a:endParaRPr lang="zh-TW" sz="1800" b="1"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2196218974"/>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Generation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200" dirty="0">
                              <a:solidFill>
                                <a:schemeClr val="dk1"/>
                              </a:solidFill>
                              <a:effectLst/>
                              <a:latin typeface="+mn-lt"/>
                              <a:ea typeface="+mn-ea"/>
                              <a:cs typeface="+mn-cs"/>
                            </a:rPr>
                            <a:t>200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Iteration</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200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Time</a:t>
                          </a:r>
                          <a:r>
                            <a:rPr lang="zh-TW" altLang="en-US" sz="1800" b="0" kern="100" dirty="0">
                              <a:solidFill>
                                <a:schemeClr val="tx1"/>
                              </a:solidFill>
                              <a:effectLst/>
                              <a:latin typeface="+mj-lt"/>
                              <a:ea typeface="標楷體" panose="03000509000000000000" pitchFamily="65" charset="-120"/>
                              <a:cs typeface="Times New Roman" panose="02020603050405020304" pitchFamily="18" charset="0"/>
                            </a:rPr>
                            <a:t> </a:t>
                          </a: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Limit (s)</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Subpopulation</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20</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5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a:lnSpc>
                              <a:spcPct val="100000"/>
                            </a:lnSpc>
                            <a:spcAft>
                              <a:spcPts val="0"/>
                            </a:spcAft>
                          </a:pPr>
                          <a:r>
                            <a:rPr lang="en-US" altLang="zh-TW" sz="1800" b="0" kern="100" dirty="0">
                              <a:solidFill>
                                <a:schemeClr val="tx1"/>
                              </a:solidFill>
                              <a:effectLst/>
                              <a:latin typeface="+mj-lt"/>
                              <a:ea typeface="標楷體" panose="03000509000000000000" pitchFamily="65" charset="-120"/>
                              <a:cs typeface="Times New Roman" panose="02020603050405020304" pitchFamily="18" charset="0"/>
                            </a:rPr>
                            <a:t>Number of Ants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50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Cross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0.8</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300000" r="-178832" b="-206410"/>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300000" r="-40146" b="-206410"/>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Mutate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05195" r="-178832" b="-109091"/>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05195" r="-40146" b="-109091"/>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r h="472197">
                    <a:tc>
                      <a:txBody>
                        <a:bodyPr/>
                        <a:lstStyle/>
                        <a:p>
                          <a:pPr algn="l">
                            <a:lnSpc>
                              <a:spcPct val="100000"/>
                            </a:lnSpc>
                            <a:spcAft>
                              <a:spcPts val="0"/>
                            </a:spcAft>
                          </a:pPr>
                          <a:r>
                            <a:rPr lang="en-US" alt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rPr>
                            <a:t>Elite Rate</a:t>
                          </a:r>
                          <a:endParaRPr lang="zh-TW" sz="1800" b="0" kern="100" dirty="0">
                            <a:solidFill>
                              <a:schemeClr val="tx1"/>
                            </a:solidFill>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lgn="ctr">
                            <a:lnSpc>
                              <a:spcPct val="100000"/>
                            </a:lnSpc>
                            <a:spcAft>
                              <a:spcPts val="0"/>
                            </a:spcAft>
                          </a:pPr>
                          <a:r>
                            <a:rPr lang="en-US" altLang="zh-TW" sz="1800" kern="100" dirty="0">
                              <a:effectLst/>
                              <a:latin typeface="Times New Roman" panose="02020603050405020304" pitchFamily="18" charset="0"/>
                              <a:ea typeface="標楷體" panose="03000509000000000000" pitchFamily="65" charset="-120"/>
                              <a:cs typeface="Times New Roman" panose="02020603050405020304" pitchFamily="18" charset="0"/>
                            </a:rPr>
                            <a:t>0.1</a:t>
                          </a:r>
                          <a:endParaRPr lang="zh-TW" sz="1800" kern="100" dirty="0">
                            <a:effectLst/>
                            <a:latin typeface="Times New Roman" panose="02020603050405020304" pitchFamily="18" charset="0"/>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2847" t="-498718" r="-178832" b="-7692"/>
                          </a:stretch>
                        </a:blip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zh-TW"/>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71533" t="-498718" r="-40146" b="-7692"/>
                          </a:stretch>
                        </a:blip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0.5</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39298877"/>
                      </a:ext>
                    </a:extLst>
                  </a:tr>
                </a:tbl>
              </a:graphicData>
            </a:graphic>
          </p:graphicFrame>
        </mc:Fallback>
      </mc:AlternateContent>
    </p:spTree>
    <p:extLst>
      <p:ext uri="{BB962C8B-B14F-4D97-AF65-F5344CB8AC3E}">
        <p14:creationId xmlns:p14="http://schemas.microsoft.com/office/powerpoint/2010/main" val="527567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1ACAD89-1DB1-9EF1-5723-CFA4CEDA9B6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07EAEF4-DB8C-2E60-09D9-30920E9A3952}"/>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CAFF40F6-7AE0-D68B-F97C-0424B4DE621B}"/>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33</a:t>
            </a:fld>
            <a:endParaRPr lang="zh-TW" altLang="en-US" sz="1600"/>
          </a:p>
        </p:txBody>
      </p:sp>
      <p:graphicFrame>
        <p:nvGraphicFramePr>
          <p:cNvPr id="5" name="內容版面配置區 4">
            <a:extLst>
              <a:ext uri="{FF2B5EF4-FFF2-40B4-BE49-F238E27FC236}">
                <a16:creationId xmlns:a16="http://schemas.microsoft.com/office/drawing/2014/main" id="{E3B36739-C501-11D2-0F2A-975E660D3950}"/>
              </a:ext>
            </a:extLst>
          </p:cNvPr>
          <p:cNvGraphicFramePr>
            <a:graphicFrameLocks noGrp="1"/>
          </p:cNvGraphicFramePr>
          <p:nvPr>
            <p:ph idx="1"/>
            <p:extLst>
              <p:ext uri="{D42A27DB-BD31-4B8C-83A1-F6EECF244321}">
                <p14:modId xmlns:p14="http://schemas.microsoft.com/office/powerpoint/2010/main" val="307018652"/>
              </p:ext>
            </p:extLst>
          </p:nvPr>
        </p:nvGraphicFramePr>
        <p:xfrm>
          <a:off x="1722045" y="2310059"/>
          <a:ext cx="8747909" cy="3073966"/>
        </p:xfrm>
        <a:graphic>
          <a:graphicData uri="http://schemas.openxmlformats.org/drawingml/2006/table">
            <a:tbl>
              <a:tblPr firstCol="1">
                <a:tableStyleId>{5C22544A-7EE6-4342-B048-85BDC9FD1C3A}</a:tableStyleId>
              </a:tblPr>
              <a:tblGrid>
                <a:gridCol w="2952750">
                  <a:extLst>
                    <a:ext uri="{9D8B030D-6E8A-4147-A177-3AD203B41FA5}">
                      <a16:colId xmlns:a16="http://schemas.microsoft.com/office/drawing/2014/main" val="1458894256"/>
                    </a:ext>
                  </a:extLst>
                </a:gridCol>
                <a:gridCol w="2880954">
                  <a:extLst>
                    <a:ext uri="{9D8B030D-6E8A-4147-A177-3AD203B41FA5}">
                      <a16:colId xmlns:a16="http://schemas.microsoft.com/office/drawing/2014/main" val="4258632931"/>
                    </a:ext>
                  </a:extLst>
                </a:gridCol>
                <a:gridCol w="2914205">
                  <a:extLst>
                    <a:ext uri="{9D8B030D-6E8A-4147-A177-3AD203B41FA5}">
                      <a16:colId xmlns:a16="http://schemas.microsoft.com/office/drawing/2014/main" val="1663490534"/>
                    </a:ext>
                  </a:extLst>
                </a:gridCol>
              </a:tblGrid>
              <a:tr h="439138">
                <a:tc>
                  <a:txBody>
                    <a:bodyPr/>
                    <a:lstStyle/>
                    <a:p>
                      <a:pPr algn="l">
                        <a:lnSpc>
                          <a:spcPct val="15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50000"/>
                        </a:lnSpc>
                        <a:spcAft>
                          <a:spcPts val="0"/>
                        </a:spcAft>
                      </a:pPr>
                      <a:r>
                        <a:rPr lang="en-US" altLang="zh-TW" sz="1800" b="1" kern="100">
                          <a:effectLst/>
                          <a:latin typeface="+mj-lt"/>
                          <a:ea typeface="標楷體" panose="03000509000000000000" pitchFamily="65" charset="-120"/>
                          <a:cs typeface="Times New Roman" panose="02020603050405020304" pitchFamily="18" charset="0"/>
                        </a:rPr>
                        <a:t> Proposed</a:t>
                      </a:r>
                      <a:r>
                        <a:rPr lang="zh-TW" altLang="en-US" sz="1800" b="1" kern="100">
                          <a:effectLst/>
                          <a:latin typeface="+mj-lt"/>
                          <a:ea typeface="標楷體" panose="03000509000000000000" pitchFamily="65" charset="-120"/>
                          <a:cs typeface="Times New Roman" panose="02020603050405020304" pitchFamily="18" charset="0"/>
                        </a:rPr>
                        <a:t> </a:t>
                      </a:r>
                      <a:r>
                        <a:rPr lang="en-US" altLang="zh-TW" sz="1800" b="1" kern="100">
                          <a:effectLst/>
                          <a:latin typeface="+mj-lt"/>
                          <a:ea typeface="標楷體" panose="03000509000000000000" pitchFamily="65" charset="-120"/>
                          <a:cs typeface="Times New Roman" panose="02020603050405020304" pitchFamily="18" charset="0"/>
                        </a:rPr>
                        <a:t>Method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5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Manually Planned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92.94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100.88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Support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19.77</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Total Distance (km)</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4375.10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4531.51</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Average Load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On Time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439138">
                <a:tc>
                  <a:txBody>
                    <a:bodyPr/>
                    <a:lstStyle/>
                    <a:p>
                      <a:pPr algn="l">
                        <a:lnSpc>
                          <a:spcPct val="15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Runtime (min)</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5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Tree>
    <p:extLst>
      <p:ext uri="{BB962C8B-B14F-4D97-AF65-F5344CB8AC3E}">
        <p14:creationId xmlns:p14="http://schemas.microsoft.com/office/powerpoint/2010/main" val="3022292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8E07EF-5A89-F2F3-6E4C-3396F2C0D7D5}"/>
            </a:ext>
          </a:extLst>
        </p:cNvPr>
        <p:cNvGrpSpPr/>
        <p:nvPr/>
      </p:nvGrpSpPr>
      <p:grpSpPr>
        <a:xfrm>
          <a:off x="0" y="0"/>
          <a:ext cx="0" cy="0"/>
          <a:chOff x="0" y="0"/>
          <a:chExt cx="0" cy="0"/>
        </a:xfrm>
      </p:grpSpPr>
      <p:graphicFrame>
        <p:nvGraphicFramePr>
          <p:cNvPr id="11" name="內容版面配置區 10">
            <a:extLst>
              <a:ext uri="{FF2B5EF4-FFF2-40B4-BE49-F238E27FC236}">
                <a16:creationId xmlns:a16="http://schemas.microsoft.com/office/drawing/2014/main" id="{2FB476AE-A461-00C5-1AA5-09A64A4318F7}"/>
              </a:ext>
            </a:extLst>
          </p:cNvPr>
          <p:cNvGraphicFramePr>
            <a:graphicFrameLocks noGrp="1"/>
          </p:cNvGraphicFramePr>
          <p:nvPr>
            <p:ph idx="1"/>
            <p:extLst>
              <p:ext uri="{D42A27DB-BD31-4B8C-83A1-F6EECF244321}">
                <p14:modId xmlns:p14="http://schemas.microsoft.com/office/powerpoint/2010/main" val="1086765099"/>
              </p:ext>
            </p:extLst>
          </p:nvPr>
        </p:nvGraphicFramePr>
        <p:xfrm>
          <a:off x="1204685" y="2162630"/>
          <a:ext cx="4752451" cy="3410857"/>
        </p:xfrm>
        <a:graphic>
          <a:graphicData uri="http://schemas.openxmlformats.org/drawingml/2006/chart">
            <c:chart xmlns:c="http://schemas.openxmlformats.org/drawingml/2006/chart" xmlns:r="http://schemas.openxmlformats.org/officeDocument/2006/relationships" r:id="rId3"/>
          </a:graphicData>
        </a:graphic>
      </p:graphicFrame>
      <p:sp>
        <p:nvSpPr>
          <p:cNvPr id="2" name="標題 1">
            <a:extLst>
              <a:ext uri="{FF2B5EF4-FFF2-40B4-BE49-F238E27FC236}">
                <a16:creationId xmlns:a16="http://schemas.microsoft.com/office/drawing/2014/main" id="{829C2228-B291-2BD9-2AAF-E5E9D1EF9F3B}"/>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23F6E09A-1961-72B4-77F4-456FF726664A}"/>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34</a:t>
            </a:fld>
            <a:endParaRPr lang="zh-TW" altLang="en-US" sz="1600" dirty="0"/>
          </a:p>
        </p:txBody>
      </p:sp>
      <p:graphicFrame>
        <p:nvGraphicFramePr>
          <p:cNvPr id="3" name="內容版面配置區 10">
            <a:extLst>
              <a:ext uri="{FF2B5EF4-FFF2-40B4-BE49-F238E27FC236}">
                <a16:creationId xmlns:a16="http://schemas.microsoft.com/office/drawing/2014/main" id="{0657D907-489E-20E6-7048-D7A44FF7A200}"/>
              </a:ext>
            </a:extLst>
          </p:cNvPr>
          <p:cNvGraphicFramePr>
            <a:graphicFrameLocks/>
          </p:cNvGraphicFramePr>
          <p:nvPr>
            <p:extLst>
              <p:ext uri="{D42A27DB-BD31-4B8C-83A1-F6EECF244321}">
                <p14:modId xmlns:p14="http://schemas.microsoft.com/office/powerpoint/2010/main" val="3979317297"/>
              </p:ext>
            </p:extLst>
          </p:nvPr>
        </p:nvGraphicFramePr>
        <p:xfrm>
          <a:off x="6178059" y="2162630"/>
          <a:ext cx="4977621" cy="3410857"/>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1874243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0AF7CB-4E6E-24D6-B651-0655CCF75CC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CFAB37F-A77E-1244-B20B-6E164A5CBFF4}"/>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70C5836C-37D1-FCC6-E45B-665426F26B6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35</a:t>
            </a:fld>
            <a:endParaRPr lang="zh-TW" altLang="en-US" sz="1600" dirty="0"/>
          </a:p>
        </p:txBody>
      </p:sp>
      <p:graphicFrame>
        <p:nvGraphicFramePr>
          <p:cNvPr id="13" name="內容版面配置區 12">
            <a:extLst>
              <a:ext uri="{FF2B5EF4-FFF2-40B4-BE49-F238E27FC236}">
                <a16:creationId xmlns:a16="http://schemas.microsoft.com/office/drawing/2014/main" id="{BC2D1972-9ECD-EFFF-33D3-989440BCAEED}"/>
              </a:ext>
            </a:extLst>
          </p:cNvPr>
          <p:cNvGraphicFramePr>
            <a:graphicFrameLocks noGrp="1"/>
          </p:cNvGraphicFramePr>
          <p:nvPr>
            <p:ph idx="1"/>
            <p:extLst>
              <p:ext uri="{D42A27DB-BD31-4B8C-83A1-F6EECF244321}">
                <p14:modId xmlns:p14="http://schemas.microsoft.com/office/powerpoint/2010/main" val="1068937845"/>
              </p:ext>
            </p:extLst>
          </p:nvPr>
        </p:nvGraphicFramePr>
        <p:xfrm>
          <a:off x="1097280" y="2162630"/>
          <a:ext cx="10058400" cy="339502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203264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6C37E9-1F7D-3F3A-2F29-2563835C279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AF7D10D-159F-7F39-13E8-F0ED8B65832E}"/>
              </a:ext>
            </a:extLst>
          </p:cNvPr>
          <p:cNvSpPr>
            <a:spLocks noGrp="1"/>
          </p:cNvSpPr>
          <p:nvPr>
            <p:ph type="title"/>
          </p:nvPr>
        </p:nvSpPr>
        <p:spPr/>
        <p:txBody>
          <a:bodyPr/>
          <a:lstStyle/>
          <a:p>
            <a:r>
              <a:rPr lang="en-US" altLang="zh-TW" dirty="0"/>
              <a:t>Experiment Result</a:t>
            </a:r>
          </a:p>
        </p:txBody>
      </p:sp>
      <p:sp>
        <p:nvSpPr>
          <p:cNvPr id="4" name="投影片編號版面配置區 3">
            <a:extLst>
              <a:ext uri="{FF2B5EF4-FFF2-40B4-BE49-F238E27FC236}">
                <a16:creationId xmlns:a16="http://schemas.microsoft.com/office/drawing/2014/main" id="{A83C3853-492B-5B55-89EB-39271457350F}"/>
              </a:ext>
            </a:extLst>
          </p:cNvPr>
          <p:cNvSpPr>
            <a:spLocks noGrp="1"/>
          </p:cNvSpPr>
          <p:nvPr>
            <p:ph type="sldNum" sz="quarter" idx="12"/>
          </p:nvPr>
        </p:nvSpPr>
        <p:spPr/>
        <p:txBody>
          <a:bodyPr/>
          <a:lstStyle/>
          <a:p>
            <a:fld id="{5AC25633-CB68-4D6B-BEE8-144406895708}" type="slidenum">
              <a:rPr lang="zh-TW" altLang="en-US" sz="1600"/>
              <a:t>36</a:t>
            </a:fld>
            <a:endParaRPr lang="zh-TW" altLang="en-US" sz="1600" dirty="0"/>
          </a:p>
        </p:txBody>
      </p:sp>
      <p:graphicFrame>
        <p:nvGraphicFramePr>
          <p:cNvPr id="8" name="內容版面配置區 7">
            <a:extLst>
              <a:ext uri="{FF2B5EF4-FFF2-40B4-BE49-F238E27FC236}">
                <a16:creationId xmlns:a16="http://schemas.microsoft.com/office/drawing/2014/main" id="{0A8B3EBF-260E-4FF8-8418-7A5165791190}"/>
              </a:ext>
            </a:extLst>
          </p:cNvPr>
          <p:cNvGraphicFramePr>
            <a:graphicFrameLocks noGrp="1"/>
          </p:cNvGraphicFramePr>
          <p:nvPr>
            <p:ph idx="1"/>
            <p:extLst>
              <p:ext uri="{D42A27DB-BD31-4B8C-83A1-F6EECF244321}">
                <p14:modId xmlns:p14="http://schemas.microsoft.com/office/powerpoint/2010/main" val="3699522995"/>
              </p:ext>
            </p:extLst>
          </p:nvPr>
        </p:nvGraphicFramePr>
        <p:xfrm>
          <a:off x="1127443" y="2238148"/>
          <a:ext cx="4968557" cy="304637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內容版面配置區 8">
            <a:extLst>
              <a:ext uri="{FF2B5EF4-FFF2-40B4-BE49-F238E27FC236}">
                <a16:creationId xmlns:a16="http://schemas.microsoft.com/office/drawing/2014/main" id="{E7A527AE-3151-3699-9BA3-06FE2D6A06F4}"/>
              </a:ext>
            </a:extLst>
          </p:cNvPr>
          <p:cNvGraphicFramePr>
            <a:graphicFrameLocks/>
          </p:cNvGraphicFramePr>
          <p:nvPr>
            <p:extLst>
              <p:ext uri="{D42A27DB-BD31-4B8C-83A1-F6EECF244321}">
                <p14:modId xmlns:p14="http://schemas.microsoft.com/office/powerpoint/2010/main" val="358676554"/>
              </p:ext>
            </p:extLst>
          </p:nvPr>
        </p:nvGraphicFramePr>
        <p:xfrm>
          <a:off x="6213763" y="2346056"/>
          <a:ext cx="4998720" cy="2938463"/>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97768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E7EC2B-4DFB-4C53-6E2C-6067027F5B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6C5674F-BCCC-ACDC-A9CA-5C092DB71A6E}"/>
              </a:ext>
            </a:extLst>
          </p:cNvPr>
          <p:cNvSpPr>
            <a:spLocks noGrp="1"/>
          </p:cNvSpPr>
          <p:nvPr>
            <p:ph type="title"/>
          </p:nvPr>
        </p:nvSpPr>
        <p:spPr/>
        <p:txBody>
          <a:bodyPr/>
          <a:lstStyle/>
          <a:p>
            <a:r>
              <a:rPr lang="en-US" altLang="zh-TW" dirty="0"/>
              <a:t>Ablation Study</a:t>
            </a:r>
          </a:p>
        </p:txBody>
      </p:sp>
      <p:sp>
        <p:nvSpPr>
          <p:cNvPr id="4" name="投影片編號版面配置區 3">
            <a:extLst>
              <a:ext uri="{FF2B5EF4-FFF2-40B4-BE49-F238E27FC236}">
                <a16:creationId xmlns:a16="http://schemas.microsoft.com/office/drawing/2014/main" id="{1F8AE684-85D9-452B-6574-238D67006C2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37</a:t>
            </a:fld>
            <a:endParaRPr lang="zh-TW" altLang="en-US" sz="1600" dirty="0"/>
          </a:p>
        </p:txBody>
      </p:sp>
      <p:graphicFrame>
        <p:nvGraphicFramePr>
          <p:cNvPr id="6" name="內容版面配置區 4">
            <a:extLst>
              <a:ext uri="{FF2B5EF4-FFF2-40B4-BE49-F238E27FC236}">
                <a16:creationId xmlns:a16="http://schemas.microsoft.com/office/drawing/2014/main" id="{B7C7E742-0C9E-439C-4301-D10394B9E552}"/>
              </a:ext>
            </a:extLst>
          </p:cNvPr>
          <p:cNvGraphicFramePr>
            <a:graphicFrameLocks/>
          </p:cNvGraphicFramePr>
          <p:nvPr>
            <p:extLst>
              <p:ext uri="{D42A27DB-BD31-4B8C-83A1-F6EECF244321}">
                <p14:modId xmlns:p14="http://schemas.microsoft.com/office/powerpoint/2010/main" val="97743006"/>
              </p:ext>
            </p:extLst>
          </p:nvPr>
        </p:nvGraphicFramePr>
        <p:xfrm>
          <a:off x="1097280" y="2057171"/>
          <a:ext cx="10018024" cy="3183468"/>
        </p:xfrm>
        <a:graphic>
          <a:graphicData uri="http://schemas.openxmlformats.org/drawingml/2006/table">
            <a:tbl>
              <a:tblPr firstCol="1">
                <a:tableStyleId>{5C22544A-7EE6-4342-B048-85BDC9FD1C3A}</a:tableStyleId>
              </a:tblPr>
              <a:tblGrid>
                <a:gridCol w="2905760">
                  <a:extLst>
                    <a:ext uri="{9D8B030D-6E8A-4147-A177-3AD203B41FA5}">
                      <a16:colId xmlns:a16="http://schemas.microsoft.com/office/drawing/2014/main" val="1458894256"/>
                    </a:ext>
                  </a:extLst>
                </a:gridCol>
                <a:gridCol w="1923732">
                  <a:extLst>
                    <a:ext uri="{9D8B030D-6E8A-4147-A177-3AD203B41FA5}">
                      <a16:colId xmlns:a16="http://schemas.microsoft.com/office/drawing/2014/main" val="4258632931"/>
                    </a:ext>
                  </a:extLst>
                </a:gridCol>
                <a:gridCol w="1646921">
                  <a:extLst>
                    <a:ext uri="{9D8B030D-6E8A-4147-A177-3AD203B41FA5}">
                      <a16:colId xmlns:a16="http://schemas.microsoft.com/office/drawing/2014/main" val="1663490534"/>
                    </a:ext>
                  </a:extLst>
                </a:gridCol>
                <a:gridCol w="1662546">
                  <a:extLst>
                    <a:ext uri="{9D8B030D-6E8A-4147-A177-3AD203B41FA5}">
                      <a16:colId xmlns:a16="http://schemas.microsoft.com/office/drawing/2014/main" val="2934832940"/>
                    </a:ext>
                  </a:extLst>
                </a:gridCol>
                <a:gridCol w="1879065">
                  <a:extLst>
                    <a:ext uri="{9D8B030D-6E8A-4147-A177-3AD203B41FA5}">
                      <a16:colId xmlns:a16="http://schemas.microsoft.com/office/drawing/2014/main" val="4186979241"/>
                    </a:ext>
                  </a:extLst>
                </a:gridCol>
              </a:tblGrid>
              <a:tr h="91598">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Full Method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Random Extraction</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HACO </a:t>
                      </a:r>
                    </a:p>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Without VND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MACS</a:t>
                      </a:r>
                    </a:p>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Without VND</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92.94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94.24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93.02</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93.25</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Number of Support Vehicles</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12.43</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11.22</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11.44</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Total Distance (km)</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4375.10</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4524.44</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4382.90</a:t>
                      </a:r>
                      <a:endParaRPr lang="zh-TW" altLang="zh-TW" sz="180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4,400.13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Average Load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0.89</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On Time Rate</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0.99</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439138">
                <a:tc>
                  <a:txBody>
                    <a:bodyPr/>
                    <a:lstStyle/>
                    <a:p>
                      <a:pPr algn="l">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Runtime (min)</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14</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8</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effectLst/>
                          <a:latin typeface="+mj-lt"/>
                          <a:ea typeface="標楷體" panose="03000509000000000000" pitchFamily="65" charset="-120"/>
                          <a:cs typeface="Times New Roman" panose="02020603050405020304" pitchFamily="18" charset="0"/>
                        </a:rPr>
                        <a:t>13</a:t>
                      </a:r>
                      <a:endParaRPr lang="zh-TW" sz="180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Tree>
    <p:extLst>
      <p:ext uri="{BB962C8B-B14F-4D97-AF65-F5344CB8AC3E}">
        <p14:creationId xmlns:p14="http://schemas.microsoft.com/office/powerpoint/2010/main" val="2124987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3ABDF3-D330-FCC0-9E9F-2C6FA9A2DC8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內容版面配置區 9">
                <a:extLst>
                  <a:ext uri="{FF2B5EF4-FFF2-40B4-BE49-F238E27FC236}">
                    <a16:creationId xmlns:a16="http://schemas.microsoft.com/office/drawing/2014/main" id="{E9803542-C228-93C8-B793-00889D1FAF3A}"/>
                  </a:ext>
                </a:extLst>
              </p:cNvPr>
              <p:cNvSpPr>
                <a:spLocks noGrp="1"/>
              </p:cNvSpPr>
              <p:nvPr>
                <p:ph idx="1"/>
              </p:nvPr>
            </p:nvSpPr>
            <p:spPr>
              <a:xfrm>
                <a:off x="1097280" y="1845734"/>
                <a:ext cx="10058400" cy="4023360"/>
              </a:xfrm>
            </p:spPr>
            <p:txBody>
              <a:bodyPr/>
              <a:lstStyle/>
              <a:p>
                <a:pPr>
                  <a:buFont typeface="Wingdings" panose="05000000000000000000" pitchFamily="2" charset="2"/>
                  <a:buChar char="Ø"/>
                </a:pPr>
                <a:r>
                  <a:rPr lang="en-US" altLang="zh-TW" b="0" dirty="0"/>
                  <a:t>Wilcoxon Signed-Rank Test</a:t>
                </a:r>
              </a:p>
              <a:p>
                <a:pPr lvl="1">
                  <a:buFont typeface="Arial" panose="020B0604020202020204" pitchFamily="34" charset="0"/>
                  <a:buChar char="•"/>
                </a:pPr>
                <a:r>
                  <a:rPr lang="en-US" altLang="zh-TW" b="0" dirty="0"/>
                  <a:t>Significant at </a:t>
                </a:r>
                <a14:m>
                  <m:oMath xmlns:m="http://schemas.openxmlformats.org/officeDocument/2006/math">
                    <m:r>
                      <m:rPr>
                        <m:sty m:val="p"/>
                      </m:rPr>
                      <a:rPr lang="en-US" altLang="zh-TW" b="0" i="0" smtClean="0">
                        <a:latin typeface="Cambria Math" panose="02040503050406030204" pitchFamily="18" charset="0"/>
                      </a:rPr>
                      <m:t>α</m:t>
                    </m:r>
                  </m:oMath>
                </a14:m>
                <a:r>
                  <a:rPr lang="en-US" altLang="zh-TW" dirty="0"/>
                  <a:t>=0.05</a:t>
                </a:r>
                <a:endParaRPr lang="zh-TW" altLang="en-US" dirty="0"/>
              </a:p>
            </p:txBody>
          </p:sp>
        </mc:Choice>
        <mc:Fallback xmlns="">
          <p:sp>
            <p:nvSpPr>
              <p:cNvPr id="3" name="內容版面配置區 9">
                <a:extLst>
                  <a:ext uri="{FF2B5EF4-FFF2-40B4-BE49-F238E27FC236}">
                    <a16:creationId xmlns:a16="http://schemas.microsoft.com/office/drawing/2014/main" id="{E9803542-C228-93C8-B793-00889D1FAF3A}"/>
                  </a:ext>
                </a:extLst>
              </p:cNvPr>
              <p:cNvSpPr>
                <a:spLocks noGrp="1" noRot="1" noChangeAspect="1" noMove="1" noResize="1" noEditPoints="1" noAdjustHandles="1" noChangeArrowheads="1" noChangeShapeType="1" noTextEdit="1"/>
              </p:cNvSpPr>
              <p:nvPr>
                <p:ph idx="1"/>
              </p:nvPr>
            </p:nvSpPr>
            <p:spPr>
              <a:xfrm>
                <a:off x="1097280" y="1845734"/>
                <a:ext cx="10058400" cy="4023360"/>
              </a:xfrm>
              <a:blipFill>
                <a:blip r:embed="rId3"/>
                <a:stretch>
                  <a:fillRect l="-1455" t="-1667"/>
                </a:stretch>
              </a:blipFill>
            </p:spPr>
            <p:txBody>
              <a:bodyPr/>
              <a:lstStyle/>
              <a:p>
                <a:r>
                  <a:rPr lang="zh-TW" altLang="en-US">
                    <a:noFill/>
                  </a:rPr>
                  <a:t> </a:t>
                </a:r>
              </a:p>
            </p:txBody>
          </p:sp>
        </mc:Fallback>
      </mc:AlternateContent>
      <p:sp>
        <p:nvSpPr>
          <p:cNvPr id="2" name="標題 1">
            <a:extLst>
              <a:ext uri="{FF2B5EF4-FFF2-40B4-BE49-F238E27FC236}">
                <a16:creationId xmlns:a16="http://schemas.microsoft.com/office/drawing/2014/main" id="{276DC68C-3B0E-0B82-5A5D-63A16743472D}"/>
              </a:ext>
            </a:extLst>
          </p:cNvPr>
          <p:cNvSpPr>
            <a:spLocks noGrp="1"/>
          </p:cNvSpPr>
          <p:nvPr>
            <p:ph type="title"/>
          </p:nvPr>
        </p:nvSpPr>
        <p:spPr/>
        <p:txBody>
          <a:bodyPr/>
          <a:lstStyle/>
          <a:p>
            <a:r>
              <a:rPr lang="en-US" altLang="zh-TW" dirty="0"/>
              <a:t>Ablation Study</a:t>
            </a:r>
          </a:p>
        </p:txBody>
      </p:sp>
      <p:sp>
        <p:nvSpPr>
          <p:cNvPr id="4" name="投影片編號版面配置區 3">
            <a:extLst>
              <a:ext uri="{FF2B5EF4-FFF2-40B4-BE49-F238E27FC236}">
                <a16:creationId xmlns:a16="http://schemas.microsoft.com/office/drawing/2014/main" id="{BAEB60F6-6FF4-5030-ACAF-B487E27030A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38</a:t>
            </a:fld>
            <a:endParaRPr lang="zh-TW" altLang="en-US" sz="1600"/>
          </a:p>
        </p:txBody>
      </p:sp>
      <p:graphicFrame>
        <p:nvGraphicFramePr>
          <p:cNvPr id="5" name="內容版面配置區 4">
            <a:extLst>
              <a:ext uri="{FF2B5EF4-FFF2-40B4-BE49-F238E27FC236}">
                <a16:creationId xmlns:a16="http://schemas.microsoft.com/office/drawing/2014/main" id="{522B77D7-CB57-0001-2606-4C02B6E8242A}"/>
              </a:ext>
            </a:extLst>
          </p:cNvPr>
          <p:cNvGraphicFramePr>
            <a:graphicFrameLocks/>
          </p:cNvGraphicFramePr>
          <p:nvPr>
            <p:extLst>
              <p:ext uri="{D42A27DB-BD31-4B8C-83A1-F6EECF244321}">
                <p14:modId xmlns:p14="http://schemas.microsoft.com/office/powerpoint/2010/main" val="836553400"/>
              </p:ext>
            </p:extLst>
          </p:nvPr>
        </p:nvGraphicFramePr>
        <p:xfrm>
          <a:off x="2277765" y="2641551"/>
          <a:ext cx="7697429" cy="3415322"/>
        </p:xfrm>
        <a:graphic>
          <a:graphicData uri="http://schemas.openxmlformats.org/drawingml/2006/table">
            <a:tbl>
              <a:tblPr firstCol="1">
                <a:tableStyleId>{5C22544A-7EE6-4342-B048-85BDC9FD1C3A}</a:tableStyleId>
              </a:tblPr>
              <a:tblGrid>
                <a:gridCol w="2290128">
                  <a:extLst>
                    <a:ext uri="{9D8B030D-6E8A-4147-A177-3AD203B41FA5}">
                      <a16:colId xmlns:a16="http://schemas.microsoft.com/office/drawing/2014/main" val="1458894256"/>
                    </a:ext>
                  </a:extLst>
                </a:gridCol>
                <a:gridCol w="2855738">
                  <a:extLst>
                    <a:ext uri="{9D8B030D-6E8A-4147-A177-3AD203B41FA5}">
                      <a16:colId xmlns:a16="http://schemas.microsoft.com/office/drawing/2014/main" val="4258632931"/>
                    </a:ext>
                  </a:extLst>
                </a:gridCol>
                <a:gridCol w="2551563">
                  <a:extLst>
                    <a:ext uri="{9D8B030D-6E8A-4147-A177-3AD203B41FA5}">
                      <a16:colId xmlns:a16="http://schemas.microsoft.com/office/drawing/2014/main" val="4186979241"/>
                    </a:ext>
                  </a:extLst>
                </a:gridCol>
              </a:tblGrid>
              <a:tr h="519237">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Metric</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p-value</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345966">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Random Extraction</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77666904"/>
                  </a:ext>
                </a:extLst>
              </a:tr>
              <a:tr h="32765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lt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sz="1800" b="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0.00004</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r h="294726">
                <a:tc rowSpan="3">
                  <a:txBody>
                    <a:bodyPr/>
                    <a:lstStyle/>
                    <a:p>
                      <a:pPr algn="l">
                        <a:lnSpc>
                          <a:spcPct val="100000"/>
                        </a:lnSpc>
                        <a:spcAft>
                          <a:spcPts val="0"/>
                        </a:spcAft>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HACO Without VND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0.46608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0.48388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94790753"/>
                  </a:ext>
                </a:extLst>
              </a:tr>
              <a:tr h="327650">
                <a:tc vMerge="1">
                  <a:txBody>
                    <a:bodyPr/>
                    <a:lstStyle/>
                    <a:p>
                      <a:pPr algn="l">
                        <a:lnSpc>
                          <a:spcPct val="100000"/>
                        </a:lnSpc>
                        <a:spcAft>
                          <a:spcPts val="0"/>
                        </a:spcAft>
                      </a:pP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0.01513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289493">
                <a:tc rowSpan="3">
                  <a:txBody>
                    <a:bodyPr/>
                    <a:lstStyle/>
                    <a:p>
                      <a:pPr algn="l">
                        <a:lnSpc>
                          <a:spcPct val="100000"/>
                        </a:lnSpc>
                        <a:spcAft>
                          <a:spcPts val="0"/>
                        </a:spcAft>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MACS Without VND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0.00572</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a:t>
                      </a: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572</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643804"/>
                  </a:ext>
                </a:extLst>
              </a:tr>
              <a:tr h="327650">
                <a:tc vMerge="1">
                  <a:txBody>
                    <a:bodyPr/>
                    <a:lstStyle/>
                    <a:p>
                      <a:pPr algn="l">
                        <a:lnSpc>
                          <a:spcPct val="100000"/>
                        </a:lnSpc>
                        <a:spcAft>
                          <a:spcPts val="0"/>
                        </a:spcAft>
                      </a:pP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0.00129</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Tree>
    <p:extLst>
      <p:ext uri="{BB962C8B-B14F-4D97-AF65-F5344CB8AC3E}">
        <p14:creationId xmlns:p14="http://schemas.microsoft.com/office/powerpoint/2010/main" val="29452032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6154B0-FF98-5455-20FD-1146B63EC96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內容版面配置區 9">
                <a:extLst>
                  <a:ext uri="{FF2B5EF4-FFF2-40B4-BE49-F238E27FC236}">
                    <a16:creationId xmlns:a16="http://schemas.microsoft.com/office/drawing/2014/main" id="{C596D6BA-9C63-35E0-1275-E8353AB70A9F}"/>
                  </a:ext>
                </a:extLst>
              </p:cNvPr>
              <p:cNvSpPr>
                <a:spLocks noGrp="1"/>
              </p:cNvSpPr>
              <p:nvPr>
                <p:ph idx="1"/>
              </p:nvPr>
            </p:nvSpPr>
            <p:spPr>
              <a:xfrm>
                <a:off x="1097280" y="1845734"/>
                <a:ext cx="10058400" cy="4023360"/>
              </a:xfrm>
            </p:spPr>
            <p:txBody>
              <a:bodyPr/>
              <a:lstStyle/>
              <a:p>
                <a:pPr>
                  <a:buFont typeface="Wingdings" panose="05000000000000000000" pitchFamily="2" charset="2"/>
                  <a:buChar char="Ø"/>
                </a:pPr>
                <a:r>
                  <a:rPr lang="en-US" altLang="zh-TW" b="0" dirty="0"/>
                  <a:t>Wilcoxon Signed-Rank Test</a:t>
                </a:r>
              </a:p>
              <a:p>
                <a:pPr lvl="1">
                  <a:buFont typeface="Arial" panose="020B0604020202020204" pitchFamily="34" charset="0"/>
                  <a:buChar char="•"/>
                </a:pPr>
                <a:r>
                  <a:rPr lang="en-US" altLang="zh-TW" b="0" dirty="0"/>
                  <a:t>Significant at </a:t>
                </a:r>
                <a14:m>
                  <m:oMath xmlns:m="http://schemas.openxmlformats.org/officeDocument/2006/math">
                    <m:r>
                      <m:rPr>
                        <m:sty m:val="p"/>
                      </m:rPr>
                      <a:rPr lang="en-US" altLang="zh-TW" b="0" i="0" smtClean="0">
                        <a:latin typeface="Cambria Math" panose="02040503050406030204" pitchFamily="18" charset="0"/>
                      </a:rPr>
                      <m:t>α</m:t>
                    </m:r>
                  </m:oMath>
                </a14:m>
                <a:r>
                  <a:rPr lang="en-US" altLang="zh-TW" dirty="0"/>
                  <a:t>=0.05</a:t>
                </a:r>
                <a:endParaRPr lang="zh-TW" altLang="en-US" dirty="0"/>
              </a:p>
            </p:txBody>
          </p:sp>
        </mc:Choice>
        <mc:Fallback>
          <p:sp>
            <p:nvSpPr>
              <p:cNvPr id="3" name="內容版面配置區 9">
                <a:extLst>
                  <a:ext uri="{FF2B5EF4-FFF2-40B4-BE49-F238E27FC236}">
                    <a16:creationId xmlns:a16="http://schemas.microsoft.com/office/drawing/2014/main" id="{C596D6BA-9C63-35E0-1275-E8353AB70A9F}"/>
                  </a:ext>
                </a:extLst>
              </p:cNvPr>
              <p:cNvSpPr>
                <a:spLocks noGrp="1" noRot="1" noChangeAspect="1" noMove="1" noResize="1" noEditPoints="1" noAdjustHandles="1" noChangeArrowheads="1" noChangeShapeType="1" noTextEdit="1"/>
              </p:cNvSpPr>
              <p:nvPr>
                <p:ph idx="1"/>
              </p:nvPr>
            </p:nvSpPr>
            <p:spPr>
              <a:xfrm>
                <a:off x="1097280" y="1845734"/>
                <a:ext cx="10058400" cy="4023360"/>
              </a:xfrm>
              <a:blipFill>
                <a:blip r:embed="rId3"/>
                <a:stretch>
                  <a:fillRect l="-1455" t="-1667"/>
                </a:stretch>
              </a:blipFill>
            </p:spPr>
            <p:txBody>
              <a:bodyPr/>
              <a:lstStyle/>
              <a:p>
                <a:r>
                  <a:rPr lang="zh-TW" altLang="en-US">
                    <a:noFill/>
                  </a:rPr>
                  <a:t> </a:t>
                </a:r>
              </a:p>
            </p:txBody>
          </p:sp>
        </mc:Fallback>
      </mc:AlternateContent>
      <p:sp>
        <p:nvSpPr>
          <p:cNvPr id="2" name="標題 1">
            <a:extLst>
              <a:ext uri="{FF2B5EF4-FFF2-40B4-BE49-F238E27FC236}">
                <a16:creationId xmlns:a16="http://schemas.microsoft.com/office/drawing/2014/main" id="{20DC0D3A-DC24-B9A9-0869-0A2050A67032}"/>
              </a:ext>
            </a:extLst>
          </p:cNvPr>
          <p:cNvSpPr>
            <a:spLocks noGrp="1"/>
          </p:cNvSpPr>
          <p:nvPr>
            <p:ph type="title"/>
          </p:nvPr>
        </p:nvSpPr>
        <p:spPr/>
        <p:txBody>
          <a:bodyPr/>
          <a:lstStyle/>
          <a:p>
            <a:r>
              <a:rPr lang="en-US" altLang="zh-TW" dirty="0"/>
              <a:t>Ablation Study</a:t>
            </a:r>
          </a:p>
        </p:txBody>
      </p:sp>
      <p:sp>
        <p:nvSpPr>
          <p:cNvPr id="4" name="投影片編號版面配置區 3">
            <a:extLst>
              <a:ext uri="{FF2B5EF4-FFF2-40B4-BE49-F238E27FC236}">
                <a16:creationId xmlns:a16="http://schemas.microsoft.com/office/drawing/2014/main" id="{702849AB-0BE6-073B-EB82-579BF4E473D8}"/>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39</a:t>
            </a:fld>
            <a:endParaRPr lang="zh-TW" altLang="en-US" sz="1600"/>
          </a:p>
        </p:txBody>
      </p:sp>
      <p:graphicFrame>
        <p:nvGraphicFramePr>
          <p:cNvPr id="5" name="內容版面配置區 4">
            <a:extLst>
              <a:ext uri="{FF2B5EF4-FFF2-40B4-BE49-F238E27FC236}">
                <a16:creationId xmlns:a16="http://schemas.microsoft.com/office/drawing/2014/main" id="{92E1EDB0-C714-8BC1-3DC3-EE1ED5D21251}"/>
              </a:ext>
            </a:extLst>
          </p:cNvPr>
          <p:cNvGraphicFramePr>
            <a:graphicFrameLocks/>
          </p:cNvGraphicFramePr>
          <p:nvPr/>
        </p:nvGraphicFramePr>
        <p:xfrm>
          <a:off x="2277765" y="2641551"/>
          <a:ext cx="7697429" cy="3415322"/>
        </p:xfrm>
        <a:graphic>
          <a:graphicData uri="http://schemas.openxmlformats.org/drawingml/2006/table">
            <a:tbl>
              <a:tblPr firstCol="1">
                <a:tableStyleId>{5C22544A-7EE6-4342-B048-85BDC9FD1C3A}</a:tableStyleId>
              </a:tblPr>
              <a:tblGrid>
                <a:gridCol w="2290128">
                  <a:extLst>
                    <a:ext uri="{9D8B030D-6E8A-4147-A177-3AD203B41FA5}">
                      <a16:colId xmlns:a16="http://schemas.microsoft.com/office/drawing/2014/main" val="1458894256"/>
                    </a:ext>
                  </a:extLst>
                </a:gridCol>
                <a:gridCol w="2855738">
                  <a:extLst>
                    <a:ext uri="{9D8B030D-6E8A-4147-A177-3AD203B41FA5}">
                      <a16:colId xmlns:a16="http://schemas.microsoft.com/office/drawing/2014/main" val="4258632931"/>
                    </a:ext>
                  </a:extLst>
                </a:gridCol>
                <a:gridCol w="2551563">
                  <a:extLst>
                    <a:ext uri="{9D8B030D-6E8A-4147-A177-3AD203B41FA5}">
                      <a16:colId xmlns:a16="http://schemas.microsoft.com/office/drawing/2014/main" val="4186979241"/>
                    </a:ext>
                  </a:extLst>
                </a:gridCol>
              </a:tblGrid>
              <a:tr h="519237">
                <a:tc>
                  <a:txBody>
                    <a:bodyPr/>
                    <a:lstStyle/>
                    <a:p>
                      <a:pPr algn="ctr">
                        <a:lnSpc>
                          <a:spcPct val="100000"/>
                        </a:lnSpc>
                        <a:spcAft>
                          <a:spcPts val="0"/>
                        </a:spcAft>
                      </a:pPr>
                      <a:endParaRPr lang="zh-TW" sz="1800" b="1" kern="100" dirty="0">
                        <a:solidFill>
                          <a:schemeClr val="tx1">
                            <a:lumMod val="75000"/>
                            <a:lumOff val="25000"/>
                          </a:schemeClr>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Metric</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p-value</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345966">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Random Extraction</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0.00001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77666904"/>
                  </a:ext>
                </a:extLst>
              </a:tr>
              <a:tr h="327650">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800" b="1" kern="100" dirty="0">
                        <a:solidFill>
                          <a:schemeClr val="lt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sz="1800" b="0"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0.00004</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r h="294726">
                <a:tc rowSpan="3">
                  <a:txBody>
                    <a:bodyPr/>
                    <a:lstStyle/>
                    <a:p>
                      <a:pPr algn="l">
                        <a:lnSpc>
                          <a:spcPct val="100000"/>
                        </a:lnSpc>
                        <a:spcAft>
                          <a:spcPts val="0"/>
                        </a:spcAft>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HACO Without VND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0.46608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67795021"/>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kern="100" dirty="0">
                          <a:solidFill>
                            <a:schemeClr val="dk1"/>
                          </a:solidFill>
                          <a:effectLst/>
                          <a:latin typeface="+mn-lt"/>
                          <a:ea typeface="標楷體" panose="03000509000000000000" pitchFamily="65" charset="-120"/>
                          <a:cs typeface="Times New Roman" panose="02020603050405020304" pitchFamily="18" charset="0"/>
                        </a:rPr>
                        <a:t>0.48388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94790753"/>
                  </a:ext>
                </a:extLst>
              </a:tr>
              <a:tr h="327650">
                <a:tc vMerge="1">
                  <a:txBody>
                    <a:bodyPr/>
                    <a:lstStyle/>
                    <a:p>
                      <a:pPr algn="l">
                        <a:lnSpc>
                          <a:spcPct val="100000"/>
                        </a:lnSpc>
                        <a:spcAft>
                          <a:spcPts val="0"/>
                        </a:spcAft>
                      </a:pP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0.01513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4293028"/>
                  </a:ext>
                </a:extLst>
              </a:tr>
              <a:tr h="289493">
                <a:tc rowSpan="3">
                  <a:txBody>
                    <a:bodyPr/>
                    <a:lstStyle/>
                    <a:p>
                      <a:pPr algn="l">
                        <a:lnSpc>
                          <a:spcPct val="100000"/>
                        </a:lnSpc>
                        <a:spcAft>
                          <a:spcPts val="0"/>
                        </a:spcAft>
                      </a:pPr>
                      <a:r>
                        <a:rPr lang="en-US" altLang="zh-TW" sz="1800" b="1" kern="100" dirty="0">
                          <a:solidFill>
                            <a:schemeClr val="tx1"/>
                          </a:solidFill>
                          <a:effectLst/>
                          <a:latin typeface="+mn-lt"/>
                          <a:ea typeface="標楷體" panose="03000509000000000000" pitchFamily="65" charset="-120"/>
                          <a:cs typeface="Times New Roman" panose="02020603050405020304" pitchFamily="18" charset="0"/>
                        </a:rPr>
                        <a:t>MACS Without VND</a:t>
                      </a:r>
                      <a:endParaRPr lang="zh-TW" altLang="zh-TW" sz="1800" b="1"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0.00572</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8110203"/>
                  </a:ext>
                </a:extLst>
              </a:tr>
              <a:tr h="327650">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Support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a:t>
                      </a:r>
                      <a:r>
                        <a:rPr lang="en-US" altLang="zh-TW" sz="1800" kern="100" dirty="0">
                          <a:solidFill>
                            <a:srgbClr val="FF0000"/>
                          </a:solidFill>
                          <a:effectLst/>
                          <a:latin typeface="+mn-lt"/>
                          <a:ea typeface="標楷體" panose="03000509000000000000" pitchFamily="65" charset="-120"/>
                          <a:cs typeface="Times New Roman" panose="02020603050405020304" pitchFamily="18" charset="0"/>
                        </a:rPr>
                        <a:t>572</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643804"/>
                  </a:ext>
                </a:extLst>
              </a:tr>
              <a:tr h="327650">
                <a:tc vMerge="1">
                  <a:txBody>
                    <a:bodyPr/>
                    <a:lstStyle/>
                    <a:p>
                      <a:pPr algn="l">
                        <a:lnSpc>
                          <a:spcPct val="100000"/>
                        </a:lnSpc>
                        <a:spcAft>
                          <a:spcPts val="0"/>
                        </a:spcAft>
                      </a:pP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l">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altLang="zh-TW" sz="1800" b="0" kern="100" dirty="0">
                        <a:solidFill>
                          <a:schemeClr val="dk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0.00129</a:t>
                      </a:r>
                      <a:endParaRPr lang="zh-TW" sz="1800" kern="100" dirty="0">
                        <a:solidFill>
                          <a:srgbClr val="FF0000"/>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7011392"/>
                  </a:ext>
                </a:extLst>
              </a:tr>
            </a:tbl>
          </a:graphicData>
        </a:graphic>
      </p:graphicFrame>
    </p:spTree>
    <p:extLst>
      <p:ext uri="{BB962C8B-B14F-4D97-AF65-F5344CB8AC3E}">
        <p14:creationId xmlns:p14="http://schemas.microsoft.com/office/powerpoint/2010/main" val="41662487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27B109-41E4-5FE9-5837-A227C4B332F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1D0002D-B968-AF9E-A8D9-856B9B6421E7}"/>
              </a:ext>
            </a:extLst>
          </p:cNvPr>
          <p:cNvSpPr>
            <a:spLocks noGrp="1"/>
          </p:cNvSpPr>
          <p:nvPr>
            <p:ph type="title"/>
          </p:nvPr>
        </p:nvSpPr>
        <p:spPr/>
        <p:txBody>
          <a:bodyPr/>
          <a:lstStyle/>
          <a:p>
            <a:r>
              <a:rPr lang="en-US" altLang="zh-TW" dirty="0"/>
              <a:t>Baseline - HGA-SIH</a:t>
            </a:r>
          </a:p>
        </p:txBody>
      </p:sp>
      <p:sp>
        <p:nvSpPr>
          <p:cNvPr id="4" name="投影片編號版面配置區 3">
            <a:extLst>
              <a:ext uri="{FF2B5EF4-FFF2-40B4-BE49-F238E27FC236}">
                <a16:creationId xmlns:a16="http://schemas.microsoft.com/office/drawing/2014/main" id="{C2AF524B-608C-BF88-26E2-3FAD16FD1615}"/>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40</a:t>
            </a:fld>
            <a:endParaRPr lang="zh-TW" altLang="en-US" sz="1600" dirty="0"/>
          </a:p>
        </p:txBody>
      </p:sp>
      <p:sp>
        <p:nvSpPr>
          <p:cNvPr id="6" name="內容版面配置區 2">
            <a:extLst>
              <a:ext uri="{FF2B5EF4-FFF2-40B4-BE49-F238E27FC236}">
                <a16:creationId xmlns:a16="http://schemas.microsoft.com/office/drawing/2014/main" id="{25FF4DB1-59A4-11DD-1654-717EDF69C7D1}"/>
              </a:ext>
            </a:extLst>
          </p:cNvPr>
          <p:cNvSpPr>
            <a:spLocks noGrp="1"/>
          </p:cNvSpPr>
          <p:nvPr>
            <p:ph idx="1"/>
          </p:nvPr>
        </p:nvSpPr>
        <p:spPr>
          <a:xfrm>
            <a:off x="1097280" y="1845734"/>
            <a:ext cx="10058400" cy="4023360"/>
          </a:xfrm>
        </p:spPr>
        <p:txBody>
          <a:bodyPr>
            <a:normAutofit/>
          </a:bodyPr>
          <a:lstStyle/>
          <a:p>
            <a:pPr>
              <a:lnSpc>
                <a:spcPct val="150000"/>
              </a:lnSpc>
              <a:buFont typeface="Wingdings" panose="05000000000000000000" pitchFamily="2" charset="2"/>
              <a:buChar char="Ø"/>
            </a:pPr>
            <a:r>
              <a:rPr lang="zh-TW" altLang="zh-TW" dirty="0"/>
              <a:t>Hybrid Genetic Algorithm-Solomon Insertion Heuristic</a:t>
            </a:r>
            <a:r>
              <a:rPr lang="en-US" altLang="zh-TW" dirty="0"/>
              <a:t> (HGA-SIH)[5]</a:t>
            </a:r>
          </a:p>
          <a:p>
            <a:pPr>
              <a:lnSpc>
                <a:spcPct val="150000"/>
              </a:lnSpc>
              <a:buFont typeface="Wingdings" panose="05000000000000000000" pitchFamily="2" charset="2"/>
              <a:buChar char="Ø"/>
            </a:pPr>
            <a:r>
              <a:rPr lang="en-US" altLang="zh-TW" dirty="0"/>
              <a:t>Problem Definition</a:t>
            </a:r>
          </a:p>
          <a:p>
            <a:pPr lvl="1">
              <a:lnSpc>
                <a:spcPct val="150000"/>
              </a:lnSpc>
              <a:buFont typeface="Arial" panose="020B0604020202020204" pitchFamily="34" charset="0"/>
              <a:buChar char="•"/>
            </a:pPr>
            <a:r>
              <a:rPr lang="en-US" altLang="zh-TW" dirty="0"/>
              <a:t>Vehicle Routing Problem with Time Windows (VRPTW)</a:t>
            </a:r>
          </a:p>
          <a:p>
            <a:pPr>
              <a:lnSpc>
                <a:spcPct val="150000"/>
              </a:lnSpc>
              <a:buFont typeface="Wingdings" panose="05000000000000000000" pitchFamily="2" charset="2"/>
              <a:buChar char="Ø"/>
            </a:pPr>
            <a:r>
              <a:rPr lang="en-US" altLang="zh-TW" dirty="0"/>
              <a:t>Method</a:t>
            </a:r>
          </a:p>
          <a:p>
            <a:pPr lvl="1">
              <a:lnSpc>
                <a:spcPct val="150000"/>
              </a:lnSpc>
              <a:buFont typeface="Arial" panose="020B0604020202020204" pitchFamily="34" charset="0"/>
              <a:buChar char="•"/>
            </a:pPr>
            <a:r>
              <a:rPr lang="en-US" altLang="zh-TW" dirty="0"/>
              <a:t>Integrates the Solomon Insertion Heuristic (SIH) with a Genetic Algorithm (GA)</a:t>
            </a:r>
          </a:p>
          <a:p>
            <a:pPr lvl="1">
              <a:lnSpc>
                <a:spcPct val="150000"/>
              </a:lnSpc>
              <a:buFont typeface="Arial" panose="020B0604020202020204" pitchFamily="34" charset="0"/>
              <a:buChar char="•"/>
            </a:pPr>
            <a:r>
              <a:rPr lang="en-US" altLang="zh-TW" dirty="0"/>
              <a:t>Partially Mapped Crossover (PMX)</a:t>
            </a:r>
            <a:r>
              <a:rPr lang="zh-TW" altLang="zh-TW" dirty="0"/>
              <a:t> and </a:t>
            </a:r>
            <a:r>
              <a:rPr lang="en-US" altLang="zh-TW" dirty="0"/>
              <a:t>I</a:t>
            </a:r>
            <a:r>
              <a:rPr lang="zh-TW" altLang="zh-TW" dirty="0"/>
              <a:t>nverse </a:t>
            </a:r>
            <a:r>
              <a:rPr lang="en-US" altLang="zh-TW" dirty="0"/>
              <a:t>M</a:t>
            </a:r>
            <a:r>
              <a:rPr lang="zh-TW" altLang="zh-TW" dirty="0"/>
              <a:t>utation operators</a:t>
            </a:r>
            <a:endParaRPr lang="en-US" altLang="zh-TW" dirty="0"/>
          </a:p>
        </p:txBody>
      </p:sp>
      <p:sp>
        <p:nvSpPr>
          <p:cNvPr id="8" name="文字方塊 7">
            <a:extLst>
              <a:ext uri="{FF2B5EF4-FFF2-40B4-BE49-F238E27FC236}">
                <a16:creationId xmlns:a16="http://schemas.microsoft.com/office/drawing/2014/main" id="{AD631B40-1979-BBF1-9776-18D230BFEE6E}"/>
              </a:ext>
            </a:extLst>
          </p:cNvPr>
          <p:cNvSpPr txBox="1"/>
          <p:nvPr/>
        </p:nvSpPr>
        <p:spPr>
          <a:xfrm>
            <a:off x="979517" y="6396335"/>
            <a:ext cx="9823863" cy="461665"/>
          </a:xfrm>
          <a:prstGeom prst="rect">
            <a:avLst/>
          </a:prstGeom>
          <a:noFill/>
        </p:spPr>
        <p:txBody>
          <a:bodyPr wrap="square">
            <a:spAutoFit/>
          </a:bodyPr>
          <a:lstStyle/>
          <a:p>
            <a:r>
              <a:rPr lang="en-US" altLang="zh-TW" sz="1200" dirty="0">
                <a:solidFill>
                  <a:schemeClr val="bg1"/>
                </a:solidFill>
                <a:effectLst/>
                <a:latin typeface="+mj-lt"/>
                <a:ea typeface="新細明體" panose="02020500000000000000" pitchFamily="18" charset="-120"/>
                <a:cs typeface="Times New Roman" panose="02020603050405020304" pitchFamily="18" charset="0"/>
              </a:rPr>
              <a:t>[5]  A. Maroof, B. Ayvaz, and K. Naeem, "Logistics optimization using hybrid genetic algorithm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hga</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 solution to the vehicle routing problem with time windows (</a:t>
            </a:r>
            <a:r>
              <a:rPr lang="en-US" altLang="zh-TW" sz="1200" dirty="0" err="1">
                <a:solidFill>
                  <a:schemeClr val="bg1"/>
                </a:solidFill>
                <a:effectLst/>
                <a:latin typeface="+mj-lt"/>
                <a:ea typeface="新細明體" panose="02020500000000000000" pitchFamily="18" charset="-120"/>
                <a:cs typeface="Times New Roman" panose="02020603050405020304" pitchFamily="18" charset="0"/>
              </a:rPr>
              <a:t>vrptw</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 </a:t>
            </a:r>
            <a:r>
              <a:rPr lang="en-US" altLang="zh-TW" sz="1200" i="1" dirty="0">
                <a:solidFill>
                  <a:schemeClr val="bg1"/>
                </a:solidFill>
                <a:effectLst/>
                <a:latin typeface="+mj-lt"/>
                <a:ea typeface="新細明體" panose="02020500000000000000" pitchFamily="18" charset="-120"/>
                <a:cs typeface="Times New Roman" panose="02020603050405020304" pitchFamily="18" charset="0"/>
              </a:rPr>
              <a:t>IEEE Access, </a:t>
            </a:r>
            <a:r>
              <a:rPr lang="en-US" altLang="zh-TW" sz="1200" dirty="0">
                <a:solidFill>
                  <a:schemeClr val="bg1"/>
                </a:solidFill>
                <a:effectLst/>
                <a:latin typeface="+mj-lt"/>
                <a:ea typeface="新細明體" panose="02020500000000000000" pitchFamily="18" charset="-120"/>
                <a:cs typeface="Times New Roman" panose="02020603050405020304" pitchFamily="18" charset="0"/>
              </a:rPr>
              <a:t>vol. 12, pp. 36974–36989, 2024</a:t>
            </a:r>
            <a:endParaRPr lang="zh-TW" altLang="en-US" sz="1200" dirty="0">
              <a:solidFill>
                <a:schemeClr val="bg1"/>
              </a:solidFill>
              <a:latin typeface="+mj-lt"/>
            </a:endParaRPr>
          </a:p>
        </p:txBody>
      </p:sp>
    </p:spTree>
    <p:extLst>
      <p:ext uri="{BB962C8B-B14F-4D97-AF65-F5344CB8AC3E}">
        <p14:creationId xmlns:p14="http://schemas.microsoft.com/office/powerpoint/2010/main" val="42027208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6CCE5C-BFF5-029D-5297-AE1A8CA049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3A257A-3BE0-B2D9-6182-F184C0120AF5}"/>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31D04C5E-40FC-B60E-990A-02A430E5794D}"/>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41</a:t>
            </a:fld>
            <a:endParaRPr lang="zh-TW" altLang="en-US" sz="1600"/>
          </a:p>
        </p:txBody>
      </p:sp>
      <p:graphicFrame>
        <p:nvGraphicFramePr>
          <p:cNvPr id="9" name="內容版面配置區 8">
            <a:extLst>
              <a:ext uri="{FF2B5EF4-FFF2-40B4-BE49-F238E27FC236}">
                <a16:creationId xmlns:a16="http://schemas.microsoft.com/office/drawing/2014/main" id="{C76AA358-3BFB-1681-BF12-95245FFE71D8}"/>
              </a:ext>
            </a:extLst>
          </p:cNvPr>
          <p:cNvGraphicFramePr>
            <a:graphicFrameLocks noGrp="1"/>
          </p:cNvGraphicFramePr>
          <p:nvPr>
            <p:ph idx="1"/>
            <p:extLst>
              <p:ext uri="{D42A27DB-BD31-4B8C-83A1-F6EECF244321}">
                <p14:modId xmlns:p14="http://schemas.microsoft.com/office/powerpoint/2010/main" val="3586295606"/>
              </p:ext>
            </p:extLst>
          </p:nvPr>
        </p:nvGraphicFramePr>
        <p:xfrm>
          <a:off x="1096963" y="1846263"/>
          <a:ext cx="10058400" cy="402272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7149432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CA1FF23-C1F5-46A9-A021-ACEE80040CD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FE9C746-5365-91BD-F287-1D4689A16E91}"/>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8F1A8F9E-911E-6337-53E5-0D2183D11DA8}"/>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42</a:t>
            </a:fld>
            <a:endParaRPr lang="zh-TW" altLang="en-US" sz="1600" dirty="0"/>
          </a:p>
        </p:txBody>
      </p:sp>
      <p:graphicFrame>
        <p:nvGraphicFramePr>
          <p:cNvPr id="11" name="內容版面配置區 10">
            <a:extLst>
              <a:ext uri="{FF2B5EF4-FFF2-40B4-BE49-F238E27FC236}">
                <a16:creationId xmlns:a16="http://schemas.microsoft.com/office/drawing/2014/main" id="{3B88DB5E-3A60-7451-9903-5CAAE45F8AE7}"/>
              </a:ext>
            </a:extLst>
          </p:cNvPr>
          <p:cNvGraphicFramePr>
            <a:graphicFrameLocks noGrp="1"/>
          </p:cNvGraphicFramePr>
          <p:nvPr>
            <p:ph idx="1"/>
            <p:extLst>
              <p:ext uri="{D42A27DB-BD31-4B8C-83A1-F6EECF244321}">
                <p14:modId xmlns:p14="http://schemas.microsoft.com/office/powerpoint/2010/main" val="2587781187"/>
              </p:ext>
            </p:extLst>
          </p:nvPr>
        </p:nvGraphicFramePr>
        <p:xfrm>
          <a:off x="1096963" y="1846263"/>
          <a:ext cx="10058400" cy="402272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6880769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50D02D-D012-6DF0-2029-CE73F6141D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內容版面配置區 9">
                <a:extLst>
                  <a:ext uri="{FF2B5EF4-FFF2-40B4-BE49-F238E27FC236}">
                    <a16:creationId xmlns:a16="http://schemas.microsoft.com/office/drawing/2014/main" id="{6DB79A7F-A270-E58C-62B0-4FA614227AC9}"/>
                  </a:ext>
                </a:extLst>
              </p:cNvPr>
              <p:cNvSpPr>
                <a:spLocks noGrp="1"/>
              </p:cNvSpPr>
              <p:nvPr>
                <p:ph idx="1"/>
              </p:nvPr>
            </p:nvSpPr>
            <p:spPr>
              <a:xfrm>
                <a:off x="1097280" y="1845734"/>
                <a:ext cx="10058400" cy="4023360"/>
              </a:xfrm>
            </p:spPr>
            <p:txBody>
              <a:bodyPr/>
              <a:lstStyle/>
              <a:p>
                <a:pPr>
                  <a:buFont typeface="Wingdings" panose="05000000000000000000" pitchFamily="2" charset="2"/>
                  <a:buChar char="Ø"/>
                </a:pPr>
                <a:r>
                  <a:rPr lang="en-US" altLang="zh-TW" b="0" dirty="0"/>
                  <a:t>Wilcoxon Signed-Rank Test</a:t>
                </a:r>
              </a:p>
              <a:p>
                <a:pPr lvl="1">
                  <a:buFont typeface="Arial" panose="020B0604020202020204" pitchFamily="34" charset="0"/>
                  <a:buChar char="•"/>
                </a:pPr>
                <a:r>
                  <a:rPr lang="en-US" altLang="zh-TW" b="0" dirty="0"/>
                  <a:t>Significant at </a:t>
                </a:r>
                <a14:m>
                  <m:oMath xmlns:m="http://schemas.openxmlformats.org/officeDocument/2006/math">
                    <m:r>
                      <m:rPr>
                        <m:sty m:val="p"/>
                      </m:rPr>
                      <a:rPr lang="en-US" altLang="zh-TW" b="0" i="0" smtClean="0">
                        <a:latin typeface="Cambria Math" panose="02040503050406030204" pitchFamily="18" charset="0"/>
                      </a:rPr>
                      <m:t>α</m:t>
                    </m:r>
                  </m:oMath>
                </a14:m>
                <a:r>
                  <a:rPr lang="en-US" altLang="zh-TW" dirty="0"/>
                  <a:t>=0.05</a:t>
                </a:r>
                <a:endParaRPr lang="zh-TW" altLang="en-US" dirty="0"/>
              </a:p>
            </p:txBody>
          </p:sp>
        </mc:Choice>
        <mc:Fallback xmlns="">
          <p:sp>
            <p:nvSpPr>
              <p:cNvPr id="3" name="內容版面配置區 9">
                <a:extLst>
                  <a:ext uri="{FF2B5EF4-FFF2-40B4-BE49-F238E27FC236}">
                    <a16:creationId xmlns:a16="http://schemas.microsoft.com/office/drawing/2014/main" id="{6DB79A7F-A270-E58C-62B0-4FA614227AC9}"/>
                  </a:ext>
                </a:extLst>
              </p:cNvPr>
              <p:cNvSpPr>
                <a:spLocks noGrp="1" noRot="1" noChangeAspect="1" noMove="1" noResize="1" noEditPoints="1" noAdjustHandles="1" noChangeArrowheads="1" noChangeShapeType="1" noTextEdit="1"/>
              </p:cNvSpPr>
              <p:nvPr>
                <p:ph idx="1"/>
              </p:nvPr>
            </p:nvSpPr>
            <p:spPr>
              <a:xfrm>
                <a:off x="1097280" y="1845734"/>
                <a:ext cx="10058400" cy="4023360"/>
              </a:xfrm>
              <a:blipFill>
                <a:blip r:embed="rId3"/>
                <a:stretch>
                  <a:fillRect l="-1455" t="-1667"/>
                </a:stretch>
              </a:blipFill>
            </p:spPr>
            <p:txBody>
              <a:bodyPr/>
              <a:lstStyle/>
              <a:p>
                <a:r>
                  <a:rPr lang="zh-TW" altLang="en-US">
                    <a:noFill/>
                  </a:rPr>
                  <a:t> </a:t>
                </a:r>
              </a:p>
            </p:txBody>
          </p:sp>
        </mc:Fallback>
      </mc:AlternateContent>
      <p:sp>
        <p:nvSpPr>
          <p:cNvPr id="2" name="標題 1">
            <a:extLst>
              <a:ext uri="{FF2B5EF4-FFF2-40B4-BE49-F238E27FC236}">
                <a16:creationId xmlns:a16="http://schemas.microsoft.com/office/drawing/2014/main" id="{A9CAB78A-F672-03D1-EDCA-FD00AC88FBE4}"/>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F2D6514B-8E59-9377-8CFC-7269BF130059}"/>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43</a:t>
            </a:fld>
            <a:endParaRPr lang="zh-TW" altLang="en-US" sz="1600" dirty="0"/>
          </a:p>
        </p:txBody>
      </p:sp>
      <p:graphicFrame>
        <p:nvGraphicFramePr>
          <p:cNvPr id="7" name="內容版面配置區 4">
            <a:extLst>
              <a:ext uri="{FF2B5EF4-FFF2-40B4-BE49-F238E27FC236}">
                <a16:creationId xmlns:a16="http://schemas.microsoft.com/office/drawing/2014/main" id="{1B5B314B-E404-F214-65B3-CA22689936E0}"/>
              </a:ext>
            </a:extLst>
          </p:cNvPr>
          <p:cNvGraphicFramePr>
            <a:graphicFrameLocks/>
          </p:cNvGraphicFramePr>
          <p:nvPr>
            <p:extLst>
              <p:ext uri="{D42A27DB-BD31-4B8C-83A1-F6EECF244321}">
                <p14:modId xmlns:p14="http://schemas.microsoft.com/office/powerpoint/2010/main" val="882363951"/>
              </p:ext>
            </p:extLst>
          </p:nvPr>
        </p:nvGraphicFramePr>
        <p:xfrm>
          <a:off x="3580814" y="3034078"/>
          <a:ext cx="5030372" cy="1800173"/>
        </p:xfrm>
        <a:graphic>
          <a:graphicData uri="http://schemas.openxmlformats.org/drawingml/2006/table">
            <a:tbl>
              <a:tblPr firstCol="1">
                <a:tableStyleId>{5C22544A-7EE6-4342-B048-85BDC9FD1C3A}</a:tableStyleId>
              </a:tblPr>
              <a:tblGrid>
                <a:gridCol w="2302937">
                  <a:extLst>
                    <a:ext uri="{9D8B030D-6E8A-4147-A177-3AD203B41FA5}">
                      <a16:colId xmlns:a16="http://schemas.microsoft.com/office/drawing/2014/main" val="1458894256"/>
                    </a:ext>
                  </a:extLst>
                </a:gridCol>
                <a:gridCol w="2727435">
                  <a:extLst>
                    <a:ext uri="{9D8B030D-6E8A-4147-A177-3AD203B41FA5}">
                      <a16:colId xmlns:a16="http://schemas.microsoft.com/office/drawing/2014/main" val="4186979241"/>
                    </a:ext>
                  </a:extLst>
                </a:gridCol>
              </a:tblGrid>
              <a:tr h="615639">
                <a:tc>
                  <a:txBody>
                    <a:bodyPr/>
                    <a:lstStyle/>
                    <a:p>
                      <a:pPr algn="ctr">
                        <a:lnSpc>
                          <a:spcPct val="100000"/>
                        </a:lnSpc>
                        <a:spcAft>
                          <a:spcPts val="0"/>
                        </a:spcAft>
                      </a:pPr>
                      <a:r>
                        <a:rPr lang="en-US" altLang="zh-TW" sz="1800" b="1" kern="100" dirty="0">
                          <a:solidFill>
                            <a:schemeClr val="tx1"/>
                          </a:solidFill>
                          <a:effectLst/>
                          <a:latin typeface="+mj-lt"/>
                          <a:ea typeface="標楷體" panose="03000509000000000000" pitchFamily="65" charset="-120"/>
                          <a:cs typeface="Times New Roman" panose="02020603050405020304" pitchFamily="18" charset="0"/>
                        </a:rPr>
                        <a:t>Metric</a:t>
                      </a:r>
                      <a:endParaRPr lang="zh-TW" sz="1800" b="1"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tc>
                  <a:txBody>
                    <a:bodyPr/>
                    <a:lstStyle/>
                    <a:p>
                      <a:pPr algn="ctr">
                        <a:lnSpc>
                          <a:spcPct val="100000"/>
                        </a:lnSpc>
                        <a:spcAft>
                          <a:spcPts val="0"/>
                        </a:spcAft>
                      </a:pPr>
                      <a:r>
                        <a:rPr lang="en-US" altLang="zh-TW" sz="1800" b="1" kern="100" dirty="0">
                          <a:effectLst/>
                          <a:latin typeface="+mj-lt"/>
                          <a:ea typeface="標楷體" panose="03000509000000000000" pitchFamily="65" charset="-120"/>
                          <a:cs typeface="Times New Roman" panose="02020603050405020304" pitchFamily="18" charset="0"/>
                        </a:rPr>
                        <a:t>p-value</a:t>
                      </a:r>
                      <a:endParaRPr lang="zh-TW" sz="1800" b="1" kern="100" dirty="0">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5000"/>
                        <a:lumOff val="75000"/>
                      </a:schemeClr>
                    </a:solidFill>
                  </a:tcPr>
                </a:tc>
                <a:extLst>
                  <a:ext uri="{0D108BD9-81ED-4DB2-BD59-A6C34878D82A}">
                    <a16:rowId xmlns:a16="http://schemas.microsoft.com/office/drawing/2014/main" val="689319815"/>
                  </a:ext>
                </a:extLst>
              </a:tr>
              <a:tr h="6083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Number of Vehicles</a:t>
                      </a:r>
                      <a:endParaRPr lang="zh-TW" altLang="zh-TW" sz="1800" b="0" kern="100" dirty="0">
                        <a:solidFill>
                          <a:schemeClr val="tx1"/>
                        </a:solidFill>
                        <a:effectLst/>
                        <a:latin typeface="+mn-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rgbClr val="FF0000"/>
                          </a:solidFill>
                          <a:effectLst/>
                          <a:latin typeface="+mj-lt"/>
                          <a:ea typeface="標楷體" panose="03000509000000000000" pitchFamily="65" charset="-120"/>
                          <a:cs typeface="Times New Roman" panose="02020603050405020304" pitchFamily="18" charset="0"/>
                        </a:rPr>
                        <a:t>0.002741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7504475"/>
                  </a:ext>
                </a:extLst>
              </a:tr>
              <a:tr h="576162">
                <a:tc>
                  <a:txBody>
                    <a:bodyPr/>
                    <a:lstStyle/>
                    <a:p>
                      <a:pPr algn="ctr">
                        <a:lnSpc>
                          <a:spcPct val="100000"/>
                        </a:lnSpc>
                        <a:spcAft>
                          <a:spcPts val="0"/>
                        </a:spcAft>
                      </a:pPr>
                      <a:r>
                        <a:rPr lang="en-US" altLang="zh-TW" sz="1800" b="0" kern="100" dirty="0">
                          <a:solidFill>
                            <a:schemeClr val="tx1"/>
                          </a:solidFill>
                          <a:effectLst/>
                          <a:latin typeface="+mn-lt"/>
                          <a:ea typeface="標楷體" panose="03000509000000000000" pitchFamily="65" charset="-120"/>
                          <a:cs typeface="Times New Roman" panose="02020603050405020304" pitchFamily="18" charset="0"/>
                        </a:rPr>
                        <a:t>Total Distance</a:t>
                      </a:r>
                      <a:endParaRPr lang="zh-TW" sz="1800" b="0" kern="100" dirty="0">
                        <a:solidFill>
                          <a:schemeClr val="tx1"/>
                        </a:solidFill>
                        <a:effectLst/>
                        <a:latin typeface="+mj-lt"/>
                        <a:ea typeface="標楷體" panose="03000509000000000000" pitchFamily="65" charset="-12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altLang="zh-TW" sz="1800" kern="100" dirty="0">
                          <a:solidFill>
                            <a:schemeClr val="tx1"/>
                          </a:solidFill>
                          <a:effectLst/>
                          <a:latin typeface="+mn-lt"/>
                          <a:ea typeface="標楷體" panose="03000509000000000000" pitchFamily="65" charset="-120"/>
                          <a:cs typeface="Times New Roman" panose="02020603050405020304" pitchFamily="18" charset="0"/>
                        </a:rPr>
                        <a:t>0.700151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36423645"/>
                  </a:ext>
                </a:extLst>
              </a:tr>
            </a:tbl>
          </a:graphicData>
        </a:graphic>
      </p:graphicFrame>
    </p:spTree>
    <p:extLst>
      <p:ext uri="{BB962C8B-B14F-4D97-AF65-F5344CB8AC3E}">
        <p14:creationId xmlns:p14="http://schemas.microsoft.com/office/powerpoint/2010/main" val="27227094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853239-6F20-F58A-DBD5-654323097DA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3507E54-9B8D-4797-0964-5E39F1A1170D}"/>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93D42290-4772-3000-F4F2-A49DC55D613B}"/>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t>Discussion</a:t>
            </a:r>
          </a:p>
          <a:p>
            <a:pPr>
              <a:buFont typeface="Wingdings" panose="05000000000000000000" pitchFamily="2" charset="2"/>
              <a:buChar char="Ø"/>
            </a:pPr>
            <a:r>
              <a:rPr lang="en-US" altLang="zh-TW" sz="3200" dirty="0">
                <a:solidFill>
                  <a:schemeClr val="bg2">
                    <a:lumMod val="75000"/>
                  </a:schemeClr>
                </a:solidFill>
              </a:rPr>
              <a:t>Conclusion &amp; Future</a:t>
            </a:r>
          </a:p>
        </p:txBody>
      </p:sp>
      <p:sp>
        <p:nvSpPr>
          <p:cNvPr id="4" name="投影片編號版面配置區 3">
            <a:extLst>
              <a:ext uri="{FF2B5EF4-FFF2-40B4-BE49-F238E27FC236}">
                <a16:creationId xmlns:a16="http://schemas.microsoft.com/office/drawing/2014/main" id="{B7C98722-0688-2201-753E-9DEE74C53AA7}"/>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44</a:t>
            </a:fld>
            <a:endParaRPr lang="zh-TW" altLang="en-US" sz="1600" dirty="0"/>
          </a:p>
        </p:txBody>
      </p:sp>
    </p:spTree>
    <p:extLst>
      <p:ext uri="{BB962C8B-B14F-4D97-AF65-F5344CB8AC3E}">
        <p14:creationId xmlns:p14="http://schemas.microsoft.com/office/powerpoint/2010/main" val="39821822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00363D-160C-E35B-E982-2CFA781D516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85A2EA6-BCA4-6F24-EEEA-EAE2B093BDE3}"/>
              </a:ext>
            </a:extLst>
          </p:cNvPr>
          <p:cNvSpPr>
            <a:spLocks noGrp="1"/>
          </p:cNvSpPr>
          <p:nvPr>
            <p:ph type="title"/>
          </p:nvPr>
        </p:nvSpPr>
        <p:spPr/>
        <p:txBody>
          <a:bodyPr/>
          <a:lstStyle/>
          <a:p>
            <a:r>
              <a:rPr lang="en-US" altLang="zh-TW" dirty="0"/>
              <a:t>Discussion</a:t>
            </a:r>
            <a:endParaRPr lang="zh-TW" altLang="en-US" dirty="0"/>
          </a:p>
        </p:txBody>
      </p:sp>
      <p:sp>
        <p:nvSpPr>
          <p:cNvPr id="3" name="內容版面配置區 2">
            <a:extLst>
              <a:ext uri="{FF2B5EF4-FFF2-40B4-BE49-F238E27FC236}">
                <a16:creationId xmlns:a16="http://schemas.microsoft.com/office/drawing/2014/main" id="{E450C6F9-BC43-0058-19A9-0F81CBFB4386}"/>
              </a:ext>
            </a:extLst>
          </p:cNvPr>
          <p:cNvSpPr>
            <a:spLocks noGrp="1"/>
          </p:cNvSpPr>
          <p:nvPr>
            <p:ph idx="1"/>
          </p:nvPr>
        </p:nvSpPr>
        <p:spPr>
          <a:xfrm>
            <a:off x="1097280" y="1845734"/>
            <a:ext cx="10058400" cy="4492922"/>
          </a:xfrm>
        </p:spPr>
        <p:txBody>
          <a:bodyPr>
            <a:normAutofit/>
          </a:bodyPr>
          <a:lstStyle/>
          <a:p>
            <a:pPr>
              <a:lnSpc>
                <a:spcPct val="150000"/>
              </a:lnSpc>
              <a:buFont typeface="Wingdings" panose="05000000000000000000" pitchFamily="2" charset="2"/>
              <a:buChar char="Ø"/>
            </a:pPr>
            <a:r>
              <a:rPr lang="en-US" altLang="zh-TW" dirty="0"/>
              <a:t>Problem Structure Difference</a:t>
            </a:r>
          </a:p>
          <a:p>
            <a:pPr lvl="1">
              <a:lnSpc>
                <a:spcPct val="150000"/>
              </a:lnSpc>
            </a:pPr>
            <a:r>
              <a:rPr lang="en-US" altLang="zh-TW" dirty="0"/>
              <a:t>Fixed-route structure d</a:t>
            </a:r>
            <a:r>
              <a:rPr lang="zh-TW" altLang="zh-TW" dirty="0"/>
              <a:t>erived from logistics operations</a:t>
            </a:r>
            <a:endParaRPr lang="en-US" altLang="zh-TW" dirty="0"/>
          </a:p>
          <a:p>
            <a:pPr lvl="1">
              <a:lnSpc>
                <a:spcPct val="150000"/>
              </a:lnSpc>
            </a:pPr>
            <a:r>
              <a:rPr lang="zh-TW" altLang="zh-TW" dirty="0"/>
              <a:t>Different from VRP with global route re-optimization</a:t>
            </a:r>
            <a:endParaRPr lang="en-US" altLang="zh-TW" dirty="0"/>
          </a:p>
          <a:p>
            <a:pPr lvl="1">
              <a:lnSpc>
                <a:spcPct val="150000"/>
              </a:lnSpc>
            </a:pPr>
            <a:r>
              <a:rPr lang="zh-TW" altLang="zh-TW" dirty="0"/>
              <a:t>Benchmark evaluation focuses on support</a:t>
            </a:r>
            <a:r>
              <a:rPr lang="en-US" altLang="zh-TW" dirty="0"/>
              <a:t> route planning</a:t>
            </a:r>
          </a:p>
        </p:txBody>
      </p:sp>
      <p:sp>
        <p:nvSpPr>
          <p:cNvPr id="4" name="投影片編號版面配置區 3">
            <a:extLst>
              <a:ext uri="{FF2B5EF4-FFF2-40B4-BE49-F238E27FC236}">
                <a16:creationId xmlns:a16="http://schemas.microsoft.com/office/drawing/2014/main" id="{D8EBF8EA-9882-69F5-2D91-108D57D82150}"/>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45</a:t>
            </a:fld>
            <a:endParaRPr lang="zh-TW" altLang="en-US" sz="1600"/>
          </a:p>
        </p:txBody>
      </p:sp>
    </p:spTree>
    <p:extLst>
      <p:ext uri="{BB962C8B-B14F-4D97-AF65-F5344CB8AC3E}">
        <p14:creationId xmlns:p14="http://schemas.microsoft.com/office/powerpoint/2010/main" val="21201907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A3BDA6-B1CC-CC77-5E7B-0147B947BA78}"/>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C533922-4B8A-8A61-A8CD-D2842E706C36}"/>
              </a:ext>
            </a:extLst>
          </p:cNvPr>
          <p:cNvSpPr>
            <a:spLocks noGrp="1"/>
          </p:cNvSpPr>
          <p:nvPr>
            <p:ph type="title"/>
          </p:nvPr>
        </p:nvSpPr>
        <p:spPr/>
        <p:txBody>
          <a:bodyPr/>
          <a:lstStyle/>
          <a:p>
            <a:r>
              <a:rPr lang="en-US" altLang="zh-TW" dirty="0"/>
              <a:t>Outline</a:t>
            </a:r>
            <a:endParaRPr lang="zh-TW" altLang="en-US" dirty="0"/>
          </a:p>
        </p:txBody>
      </p:sp>
      <p:sp>
        <p:nvSpPr>
          <p:cNvPr id="3" name="內容版面配置區 2">
            <a:extLst>
              <a:ext uri="{FF2B5EF4-FFF2-40B4-BE49-F238E27FC236}">
                <a16:creationId xmlns:a16="http://schemas.microsoft.com/office/drawing/2014/main" id="{BDE62C09-9F85-6CD6-251F-F4188154ED28}"/>
              </a:ext>
            </a:extLst>
          </p:cNvPr>
          <p:cNvSpPr>
            <a:spLocks noGrp="1"/>
          </p:cNvSpPr>
          <p:nvPr>
            <p:ph idx="1"/>
          </p:nvPr>
        </p:nvSpPr>
        <p:spPr/>
        <p:txBody>
          <a:bodyPr>
            <a:normAutofit/>
          </a:bodyPr>
          <a:lstStyle/>
          <a:p>
            <a:pPr>
              <a:buFont typeface="Wingdings" panose="05000000000000000000" pitchFamily="2" charset="2"/>
              <a:buChar char="Ø"/>
            </a:pPr>
            <a:r>
              <a:rPr lang="en-US" altLang="zh-TW" sz="3200" dirty="0">
                <a:solidFill>
                  <a:schemeClr val="bg2">
                    <a:lumMod val="75000"/>
                  </a:schemeClr>
                </a:solidFill>
              </a:rPr>
              <a:t>Motivation</a:t>
            </a:r>
          </a:p>
          <a:p>
            <a:pPr>
              <a:buFont typeface="Wingdings" panose="05000000000000000000" pitchFamily="2" charset="2"/>
              <a:buChar char="Ø"/>
            </a:pPr>
            <a:r>
              <a:rPr lang="en-US" altLang="zh-TW" sz="3200" dirty="0">
                <a:solidFill>
                  <a:schemeClr val="bg2">
                    <a:lumMod val="75000"/>
                  </a:schemeClr>
                </a:solidFill>
              </a:rPr>
              <a:t>The proposed approach</a:t>
            </a:r>
          </a:p>
          <a:p>
            <a:pPr>
              <a:buFont typeface="Wingdings" panose="05000000000000000000" pitchFamily="2" charset="2"/>
              <a:buChar char="Ø"/>
            </a:pPr>
            <a:r>
              <a:rPr lang="en-US" altLang="zh-TW" sz="3200" dirty="0">
                <a:solidFill>
                  <a:schemeClr val="bg2">
                    <a:lumMod val="75000"/>
                  </a:schemeClr>
                </a:solidFill>
              </a:rPr>
              <a:t>Experiment</a:t>
            </a:r>
          </a:p>
          <a:p>
            <a:pPr>
              <a:buFont typeface="Wingdings" panose="05000000000000000000" pitchFamily="2" charset="2"/>
              <a:buChar char="Ø"/>
            </a:pPr>
            <a:r>
              <a:rPr lang="en-US" altLang="zh-TW" sz="3200" dirty="0">
                <a:solidFill>
                  <a:schemeClr val="bg2">
                    <a:lumMod val="75000"/>
                  </a:schemeClr>
                </a:solidFill>
              </a:rPr>
              <a:t>Discussion</a:t>
            </a:r>
          </a:p>
          <a:p>
            <a:pPr>
              <a:buFont typeface="Wingdings" panose="05000000000000000000" pitchFamily="2" charset="2"/>
              <a:buChar char="Ø"/>
            </a:pPr>
            <a:r>
              <a:rPr lang="en-US" altLang="zh-TW" sz="3200" dirty="0"/>
              <a:t>Conclusion &amp; Future</a:t>
            </a:r>
          </a:p>
        </p:txBody>
      </p:sp>
      <p:sp>
        <p:nvSpPr>
          <p:cNvPr id="4" name="投影片編號版面配置區 3">
            <a:extLst>
              <a:ext uri="{FF2B5EF4-FFF2-40B4-BE49-F238E27FC236}">
                <a16:creationId xmlns:a16="http://schemas.microsoft.com/office/drawing/2014/main" id="{EB2977C1-7FDB-0A66-B228-A37220DCC20E}"/>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46</a:t>
            </a:fld>
            <a:endParaRPr lang="zh-TW" altLang="en-US" sz="1600"/>
          </a:p>
        </p:txBody>
      </p:sp>
    </p:spTree>
    <p:extLst>
      <p:ext uri="{BB962C8B-B14F-4D97-AF65-F5344CB8AC3E}">
        <p14:creationId xmlns:p14="http://schemas.microsoft.com/office/powerpoint/2010/main" val="28118055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BE007B-82E8-216A-54C6-68DE3B14C1F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40DD5D9D-97D0-3DA8-CF49-1D1EA07D03BC}"/>
              </a:ext>
            </a:extLst>
          </p:cNvPr>
          <p:cNvSpPr>
            <a:spLocks noGrp="1"/>
          </p:cNvSpPr>
          <p:nvPr>
            <p:ph type="title"/>
          </p:nvPr>
        </p:nvSpPr>
        <p:spPr/>
        <p:txBody>
          <a:bodyPr/>
          <a:lstStyle/>
          <a:p>
            <a:r>
              <a:rPr lang="en-US" altLang="zh-TW" dirty="0"/>
              <a:t>Conclusion</a:t>
            </a:r>
          </a:p>
        </p:txBody>
      </p:sp>
      <p:sp>
        <p:nvSpPr>
          <p:cNvPr id="4" name="投影片編號版面配置區 3">
            <a:extLst>
              <a:ext uri="{FF2B5EF4-FFF2-40B4-BE49-F238E27FC236}">
                <a16:creationId xmlns:a16="http://schemas.microsoft.com/office/drawing/2014/main" id="{F2D7BDCD-7602-8F36-F084-DDAC0FCDF8CF}"/>
              </a:ext>
            </a:extLst>
          </p:cNvPr>
          <p:cNvSpPr>
            <a:spLocks noGrp="1"/>
          </p:cNvSpPr>
          <p:nvPr>
            <p:ph type="sldNum" sz="quarter" idx="12"/>
          </p:nvPr>
        </p:nvSpPr>
        <p:spPr/>
        <p:txBody>
          <a:bodyPr/>
          <a:lstStyle/>
          <a:p>
            <a:fld id="{5AC25633-CB68-4D6B-BEE8-144406895708}" type="slidenum">
              <a:rPr lang="zh-TW" altLang="en-US" sz="1600" smtClean="0"/>
              <a:t>47</a:t>
            </a:fld>
            <a:endParaRPr lang="zh-TW" altLang="en-US" sz="1600" dirty="0"/>
          </a:p>
        </p:txBody>
      </p:sp>
      <p:sp>
        <p:nvSpPr>
          <p:cNvPr id="59" name="內容版面配置區 2">
            <a:extLst>
              <a:ext uri="{FF2B5EF4-FFF2-40B4-BE49-F238E27FC236}">
                <a16:creationId xmlns:a16="http://schemas.microsoft.com/office/drawing/2014/main" id="{8FE8E4F5-8D23-DDC6-13C9-F88F2126CCCF}"/>
              </a:ext>
            </a:extLst>
          </p:cNvPr>
          <p:cNvSpPr>
            <a:spLocks noGrp="1"/>
          </p:cNvSpPr>
          <p:nvPr>
            <p:ph idx="1"/>
          </p:nvPr>
        </p:nvSpPr>
        <p:spPr>
          <a:xfrm>
            <a:off x="1097280" y="1845733"/>
            <a:ext cx="10058400" cy="4614052"/>
          </a:xfrm>
        </p:spPr>
        <p:txBody>
          <a:bodyPr>
            <a:normAutofit/>
          </a:bodyPr>
          <a:lstStyle/>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a:p>
            <a:pPr>
              <a:buClr>
                <a:schemeClr val="accent1">
                  <a:lumMod val="50000"/>
                </a:schemeClr>
              </a:buClr>
              <a:buFont typeface="Wingdings" panose="05000000000000000000" pitchFamily="2" charset="2"/>
              <a:buChar char="Ø"/>
            </a:pPr>
            <a:endParaRPr lang="en-US" altLang="zh-TW" dirty="0"/>
          </a:p>
        </p:txBody>
      </p:sp>
      <p:sp>
        <p:nvSpPr>
          <p:cNvPr id="5" name="內容版面配置區 2">
            <a:extLst>
              <a:ext uri="{FF2B5EF4-FFF2-40B4-BE49-F238E27FC236}">
                <a16:creationId xmlns:a16="http://schemas.microsoft.com/office/drawing/2014/main" id="{815C0E44-0C06-116A-157C-BEA497E0E4A3}"/>
              </a:ext>
            </a:extLst>
          </p:cNvPr>
          <p:cNvSpPr txBox="1">
            <a:spLocks/>
          </p:cNvSpPr>
          <p:nvPr/>
        </p:nvSpPr>
        <p:spPr>
          <a:xfrm>
            <a:off x="1097280" y="1845733"/>
            <a:ext cx="10409910" cy="4614052"/>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lumMod val="50000"/>
                </a:schemeClr>
              </a:buClr>
              <a:buFont typeface="Wingdings" panose="05000000000000000000" pitchFamily="2" charset="2"/>
              <a:buChar char="Ø"/>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600"/>
              </a:spcBef>
              <a:spcAft>
                <a:spcPts val="600"/>
              </a:spcAft>
              <a:buClr>
                <a:schemeClr val="accent1">
                  <a:lumMod val="50000"/>
                </a:schemeClr>
              </a:buClr>
              <a:buFont typeface="Wingdings" panose="05000000000000000000" pitchFamily="2" charset="2"/>
              <a:buChar char="l"/>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buClr>
                <a:schemeClr val="accent1">
                  <a:lumMod val="50000"/>
                </a:schemeClr>
              </a:buClr>
              <a:buFont typeface="Wingdings" panose="05000000000000000000" pitchFamily="2" charset="2"/>
              <a:buChar char="Ø"/>
            </a:pPr>
            <a:r>
              <a:rPr lang="en-US" altLang="zh-TW" dirty="0"/>
              <a:t>Proposed a Multi-Stage Operationally Constrained VRP model for real-world logistics</a:t>
            </a:r>
          </a:p>
          <a:p>
            <a:pPr>
              <a:buClr>
                <a:schemeClr val="accent1">
                  <a:lumMod val="50000"/>
                </a:schemeClr>
              </a:buClr>
              <a:buFont typeface="Wingdings" panose="05000000000000000000" pitchFamily="2" charset="2"/>
              <a:buChar char="Ø"/>
            </a:pPr>
            <a:r>
              <a:rPr lang="zh-TW" altLang="zh-TW" dirty="0"/>
              <a:t>Developed a hybrid solution framework using CCGA, HACO, and MAC</a:t>
            </a:r>
            <a:r>
              <a:rPr lang="en-US" altLang="zh-TW" dirty="0"/>
              <a:t>S</a:t>
            </a:r>
          </a:p>
          <a:p>
            <a:pPr>
              <a:buClr>
                <a:schemeClr val="accent1">
                  <a:lumMod val="50000"/>
                </a:schemeClr>
              </a:buClr>
              <a:buFont typeface="Wingdings" panose="05000000000000000000" pitchFamily="2" charset="2"/>
              <a:buChar char="Ø"/>
            </a:pPr>
            <a:r>
              <a:rPr lang="zh-TW" altLang="zh-TW" dirty="0"/>
              <a:t>Reduced support-route usage and improved delivery efficiency on real-world data</a:t>
            </a:r>
            <a:endParaRPr lang="en-US" altLang="zh-TW" dirty="0"/>
          </a:p>
        </p:txBody>
      </p:sp>
    </p:spTree>
    <p:extLst>
      <p:ext uri="{BB962C8B-B14F-4D97-AF65-F5344CB8AC3E}">
        <p14:creationId xmlns:p14="http://schemas.microsoft.com/office/powerpoint/2010/main" val="3838413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C7964C-B3DF-5EEF-9FDE-D40A03CD3B0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698C9BD-D935-0D7C-AD9C-88D417C6F074}"/>
              </a:ext>
            </a:extLst>
          </p:cNvPr>
          <p:cNvSpPr>
            <a:spLocks noGrp="1"/>
          </p:cNvSpPr>
          <p:nvPr>
            <p:ph type="title"/>
          </p:nvPr>
        </p:nvSpPr>
        <p:spPr/>
        <p:txBody>
          <a:bodyPr/>
          <a:lstStyle/>
          <a:p>
            <a:r>
              <a:rPr lang="en-US" altLang="zh-TW" dirty="0"/>
              <a:t>Future</a:t>
            </a:r>
          </a:p>
        </p:txBody>
      </p:sp>
      <p:sp>
        <p:nvSpPr>
          <p:cNvPr id="4" name="投影片編號版面配置區 3">
            <a:extLst>
              <a:ext uri="{FF2B5EF4-FFF2-40B4-BE49-F238E27FC236}">
                <a16:creationId xmlns:a16="http://schemas.microsoft.com/office/drawing/2014/main" id="{EBA62698-DB82-4F1D-CEA7-3696B10769EA}"/>
              </a:ext>
            </a:extLst>
          </p:cNvPr>
          <p:cNvSpPr>
            <a:spLocks noGrp="1"/>
          </p:cNvSpPr>
          <p:nvPr>
            <p:ph type="sldNum" sz="quarter" idx="12"/>
          </p:nvPr>
        </p:nvSpPr>
        <p:spPr/>
        <p:txBody>
          <a:bodyPr/>
          <a:lstStyle/>
          <a:p>
            <a:fld id="{5AC25633-CB68-4D6B-BEE8-144406895708}" type="slidenum">
              <a:rPr lang="zh-TW" altLang="en-US" sz="1600" smtClean="0"/>
              <a:t>48</a:t>
            </a:fld>
            <a:endParaRPr lang="zh-TW" altLang="en-US" dirty="0"/>
          </a:p>
        </p:txBody>
      </p:sp>
      <p:sp>
        <p:nvSpPr>
          <p:cNvPr id="5" name="內容版面配置區 4">
            <a:extLst>
              <a:ext uri="{FF2B5EF4-FFF2-40B4-BE49-F238E27FC236}">
                <a16:creationId xmlns:a16="http://schemas.microsoft.com/office/drawing/2014/main" id="{31F7D6F9-4448-FEAE-78F3-544C06AF70F0}"/>
              </a:ext>
            </a:extLst>
          </p:cNvPr>
          <p:cNvSpPr>
            <a:spLocks noGrp="1"/>
          </p:cNvSpPr>
          <p:nvPr>
            <p:ph idx="1"/>
          </p:nvPr>
        </p:nvSpPr>
        <p:spPr/>
        <p:txBody>
          <a:bodyPr>
            <a:normAutofit/>
          </a:bodyPr>
          <a:lstStyle/>
          <a:p>
            <a:pPr>
              <a:lnSpc>
                <a:spcPct val="150000"/>
              </a:lnSpc>
              <a:buFont typeface="Arial" panose="020B0604020202020204" pitchFamily="34" charset="0"/>
              <a:buChar char="•"/>
            </a:pPr>
            <a:r>
              <a:rPr lang="zh-TW" altLang="zh-TW" dirty="0"/>
              <a:t>Problem-level Extensions</a:t>
            </a:r>
            <a:endParaRPr lang="en-US" altLang="zh-TW" dirty="0"/>
          </a:p>
          <a:p>
            <a:pPr lvl="1">
              <a:lnSpc>
                <a:spcPct val="150000"/>
              </a:lnSpc>
            </a:pPr>
            <a:r>
              <a:rPr lang="en-US" altLang="zh-TW" dirty="0"/>
              <a:t>Multi-type Heterogeneous Fleet Vehicle Routing Problem</a:t>
            </a:r>
          </a:p>
          <a:p>
            <a:pPr lvl="1">
              <a:lnSpc>
                <a:spcPct val="150000"/>
              </a:lnSpc>
            </a:pPr>
            <a:r>
              <a:rPr lang="en-US" altLang="zh-TW" dirty="0"/>
              <a:t>Green Vehicle Routing Problem</a:t>
            </a:r>
          </a:p>
          <a:p>
            <a:pPr lvl="1"/>
            <a:endParaRPr lang="en-US" altLang="zh-TW" dirty="0"/>
          </a:p>
          <a:p>
            <a:pPr>
              <a:lnSpc>
                <a:spcPct val="150000"/>
              </a:lnSpc>
              <a:buFont typeface="Arial" panose="020B0604020202020204" pitchFamily="34" charset="0"/>
              <a:buChar char="•"/>
            </a:pPr>
            <a:r>
              <a:rPr lang="zh-TW" altLang="zh-TW" dirty="0"/>
              <a:t>Advanced Methods</a:t>
            </a:r>
            <a:endParaRPr lang="en-US" altLang="zh-TW" dirty="0"/>
          </a:p>
          <a:p>
            <a:pPr lvl="1">
              <a:lnSpc>
                <a:spcPct val="150000"/>
              </a:lnSpc>
            </a:pPr>
            <a:r>
              <a:rPr lang="en-US" altLang="zh-TW" dirty="0"/>
              <a:t>Integrate advanced artificial intelligence m</a:t>
            </a:r>
            <a:r>
              <a:rPr lang="zh-TW" altLang="zh-TW" dirty="0"/>
              <a:t>ethodologies</a:t>
            </a:r>
            <a:endParaRPr lang="en-US" altLang="zh-TW" dirty="0"/>
          </a:p>
          <a:p>
            <a:pPr lvl="1">
              <a:lnSpc>
                <a:spcPct val="150000"/>
              </a:lnSpc>
            </a:pPr>
            <a:r>
              <a:rPr lang="en-US" altLang="zh-TW" dirty="0"/>
              <a:t>Apply deep learning and reinforcement learning to improve scalability and decision quality</a:t>
            </a:r>
          </a:p>
          <a:p>
            <a:pPr marL="201168" lvl="1" indent="0">
              <a:buNone/>
            </a:pPr>
            <a:endParaRPr lang="en-US" altLang="zh-TW" dirty="0"/>
          </a:p>
        </p:txBody>
      </p:sp>
    </p:spTree>
    <p:extLst>
      <p:ext uri="{BB962C8B-B14F-4D97-AF65-F5344CB8AC3E}">
        <p14:creationId xmlns:p14="http://schemas.microsoft.com/office/powerpoint/2010/main" val="5359755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328943-D35C-924C-9AB1-F9406D30C4A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C323A80-7D69-D9D9-1E96-5B96EAF70927}"/>
              </a:ext>
            </a:extLst>
          </p:cNvPr>
          <p:cNvSpPr>
            <a:spLocks noGrp="1"/>
          </p:cNvSpPr>
          <p:nvPr>
            <p:ph type="title"/>
          </p:nvPr>
        </p:nvSpPr>
        <p:spPr/>
        <p:txBody>
          <a:bodyPr/>
          <a:lstStyle/>
          <a:p>
            <a:r>
              <a:rPr lang="en-US" altLang="zh-TW" cap="none" dirty="0">
                <a:solidFill>
                  <a:schemeClr val="tx1"/>
                </a:solidFill>
                <a:latin typeface="Times New Roman" panose="02020603050405020304" pitchFamily="18" charset="0"/>
                <a:ea typeface="標楷體" panose="03000509000000000000" pitchFamily="65" charset="-120"/>
              </a:rPr>
              <a:t>Q &amp; A</a:t>
            </a:r>
            <a:endParaRPr lang="zh-TW" altLang="en-US" cap="none" dirty="0">
              <a:solidFill>
                <a:schemeClr val="tx1"/>
              </a:solidFill>
              <a:latin typeface="Times New Roman" panose="02020603050405020304" pitchFamily="18" charset="0"/>
              <a:ea typeface="標楷體" panose="03000509000000000000" pitchFamily="65" charset="-120"/>
            </a:endParaRPr>
          </a:p>
        </p:txBody>
      </p:sp>
      <p:sp>
        <p:nvSpPr>
          <p:cNvPr id="4" name="投影片編號版面配置區 3">
            <a:extLst>
              <a:ext uri="{FF2B5EF4-FFF2-40B4-BE49-F238E27FC236}">
                <a16:creationId xmlns:a16="http://schemas.microsoft.com/office/drawing/2014/main" id="{321D5E32-3A22-A75B-E78F-74666301BC0B}"/>
              </a:ext>
            </a:extLst>
          </p:cNvPr>
          <p:cNvSpPr>
            <a:spLocks noGrp="1"/>
          </p:cNvSpPr>
          <p:nvPr>
            <p:ph type="sldNum" sz="quarter" idx="12"/>
          </p:nvPr>
        </p:nvSpPr>
        <p:spPr/>
        <p:txBody>
          <a:bodyPr/>
          <a:lstStyle/>
          <a:p>
            <a:fld id="{525C0657-DFCE-4451-BE98-3FA3D33DFB54}" type="slidenum">
              <a:rPr lang="zh-TW" altLang="en-US" smtClean="0"/>
              <a:t>49</a:t>
            </a:fld>
            <a:endParaRPr lang="zh-TW" altLang="en-US"/>
          </a:p>
        </p:txBody>
      </p:sp>
      <p:sp>
        <p:nvSpPr>
          <p:cNvPr id="5" name="內容版面配置區 2">
            <a:extLst>
              <a:ext uri="{FF2B5EF4-FFF2-40B4-BE49-F238E27FC236}">
                <a16:creationId xmlns:a16="http://schemas.microsoft.com/office/drawing/2014/main" id="{D8038848-D7F8-A128-7D73-7A84B529A1A7}"/>
              </a:ext>
            </a:extLst>
          </p:cNvPr>
          <p:cNvSpPr>
            <a:spLocks noGrp="1"/>
          </p:cNvSpPr>
          <p:nvPr>
            <p:ph idx="1"/>
          </p:nvPr>
        </p:nvSpPr>
        <p:spPr>
          <a:xfrm>
            <a:off x="1235965" y="3064213"/>
            <a:ext cx="9720071" cy="729574"/>
          </a:xfrm>
        </p:spPr>
        <p:txBody>
          <a:bodyPr>
            <a:normAutofit/>
          </a:bodyPr>
          <a:lstStyle/>
          <a:p>
            <a:pPr marL="0" indent="0" algn="ctr">
              <a:buClrTx/>
              <a:buNone/>
            </a:pPr>
            <a:r>
              <a:rPr lang="en-US" altLang="zh-TW" sz="4400" dirty="0">
                <a:latin typeface="Times New Roman" panose="02020603050405020304" pitchFamily="18" charset="0"/>
                <a:ea typeface="標楷體" panose="03000509000000000000" pitchFamily="65" charset="-120"/>
              </a:rPr>
              <a:t>Thank you for listening</a:t>
            </a:r>
            <a:r>
              <a:rPr lang="zh-TW" altLang="en-US" sz="4400" dirty="0">
                <a:latin typeface="Times New Roman" panose="02020603050405020304" pitchFamily="18" charset="0"/>
                <a:ea typeface="標楷體" panose="03000509000000000000" pitchFamily="65" charset="-120"/>
              </a:rPr>
              <a:t>！</a:t>
            </a:r>
            <a:endParaRPr lang="en-US" altLang="zh-TW" sz="4400" dirty="0">
              <a:solidFill>
                <a:srgbClr val="0070C0"/>
              </a:solidFill>
              <a:latin typeface="Times New Roman" panose="02020603050405020304" pitchFamily="18" charset="0"/>
              <a:ea typeface="標楷體" panose="03000509000000000000" pitchFamily="65" charset="-120"/>
            </a:endParaRPr>
          </a:p>
          <a:p>
            <a:pPr>
              <a:buClrTx/>
              <a:buFont typeface="Arial" panose="020B0604020202020204" pitchFamily="34" charset="0"/>
              <a:buChar char="•"/>
            </a:pPr>
            <a:endParaRPr lang="en-US" altLang="zh-TW" sz="3200" dirty="0">
              <a:latin typeface="Times New Roman" panose="02020603050405020304" pitchFamily="18" charset="0"/>
              <a:ea typeface="標楷體" panose="03000509000000000000" pitchFamily="65" charset="-120"/>
            </a:endParaRPr>
          </a:p>
          <a:p>
            <a:endParaRPr lang="zh-TW" altLang="en-US" dirty="0">
              <a:latin typeface="Times New Roman" panose="02020603050405020304" pitchFamily="18" charset="0"/>
              <a:ea typeface="標楷體" panose="03000509000000000000" pitchFamily="65" charset="-120"/>
            </a:endParaRPr>
          </a:p>
        </p:txBody>
      </p:sp>
    </p:spTree>
    <p:extLst>
      <p:ext uri="{BB962C8B-B14F-4D97-AF65-F5344CB8AC3E}">
        <p14:creationId xmlns:p14="http://schemas.microsoft.com/office/powerpoint/2010/main" val="249736765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214A32CC-7C3D-49F6-F9BA-FD5DAB6AFE5A}"/>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B5FB98E-5FC0-FBCB-BCE5-B5D5C3F59A61}"/>
              </a:ext>
            </a:extLst>
          </p:cNvPr>
          <p:cNvSpPr>
            <a:spLocks noGrp="1"/>
          </p:cNvSpPr>
          <p:nvPr>
            <p:ph type="title"/>
          </p:nvPr>
        </p:nvSpPr>
        <p:spPr/>
        <p:txBody>
          <a:bodyPr/>
          <a:lstStyle/>
          <a:p>
            <a:r>
              <a:rPr lang="en-US" altLang="zh-TW" dirty="0"/>
              <a:t>Comparison</a:t>
            </a:r>
          </a:p>
        </p:txBody>
      </p:sp>
      <p:sp>
        <p:nvSpPr>
          <p:cNvPr id="4" name="投影片編號版面配置區 3">
            <a:extLst>
              <a:ext uri="{FF2B5EF4-FFF2-40B4-BE49-F238E27FC236}">
                <a16:creationId xmlns:a16="http://schemas.microsoft.com/office/drawing/2014/main" id="{48A489BB-5F01-EC61-900B-58907E498073}"/>
              </a:ext>
            </a:extLst>
          </p:cNvPr>
          <p:cNvSpPr>
            <a:spLocks noGrp="1"/>
          </p:cNvSpPr>
          <p:nvPr>
            <p:ph type="sldNum" sz="quarter" idx="12"/>
          </p:nvPr>
        </p:nvSpPr>
        <p:spPr/>
        <p:txBody>
          <a:bodyPr vert="horz" lIns="91440" tIns="45720" rIns="91440" bIns="45720" rtlCol="0" anchor="ctr"/>
          <a:lstStyle/>
          <a:p>
            <a:fld id="{5AC25633-CB68-4D6B-BEE8-144406895708}" type="slidenum">
              <a:rPr lang="zh-TW" altLang="en-US" sz="1600"/>
              <a:pPr/>
              <a:t>50</a:t>
            </a:fld>
            <a:endParaRPr lang="zh-TW" altLang="en-US" sz="1600" dirty="0"/>
          </a:p>
        </p:txBody>
      </p:sp>
      <p:graphicFrame>
        <p:nvGraphicFramePr>
          <p:cNvPr id="10" name="內容版面配置區 9">
            <a:extLst>
              <a:ext uri="{FF2B5EF4-FFF2-40B4-BE49-F238E27FC236}">
                <a16:creationId xmlns:a16="http://schemas.microsoft.com/office/drawing/2014/main" id="{1BDE5C9F-C603-23AD-E86F-FB2D33FEAD29}"/>
              </a:ext>
            </a:extLst>
          </p:cNvPr>
          <p:cNvGraphicFramePr>
            <a:graphicFrameLocks noGrp="1"/>
          </p:cNvGraphicFramePr>
          <p:nvPr>
            <p:ph idx="1"/>
          </p:nvPr>
        </p:nvGraphicFramePr>
        <p:xfrm>
          <a:off x="1097279" y="2162630"/>
          <a:ext cx="4936127" cy="34108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內容版面配置區 9">
            <a:extLst>
              <a:ext uri="{FF2B5EF4-FFF2-40B4-BE49-F238E27FC236}">
                <a16:creationId xmlns:a16="http://schemas.microsoft.com/office/drawing/2014/main" id="{0E4CE427-1509-AFAF-6945-704687F43BC9}"/>
              </a:ext>
            </a:extLst>
          </p:cNvPr>
          <p:cNvGraphicFramePr>
            <a:graphicFrameLocks/>
          </p:cNvGraphicFramePr>
          <p:nvPr/>
        </p:nvGraphicFramePr>
        <p:xfrm>
          <a:off x="6096000" y="2162630"/>
          <a:ext cx="5059363" cy="3410856"/>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47304567"/>
      </p:ext>
    </p:extLst>
  </p:cSld>
  <p:clrMapOvr>
    <a:masterClrMapping/>
  </p:clrMapOvr>
</p:sld>
</file>

<file path=ppt/theme/theme1.xml><?xml version="1.0" encoding="utf-8"?>
<a:theme xmlns:a="http://schemas.openxmlformats.org/drawingml/2006/main" name="回顧">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自訂 1">
      <a:majorFont>
        <a:latin typeface="Times New Roman"/>
        <a:ea typeface="標楷體"/>
        <a:cs typeface=""/>
      </a:majorFont>
      <a:minorFont>
        <a:latin typeface="Times New Roman"/>
        <a:ea typeface="標楷體"/>
        <a:cs typeface=""/>
      </a:minorFont>
    </a:fontScheme>
    <a:fmtScheme name="回顧">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243AF7DC-D15B-41C0-AE81-23980D1B9FC4}"/>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23893</TotalTime>
  <Words>6089</Words>
  <Application>Microsoft Office PowerPoint</Application>
  <PresentationFormat>寬螢幕</PresentationFormat>
  <Paragraphs>867</Paragraphs>
  <Slides>50</Slides>
  <Notes>50</Notes>
  <HiddenSlides>1</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50</vt:i4>
      </vt:variant>
    </vt:vector>
  </HeadingPairs>
  <TitlesOfParts>
    <vt:vector size="58" baseType="lpstr">
      <vt:lpstr>DFKai-SB</vt:lpstr>
      <vt:lpstr>Aptos</vt:lpstr>
      <vt:lpstr>Arial</vt:lpstr>
      <vt:lpstr>Calibri</vt:lpstr>
      <vt:lpstr>Cambria Math</vt:lpstr>
      <vt:lpstr>Times New Roman</vt:lpstr>
      <vt:lpstr>Wingdings</vt:lpstr>
      <vt:lpstr>回顧</vt:lpstr>
      <vt:lpstr>Multi-Stage Optimization for Supporting Lines in Logistics Companies</vt:lpstr>
      <vt:lpstr>Outline</vt:lpstr>
      <vt:lpstr>Outline</vt:lpstr>
      <vt:lpstr>Motivation</vt:lpstr>
      <vt:lpstr>Outline</vt:lpstr>
      <vt:lpstr>The proposed approach</vt:lpstr>
      <vt:lpstr>The proposed approach</vt:lpstr>
      <vt:lpstr>The proposed approach</vt:lpstr>
      <vt:lpstr>Original Route Data</vt:lpstr>
      <vt:lpstr>Original Route Data</vt:lpstr>
      <vt:lpstr>The proposed approach</vt:lpstr>
      <vt:lpstr>API Module</vt:lpstr>
      <vt:lpstr>The proposed approach</vt:lpstr>
      <vt:lpstr>Data Preprocessing</vt:lpstr>
      <vt:lpstr>The proposed approach</vt:lpstr>
      <vt:lpstr>Routing Module</vt:lpstr>
      <vt:lpstr>VRP</vt:lpstr>
      <vt:lpstr>VRP</vt:lpstr>
      <vt:lpstr>Constraints</vt:lpstr>
      <vt:lpstr>Constraints</vt:lpstr>
      <vt:lpstr>Objective Function</vt:lpstr>
      <vt:lpstr>Store Extraction</vt:lpstr>
      <vt:lpstr>Store Assignment</vt:lpstr>
      <vt:lpstr>Support Route Planning</vt:lpstr>
      <vt:lpstr>The proposed approach</vt:lpstr>
      <vt:lpstr>Evaluation Module</vt:lpstr>
      <vt:lpstr>Evaluation Module</vt:lpstr>
      <vt:lpstr>The proposed approach</vt:lpstr>
      <vt:lpstr>Optimized Route Data</vt:lpstr>
      <vt:lpstr>Outline</vt:lpstr>
      <vt:lpstr>Experiment</vt:lpstr>
      <vt:lpstr>Experiment Setting</vt:lpstr>
      <vt:lpstr>Experiment Result</vt:lpstr>
      <vt:lpstr>Experiment Result</vt:lpstr>
      <vt:lpstr>Experiment Result</vt:lpstr>
      <vt:lpstr>Experiment Result</vt:lpstr>
      <vt:lpstr>Ablation Study</vt:lpstr>
      <vt:lpstr>Ablation Study</vt:lpstr>
      <vt:lpstr>Ablation Study</vt:lpstr>
      <vt:lpstr>Baseline - HGA-SIH</vt:lpstr>
      <vt:lpstr>Comparison</vt:lpstr>
      <vt:lpstr>Comparison</vt:lpstr>
      <vt:lpstr>Comparison</vt:lpstr>
      <vt:lpstr>Outline</vt:lpstr>
      <vt:lpstr>Discussion</vt:lpstr>
      <vt:lpstr>Outline</vt:lpstr>
      <vt:lpstr>Conclusion</vt:lpstr>
      <vt:lpstr>Future</vt:lpstr>
      <vt:lpstr>Q &amp; A</vt:lpstr>
      <vt:lpstr>Comparison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少嘉 范</dc:creator>
  <cp:lastModifiedBy>宏傑 楊</cp:lastModifiedBy>
  <cp:revision>792</cp:revision>
  <cp:lastPrinted>2026-06-13T09:27:54Z</cp:lastPrinted>
  <dcterms:created xsi:type="dcterms:W3CDTF">2025-02-12T06:34:32Z</dcterms:created>
  <dcterms:modified xsi:type="dcterms:W3CDTF">2026-06-29T08:51:14Z</dcterms:modified>
</cp:coreProperties>
</file>