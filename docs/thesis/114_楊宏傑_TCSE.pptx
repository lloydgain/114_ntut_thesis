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8"/>
  </p:notesMasterIdLst>
  <p:sldIdLst>
    <p:sldId id="260" r:id="rId2"/>
    <p:sldId id="272" r:id="rId3"/>
    <p:sldId id="319" r:id="rId4"/>
    <p:sldId id="264" r:id="rId5"/>
    <p:sldId id="441" r:id="rId6"/>
    <p:sldId id="410" r:id="rId7"/>
    <p:sldId id="401" r:id="rId8"/>
    <p:sldId id="442" r:id="rId9"/>
    <p:sldId id="443" r:id="rId10"/>
    <p:sldId id="444" r:id="rId11"/>
    <p:sldId id="320" r:id="rId12"/>
    <p:sldId id="323" r:id="rId13"/>
    <p:sldId id="322" r:id="rId14"/>
    <p:sldId id="438" r:id="rId15"/>
    <p:sldId id="408" r:id="rId16"/>
    <p:sldId id="387" r:id="rId17"/>
    <p:sldId id="390" r:id="rId18"/>
    <p:sldId id="431" r:id="rId19"/>
    <p:sldId id="422" r:id="rId20"/>
    <p:sldId id="414" r:id="rId21"/>
    <p:sldId id="440" r:id="rId22"/>
    <p:sldId id="439" r:id="rId23"/>
    <p:sldId id="395" r:id="rId24"/>
    <p:sldId id="392" r:id="rId25"/>
    <p:sldId id="393" r:id="rId26"/>
    <p:sldId id="394" r:id="rId27"/>
  </p:sldIdLst>
  <p:sldSz cx="12192000" cy="6858000"/>
  <p:notesSz cx="9928225" cy="67976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0B6F5F-84A0-4D5F-8811-8B31624AA5AE}" v="4" dt="2026-07-03T02:53:13.323"/>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77806" autoAdjust="0"/>
  </p:normalViewPr>
  <p:slideViewPr>
    <p:cSldViewPr snapToGrid="0">
      <p:cViewPr varScale="1">
        <p:scale>
          <a:sx n="114" d="100"/>
          <a:sy n="114" d="100"/>
        </p:scale>
        <p:origin x="2028" y="90"/>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14" d="100"/>
          <a:sy n="114" d="100"/>
        </p:scale>
        <p:origin x="5178" y="12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宏傑 楊" userId="ee57404c450d34c3" providerId="LiveId" clId="{C566A467-C6D7-4AF8-8C72-E0B89F2E9DDD}"/>
    <pc:docChg chg="undo redo custSel addSld delSld modSld sldOrd">
      <pc:chgData name="宏傑 楊" userId="ee57404c450d34c3" providerId="LiveId" clId="{C566A467-C6D7-4AF8-8C72-E0B89F2E9DDD}" dt="2026-07-03T02:54:25.334" v="3515" actId="20577"/>
      <pc:docMkLst>
        <pc:docMk/>
      </pc:docMkLst>
      <pc:sldChg chg="modSp mod modNotesTx">
        <pc:chgData name="宏傑 楊" userId="ee57404c450d34c3" providerId="LiveId" clId="{C566A467-C6D7-4AF8-8C72-E0B89F2E9DDD}" dt="2026-07-02T05:11:14.294" v="3439" actId="20577"/>
        <pc:sldMkLst>
          <pc:docMk/>
          <pc:sldMk cId="1114137110" sldId="260"/>
        </pc:sldMkLst>
        <pc:spChg chg="mod">
          <ac:chgData name="宏傑 楊" userId="ee57404c450d34c3" providerId="LiveId" clId="{C566A467-C6D7-4AF8-8C72-E0B89F2E9DDD}" dt="2026-06-30T13:02:16.723" v="2414" actId="20577"/>
          <ac:spMkLst>
            <pc:docMk/>
            <pc:sldMk cId="1114137110" sldId="260"/>
            <ac:spMk id="2" creationId="{5598A351-EA25-436B-B36F-4AF45C795F89}"/>
          </ac:spMkLst>
        </pc:spChg>
        <pc:spChg chg="mod">
          <ac:chgData name="宏傑 楊" userId="ee57404c450d34c3" providerId="LiveId" clId="{C566A467-C6D7-4AF8-8C72-E0B89F2E9DDD}" dt="2026-07-01T06:23:41.032" v="2525"/>
          <ac:spMkLst>
            <pc:docMk/>
            <pc:sldMk cId="1114137110" sldId="260"/>
            <ac:spMk id="9" creationId="{C9626854-F57D-1205-9F35-ADDFB7CE8AA1}"/>
          </ac:spMkLst>
        </pc:spChg>
      </pc:sldChg>
      <pc:sldChg chg="modNotesTx">
        <pc:chgData name="宏傑 楊" userId="ee57404c450d34c3" providerId="LiveId" clId="{C566A467-C6D7-4AF8-8C72-E0B89F2E9DDD}" dt="2026-07-01T07:23:08.693" v="2646" actId="20577"/>
        <pc:sldMkLst>
          <pc:docMk/>
          <pc:sldMk cId="3712867879" sldId="264"/>
        </pc:sldMkLst>
      </pc:sldChg>
      <pc:sldChg chg="modSp mod modNotesTx">
        <pc:chgData name="宏傑 楊" userId="ee57404c450d34c3" providerId="LiveId" clId="{C566A467-C6D7-4AF8-8C72-E0B89F2E9DDD}" dt="2026-07-01T07:37:47.043" v="2845" actId="20577"/>
        <pc:sldMkLst>
          <pc:docMk/>
          <pc:sldMk cId="31586212" sldId="272"/>
        </pc:sldMkLst>
        <pc:spChg chg="mod">
          <ac:chgData name="宏傑 楊" userId="ee57404c450d34c3" providerId="LiveId" clId="{C566A467-C6D7-4AF8-8C72-E0B89F2E9DDD}" dt="2026-07-01T07:37:19.377" v="2811" actId="20577"/>
          <ac:spMkLst>
            <pc:docMk/>
            <pc:sldMk cId="31586212" sldId="272"/>
            <ac:spMk id="3" creationId="{AA3B7F4D-32A3-41E9-BD73-E34204462DB0}"/>
          </ac:spMkLst>
        </pc:spChg>
      </pc:sldChg>
      <pc:sldChg chg="modSp mod">
        <pc:chgData name="宏傑 楊" userId="ee57404c450d34c3" providerId="LiveId" clId="{C566A467-C6D7-4AF8-8C72-E0B89F2E9DDD}" dt="2026-07-01T07:38:03.275" v="2859" actId="20577"/>
        <pc:sldMkLst>
          <pc:docMk/>
          <pc:sldMk cId="1385974283" sldId="319"/>
        </pc:sldMkLst>
        <pc:spChg chg="mod">
          <ac:chgData name="宏傑 楊" userId="ee57404c450d34c3" providerId="LiveId" clId="{C566A467-C6D7-4AF8-8C72-E0B89F2E9DDD}" dt="2026-07-01T07:38:03.275" v="2859" actId="20577"/>
          <ac:spMkLst>
            <pc:docMk/>
            <pc:sldMk cId="1385974283" sldId="319"/>
            <ac:spMk id="3" creationId="{AA3B7F4D-32A3-41E9-BD73-E34204462DB0}"/>
          </ac:spMkLst>
        </pc:spChg>
      </pc:sldChg>
      <pc:sldChg chg="modSp mod">
        <pc:chgData name="宏傑 楊" userId="ee57404c450d34c3" providerId="LiveId" clId="{C566A467-C6D7-4AF8-8C72-E0B89F2E9DDD}" dt="2026-07-01T07:34:06.541" v="2739" actId="20577"/>
        <pc:sldMkLst>
          <pc:docMk/>
          <pc:sldMk cId="2944705018" sldId="320"/>
        </pc:sldMkLst>
        <pc:spChg chg="mod">
          <ac:chgData name="宏傑 楊" userId="ee57404c450d34c3" providerId="LiveId" clId="{C566A467-C6D7-4AF8-8C72-E0B89F2E9DDD}" dt="2026-07-01T07:34:06.541" v="2739" actId="20577"/>
          <ac:spMkLst>
            <pc:docMk/>
            <pc:sldMk cId="2944705018" sldId="320"/>
            <ac:spMk id="3" creationId="{AA3B7F4D-32A3-41E9-BD73-E34204462DB0}"/>
          </ac:spMkLst>
        </pc:spChg>
      </pc:sldChg>
      <pc:sldChg chg="modNotesTx">
        <pc:chgData name="宏傑 楊" userId="ee57404c450d34c3" providerId="LiveId" clId="{C566A467-C6D7-4AF8-8C72-E0B89F2E9DDD}" dt="2026-07-03T02:49:28.881" v="3471" actId="20577"/>
        <pc:sldMkLst>
          <pc:docMk/>
          <pc:sldMk cId="345824661" sldId="322"/>
        </pc:sldMkLst>
      </pc:sldChg>
      <pc:sldChg chg="modNotesTx">
        <pc:chgData name="宏傑 楊" userId="ee57404c450d34c3" providerId="LiveId" clId="{C566A467-C6D7-4AF8-8C72-E0B89F2E9DDD}" dt="2026-07-01T07:23:18.431" v="2647" actId="20577"/>
        <pc:sldMkLst>
          <pc:docMk/>
          <pc:sldMk cId="1112248558" sldId="323"/>
        </pc:sldMkLst>
      </pc:sldChg>
      <pc:sldChg chg="addSp delSp modSp mod ord modNotesTx">
        <pc:chgData name="宏傑 楊" userId="ee57404c450d34c3" providerId="LiveId" clId="{C566A467-C6D7-4AF8-8C72-E0B89F2E9DDD}" dt="2026-07-02T05:17:40.655" v="3441" actId="1076"/>
        <pc:sldMkLst>
          <pc:docMk/>
          <pc:sldMk cId="3190044667" sldId="387"/>
        </pc:sldMkLst>
        <pc:spChg chg="mod">
          <ac:chgData name="宏傑 楊" userId="ee57404c450d34c3" providerId="LiveId" clId="{C566A467-C6D7-4AF8-8C72-E0B89F2E9DDD}" dt="2026-07-02T05:17:40.655" v="3441" actId="1076"/>
          <ac:spMkLst>
            <pc:docMk/>
            <pc:sldMk cId="3190044667" sldId="387"/>
            <ac:spMk id="2" creationId="{BE4DB061-6C80-17AF-4B5E-84CB8C1F8A56}"/>
          </ac:spMkLst>
        </pc:spChg>
        <pc:spChg chg="mod">
          <ac:chgData name="宏傑 楊" userId="ee57404c450d34c3" providerId="LiveId" clId="{C566A467-C6D7-4AF8-8C72-E0B89F2E9DDD}" dt="2026-07-01T07:35:00.746" v="2781" actId="20577"/>
          <ac:spMkLst>
            <pc:docMk/>
            <pc:sldMk cId="3190044667" sldId="387"/>
            <ac:spMk id="3" creationId="{6523EA98-4841-AB80-5022-30741AC4A77C}"/>
          </ac:spMkLst>
        </pc:spChg>
      </pc:sldChg>
      <pc:sldChg chg="modSp mod">
        <pc:chgData name="宏傑 楊" userId="ee57404c450d34c3" providerId="LiveId" clId="{C566A467-C6D7-4AF8-8C72-E0B89F2E9DDD}" dt="2026-07-01T07:34:19.717" v="2760" actId="20577"/>
        <pc:sldMkLst>
          <pc:docMk/>
          <pc:sldMk cId="1136722031" sldId="390"/>
        </pc:sldMkLst>
        <pc:spChg chg="mod">
          <ac:chgData name="宏傑 楊" userId="ee57404c450d34c3" providerId="LiveId" clId="{C566A467-C6D7-4AF8-8C72-E0B89F2E9DDD}" dt="2026-07-01T07:34:19.717" v="2760" actId="20577"/>
          <ac:spMkLst>
            <pc:docMk/>
            <pc:sldMk cId="1136722031" sldId="390"/>
            <ac:spMk id="3" creationId="{68F62BB8-5859-7DA0-8954-D1FD69C97740}"/>
          </ac:spMkLst>
        </pc:spChg>
      </pc:sldChg>
      <pc:sldChg chg="modNotesTx">
        <pc:chgData name="宏傑 楊" userId="ee57404c450d34c3" providerId="LiveId" clId="{C566A467-C6D7-4AF8-8C72-E0B89F2E9DDD}" dt="2026-07-03T02:54:25.334" v="3515" actId="20577"/>
        <pc:sldMkLst>
          <pc:docMk/>
          <pc:sldMk cId="383841343" sldId="392"/>
        </pc:sldMkLst>
      </pc:sldChg>
      <pc:sldChg chg="modNotesTx">
        <pc:chgData name="宏傑 楊" userId="ee57404c450d34c3" providerId="LiveId" clId="{C566A467-C6D7-4AF8-8C72-E0B89F2E9DDD}" dt="2026-07-02T05:20:59.973" v="3454" actId="20577"/>
        <pc:sldMkLst>
          <pc:docMk/>
          <pc:sldMk cId="535975516" sldId="393"/>
        </pc:sldMkLst>
      </pc:sldChg>
      <pc:sldChg chg="modNotesTx">
        <pc:chgData name="宏傑 楊" userId="ee57404c450d34c3" providerId="LiveId" clId="{C566A467-C6D7-4AF8-8C72-E0B89F2E9DDD}" dt="2026-07-01T08:06:04.043" v="2980" actId="20577"/>
        <pc:sldMkLst>
          <pc:docMk/>
          <pc:sldMk cId="2497367654" sldId="394"/>
        </pc:sldMkLst>
      </pc:sldChg>
      <pc:sldChg chg="modSp mod">
        <pc:chgData name="宏傑 楊" userId="ee57404c450d34c3" providerId="LiveId" clId="{C566A467-C6D7-4AF8-8C72-E0B89F2E9DDD}" dt="2026-07-01T07:34:40.851" v="2772" actId="20577"/>
        <pc:sldMkLst>
          <pc:docMk/>
          <pc:sldMk cId="2811805508" sldId="395"/>
        </pc:sldMkLst>
        <pc:spChg chg="mod">
          <ac:chgData name="宏傑 楊" userId="ee57404c450d34c3" providerId="LiveId" clId="{C566A467-C6D7-4AF8-8C72-E0B89F2E9DDD}" dt="2026-07-01T07:34:40.851" v="2772" actId="20577"/>
          <ac:spMkLst>
            <pc:docMk/>
            <pc:sldMk cId="2811805508" sldId="395"/>
            <ac:spMk id="3" creationId="{BDE62C09-9F85-6CD6-251F-F4188154ED28}"/>
          </ac:spMkLst>
        </pc:spChg>
      </pc:sldChg>
      <pc:sldChg chg="modSp mod ord modNotesTx">
        <pc:chgData name="宏傑 楊" userId="ee57404c450d34c3" providerId="LiveId" clId="{C566A467-C6D7-4AF8-8C72-E0B89F2E9DDD}" dt="2026-07-01T12:43:56.633" v="3321" actId="20577"/>
        <pc:sldMkLst>
          <pc:docMk/>
          <pc:sldMk cId="2165522226" sldId="401"/>
        </pc:sldMkLst>
        <pc:spChg chg="mod">
          <ac:chgData name="宏傑 楊" userId="ee57404c450d34c3" providerId="LiveId" clId="{C566A467-C6D7-4AF8-8C72-E0B89F2E9DDD}" dt="2026-06-30T06:36:57.109" v="2204" actId="20577"/>
          <ac:spMkLst>
            <pc:docMk/>
            <pc:sldMk cId="2165522226" sldId="401"/>
            <ac:spMk id="3" creationId="{DD3524AB-C7F0-330E-01E5-DC326524A3FC}"/>
          </ac:spMkLst>
        </pc:spChg>
      </pc:sldChg>
      <pc:sldChg chg="modSp mod ord modNotesTx">
        <pc:chgData name="宏傑 楊" userId="ee57404c450d34c3" providerId="LiveId" clId="{C566A467-C6D7-4AF8-8C72-E0B89F2E9DDD}" dt="2026-07-01T12:47:02.580" v="3412" actId="20577"/>
        <pc:sldMkLst>
          <pc:docMk/>
          <pc:sldMk cId="1285402402" sldId="408"/>
        </pc:sldMkLst>
        <pc:spChg chg="mod">
          <ac:chgData name="宏傑 楊" userId="ee57404c450d34c3" providerId="LiveId" clId="{C566A467-C6D7-4AF8-8C72-E0B89F2E9DDD}" dt="2026-06-30T06:39:04.195" v="2221" actId="20577"/>
          <ac:spMkLst>
            <pc:docMk/>
            <pc:sldMk cId="1285402402" sldId="408"/>
            <ac:spMk id="3" creationId="{6E3BE9A6-9026-B190-CFE2-00DB532533B2}"/>
          </ac:spMkLst>
        </pc:spChg>
      </pc:sldChg>
      <pc:sldChg chg="ord modNotesTx">
        <pc:chgData name="宏傑 楊" userId="ee57404c450d34c3" providerId="LiveId" clId="{C566A467-C6D7-4AF8-8C72-E0B89F2E9DDD}" dt="2026-07-01T12:42:53.173" v="3309" actId="20577"/>
        <pc:sldMkLst>
          <pc:docMk/>
          <pc:sldMk cId="2223490486" sldId="410"/>
        </pc:sldMkLst>
      </pc:sldChg>
      <pc:sldChg chg="addSp delSp modSp mod ord modNotesTx">
        <pc:chgData name="宏傑 楊" userId="ee57404c450d34c3" providerId="LiveId" clId="{C566A467-C6D7-4AF8-8C72-E0B89F2E9DDD}" dt="2026-06-30T06:09:14.394" v="1851" actId="20577"/>
        <pc:sldMkLst>
          <pc:docMk/>
          <pc:sldMk cId="97768092" sldId="414"/>
        </pc:sldMkLst>
        <pc:graphicFrameChg chg="add mod">
          <ac:chgData name="宏傑 楊" userId="ee57404c450d34c3" providerId="LiveId" clId="{C566A467-C6D7-4AF8-8C72-E0B89F2E9DDD}" dt="2026-06-30T02:43:53.912" v="1366" actId="14100"/>
          <ac:graphicFrameMkLst>
            <pc:docMk/>
            <pc:sldMk cId="97768092" sldId="414"/>
            <ac:graphicFrameMk id="6" creationId="{01C579D1-CD67-CD90-D8D6-D362152CB4B1}"/>
          </ac:graphicFrameMkLst>
        </pc:graphicFrameChg>
        <pc:graphicFrameChg chg="add del mod">
          <ac:chgData name="宏傑 楊" userId="ee57404c450d34c3" providerId="LiveId" clId="{C566A467-C6D7-4AF8-8C72-E0B89F2E9DDD}" dt="2026-06-30T02:43:48.828" v="1364" actId="14100"/>
          <ac:graphicFrameMkLst>
            <pc:docMk/>
            <pc:sldMk cId="97768092" sldId="414"/>
            <ac:graphicFrameMk id="24" creationId="{CD5C253E-C3B4-1721-841A-FDEE1288A32F}"/>
          </ac:graphicFrameMkLst>
        </pc:graphicFrameChg>
      </pc:sldChg>
      <pc:sldChg chg="addSp modSp mod ord modNotesTx">
        <pc:chgData name="宏傑 楊" userId="ee57404c450d34c3" providerId="LiveId" clId="{C566A467-C6D7-4AF8-8C72-E0B89F2E9DDD}" dt="2026-07-01T12:48:00.143" v="3438" actId="20577"/>
        <pc:sldMkLst>
          <pc:docMk/>
          <pc:sldMk cId="212498743" sldId="422"/>
        </pc:sldMkLst>
        <pc:spChg chg="mod">
          <ac:chgData name="宏傑 楊" userId="ee57404c450d34c3" providerId="LiveId" clId="{C566A467-C6D7-4AF8-8C72-E0B89F2E9DDD}" dt="2026-06-29T08:19:16.907" v="649" actId="20577"/>
          <ac:spMkLst>
            <pc:docMk/>
            <pc:sldMk cId="212498743" sldId="422"/>
            <ac:spMk id="2" creationId="{06C5674F-BCCC-ACDC-A9CA-5C092DB71A6E}"/>
          </ac:spMkLst>
        </pc:spChg>
        <pc:spChg chg="add">
          <ac:chgData name="宏傑 楊" userId="ee57404c450d34c3" providerId="LiveId" clId="{C566A467-C6D7-4AF8-8C72-E0B89F2E9DDD}" dt="2026-06-29T08:40:14.775" v="744" actId="22"/>
          <ac:spMkLst>
            <pc:docMk/>
            <pc:sldMk cId="212498743" sldId="422"/>
            <ac:spMk id="5" creationId="{0AA4D981-B215-B946-6566-8A7B0DC93F95}"/>
          </ac:spMkLst>
        </pc:spChg>
        <pc:graphicFrameChg chg="mod modGraphic">
          <ac:chgData name="宏傑 楊" userId="ee57404c450d34c3" providerId="LiveId" clId="{C566A467-C6D7-4AF8-8C72-E0B89F2E9DDD}" dt="2026-07-01T07:19:11.790" v="2630" actId="2165"/>
          <ac:graphicFrameMkLst>
            <pc:docMk/>
            <pc:sldMk cId="212498743" sldId="422"/>
            <ac:graphicFrameMk id="6" creationId="{B7C7E742-0C9E-439C-4301-D10394B9E552}"/>
          </ac:graphicFrameMkLst>
        </pc:graphicFrameChg>
      </pc:sldChg>
      <pc:sldChg chg="modSp mod">
        <pc:chgData name="宏傑 楊" userId="ee57404c450d34c3" providerId="LiveId" clId="{C566A467-C6D7-4AF8-8C72-E0B89F2E9DDD}" dt="2026-07-01T07:34:31.634" v="2761" actId="1076"/>
        <pc:sldMkLst>
          <pc:docMk/>
          <pc:sldMk cId="527567142" sldId="431"/>
        </pc:sldMkLst>
        <pc:graphicFrameChg chg="mod">
          <ac:chgData name="宏傑 楊" userId="ee57404c450d34c3" providerId="LiveId" clId="{C566A467-C6D7-4AF8-8C72-E0B89F2E9DDD}" dt="2026-07-01T07:34:31.634" v="2761" actId="1076"/>
          <ac:graphicFrameMkLst>
            <pc:docMk/>
            <pc:sldMk cId="527567142" sldId="431"/>
            <ac:graphicFrameMk id="3" creationId="{D13940BF-A90A-FB5C-A08F-BA909B335A98}"/>
          </ac:graphicFrameMkLst>
        </pc:graphicFrameChg>
      </pc:sldChg>
      <pc:sldChg chg="modSp mod ord modNotesTx">
        <pc:chgData name="宏傑 楊" userId="ee57404c450d34c3" providerId="LiveId" clId="{C566A467-C6D7-4AF8-8C72-E0B89F2E9DDD}" dt="2026-07-01T12:46:54.414" v="3400" actId="20577"/>
        <pc:sldMkLst>
          <pc:docMk/>
          <pc:sldMk cId="1557681205" sldId="438"/>
        </pc:sldMkLst>
        <pc:spChg chg="mod">
          <ac:chgData name="宏傑 楊" userId="ee57404c450d34c3" providerId="LiveId" clId="{C566A467-C6D7-4AF8-8C72-E0B89F2E9DDD}" dt="2026-06-29T08:36:28.675" v="742" actId="1076"/>
          <ac:spMkLst>
            <pc:docMk/>
            <pc:sldMk cId="1557681205" sldId="438"/>
            <ac:spMk id="3" creationId="{05A92964-F95B-68C8-CF3F-8C885349A082}"/>
          </ac:spMkLst>
        </pc:spChg>
      </pc:sldChg>
      <pc:sldChg chg="addSp modSp add mod modNotesTx">
        <pc:chgData name="宏傑 楊" userId="ee57404c450d34c3" providerId="LiveId" clId="{C566A467-C6D7-4AF8-8C72-E0B89F2E9DDD}" dt="2026-07-03T02:53:48.811" v="3481" actId="20577"/>
        <pc:sldMkLst>
          <pc:docMk/>
          <pc:sldMk cId="3670357817" sldId="439"/>
        </pc:sldMkLst>
        <pc:spChg chg="mod">
          <ac:chgData name="宏傑 楊" userId="ee57404c450d34c3" providerId="LiveId" clId="{C566A467-C6D7-4AF8-8C72-E0B89F2E9DDD}" dt="2026-06-29T08:53:17.792" v="941" actId="21"/>
          <ac:spMkLst>
            <pc:docMk/>
            <pc:sldMk cId="3670357817" sldId="439"/>
            <ac:spMk id="5" creationId="{B7589530-6498-BC9C-D47F-D6B3F53497FC}"/>
          </ac:spMkLst>
        </pc:spChg>
        <pc:graphicFrameChg chg="add mod modGraphic">
          <ac:chgData name="宏傑 楊" userId="ee57404c450d34c3" providerId="LiveId" clId="{C566A467-C6D7-4AF8-8C72-E0B89F2E9DDD}" dt="2026-07-01T07:15:35.364" v="2627" actId="1076"/>
          <ac:graphicFrameMkLst>
            <pc:docMk/>
            <pc:sldMk cId="3670357817" sldId="439"/>
            <ac:graphicFrameMk id="6" creationId="{C5EED8B4-6E83-6F86-5529-650C2F4458DA}"/>
          </ac:graphicFrameMkLst>
        </pc:graphicFrameChg>
      </pc:sldChg>
      <pc:sldChg chg="addSp delSp modSp add mod modNotesTx">
        <pc:chgData name="宏傑 楊" userId="ee57404c450d34c3" providerId="LiveId" clId="{C566A467-C6D7-4AF8-8C72-E0B89F2E9DDD}" dt="2026-06-30T06:21:57.087" v="2074" actId="20577"/>
        <pc:sldMkLst>
          <pc:docMk/>
          <pc:sldMk cId="1096851069" sldId="440"/>
        </pc:sldMkLst>
        <pc:graphicFrameChg chg="add mod">
          <ac:chgData name="宏傑 楊" userId="ee57404c450d34c3" providerId="LiveId" clId="{C566A467-C6D7-4AF8-8C72-E0B89F2E9DDD}" dt="2026-06-30T02:43:34.297" v="1363" actId="14100"/>
          <ac:graphicFrameMkLst>
            <pc:docMk/>
            <pc:sldMk cId="1096851069" sldId="440"/>
            <ac:graphicFrameMk id="3" creationId="{33F78BCC-C903-3A22-2302-18E46241D6A0}"/>
          </ac:graphicFrameMkLst>
        </pc:graphicFrameChg>
        <pc:graphicFrameChg chg="add mod">
          <ac:chgData name="宏傑 楊" userId="ee57404c450d34c3" providerId="LiveId" clId="{C566A467-C6D7-4AF8-8C72-E0B89F2E9DDD}" dt="2026-06-30T02:43:26.380" v="1361" actId="14100"/>
          <ac:graphicFrameMkLst>
            <pc:docMk/>
            <pc:sldMk cId="1096851069" sldId="440"/>
            <ac:graphicFrameMk id="5" creationId="{87CC64D4-C0B2-7096-12DF-77C844F0BCE0}"/>
          </ac:graphicFrameMkLst>
        </pc:graphicFrameChg>
      </pc:sldChg>
      <pc:sldChg chg="modSp add mod modNotesTx">
        <pc:chgData name="宏傑 楊" userId="ee57404c450d34c3" providerId="LiveId" clId="{C566A467-C6D7-4AF8-8C72-E0B89F2E9DDD}" dt="2026-07-01T12:42:14.623" v="3306" actId="20577"/>
        <pc:sldMkLst>
          <pc:docMk/>
          <pc:sldMk cId="3506993927" sldId="441"/>
        </pc:sldMkLst>
        <pc:spChg chg="mod">
          <ac:chgData name="宏傑 楊" userId="ee57404c450d34c3" providerId="LiveId" clId="{C566A467-C6D7-4AF8-8C72-E0B89F2E9DDD}" dt="2026-07-01T07:28:23.773" v="2687" actId="108"/>
          <ac:spMkLst>
            <pc:docMk/>
            <pc:sldMk cId="3506993927" sldId="441"/>
            <ac:spMk id="3" creationId="{EE2CB3E1-2A69-6119-B89D-BD7F22672524}"/>
          </ac:spMkLst>
        </pc:spChg>
      </pc:sldChg>
      <pc:sldChg chg="addSp delSp modSp add mod ord modNotesTx">
        <pc:chgData name="宏傑 楊" userId="ee57404c450d34c3" providerId="LiveId" clId="{C566A467-C6D7-4AF8-8C72-E0B89F2E9DDD}" dt="2026-07-03T02:47:32.180" v="3468" actId="6549"/>
        <pc:sldMkLst>
          <pc:docMk/>
          <pc:sldMk cId="212611194" sldId="442"/>
        </pc:sldMkLst>
        <pc:spChg chg="mod">
          <ac:chgData name="宏傑 楊" userId="ee57404c450d34c3" providerId="LiveId" clId="{C566A467-C6D7-4AF8-8C72-E0B89F2E9DDD}" dt="2026-07-01T07:32:52.981" v="2719"/>
          <ac:spMkLst>
            <pc:docMk/>
            <pc:sldMk cId="212611194" sldId="442"/>
            <ac:spMk id="3" creationId="{E0E515BD-4380-412E-93D5-306AFEB84B1D}"/>
          </ac:spMkLst>
        </pc:spChg>
        <pc:spChg chg="add">
          <ac:chgData name="宏傑 楊" userId="ee57404c450d34c3" providerId="LiveId" clId="{C566A467-C6D7-4AF8-8C72-E0B89F2E9DDD}" dt="2026-07-01T07:36:35.290" v="2790" actId="22"/>
          <ac:spMkLst>
            <pc:docMk/>
            <pc:sldMk cId="212611194" sldId="442"/>
            <ac:spMk id="7" creationId="{80F10C9A-40A7-FBAD-3FDD-574609297868}"/>
          </ac:spMkLst>
        </pc:spChg>
        <pc:spChg chg="add mod">
          <ac:chgData name="宏傑 楊" userId="ee57404c450d34c3" providerId="LiveId" clId="{C566A467-C6D7-4AF8-8C72-E0B89F2E9DDD}" dt="2026-07-01T08:47:31.104" v="3190" actId="20577"/>
          <ac:spMkLst>
            <pc:docMk/>
            <pc:sldMk cId="212611194" sldId="442"/>
            <ac:spMk id="9" creationId="{D048981F-C6CB-2204-1442-1C771F15638B}"/>
          </ac:spMkLst>
        </pc:spChg>
      </pc:sldChg>
      <pc:sldChg chg="addSp delSp modSp add mod modNotesTx">
        <pc:chgData name="宏傑 楊" userId="ee57404c450d34c3" providerId="LiveId" clId="{C566A467-C6D7-4AF8-8C72-E0B89F2E9DDD}" dt="2026-07-01T12:45:03.697" v="3352" actId="20577"/>
        <pc:sldMkLst>
          <pc:docMk/>
          <pc:sldMk cId="942896927" sldId="443"/>
        </pc:sldMkLst>
        <pc:spChg chg="mod">
          <ac:chgData name="宏傑 楊" userId="ee57404c450d34c3" providerId="LiveId" clId="{C566A467-C6D7-4AF8-8C72-E0B89F2E9DDD}" dt="2026-07-01T08:40:21.927" v="3133"/>
          <ac:spMkLst>
            <pc:docMk/>
            <pc:sldMk cId="942896927" sldId="443"/>
            <ac:spMk id="3" creationId="{F6398F18-F1AD-0F61-ABCC-0E7ECD61FD1F}"/>
          </ac:spMkLst>
        </pc:spChg>
        <pc:spChg chg="add">
          <ac:chgData name="宏傑 楊" userId="ee57404c450d34c3" providerId="LiveId" clId="{C566A467-C6D7-4AF8-8C72-E0B89F2E9DDD}" dt="2026-07-01T07:36:30.306" v="2789" actId="22"/>
          <ac:spMkLst>
            <pc:docMk/>
            <pc:sldMk cId="942896927" sldId="443"/>
            <ac:spMk id="6" creationId="{EBA2592A-A68B-E65F-66B9-0A6B46BE3557}"/>
          </ac:spMkLst>
        </pc:spChg>
        <pc:spChg chg="add mod">
          <ac:chgData name="宏傑 楊" userId="ee57404c450d34c3" providerId="LiveId" clId="{C566A467-C6D7-4AF8-8C72-E0B89F2E9DDD}" dt="2026-07-01T08:47:38.471" v="3195" actId="20577"/>
          <ac:spMkLst>
            <pc:docMk/>
            <pc:sldMk cId="942896927" sldId="443"/>
            <ac:spMk id="8" creationId="{0E051D61-92C1-26A6-E1BD-DDBEEA5B4786}"/>
          </ac:spMkLst>
        </pc:spChg>
      </pc:sldChg>
      <pc:sldChg chg="addSp delSp modSp add mod modNotesTx">
        <pc:chgData name="宏傑 楊" userId="ee57404c450d34c3" providerId="LiveId" clId="{C566A467-C6D7-4AF8-8C72-E0B89F2E9DDD}" dt="2026-07-03T02:30:39.338" v="3466" actId="20577"/>
        <pc:sldMkLst>
          <pc:docMk/>
          <pc:sldMk cId="804704890" sldId="444"/>
        </pc:sldMkLst>
        <pc:spChg chg="mod">
          <ac:chgData name="宏傑 楊" userId="ee57404c450d34c3" providerId="LiveId" clId="{C566A467-C6D7-4AF8-8C72-E0B89F2E9DDD}" dt="2026-07-01T07:53:09.210" v="2948" actId="20577"/>
          <ac:spMkLst>
            <pc:docMk/>
            <pc:sldMk cId="804704890" sldId="444"/>
            <ac:spMk id="3" creationId="{45E06BF5-D69B-1301-0949-14BBBFB4BCE6}"/>
          </ac:spMkLst>
        </pc:spChg>
        <pc:spChg chg="add">
          <ac:chgData name="宏傑 楊" userId="ee57404c450d34c3" providerId="LiveId" clId="{C566A467-C6D7-4AF8-8C72-E0B89F2E9DDD}" dt="2026-07-01T07:37:09.612" v="2800" actId="22"/>
          <ac:spMkLst>
            <pc:docMk/>
            <pc:sldMk cId="804704890" sldId="444"/>
            <ac:spMk id="9" creationId="{242305C2-9D4E-DE24-C364-DC15B323F6B6}"/>
          </ac:spMkLst>
        </pc:spChg>
        <pc:spChg chg="add mod">
          <ac:chgData name="宏傑 楊" userId="ee57404c450d34c3" providerId="LiveId" clId="{C566A467-C6D7-4AF8-8C72-E0B89F2E9DDD}" dt="2026-07-01T08:47:45.708" v="3200" actId="20577"/>
          <ac:spMkLst>
            <pc:docMk/>
            <pc:sldMk cId="804704890" sldId="444"/>
            <ac:spMk id="11" creationId="{5229BA37-59F1-2B2F-1354-5DDEDAD520AE}"/>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ee57404c450d34c3/&#26700;&#38754;/115_NTUT_Thesis/result/Instances_All_Metric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ee57404c450d34c3/&#26700;&#38754;/115_NTUT_Thesis/result/Instances_All_Metric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ee57404c450d34c3/&#26700;&#38754;/115_NTUT_Thesis/result/Instances_All_Metric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ee57404c450d34c3/&#26700;&#38754;/115_NTUT_Thesis/result/Instances_All_Metrics.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TW" sz="1400" b="0" i="0" u="none" strike="noStrike" kern="1200" spc="0" baseline="0">
                <a:solidFill>
                  <a:sysClr val="windowText" lastClr="000000">
                    <a:lumMod val="65000"/>
                    <a:lumOff val="35000"/>
                  </a:sysClr>
                </a:solidFill>
              </a:rPr>
              <a:t>Number of Vehicles</a:t>
            </a:r>
            <a:endParaRPr lang="zh-TW" altLang="en-US" sz="1400" b="0" i="0" u="none" strike="noStrike" kern="1200" spc="0" baseline="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ltLang="en-US"/>
        </a:p>
      </c:txPr>
    </c:title>
    <c:autoTitleDeleted val="0"/>
    <c:plotArea>
      <c:layout/>
      <c:lineChart>
        <c:grouping val="standard"/>
        <c:varyColors val="0"/>
        <c:ser>
          <c:idx val="0"/>
          <c:order val="0"/>
          <c:tx>
            <c:strRef>
              <c:f>NV!$B$1</c:f>
              <c:strCache>
                <c:ptCount val="1"/>
                <c:pt idx="0">
                  <c:v>Proposed Method</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NV!$A$2:$A$28</c:f>
              <c:strCache>
                <c:ptCount val="26"/>
                <c:pt idx="0">
                  <c:v>D20221203</c:v>
                </c:pt>
                <c:pt idx="1">
                  <c:v>D20221205</c:v>
                </c:pt>
                <c:pt idx="2">
                  <c:v>D20221207</c:v>
                </c:pt>
                <c:pt idx="3">
                  <c:v>D20221208</c:v>
                </c:pt>
                <c:pt idx="4">
                  <c:v>D20221209</c:v>
                </c:pt>
                <c:pt idx="5">
                  <c:v>D20221210</c:v>
                </c:pt>
                <c:pt idx="6">
                  <c:v>D20221212</c:v>
                </c:pt>
                <c:pt idx="7">
                  <c:v>D20221213</c:v>
                </c:pt>
                <c:pt idx="8">
                  <c:v>D20221214</c:v>
                </c:pt>
                <c:pt idx="9">
                  <c:v>D20221215</c:v>
                </c:pt>
                <c:pt idx="10">
                  <c:v>D20221216</c:v>
                </c:pt>
                <c:pt idx="11">
                  <c:v>D20221217</c:v>
                </c:pt>
                <c:pt idx="12">
                  <c:v>D20221219</c:v>
                </c:pt>
                <c:pt idx="13">
                  <c:v>D20221220</c:v>
                </c:pt>
                <c:pt idx="14">
                  <c:v>D20221221</c:v>
                </c:pt>
                <c:pt idx="15">
                  <c:v>D20221222</c:v>
                </c:pt>
                <c:pt idx="16">
                  <c:v>D20221223</c:v>
                </c:pt>
                <c:pt idx="17">
                  <c:v>D20221227</c:v>
                </c:pt>
                <c:pt idx="18">
                  <c:v>D20221230</c:v>
                </c:pt>
                <c:pt idx="19">
                  <c:v>D20221231</c:v>
                </c:pt>
                <c:pt idx="20">
                  <c:v>D20230102</c:v>
                </c:pt>
                <c:pt idx="21">
                  <c:v>D20230107</c:v>
                </c:pt>
                <c:pt idx="22">
                  <c:v>D20230113</c:v>
                </c:pt>
                <c:pt idx="23">
                  <c:v>D20260102</c:v>
                </c:pt>
                <c:pt idx="24">
                  <c:v>D20260106</c:v>
                </c:pt>
                <c:pt idx="25">
                  <c:v>D20260109</c:v>
                </c:pt>
              </c:strCache>
            </c:strRef>
          </c:cat>
          <c:val>
            <c:numRef>
              <c:f>NV!$B$2:$B$28</c:f>
              <c:numCache>
                <c:formatCode>General</c:formatCode>
                <c:ptCount val="27"/>
                <c:pt idx="0">
                  <c:v>93.8</c:v>
                </c:pt>
                <c:pt idx="1">
                  <c:v>83.63</c:v>
                </c:pt>
                <c:pt idx="2">
                  <c:v>85.4</c:v>
                </c:pt>
                <c:pt idx="3">
                  <c:v>82</c:v>
                </c:pt>
                <c:pt idx="4">
                  <c:v>84.03</c:v>
                </c:pt>
                <c:pt idx="5">
                  <c:v>85.4</c:v>
                </c:pt>
                <c:pt idx="6">
                  <c:v>83.87</c:v>
                </c:pt>
                <c:pt idx="7">
                  <c:v>98.77</c:v>
                </c:pt>
                <c:pt idx="8">
                  <c:v>82.37</c:v>
                </c:pt>
                <c:pt idx="9">
                  <c:v>81</c:v>
                </c:pt>
                <c:pt idx="10">
                  <c:v>81.099999999999994</c:v>
                </c:pt>
                <c:pt idx="11">
                  <c:v>81</c:v>
                </c:pt>
                <c:pt idx="12">
                  <c:v>81.03</c:v>
                </c:pt>
                <c:pt idx="13">
                  <c:v>92.73</c:v>
                </c:pt>
                <c:pt idx="14">
                  <c:v>85.47</c:v>
                </c:pt>
                <c:pt idx="15">
                  <c:v>81.63</c:v>
                </c:pt>
                <c:pt idx="16">
                  <c:v>121.53</c:v>
                </c:pt>
                <c:pt idx="17">
                  <c:v>123.3</c:v>
                </c:pt>
                <c:pt idx="18">
                  <c:v>101.66</c:v>
                </c:pt>
                <c:pt idx="19">
                  <c:v>104.27</c:v>
                </c:pt>
                <c:pt idx="20">
                  <c:v>103.57</c:v>
                </c:pt>
                <c:pt idx="21">
                  <c:v>99.1</c:v>
                </c:pt>
                <c:pt idx="22">
                  <c:v>83.4</c:v>
                </c:pt>
                <c:pt idx="23">
                  <c:v>99.7</c:v>
                </c:pt>
                <c:pt idx="24">
                  <c:v>128.5</c:v>
                </c:pt>
                <c:pt idx="25">
                  <c:v>88.75</c:v>
                </c:pt>
                <c:pt idx="26">
                  <c:v>92.961923076923071</c:v>
                </c:pt>
              </c:numCache>
            </c:numRef>
          </c:val>
          <c:smooth val="0"/>
          <c:extLst>
            <c:ext xmlns:c16="http://schemas.microsoft.com/office/drawing/2014/chart" uri="{C3380CC4-5D6E-409C-BE32-E72D297353CC}">
              <c16:uniqueId val="{00000000-4709-403B-A914-37B4B3829BAF}"/>
            </c:ext>
          </c:extLst>
        </c:ser>
        <c:ser>
          <c:idx val="1"/>
          <c:order val="1"/>
          <c:tx>
            <c:strRef>
              <c:f>NV!$F$1</c:f>
              <c:strCache>
                <c:ptCount val="1"/>
                <c:pt idx="0">
                  <c:v>HGA-SIH</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NV!$A$2:$A$28</c:f>
              <c:strCache>
                <c:ptCount val="26"/>
                <c:pt idx="0">
                  <c:v>D20221203</c:v>
                </c:pt>
                <c:pt idx="1">
                  <c:v>D20221205</c:v>
                </c:pt>
                <c:pt idx="2">
                  <c:v>D20221207</c:v>
                </c:pt>
                <c:pt idx="3">
                  <c:v>D20221208</c:v>
                </c:pt>
                <c:pt idx="4">
                  <c:v>D20221209</c:v>
                </c:pt>
                <c:pt idx="5">
                  <c:v>D20221210</c:v>
                </c:pt>
                <c:pt idx="6">
                  <c:v>D20221212</c:v>
                </c:pt>
                <c:pt idx="7">
                  <c:v>D20221213</c:v>
                </c:pt>
                <c:pt idx="8">
                  <c:v>D20221214</c:v>
                </c:pt>
                <c:pt idx="9">
                  <c:v>D20221215</c:v>
                </c:pt>
                <c:pt idx="10">
                  <c:v>D20221216</c:v>
                </c:pt>
                <c:pt idx="11">
                  <c:v>D20221217</c:v>
                </c:pt>
                <c:pt idx="12">
                  <c:v>D20221219</c:v>
                </c:pt>
                <c:pt idx="13">
                  <c:v>D20221220</c:v>
                </c:pt>
                <c:pt idx="14">
                  <c:v>D20221221</c:v>
                </c:pt>
                <c:pt idx="15">
                  <c:v>D20221222</c:v>
                </c:pt>
                <c:pt idx="16">
                  <c:v>D20221223</c:v>
                </c:pt>
                <c:pt idx="17">
                  <c:v>D20221227</c:v>
                </c:pt>
                <c:pt idx="18">
                  <c:v>D20221230</c:v>
                </c:pt>
                <c:pt idx="19">
                  <c:v>D20221231</c:v>
                </c:pt>
                <c:pt idx="20">
                  <c:v>D20230102</c:v>
                </c:pt>
                <c:pt idx="21">
                  <c:v>D20230107</c:v>
                </c:pt>
                <c:pt idx="22">
                  <c:v>D20230113</c:v>
                </c:pt>
                <c:pt idx="23">
                  <c:v>D20260102</c:v>
                </c:pt>
                <c:pt idx="24">
                  <c:v>D20260106</c:v>
                </c:pt>
                <c:pt idx="25">
                  <c:v>D20260109</c:v>
                </c:pt>
              </c:strCache>
            </c:strRef>
          </c:cat>
          <c:val>
            <c:numRef>
              <c:f>NV!$F$2:$F$28</c:f>
              <c:numCache>
                <c:formatCode>General</c:formatCode>
                <c:ptCount val="27"/>
                <c:pt idx="0">
                  <c:v>100</c:v>
                </c:pt>
                <c:pt idx="1">
                  <c:v>87.7</c:v>
                </c:pt>
                <c:pt idx="2">
                  <c:v>87</c:v>
                </c:pt>
                <c:pt idx="3">
                  <c:v>83.3</c:v>
                </c:pt>
                <c:pt idx="4">
                  <c:v>88.7</c:v>
                </c:pt>
                <c:pt idx="5">
                  <c:v>89.8</c:v>
                </c:pt>
                <c:pt idx="6">
                  <c:v>89.4</c:v>
                </c:pt>
                <c:pt idx="7">
                  <c:v>105.7</c:v>
                </c:pt>
                <c:pt idx="8">
                  <c:v>87.1</c:v>
                </c:pt>
                <c:pt idx="9">
                  <c:v>82.1</c:v>
                </c:pt>
                <c:pt idx="10">
                  <c:v>82</c:v>
                </c:pt>
                <c:pt idx="11">
                  <c:v>84.7</c:v>
                </c:pt>
                <c:pt idx="12">
                  <c:v>83.4</c:v>
                </c:pt>
                <c:pt idx="13">
                  <c:v>97.8</c:v>
                </c:pt>
                <c:pt idx="14">
                  <c:v>88.1</c:v>
                </c:pt>
                <c:pt idx="15">
                  <c:v>84.2</c:v>
                </c:pt>
                <c:pt idx="16">
                  <c:v>129.6</c:v>
                </c:pt>
                <c:pt idx="17">
                  <c:v>131.6</c:v>
                </c:pt>
                <c:pt idx="18">
                  <c:v>112.5</c:v>
                </c:pt>
                <c:pt idx="19">
                  <c:v>111.7</c:v>
                </c:pt>
                <c:pt idx="20">
                  <c:v>109.56</c:v>
                </c:pt>
                <c:pt idx="21">
                  <c:v>105.6</c:v>
                </c:pt>
                <c:pt idx="22">
                  <c:v>85.3</c:v>
                </c:pt>
                <c:pt idx="23">
                  <c:v>106.5</c:v>
                </c:pt>
                <c:pt idx="24">
                  <c:v>135.6</c:v>
                </c:pt>
                <c:pt idx="25">
                  <c:v>91.9</c:v>
                </c:pt>
                <c:pt idx="26">
                  <c:v>97.725384615384627</c:v>
                </c:pt>
              </c:numCache>
            </c:numRef>
          </c:val>
          <c:smooth val="0"/>
          <c:extLst>
            <c:ext xmlns:c16="http://schemas.microsoft.com/office/drawing/2014/chart" uri="{C3380CC4-5D6E-409C-BE32-E72D297353CC}">
              <c16:uniqueId val="{00000001-4709-403B-A914-37B4B3829BAF}"/>
            </c:ext>
          </c:extLst>
        </c:ser>
        <c:ser>
          <c:idx val="2"/>
          <c:order val="2"/>
          <c:tx>
            <c:strRef>
              <c:f>NV!$G$1</c:f>
              <c:strCache>
                <c:ptCount val="1"/>
                <c:pt idx="0">
                  <c:v>Manually Planned</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NV!$A$2:$A$28</c:f>
              <c:strCache>
                <c:ptCount val="26"/>
                <c:pt idx="0">
                  <c:v>D20221203</c:v>
                </c:pt>
                <c:pt idx="1">
                  <c:v>D20221205</c:v>
                </c:pt>
                <c:pt idx="2">
                  <c:v>D20221207</c:v>
                </c:pt>
                <c:pt idx="3">
                  <c:v>D20221208</c:v>
                </c:pt>
                <c:pt idx="4">
                  <c:v>D20221209</c:v>
                </c:pt>
                <c:pt idx="5">
                  <c:v>D20221210</c:v>
                </c:pt>
                <c:pt idx="6">
                  <c:v>D20221212</c:v>
                </c:pt>
                <c:pt idx="7">
                  <c:v>D20221213</c:v>
                </c:pt>
                <c:pt idx="8">
                  <c:v>D20221214</c:v>
                </c:pt>
                <c:pt idx="9">
                  <c:v>D20221215</c:v>
                </c:pt>
                <c:pt idx="10">
                  <c:v>D20221216</c:v>
                </c:pt>
                <c:pt idx="11">
                  <c:v>D20221217</c:v>
                </c:pt>
                <c:pt idx="12">
                  <c:v>D20221219</c:v>
                </c:pt>
                <c:pt idx="13">
                  <c:v>D20221220</c:v>
                </c:pt>
                <c:pt idx="14">
                  <c:v>D20221221</c:v>
                </c:pt>
                <c:pt idx="15">
                  <c:v>D20221222</c:v>
                </c:pt>
                <c:pt idx="16">
                  <c:v>D20221223</c:v>
                </c:pt>
                <c:pt idx="17">
                  <c:v>D20221227</c:v>
                </c:pt>
                <c:pt idx="18">
                  <c:v>D20221230</c:v>
                </c:pt>
                <c:pt idx="19">
                  <c:v>D20221231</c:v>
                </c:pt>
                <c:pt idx="20">
                  <c:v>D20230102</c:v>
                </c:pt>
                <c:pt idx="21">
                  <c:v>D20230107</c:v>
                </c:pt>
                <c:pt idx="22">
                  <c:v>D20230113</c:v>
                </c:pt>
                <c:pt idx="23">
                  <c:v>D20260102</c:v>
                </c:pt>
                <c:pt idx="24">
                  <c:v>D20260106</c:v>
                </c:pt>
                <c:pt idx="25">
                  <c:v>D20260109</c:v>
                </c:pt>
              </c:strCache>
            </c:strRef>
          </c:cat>
          <c:val>
            <c:numRef>
              <c:f>NV!$G$2:$G$28</c:f>
              <c:numCache>
                <c:formatCode>General</c:formatCode>
                <c:ptCount val="27"/>
                <c:pt idx="0">
                  <c:v>102</c:v>
                </c:pt>
                <c:pt idx="1">
                  <c:v>90</c:v>
                </c:pt>
                <c:pt idx="2">
                  <c:v>89</c:v>
                </c:pt>
                <c:pt idx="3">
                  <c:v>83</c:v>
                </c:pt>
                <c:pt idx="4">
                  <c:v>89</c:v>
                </c:pt>
                <c:pt idx="5">
                  <c:v>94</c:v>
                </c:pt>
                <c:pt idx="6">
                  <c:v>91</c:v>
                </c:pt>
                <c:pt idx="7">
                  <c:v>108</c:v>
                </c:pt>
                <c:pt idx="8">
                  <c:v>85</c:v>
                </c:pt>
                <c:pt idx="9">
                  <c:v>81</c:v>
                </c:pt>
                <c:pt idx="10">
                  <c:v>83</c:v>
                </c:pt>
                <c:pt idx="11">
                  <c:v>83</c:v>
                </c:pt>
                <c:pt idx="12">
                  <c:v>82</c:v>
                </c:pt>
                <c:pt idx="13">
                  <c:v>100</c:v>
                </c:pt>
                <c:pt idx="14">
                  <c:v>90</c:v>
                </c:pt>
                <c:pt idx="15">
                  <c:v>84</c:v>
                </c:pt>
                <c:pt idx="16">
                  <c:v>129</c:v>
                </c:pt>
                <c:pt idx="17">
                  <c:v>134</c:v>
                </c:pt>
                <c:pt idx="18">
                  <c:v>105</c:v>
                </c:pt>
                <c:pt idx="19">
                  <c:v>111</c:v>
                </c:pt>
                <c:pt idx="20">
                  <c:v>110</c:v>
                </c:pt>
                <c:pt idx="21">
                  <c:v>120</c:v>
                </c:pt>
                <c:pt idx="22">
                  <c:v>91</c:v>
                </c:pt>
                <c:pt idx="23">
                  <c:v>136</c:v>
                </c:pt>
                <c:pt idx="24">
                  <c:v>159</c:v>
                </c:pt>
                <c:pt idx="25">
                  <c:v>94</c:v>
                </c:pt>
                <c:pt idx="26">
                  <c:v>100.88461538461539</c:v>
                </c:pt>
              </c:numCache>
            </c:numRef>
          </c:val>
          <c:smooth val="0"/>
          <c:extLst>
            <c:ext xmlns:c16="http://schemas.microsoft.com/office/drawing/2014/chart" uri="{C3380CC4-5D6E-409C-BE32-E72D297353CC}">
              <c16:uniqueId val="{00000002-4709-403B-A914-37B4B3829BAF}"/>
            </c:ext>
          </c:extLst>
        </c:ser>
        <c:dLbls>
          <c:showLegendKey val="0"/>
          <c:showVal val="0"/>
          <c:showCatName val="0"/>
          <c:showSerName val="0"/>
          <c:showPercent val="0"/>
          <c:showBubbleSize val="0"/>
        </c:dLbls>
        <c:marker val="1"/>
        <c:smooth val="0"/>
        <c:axId val="1270520416"/>
        <c:axId val="1270537216"/>
      </c:lineChart>
      <c:catAx>
        <c:axId val="1270520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270537216"/>
        <c:crosses val="autoZero"/>
        <c:auto val="1"/>
        <c:lblAlgn val="ctr"/>
        <c:lblOffset val="100"/>
        <c:noMultiLvlLbl val="0"/>
      </c:catAx>
      <c:valAx>
        <c:axId val="1270537216"/>
        <c:scaling>
          <c:orientation val="minMax"/>
          <c:max val="170"/>
          <c:min val="7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2705204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TW" sz="1400" b="0" i="0" u="none" strike="noStrike" kern="1200" spc="0" baseline="0">
                <a:solidFill>
                  <a:sysClr val="windowText" lastClr="000000">
                    <a:lumMod val="65000"/>
                    <a:lumOff val="35000"/>
                  </a:sysClr>
                </a:solidFill>
              </a:rPr>
              <a:t>Total Distance</a:t>
            </a:r>
            <a:endParaRPr lang="zh-TW" altLang="en-US" sz="1400" b="0" i="0" u="none" strike="noStrike" kern="1200" spc="0" baseline="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ltLang="en-US"/>
        </a:p>
      </c:txPr>
    </c:title>
    <c:autoTitleDeleted val="0"/>
    <c:plotArea>
      <c:layout/>
      <c:lineChart>
        <c:grouping val="standard"/>
        <c:varyColors val="0"/>
        <c:ser>
          <c:idx val="0"/>
          <c:order val="0"/>
          <c:tx>
            <c:strRef>
              <c:f>TD!$B$1</c:f>
              <c:strCache>
                <c:ptCount val="1"/>
                <c:pt idx="0">
                  <c:v>Proposed Method</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TD!$A$2:$A$28</c:f>
              <c:strCache>
                <c:ptCount val="26"/>
                <c:pt idx="0">
                  <c:v>D20221203</c:v>
                </c:pt>
                <c:pt idx="1">
                  <c:v>D20221205</c:v>
                </c:pt>
                <c:pt idx="2">
                  <c:v>D20221207</c:v>
                </c:pt>
                <c:pt idx="3">
                  <c:v>D20221208</c:v>
                </c:pt>
                <c:pt idx="4">
                  <c:v>D20221209</c:v>
                </c:pt>
                <c:pt idx="5">
                  <c:v>D20221210</c:v>
                </c:pt>
                <c:pt idx="6">
                  <c:v>D20221212</c:v>
                </c:pt>
                <c:pt idx="7">
                  <c:v>D20221213</c:v>
                </c:pt>
                <c:pt idx="8">
                  <c:v>D20221214</c:v>
                </c:pt>
                <c:pt idx="9">
                  <c:v>D20221215</c:v>
                </c:pt>
                <c:pt idx="10">
                  <c:v>D20221216</c:v>
                </c:pt>
                <c:pt idx="11">
                  <c:v>D20221217</c:v>
                </c:pt>
                <c:pt idx="12">
                  <c:v>D20221219</c:v>
                </c:pt>
                <c:pt idx="13">
                  <c:v>D20221220</c:v>
                </c:pt>
                <c:pt idx="14">
                  <c:v>D20221221</c:v>
                </c:pt>
                <c:pt idx="15">
                  <c:v>D20221222</c:v>
                </c:pt>
                <c:pt idx="16">
                  <c:v>D20221223</c:v>
                </c:pt>
                <c:pt idx="17">
                  <c:v>D20221227</c:v>
                </c:pt>
                <c:pt idx="18">
                  <c:v>D20221230</c:v>
                </c:pt>
                <c:pt idx="19">
                  <c:v>D20221231</c:v>
                </c:pt>
                <c:pt idx="20">
                  <c:v>D20230102</c:v>
                </c:pt>
                <c:pt idx="21">
                  <c:v>D20230107</c:v>
                </c:pt>
                <c:pt idx="22">
                  <c:v>D20230113</c:v>
                </c:pt>
                <c:pt idx="23">
                  <c:v>D20260102</c:v>
                </c:pt>
                <c:pt idx="24">
                  <c:v>D20260106</c:v>
                </c:pt>
                <c:pt idx="25">
                  <c:v>D20260109</c:v>
                </c:pt>
              </c:strCache>
            </c:strRef>
          </c:cat>
          <c:val>
            <c:numRef>
              <c:f>TD!$B$2:$B$28</c:f>
              <c:numCache>
                <c:formatCode>General</c:formatCode>
                <c:ptCount val="27"/>
                <c:pt idx="0">
                  <c:v>4499.74</c:v>
                </c:pt>
                <c:pt idx="1">
                  <c:v>3962.51</c:v>
                </c:pt>
                <c:pt idx="2">
                  <c:v>4076.76</c:v>
                </c:pt>
                <c:pt idx="3">
                  <c:v>3797.71</c:v>
                </c:pt>
                <c:pt idx="4">
                  <c:v>3959.28</c:v>
                </c:pt>
                <c:pt idx="5">
                  <c:v>4095.1</c:v>
                </c:pt>
                <c:pt idx="6">
                  <c:v>4012.35</c:v>
                </c:pt>
                <c:pt idx="7">
                  <c:v>4674.95</c:v>
                </c:pt>
                <c:pt idx="8">
                  <c:v>3898.37</c:v>
                </c:pt>
                <c:pt idx="9">
                  <c:v>3796.69</c:v>
                </c:pt>
                <c:pt idx="10">
                  <c:v>3806.67</c:v>
                </c:pt>
                <c:pt idx="11">
                  <c:v>3788.96</c:v>
                </c:pt>
                <c:pt idx="12">
                  <c:v>3805.9</c:v>
                </c:pt>
                <c:pt idx="13">
                  <c:v>4399.1000000000004</c:v>
                </c:pt>
                <c:pt idx="14">
                  <c:v>4077.42</c:v>
                </c:pt>
                <c:pt idx="15">
                  <c:v>3835.65</c:v>
                </c:pt>
                <c:pt idx="16">
                  <c:v>5609.47</c:v>
                </c:pt>
                <c:pt idx="17">
                  <c:v>5660.37</c:v>
                </c:pt>
                <c:pt idx="18">
                  <c:v>4790.8599999999997</c:v>
                </c:pt>
                <c:pt idx="19">
                  <c:v>4912.08</c:v>
                </c:pt>
                <c:pt idx="20">
                  <c:v>4929.22</c:v>
                </c:pt>
                <c:pt idx="21">
                  <c:v>4737.63</c:v>
                </c:pt>
                <c:pt idx="22">
                  <c:v>3916.42</c:v>
                </c:pt>
                <c:pt idx="23">
                  <c:v>4621.32</c:v>
                </c:pt>
                <c:pt idx="24">
                  <c:v>6012.56</c:v>
                </c:pt>
                <c:pt idx="25">
                  <c:v>4042.29</c:v>
                </c:pt>
                <c:pt idx="26">
                  <c:v>4373.8223076923077</c:v>
                </c:pt>
              </c:numCache>
            </c:numRef>
          </c:val>
          <c:smooth val="0"/>
          <c:extLst>
            <c:ext xmlns:c16="http://schemas.microsoft.com/office/drawing/2014/chart" uri="{C3380CC4-5D6E-409C-BE32-E72D297353CC}">
              <c16:uniqueId val="{00000000-8EC8-4D3A-9095-A95D60B9F0F4}"/>
            </c:ext>
          </c:extLst>
        </c:ser>
        <c:ser>
          <c:idx val="1"/>
          <c:order val="1"/>
          <c:tx>
            <c:strRef>
              <c:f>TD!$F$1</c:f>
              <c:strCache>
                <c:ptCount val="1"/>
                <c:pt idx="0">
                  <c:v>HGA-SIH</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TD!$A$2:$A$28</c:f>
              <c:strCache>
                <c:ptCount val="26"/>
                <c:pt idx="0">
                  <c:v>D20221203</c:v>
                </c:pt>
                <c:pt idx="1">
                  <c:v>D20221205</c:v>
                </c:pt>
                <c:pt idx="2">
                  <c:v>D20221207</c:v>
                </c:pt>
                <c:pt idx="3">
                  <c:v>D20221208</c:v>
                </c:pt>
                <c:pt idx="4">
                  <c:v>D20221209</c:v>
                </c:pt>
                <c:pt idx="5">
                  <c:v>D20221210</c:v>
                </c:pt>
                <c:pt idx="6">
                  <c:v>D20221212</c:v>
                </c:pt>
                <c:pt idx="7">
                  <c:v>D20221213</c:v>
                </c:pt>
                <c:pt idx="8">
                  <c:v>D20221214</c:v>
                </c:pt>
                <c:pt idx="9">
                  <c:v>D20221215</c:v>
                </c:pt>
                <c:pt idx="10">
                  <c:v>D20221216</c:v>
                </c:pt>
                <c:pt idx="11">
                  <c:v>D20221217</c:v>
                </c:pt>
                <c:pt idx="12">
                  <c:v>D20221219</c:v>
                </c:pt>
                <c:pt idx="13">
                  <c:v>D20221220</c:v>
                </c:pt>
                <c:pt idx="14">
                  <c:v>D20221221</c:v>
                </c:pt>
                <c:pt idx="15">
                  <c:v>D20221222</c:v>
                </c:pt>
                <c:pt idx="16">
                  <c:v>D20221223</c:v>
                </c:pt>
                <c:pt idx="17">
                  <c:v>D20221227</c:v>
                </c:pt>
                <c:pt idx="18">
                  <c:v>D20221230</c:v>
                </c:pt>
                <c:pt idx="19">
                  <c:v>D20221231</c:v>
                </c:pt>
                <c:pt idx="20">
                  <c:v>D20230102</c:v>
                </c:pt>
                <c:pt idx="21">
                  <c:v>D20230107</c:v>
                </c:pt>
                <c:pt idx="22">
                  <c:v>D20230113</c:v>
                </c:pt>
                <c:pt idx="23">
                  <c:v>D20260102</c:v>
                </c:pt>
                <c:pt idx="24">
                  <c:v>D20260106</c:v>
                </c:pt>
                <c:pt idx="25">
                  <c:v>D20260109</c:v>
                </c:pt>
              </c:strCache>
            </c:strRef>
          </c:cat>
          <c:val>
            <c:numRef>
              <c:f>TD!$F$2:$F$28</c:f>
              <c:numCache>
                <c:formatCode>General</c:formatCode>
                <c:ptCount val="27"/>
                <c:pt idx="0">
                  <c:v>4813.04</c:v>
                </c:pt>
                <c:pt idx="1">
                  <c:v>4072.85</c:v>
                </c:pt>
                <c:pt idx="2">
                  <c:v>4229.1099999999997</c:v>
                </c:pt>
                <c:pt idx="3">
                  <c:v>3842.13</c:v>
                </c:pt>
                <c:pt idx="4">
                  <c:v>4122.58</c:v>
                </c:pt>
                <c:pt idx="5">
                  <c:v>4307.8599999999997</c:v>
                </c:pt>
                <c:pt idx="6">
                  <c:v>4127.0200000000004</c:v>
                </c:pt>
                <c:pt idx="7">
                  <c:v>5043.84</c:v>
                </c:pt>
                <c:pt idx="8">
                  <c:v>4030.25</c:v>
                </c:pt>
                <c:pt idx="9">
                  <c:v>3827.66</c:v>
                </c:pt>
                <c:pt idx="10">
                  <c:v>3854.68</c:v>
                </c:pt>
                <c:pt idx="11">
                  <c:v>3934.38</c:v>
                </c:pt>
                <c:pt idx="12">
                  <c:v>3853.22</c:v>
                </c:pt>
                <c:pt idx="13">
                  <c:v>4654.75</c:v>
                </c:pt>
                <c:pt idx="14">
                  <c:v>4235.88</c:v>
                </c:pt>
                <c:pt idx="15">
                  <c:v>3907.37</c:v>
                </c:pt>
                <c:pt idx="16">
                  <c:v>5931.68</c:v>
                </c:pt>
                <c:pt idx="17">
                  <c:v>5964.14</c:v>
                </c:pt>
                <c:pt idx="18">
                  <c:v>5232.92</c:v>
                </c:pt>
                <c:pt idx="19">
                  <c:v>5317.44</c:v>
                </c:pt>
                <c:pt idx="20">
                  <c:v>5197.8599999999997</c:v>
                </c:pt>
                <c:pt idx="21">
                  <c:v>5113.8</c:v>
                </c:pt>
                <c:pt idx="22">
                  <c:v>4015</c:v>
                </c:pt>
                <c:pt idx="23">
                  <c:v>5020.6899999999996</c:v>
                </c:pt>
                <c:pt idx="24">
                  <c:v>6278.38</c:v>
                </c:pt>
                <c:pt idx="25">
                  <c:v>4233.13</c:v>
                </c:pt>
                <c:pt idx="26">
                  <c:v>4583.1407692307694</c:v>
                </c:pt>
              </c:numCache>
            </c:numRef>
          </c:val>
          <c:smooth val="0"/>
          <c:extLst>
            <c:ext xmlns:c16="http://schemas.microsoft.com/office/drawing/2014/chart" uri="{C3380CC4-5D6E-409C-BE32-E72D297353CC}">
              <c16:uniqueId val="{00000001-8EC8-4D3A-9095-A95D60B9F0F4}"/>
            </c:ext>
          </c:extLst>
        </c:ser>
        <c:ser>
          <c:idx val="2"/>
          <c:order val="2"/>
          <c:tx>
            <c:strRef>
              <c:f>TD!$G$1</c:f>
              <c:strCache>
                <c:ptCount val="1"/>
                <c:pt idx="0">
                  <c:v>Manually Planned</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TD!$A$2:$A$28</c:f>
              <c:strCache>
                <c:ptCount val="26"/>
                <c:pt idx="0">
                  <c:v>D20221203</c:v>
                </c:pt>
                <c:pt idx="1">
                  <c:v>D20221205</c:v>
                </c:pt>
                <c:pt idx="2">
                  <c:v>D20221207</c:v>
                </c:pt>
                <c:pt idx="3">
                  <c:v>D20221208</c:v>
                </c:pt>
                <c:pt idx="4">
                  <c:v>D20221209</c:v>
                </c:pt>
                <c:pt idx="5">
                  <c:v>D20221210</c:v>
                </c:pt>
                <c:pt idx="6">
                  <c:v>D20221212</c:v>
                </c:pt>
                <c:pt idx="7">
                  <c:v>D20221213</c:v>
                </c:pt>
                <c:pt idx="8">
                  <c:v>D20221214</c:v>
                </c:pt>
                <c:pt idx="9">
                  <c:v>D20221215</c:v>
                </c:pt>
                <c:pt idx="10">
                  <c:v>D20221216</c:v>
                </c:pt>
                <c:pt idx="11">
                  <c:v>D20221217</c:v>
                </c:pt>
                <c:pt idx="12">
                  <c:v>D20221219</c:v>
                </c:pt>
                <c:pt idx="13">
                  <c:v>D20221220</c:v>
                </c:pt>
                <c:pt idx="14">
                  <c:v>D20221221</c:v>
                </c:pt>
                <c:pt idx="15">
                  <c:v>D20221222</c:v>
                </c:pt>
                <c:pt idx="16">
                  <c:v>D20221223</c:v>
                </c:pt>
                <c:pt idx="17">
                  <c:v>D20221227</c:v>
                </c:pt>
                <c:pt idx="18">
                  <c:v>D20221230</c:v>
                </c:pt>
                <c:pt idx="19">
                  <c:v>D20221231</c:v>
                </c:pt>
                <c:pt idx="20">
                  <c:v>D20230102</c:v>
                </c:pt>
                <c:pt idx="21">
                  <c:v>D20230107</c:v>
                </c:pt>
                <c:pt idx="22">
                  <c:v>D20230113</c:v>
                </c:pt>
                <c:pt idx="23">
                  <c:v>D20260102</c:v>
                </c:pt>
                <c:pt idx="24">
                  <c:v>D20260106</c:v>
                </c:pt>
                <c:pt idx="25">
                  <c:v>D20260109</c:v>
                </c:pt>
              </c:strCache>
            </c:strRef>
          </c:cat>
          <c:val>
            <c:numRef>
              <c:f>TD!$G$2:$G$28</c:f>
              <c:numCache>
                <c:formatCode>General</c:formatCode>
                <c:ptCount val="27"/>
                <c:pt idx="0">
                  <c:v>4623.34</c:v>
                </c:pt>
                <c:pt idx="1">
                  <c:v>4069.95</c:v>
                </c:pt>
                <c:pt idx="2">
                  <c:v>4134.37</c:v>
                </c:pt>
                <c:pt idx="3">
                  <c:v>3826.14</c:v>
                </c:pt>
                <c:pt idx="4">
                  <c:v>4042.17</c:v>
                </c:pt>
                <c:pt idx="5">
                  <c:v>4264.0600000000004</c:v>
                </c:pt>
                <c:pt idx="6">
                  <c:v>4169.74</c:v>
                </c:pt>
                <c:pt idx="7">
                  <c:v>4835.7</c:v>
                </c:pt>
                <c:pt idx="8">
                  <c:v>3915.92</c:v>
                </c:pt>
                <c:pt idx="9">
                  <c:v>3807.76</c:v>
                </c:pt>
                <c:pt idx="10">
                  <c:v>3859.83</c:v>
                </c:pt>
                <c:pt idx="11">
                  <c:v>3855.24</c:v>
                </c:pt>
                <c:pt idx="12">
                  <c:v>3812.78</c:v>
                </c:pt>
                <c:pt idx="13">
                  <c:v>4542.96</c:v>
                </c:pt>
                <c:pt idx="14">
                  <c:v>4172.2299999999996</c:v>
                </c:pt>
                <c:pt idx="15">
                  <c:v>3882.31</c:v>
                </c:pt>
                <c:pt idx="16">
                  <c:v>5567.91</c:v>
                </c:pt>
                <c:pt idx="17">
                  <c:v>5726.8</c:v>
                </c:pt>
                <c:pt idx="18">
                  <c:v>4701.75</c:v>
                </c:pt>
                <c:pt idx="19">
                  <c:v>4946.66</c:v>
                </c:pt>
                <c:pt idx="20">
                  <c:v>4883.74</c:v>
                </c:pt>
                <c:pt idx="21">
                  <c:v>5373.11</c:v>
                </c:pt>
                <c:pt idx="22">
                  <c:v>4168</c:v>
                </c:pt>
                <c:pt idx="23">
                  <c:v>5553.82</c:v>
                </c:pt>
                <c:pt idx="24">
                  <c:v>6891.41</c:v>
                </c:pt>
                <c:pt idx="25">
                  <c:v>4191.59</c:v>
                </c:pt>
                <c:pt idx="26">
                  <c:v>4531.5111538461542</c:v>
                </c:pt>
              </c:numCache>
            </c:numRef>
          </c:val>
          <c:smooth val="0"/>
          <c:extLst>
            <c:ext xmlns:c16="http://schemas.microsoft.com/office/drawing/2014/chart" uri="{C3380CC4-5D6E-409C-BE32-E72D297353CC}">
              <c16:uniqueId val="{00000002-8EC8-4D3A-9095-A95D60B9F0F4}"/>
            </c:ext>
          </c:extLst>
        </c:ser>
        <c:dLbls>
          <c:showLegendKey val="0"/>
          <c:showVal val="0"/>
          <c:showCatName val="0"/>
          <c:showSerName val="0"/>
          <c:showPercent val="0"/>
          <c:showBubbleSize val="0"/>
        </c:dLbls>
        <c:marker val="1"/>
        <c:smooth val="0"/>
        <c:axId val="1270532416"/>
        <c:axId val="1270519936"/>
      </c:lineChart>
      <c:catAx>
        <c:axId val="1270532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270519936"/>
        <c:crosses val="autoZero"/>
        <c:auto val="1"/>
        <c:lblAlgn val="ctr"/>
        <c:lblOffset val="100"/>
        <c:noMultiLvlLbl val="0"/>
      </c:catAx>
      <c:valAx>
        <c:axId val="1270519936"/>
        <c:scaling>
          <c:orientation val="minMax"/>
          <c:max val="7000"/>
          <c:min val="350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2705324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TW" sz="1400" b="0" i="0" u="none" strike="noStrike" kern="1200" spc="0" baseline="0">
                <a:solidFill>
                  <a:sysClr val="windowText" lastClr="000000">
                    <a:lumMod val="65000"/>
                    <a:lumOff val="35000"/>
                  </a:sysClr>
                </a:solidFill>
              </a:rPr>
              <a:t>Utilization Rate (%)</a:t>
            </a:r>
            <a:endParaRPr lang="zh-TW" altLang="en-US" sz="1400" b="0" i="0" u="none" strike="noStrike" kern="1200" spc="0" baseline="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ltLang="en-US"/>
        </a:p>
      </c:txPr>
    </c:title>
    <c:autoTitleDeleted val="0"/>
    <c:plotArea>
      <c:layout/>
      <c:lineChart>
        <c:grouping val="standard"/>
        <c:varyColors val="0"/>
        <c:ser>
          <c:idx val="0"/>
          <c:order val="0"/>
          <c:tx>
            <c:strRef>
              <c:f>U!$B$1</c:f>
              <c:strCache>
                <c:ptCount val="1"/>
                <c:pt idx="0">
                  <c:v>Proposed Method</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U!$A$2:$A$27</c:f>
              <c:strCache>
                <c:ptCount val="26"/>
                <c:pt idx="0">
                  <c:v>D20221203</c:v>
                </c:pt>
                <c:pt idx="1">
                  <c:v>D20221205</c:v>
                </c:pt>
                <c:pt idx="2">
                  <c:v>D20221207</c:v>
                </c:pt>
                <c:pt idx="3">
                  <c:v>D20221208</c:v>
                </c:pt>
                <c:pt idx="4">
                  <c:v>D20221209</c:v>
                </c:pt>
                <c:pt idx="5">
                  <c:v>D20221210</c:v>
                </c:pt>
                <c:pt idx="6">
                  <c:v>D20221212</c:v>
                </c:pt>
                <c:pt idx="7">
                  <c:v>D20221213</c:v>
                </c:pt>
                <c:pt idx="8">
                  <c:v>D20221214</c:v>
                </c:pt>
                <c:pt idx="9">
                  <c:v>D20221215</c:v>
                </c:pt>
                <c:pt idx="10">
                  <c:v>D20221216</c:v>
                </c:pt>
                <c:pt idx="11">
                  <c:v>D20221217</c:v>
                </c:pt>
                <c:pt idx="12">
                  <c:v>D20221219</c:v>
                </c:pt>
                <c:pt idx="13">
                  <c:v>D20221220</c:v>
                </c:pt>
                <c:pt idx="14">
                  <c:v>D20221221</c:v>
                </c:pt>
                <c:pt idx="15">
                  <c:v>D20221222</c:v>
                </c:pt>
                <c:pt idx="16">
                  <c:v>D20221223</c:v>
                </c:pt>
                <c:pt idx="17">
                  <c:v>D20221227</c:v>
                </c:pt>
                <c:pt idx="18">
                  <c:v>D20221230</c:v>
                </c:pt>
                <c:pt idx="19">
                  <c:v>D20221231</c:v>
                </c:pt>
                <c:pt idx="20">
                  <c:v>D20230102</c:v>
                </c:pt>
                <c:pt idx="21">
                  <c:v>D20230107</c:v>
                </c:pt>
                <c:pt idx="22">
                  <c:v>D20230113</c:v>
                </c:pt>
                <c:pt idx="23">
                  <c:v>D20260102</c:v>
                </c:pt>
                <c:pt idx="24">
                  <c:v>D20260106</c:v>
                </c:pt>
                <c:pt idx="25">
                  <c:v>D20260109</c:v>
                </c:pt>
              </c:strCache>
            </c:strRef>
          </c:cat>
          <c:val>
            <c:numRef>
              <c:f>U!$B$2:$B$27</c:f>
              <c:numCache>
                <c:formatCode>General</c:formatCode>
                <c:ptCount val="26"/>
                <c:pt idx="0">
                  <c:v>92.3</c:v>
                </c:pt>
                <c:pt idx="1">
                  <c:v>89.99</c:v>
                </c:pt>
                <c:pt idx="2">
                  <c:v>90.65</c:v>
                </c:pt>
                <c:pt idx="3">
                  <c:v>79.72</c:v>
                </c:pt>
                <c:pt idx="4">
                  <c:v>88.34</c:v>
                </c:pt>
                <c:pt idx="5">
                  <c:v>93.01</c:v>
                </c:pt>
                <c:pt idx="6">
                  <c:v>91.44</c:v>
                </c:pt>
                <c:pt idx="7">
                  <c:v>93.13</c:v>
                </c:pt>
                <c:pt idx="8">
                  <c:v>86.86</c:v>
                </c:pt>
                <c:pt idx="9">
                  <c:v>79.66</c:v>
                </c:pt>
                <c:pt idx="10">
                  <c:v>82.13</c:v>
                </c:pt>
                <c:pt idx="11">
                  <c:v>85.66</c:v>
                </c:pt>
                <c:pt idx="12">
                  <c:v>84.94</c:v>
                </c:pt>
                <c:pt idx="13">
                  <c:v>93.94</c:v>
                </c:pt>
                <c:pt idx="14">
                  <c:v>90.82</c:v>
                </c:pt>
                <c:pt idx="15">
                  <c:v>86.8</c:v>
                </c:pt>
                <c:pt idx="16">
                  <c:v>92.66</c:v>
                </c:pt>
                <c:pt idx="17">
                  <c:v>92.53</c:v>
                </c:pt>
                <c:pt idx="18">
                  <c:v>92.53</c:v>
                </c:pt>
                <c:pt idx="19">
                  <c:v>92.27</c:v>
                </c:pt>
                <c:pt idx="20">
                  <c:v>92.51</c:v>
                </c:pt>
                <c:pt idx="21">
                  <c:v>93.13</c:v>
                </c:pt>
                <c:pt idx="22">
                  <c:v>88.24</c:v>
                </c:pt>
                <c:pt idx="23">
                  <c:v>91.9</c:v>
                </c:pt>
                <c:pt idx="24">
                  <c:v>92.3</c:v>
                </c:pt>
                <c:pt idx="25">
                  <c:v>83.74</c:v>
                </c:pt>
              </c:numCache>
            </c:numRef>
          </c:val>
          <c:smooth val="0"/>
          <c:extLst>
            <c:ext xmlns:c16="http://schemas.microsoft.com/office/drawing/2014/chart" uri="{C3380CC4-5D6E-409C-BE32-E72D297353CC}">
              <c16:uniqueId val="{00000000-154C-4932-BA62-B329E1811D4E}"/>
            </c:ext>
          </c:extLst>
        </c:ser>
        <c:ser>
          <c:idx val="1"/>
          <c:order val="1"/>
          <c:tx>
            <c:strRef>
              <c:f>U!$F$1</c:f>
              <c:strCache>
                <c:ptCount val="1"/>
                <c:pt idx="0">
                  <c:v>HGA-SIH</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U!$A$2:$A$27</c:f>
              <c:strCache>
                <c:ptCount val="26"/>
                <c:pt idx="0">
                  <c:v>D20221203</c:v>
                </c:pt>
                <c:pt idx="1">
                  <c:v>D20221205</c:v>
                </c:pt>
                <c:pt idx="2">
                  <c:v>D20221207</c:v>
                </c:pt>
                <c:pt idx="3">
                  <c:v>D20221208</c:v>
                </c:pt>
                <c:pt idx="4">
                  <c:v>D20221209</c:v>
                </c:pt>
                <c:pt idx="5">
                  <c:v>D20221210</c:v>
                </c:pt>
                <c:pt idx="6">
                  <c:v>D20221212</c:v>
                </c:pt>
                <c:pt idx="7">
                  <c:v>D20221213</c:v>
                </c:pt>
                <c:pt idx="8">
                  <c:v>D20221214</c:v>
                </c:pt>
                <c:pt idx="9">
                  <c:v>D20221215</c:v>
                </c:pt>
                <c:pt idx="10">
                  <c:v>D20221216</c:v>
                </c:pt>
                <c:pt idx="11">
                  <c:v>D20221217</c:v>
                </c:pt>
                <c:pt idx="12">
                  <c:v>D20221219</c:v>
                </c:pt>
                <c:pt idx="13">
                  <c:v>D20221220</c:v>
                </c:pt>
                <c:pt idx="14">
                  <c:v>D20221221</c:v>
                </c:pt>
                <c:pt idx="15">
                  <c:v>D20221222</c:v>
                </c:pt>
                <c:pt idx="16">
                  <c:v>D20221223</c:v>
                </c:pt>
                <c:pt idx="17">
                  <c:v>D20221227</c:v>
                </c:pt>
                <c:pt idx="18">
                  <c:v>D20221230</c:v>
                </c:pt>
                <c:pt idx="19">
                  <c:v>D20221231</c:v>
                </c:pt>
                <c:pt idx="20">
                  <c:v>D20230102</c:v>
                </c:pt>
                <c:pt idx="21">
                  <c:v>D20230107</c:v>
                </c:pt>
                <c:pt idx="22">
                  <c:v>D20230113</c:v>
                </c:pt>
                <c:pt idx="23">
                  <c:v>D20260102</c:v>
                </c:pt>
                <c:pt idx="24">
                  <c:v>D20260106</c:v>
                </c:pt>
                <c:pt idx="25">
                  <c:v>D20260109</c:v>
                </c:pt>
              </c:strCache>
            </c:strRef>
          </c:cat>
          <c:val>
            <c:numRef>
              <c:f>U!$F$2:$F$27</c:f>
              <c:numCache>
                <c:formatCode>General</c:formatCode>
                <c:ptCount val="26"/>
                <c:pt idx="0">
                  <c:v>86.38</c:v>
                </c:pt>
                <c:pt idx="1">
                  <c:v>85.74</c:v>
                </c:pt>
                <c:pt idx="2">
                  <c:v>88.96</c:v>
                </c:pt>
                <c:pt idx="3">
                  <c:v>78.48</c:v>
                </c:pt>
                <c:pt idx="4">
                  <c:v>83.65</c:v>
                </c:pt>
                <c:pt idx="5">
                  <c:v>88.35</c:v>
                </c:pt>
                <c:pt idx="6">
                  <c:v>85.72</c:v>
                </c:pt>
                <c:pt idx="7">
                  <c:v>86.96</c:v>
                </c:pt>
                <c:pt idx="8">
                  <c:v>82.18</c:v>
                </c:pt>
                <c:pt idx="9">
                  <c:v>78.59</c:v>
                </c:pt>
                <c:pt idx="10">
                  <c:v>81.209999999999994</c:v>
                </c:pt>
                <c:pt idx="11">
                  <c:v>81.88</c:v>
                </c:pt>
                <c:pt idx="12">
                  <c:v>82.52</c:v>
                </c:pt>
                <c:pt idx="13">
                  <c:v>89.04</c:v>
                </c:pt>
                <c:pt idx="14">
                  <c:v>88.15</c:v>
                </c:pt>
                <c:pt idx="15">
                  <c:v>84.18</c:v>
                </c:pt>
                <c:pt idx="16">
                  <c:v>86.85</c:v>
                </c:pt>
                <c:pt idx="17">
                  <c:v>86.7</c:v>
                </c:pt>
                <c:pt idx="18">
                  <c:v>83.5</c:v>
                </c:pt>
                <c:pt idx="19">
                  <c:v>85.93</c:v>
                </c:pt>
                <c:pt idx="20">
                  <c:v>87.44</c:v>
                </c:pt>
                <c:pt idx="21">
                  <c:v>87.23</c:v>
                </c:pt>
                <c:pt idx="22">
                  <c:v>85.94</c:v>
                </c:pt>
                <c:pt idx="23">
                  <c:v>85.86</c:v>
                </c:pt>
                <c:pt idx="24">
                  <c:v>87.31</c:v>
                </c:pt>
                <c:pt idx="25">
                  <c:v>80.819999999999993</c:v>
                </c:pt>
              </c:numCache>
            </c:numRef>
          </c:val>
          <c:smooth val="0"/>
          <c:extLst>
            <c:ext xmlns:c16="http://schemas.microsoft.com/office/drawing/2014/chart" uri="{C3380CC4-5D6E-409C-BE32-E72D297353CC}">
              <c16:uniqueId val="{00000001-154C-4932-BA62-B329E1811D4E}"/>
            </c:ext>
          </c:extLst>
        </c:ser>
        <c:ser>
          <c:idx val="2"/>
          <c:order val="2"/>
          <c:tx>
            <c:strRef>
              <c:f>U!$G$1</c:f>
              <c:strCache>
                <c:ptCount val="1"/>
                <c:pt idx="0">
                  <c:v>Manually Planned</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U!$A$2:$A$27</c:f>
              <c:strCache>
                <c:ptCount val="26"/>
                <c:pt idx="0">
                  <c:v>D20221203</c:v>
                </c:pt>
                <c:pt idx="1">
                  <c:v>D20221205</c:v>
                </c:pt>
                <c:pt idx="2">
                  <c:v>D20221207</c:v>
                </c:pt>
                <c:pt idx="3">
                  <c:v>D20221208</c:v>
                </c:pt>
                <c:pt idx="4">
                  <c:v>D20221209</c:v>
                </c:pt>
                <c:pt idx="5">
                  <c:v>D20221210</c:v>
                </c:pt>
                <c:pt idx="6">
                  <c:v>D20221212</c:v>
                </c:pt>
                <c:pt idx="7">
                  <c:v>D20221213</c:v>
                </c:pt>
                <c:pt idx="8">
                  <c:v>D20221214</c:v>
                </c:pt>
                <c:pt idx="9">
                  <c:v>D20221215</c:v>
                </c:pt>
                <c:pt idx="10">
                  <c:v>D20221216</c:v>
                </c:pt>
                <c:pt idx="11">
                  <c:v>D20221217</c:v>
                </c:pt>
                <c:pt idx="12">
                  <c:v>D20221219</c:v>
                </c:pt>
                <c:pt idx="13">
                  <c:v>D20221220</c:v>
                </c:pt>
                <c:pt idx="14">
                  <c:v>D20221221</c:v>
                </c:pt>
                <c:pt idx="15">
                  <c:v>D20221222</c:v>
                </c:pt>
                <c:pt idx="16">
                  <c:v>D20221223</c:v>
                </c:pt>
                <c:pt idx="17">
                  <c:v>D20221227</c:v>
                </c:pt>
                <c:pt idx="18">
                  <c:v>D20221230</c:v>
                </c:pt>
                <c:pt idx="19">
                  <c:v>D20221231</c:v>
                </c:pt>
                <c:pt idx="20">
                  <c:v>D20230102</c:v>
                </c:pt>
                <c:pt idx="21">
                  <c:v>D20230107</c:v>
                </c:pt>
                <c:pt idx="22">
                  <c:v>D20230113</c:v>
                </c:pt>
                <c:pt idx="23">
                  <c:v>D20260102</c:v>
                </c:pt>
                <c:pt idx="24">
                  <c:v>D20260106</c:v>
                </c:pt>
                <c:pt idx="25">
                  <c:v>D20260109</c:v>
                </c:pt>
              </c:strCache>
            </c:strRef>
          </c:cat>
          <c:val>
            <c:numRef>
              <c:f>U!$G$2:$G$27</c:f>
              <c:numCache>
                <c:formatCode>General</c:formatCode>
                <c:ptCount val="26"/>
                <c:pt idx="0">
                  <c:v>84.85</c:v>
                </c:pt>
                <c:pt idx="1">
                  <c:v>83.62</c:v>
                </c:pt>
                <c:pt idx="2">
                  <c:v>86.95</c:v>
                </c:pt>
                <c:pt idx="3">
                  <c:v>78.760000000000005</c:v>
                </c:pt>
                <c:pt idx="4">
                  <c:v>83.4</c:v>
                </c:pt>
                <c:pt idx="5">
                  <c:v>85.26</c:v>
                </c:pt>
                <c:pt idx="6">
                  <c:v>85.74</c:v>
                </c:pt>
                <c:pt idx="7">
                  <c:v>85.15</c:v>
                </c:pt>
                <c:pt idx="8">
                  <c:v>84.22</c:v>
                </c:pt>
                <c:pt idx="9">
                  <c:v>79.599999999999994</c:v>
                </c:pt>
                <c:pt idx="10">
                  <c:v>80.19</c:v>
                </c:pt>
                <c:pt idx="11">
                  <c:v>83.59</c:v>
                </c:pt>
                <c:pt idx="12">
                  <c:v>83.93</c:v>
                </c:pt>
                <c:pt idx="13">
                  <c:v>87.09</c:v>
                </c:pt>
                <c:pt idx="14">
                  <c:v>86.29</c:v>
                </c:pt>
                <c:pt idx="15">
                  <c:v>84.31</c:v>
                </c:pt>
                <c:pt idx="16">
                  <c:v>87.21</c:v>
                </c:pt>
                <c:pt idx="17">
                  <c:v>85.12</c:v>
                </c:pt>
                <c:pt idx="18">
                  <c:v>89.56</c:v>
                </c:pt>
                <c:pt idx="19">
                  <c:v>86.76</c:v>
                </c:pt>
                <c:pt idx="20">
                  <c:v>87.05</c:v>
                </c:pt>
                <c:pt idx="21">
                  <c:v>76.900000000000006</c:v>
                </c:pt>
                <c:pt idx="22">
                  <c:v>80.88</c:v>
                </c:pt>
                <c:pt idx="23">
                  <c:v>67.91</c:v>
                </c:pt>
                <c:pt idx="24">
                  <c:v>74.62</c:v>
                </c:pt>
                <c:pt idx="25">
                  <c:v>79.06</c:v>
                </c:pt>
              </c:numCache>
            </c:numRef>
          </c:val>
          <c:smooth val="0"/>
          <c:extLst>
            <c:ext xmlns:c16="http://schemas.microsoft.com/office/drawing/2014/chart" uri="{C3380CC4-5D6E-409C-BE32-E72D297353CC}">
              <c16:uniqueId val="{00000002-154C-4932-BA62-B329E1811D4E}"/>
            </c:ext>
          </c:extLst>
        </c:ser>
        <c:dLbls>
          <c:showLegendKey val="0"/>
          <c:showVal val="0"/>
          <c:showCatName val="0"/>
          <c:showSerName val="0"/>
          <c:showPercent val="0"/>
          <c:showBubbleSize val="0"/>
        </c:dLbls>
        <c:marker val="1"/>
        <c:smooth val="0"/>
        <c:axId val="1626402015"/>
        <c:axId val="1626404415"/>
      </c:lineChart>
      <c:catAx>
        <c:axId val="162640201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626404415"/>
        <c:crosses val="autoZero"/>
        <c:auto val="1"/>
        <c:lblAlgn val="ctr"/>
        <c:lblOffset val="100"/>
        <c:noMultiLvlLbl val="0"/>
      </c:catAx>
      <c:valAx>
        <c:axId val="1626404415"/>
        <c:scaling>
          <c:orientation val="minMax"/>
          <c:min val="6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62640201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TW" sz="1400" b="0" i="0" u="none" strike="noStrike" kern="1200" spc="0" baseline="0">
                <a:solidFill>
                  <a:sysClr val="windowText" lastClr="000000">
                    <a:lumMod val="65000"/>
                    <a:lumOff val="35000"/>
                  </a:sysClr>
                </a:solidFill>
              </a:rPr>
              <a:t>On Time Rate (%)</a:t>
            </a:r>
            <a:endParaRPr lang="zh-TW" altLang="en-US" sz="1400" b="0" i="0" u="none" strike="noStrike" kern="1200" spc="0" baseline="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TW" altLang="en-US"/>
        </a:p>
      </c:txPr>
    </c:title>
    <c:autoTitleDeleted val="0"/>
    <c:plotArea>
      <c:layout/>
      <c:lineChart>
        <c:grouping val="standard"/>
        <c:varyColors val="0"/>
        <c:ser>
          <c:idx val="0"/>
          <c:order val="0"/>
          <c:tx>
            <c:strRef>
              <c:f>O!$B$1</c:f>
              <c:strCache>
                <c:ptCount val="1"/>
                <c:pt idx="0">
                  <c:v>Proposed Method</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cat>
            <c:strRef>
              <c:f>O!$A$2:$A$27</c:f>
              <c:strCache>
                <c:ptCount val="26"/>
                <c:pt idx="0">
                  <c:v>D20221203</c:v>
                </c:pt>
                <c:pt idx="1">
                  <c:v>D20221205</c:v>
                </c:pt>
                <c:pt idx="2">
                  <c:v>D20221207</c:v>
                </c:pt>
                <c:pt idx="3">
                  <c:v>D20221208</c:v>
                </c:pt>
                <c:pt idx="4">
                  <c:v>D20221209</c:v>
                </c:pt>
                <c:pt idx="5">
                  <c:v>D20221210</c:v>
                </c:pt>
                <c:pt idx="6">
                  <c:v>D20221212</c:v>
                </c:pt>
                <c:pt idx="7">
                  <c:v>D20221213</c:v>
                </c:pt>
                <c:pt idx="8">
                  <c:v>D20221214</c:v>
                </c:pt>
                <c:pt idx="9">
                  <c:v>D20221215</c:v>
                </c:pt>
                <c:pt idx="10">
                  <c:v>D20221216</c:v>
                </c:pt>
                <c:pt idx="11">
                  <c:v>D20221217</c:v>
                </c:pt>
                <c:pt idx="12">
                  <c:v>D20221219</c:v>
                </c:pt>
                <c:pt idx="13">
                  <c:v>D20221220</c:v>
                </c:pt>
                <c:pt idx="14">
                  <c:v>D20221221</c:v>
                </c:pt>
                <c:pt idx="15">
                  <c:v>D20221222</c:v>
                </c:pt>
                <c:pt idx="16">
                  <c:v>D20221223</c:v>
                </c:pt>
                <c:pt idx="17">
                  <c:v>D20221227</c:v>
                </c:pt>
                <c:pt idx="18">
                  <c:v>D20221230</c:v>
                </c:pt>
                <c:pt idx="19">
                  <c:v>D20221231</c:v>
                </c:pt>
                <c:pt idx="20">
                  <c:v>D20230102</c:v>
                </c:pt>
                <c:pt idx="21">
                  <c:v>D20230107</c:v>
                </c:pt>
                <c:pt idx="22">
                  <c:v>D20230113</c:v>
                </c:pt>
                <c:pt idx="23">
                  <c:v>D20260102</c:v>
                </c:pt>
                <c:pt idx="24">
                  <c:v>D20260106</c:v>
                </c:pt>
                <c:pt idx="25">
                  <c:v>D20260109</c:v>
                </c:pt>
              </c:strCache>
            </c:strRef>
          </c:cat>
          <c:val>
            <c:numRef>
              <c:f>O!$B$2:$B$27</c:f>
              <c:numCache>
                <c:formatCode>General</c:formatCode>
                <c:ptCount val="26"/>
                <c:pt idx="0">
                  <c:v>99.86</c:v>
                </c:pt>
                <c:pt idx="1">
                  <c:v>98.62</c:v>
                </c:pt>
                <c:pt idx="2">
                  <c:v>99.56</c:v>
                </c:pt>
                <c:pt idx="3">
                  <c:v>98.61</c:v>
                </c:pt>
                <c:pt idx="4">
                  <c:v>99.69</c:v>
                </c:pt>
                <c:pt idx="5">
                  <c:v>99.79</c:v>
                </c:pt>
                <c:pt idx="6">
                  <c:v>99.94</c:v>
                </c:pt>
                <c:pt idx="7">
                  <c:v>99.75</c:v>
                </c:pt>
                <c:pt idx="8">
                  <c:v>99.29</c:v>
                </c:pt>
                <c:pt idx="9">
                  <c:v>98.06</c:v>
                </c:pt>
                <c:pt idx="10">
                  <c:v>97.49</c:v>
                </c:pt>
                <c:pt idx="11">
                  <c:v>98.67</c:v>
                </c:pt>
                <c:pt idx="12">
                  <c:v>97.34</c:v>
                </c:pt>
                <c:pt idx="13">
                  <c:v>99.67</c:v>
                </c:pt>
                <c:pt idx="14">
                  <c:v>98.71</c:v>
                </c:pt>
                <c:pt idx="15">
                  <c:v>98.6</c:v>
                </c:pt>
                <c:pt idx="16">
                  <c:v>99.77</c:v>
                </c:pt>
                <c:pt idx="17">
                  <c:v>99.78</c:v>
                </c:pt>
                <c:pt idx="18">
                  <c:v>99.83</c:v>
                </c:pt>
                <c:pt idx="19">
                  <c:v>99.95</c:v>
                </c:pt>
                <c:pt idx="20">
                  <c:v>99.73</c:v>
                </c:pt>
                <c:pt idx="21">
                  <c:v>99.82</c:v>
                </c:pt>
                <c:pt idx="22">
                  <c:v>98.44</c:v>
                </c:pt>
                <c:pt idx="23">
                  <c:v>98.17</c:v>
                </c:pt>
                <c:pt idx="24">
                  <c:v>99.74</c:v>
                </c:pt>
                <c:pt idx="25">
                  <c:v>95.82</c:v>
                </c:pt>
              </c:numCache>
            </c:numRef>
          </c:val>
          <c:smooth val="0"/>
          <c:extLst>
            <c:ext xmlns:c16="http://schemas.microsoft.com/office/drawing/2014/chart" uri="{C3380CC4-5D6E-409C-BE32-E72D297353CC}">
              <c16:uniqueId val="{00000000-77AD-41A9-B145-8F95DE10B6B6}"/>
            </c:ext>
          </c:extLst>
        </c:ser>
        <c:ser>
          <c:idx val="1"/>
          <c:order val="1"/>
          <c:tx>
            <c:strRef>
              <c:f>O!$F$1</c:f>
              <c:strCache>
                <c:ptCount val="1"/>
                <c:pt idx="0">
                  <c:v>HGA-SIH</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cat>
            <c:strRef>
              <c:f>O!$A$2:$A$27</c:f>
              <c:strCache>
                <c:ptCount val="26"/>
                <c:pt idx="0">
                  <c:v>D20221203</c:v>
                </c:pt>
                <c:pt idx="1">
                  <c:v>D20221205</c:v>
                </c:pt>
                <c:pt idx="2">
                  <c:v>D20221207</c:v>
                </c:pt>
                <c:pt idx="3">
                  <c:v>D20221208</c:v>
                </c:pt>
                <c:pt idx="4">
                  <c:v>D20221209</c:v>
                </c:pt>
                <c:pt idx="5">
                  <c:v>D20221210</c:v>
                </c:pt>
                <c:pt idx="6">
                  <c:v>D20221212</c:v>
                </c:pt>
                <c:pt idx="7">
                  <c:v>D20221213</c:v>
                </c:pt>
                <c:pt idx="8">
                  <c:v>D20221214</c:v>
                </c:pt>
                <c:pt idx="9">
                  <c:v>D20221215</c:v>
                </c:pt>
                <c:pt idx="10">
                  <c:v>D20221216</c:v>
                </c:pt>
                <c:pt idx="11">
                  <c:v>D20221217</c:v>
                </c:pt>
                <c:pt idx="12">
                  <c:v>D20221219</c:v>
                </c:pt>
                <c:pt idx="13">
                  <c:v>D20221220</c:v>
                </c:pt>
                <c:pt idx="14">
                  <c:v>D20221221</c:v>
                </c:pt>
                <c:pt idx="15">
                  <c:v>D20221222</c:v>
                </c:pt>
                <c:pt idx="16">
                  <c:v>D20221223</c:v>
                </c:pt>
                <c:pt idx="17">
                  <c:v>D20221227</c:v>
                </c:pt>
                <c:pt idx="18">
                  <c:v>D20221230</c:v>
                </c:pt>
                <c:pt idx="19">
                  <c:v>D20221231</c:v>
                </c:pt>
                <c:pt idx="20">
                  <c:v>D20230102</c:v>
                </c:pt>
                <c:pt idx="21">
                  <c:v>D20230107</c:v>
                </c:pt>
                <c:pt idx="22">
                  <c:v>D20230113</c:v>
                </c:pt>
                <c:pt idx="23">
                  <c:v>D20260102</c:v>
                </c:pt>
                <c:pt idx="24">
                  <c:v>D20260106</c:v>
                </c:pt>
                <c:pt idx="25">
                  <c:v>D20260109</c:v>
                </c:pt>
              </c:strCache>
            </c:strRef>
          </c:cat>
          <c:val>
            <c:numRef>
              <c:f>O!$F$2:$F$27</c:f>
              <c:numCache>
                <c:formatCode>General</c:formatCode>
                <c:ptCount val="26"/>
                <c:pt idx="0">
                  <c:v>99.26</c:v>
                </c:pt>
                <c:pt idx="1">
                  <c:v>98.17</c:v>
                </c:pt>
                <c:pt idx="2">
                  <c:v>98.2</c:v>
                </c:pt>
                <c:pt idx="3">
                  <c:v>97.37</c:v>
                </c:pt>
                <c:pt idx="4">
                  <c:v>98.14</c:v>
                </c:pt>
                <c:pt idx="5">
                  <c:v>98.77</c:v>
                </c:pt>
                <c:pt idx="6">
                  <c:v>97.89</c:v>
                </c:pt>
                <c:pt idx="7">
                  <c:v>98.79</c:v>
                </c:pt>
                <c:pt idx="8">
                  <c:v>97.65</c:v>
                </c:pt>
                <c:pt idx="9">
                  <c:v>97.23</c:v>
                </c:pt>
                <c:pt idx="10">
                  <c:v>97.22</c:v>
                </c:pt>
                <c:pt idx="11">
                  <c:v>98.24</c:v>
                </c:pt>
                <c:pt idx="12">
                  <c:v>97</c:v>
                </c:pt>
                <c:pt idx="13">
                  <c:v>98.77</c:v>
                </c:pt>
                <c:pt idx="14">
                  <c:v>97.81</c:v>
                </c:pt>
                <c:pt idx="15">
                  <c:v>97.49</c:v>
                </c:pt>
                <c:pt idx="16">
                  <c:v>99.18</c:v>
                </c:pt>
                <c:pt idx="17">
                  <c:v>99.7</c:v>
                </c:pt>
                <c:pt idx="18">
                  <c:v>98.52</c:v>
                </c:pt>
                <c:pt idx="19">
                  <c:v>99.01</c:v>
                </c:pt>
                <c:pt idx="20">
                  <c:v>99.27</c:v>
                </c:pt>
                <c:pt idx="21">
                  <c:v>98.39</c:v>
                </c:pt>
                <c:pt idx="22">
                  <c:v>98.3</c:v>
                </c:pt>
                <c:pt idx="23">
                  <c:v>97.86</c:v>
                </c:pt>
                <c:pt idx="24">
                  <c:v>99.09</c:v>
                </c:pt>
                <c:pt idx="25">
                  <c:v>96.21</c:v>
                </c:pt>
              </c:numCache>
            </c:numRef>
          </c:val>
          <c:smooth val="0"/>
          <c:extLst>
            <c:ext xmlns:c16="http://schemas.microsoft.com/office/drawing/2014/chart" uri="{C3380CC4-5D6E-409C-BE32-E72D297353CC}">
              <c16:uniqueId val="{00000001-77AD-41A9-B145-8F95DE10B6B6}"/>
            </c:ext>
          </c:extLst>
        </c:ser>
        <c:ser>
          <c:idx val="2"/>
          <c:order val="2"/>
          <c:tx>
            <c:strRef>
              <c:f>O!$G$1</c:f>
              <c:strCache>
                <c:ptCount val="1"/>
                <c:pt idx="0">
                  <c:v>Manually Planned</c:v>
                </c:pt>
              </c:strCache>
            </c:strRef>
          </c:tx>
          <c:spPr>
            <a:ln w="28575" cap="rnd">
              <a:solidFill>
                <a:schemeClr val="accent6"/>
              </a:solidFill>
              <a:round/>
            </a:ln>
            <a:effectLst/>
          </c:spPr>
          <c:marker>
            <c:symbol val="circle"/>
            <c:size val="5"/>
            <c:spPr>
              <a:solidFill>
                <a:schemeClr val="accent6"/>
              </a:solidFill>
              <a:ln w="9525">
                <a:solidFill>
                  <a:schemeClr val="accent6"/>
                </a:solidFill>
              </a:ln>
              <a:effectLst/>
            </c:spPr>
          </c:marker>
          <c:cat>
            <c:strRef>
              <c:f>O!$A$2:$A$27</c:f>
              <c:strCache>
                <c:ptCount val="26"/>
                <c:pt idx="0">
                  <c:v>D20221203</c:v>
                </c:pt>
                <c:pt idx="1">
                  <c:v>D20221205</c:v>
                </c:pt>
                <c:pt idx="2">
                  <c:v>D20221207</c:v>
                </c:pt>
                <c:pt idx="3">
                  <c:v>D20221208</c:v>
                </c:pt>
                <c:pt idx="4">
                  <c:v>D20221209</c:v>
                </c:pt>
                <c:pt idx="5">
                  <c:v>D20221210</c:v>
                </c:pt>
                <c:pt idx="6">
                  <c:v>D20221212</c:v>
                </c:pt>
                <c:pt idx="7">
                  <c:v>D20221213</c:v>
                </c:pt>
                <c:pt idx="8">
                  <c:v>D20221214</c:v>
                </c:pt>
                <c:pt idx="9">
                  <c:v>D20221215</c:v>
                </c:pt>
                <c:pt idx="10">
                  <c:v>D20221216</c:v>
                </c:pt>
                <c:pt idx="11">
                  <c:v>D20221217</c:v>
                </c:pt>
                <c:pt idx="12">
                  <c:v>D20221219</c:v>
                </c:pt>
                <c:pt idx="13">
                  <c:v>D20221220</c:v>
                </c:pt>
                <c:pt idx="14">
                  <c:v>D20221221</c:v>
                </c:pt>
                <c:pt idx="15">
                  <c:v>D20221222</c:v>
                </c:pt>
                <c:pt idx="16">
                  <c:v>D20221223</c:v>
                </c:pt>
                <c:pt idx="17">
                  <c:v>D20221227</c:v>
                </c:pt>
                <c:pt idx="18">
                  <c:v>D20221230</c:v>
                </c:pt>
                <c:pt idx="19">
                  <c:v>D20221231</c:v>
                </c:pt>
                <c:pt idx="20">
                  <c:v>D20230102</c:v>
                </c:pt>
                <c:pt idx="21">
                  <c:v>D20230107</c:v>
                </c:pt>
                <c:pt idx="22">
                  <c:v>D20230113</c:v>
                </c:pt>
                <c:pt idx="23">
                  <c:v>D20260102</c:v>
                </c:pt>
                <c:pt idx="24">
                  <c:v>D20260106</c:v>
                </c:pt>
                <c:pt idx="25">
                  <c:v>D20260109</c:v>
                </c:pt>
              </c:strCache>
            </c:strRef>
          </c:cat>
          <c:val>
            <c:numRef>
              <c:f>O!$G$2:$G$27</c:f>
              <c:numCache>
                <c:formatCode>General</c:formatCode>
                <c:ptCount val="26"/>
                <c:pt idx="0">
                  <c:v>94.7</c:v>
                </c:pt>
                <c:pt idx="1">
                  <c:v>94.04</c:v>
                </c:pt>
                <c:pt idx="2">
                  <c:v>90.38</c:v>
                </c:pt>
                <c:pt idx="3">
                  <c:v>89.89</c:v>
                </c:pt>
                <c:pt idx="4">
                  <c:v>89.46</c:v>
                </c:pt>
                <c:pt idx="5">
                  <c:v>91.47</c:v>
                </c:pt>
                <c:pt idx="6">
                  <c:v>92.93</c:v>
                </c:pt>
                <c:pt idx="7">
                  <c:v>96.26</c:v>
                </c:pt>
                <c:pt idx="8">
                  <c:v>92.4</c:v>
                </c:pt>
                <c:pt idx="9">
                  <c:v>90.04</c:v>
                </c:pt>
                <c:pt idx="10">
                  <c:v>87.36</c:v>
                </c:pt>
                <c:pt idx="11">
                  <c:v>90.18</c:v>
                </c:pt>
                <c:pt idx="12">
                  <c:v>88</c:v>
                </c:pt>
                <c:pt idx="13">
                  <c:v>93.78</c:v>
                </c:pt>
                <c:pt idx="14">
                  <c:v>91.5</c:v>
                </c:pt>
                <c:pt idx="15">
                  <c:v>88.86</c:v>
                </c:pt>
                <c:pt idx="16">
                  <c:v>95.2</c:v>
                </c:pt>
                <c:pt idx="17">
                  <c:v>95.75</c:v>
                </c:pt>
                <c:pt idx="18">
                  <c:v>94.95</c:v>
                </c:pt>
                <c:pt idx="19">
                  <c:v>94.13</c:v>
                </c:pt>
                <c:pt idx="20">
                  <c:v>96.52</c:v>
                </c:pt>
                <c:pt idx="21">
                  <c:v>91.75</c:v>
                </c:pt>
                <c:pt idx="22">
                  <c:v>91.96</c:v>
                </c:pt>
                <c:pt idx="23">
                  <c:v>94.15</c:v>
                </c:pt>
                <c:pt idx="24">
                  <c:v>93.11</c:v>
                </c:pt>
                <c:pt idx="25">
                  <c:v>94.27</c:v>
                </c:pt>
              </c:numCache>
            </c:numRef>
          </c:val>
          <c:smooth val="0"/>
          <c:extLst>
            <c:ext xmlns:c16="http://schemas.microsoft.com/office/drawing/2014/chart" uri="{C3380CC4-5D6E-409C-BE32-E72D297353CC}">
              <c16:uniqueId val="{00000002-77AD-41A9-B145-8F95DE10B6B6}"/>
            </c:ext>
          </c:extLst>
        </c:ser>
        <c:dLbls>
          <c:showLegendKey val="0"/>
          <c:showVal val="0"/>
          <c:showCatName val="0"/>
          <c:showSerName val="0"/>
          <c:showPercent val="0"/>
          <c:showBubbleSize val="0"/>
        </c:dLbls>
        <c:marker val="1"/>
        <c:smooth val="0"/>
        <c:axId val="1626460575"/>
        <c:axId val="1626467775"/>
      </c:lineChart>
      <c:catAx>
        <c:axId val="16264605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626467775"/>
        <c:crosses val="autoZero"/>
        <c:auto val="1"/>
        <c:lblAlgn val="ctr"/>
        <c:lblOffset val="100"/>
        <c:noMultiLvlLbl val="0"/>
      </c:catAx>
      <c:valAx>
        <c:axId val="1626467775"/>
        <c:scaling>
          <c:orientation val="minMax"/>
          <c:max val="100"/>
          <c:min val="85"/>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crossAx val="16264605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TW"/>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TW"/>
    </a:p>
  </c:txPr>
  <c:externalData r:id="rId3">
    <c:autoUpdate val="0"/>
  </c:externalData>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1"/>
            <a:ext cx="4302231" cy="341064"/>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5623697" y="1"/>
            <a:ext cx="4302231" cy="341064"/>
          </a:xfrm>
          <a:prstGeom prst="rect">
            <a:avLst/>
          </a:prstGeom>
        </p:spPr>
        <p:txBody>
          <a:bodyPr vert="horz" lIns="91440" tIns="45720" rIns="91440" bIns="45720" rtlCol="0"/>
          <a:lstStyle>
            <a:lvl1pPr algn="r">
              <a:defRPr sz="1200"/>
            </a:lvl1pPr>
          </a:lstStyle>
          <a:p>
            <a:fld id="{2385926D-8BBA-4C74-8368-2D9ACE9667B6}" type="datetimeFigureOut">
              <a:rPr lang="zh-TW" altLang="en-US" smtClean="0"/>
              <a:t>2026/7/3</a:t>
            </a:fld>
            <a:endParaRPr lang="zh-TW" altLang="en-US"/>
          </a:p>
        </p:txBody>
      </p:sp>
      <p:sp>
        <p:nvSpPr>
          <p:cNvPr id="4" name="投影片影像版面配置區 3"/>
          <p:cNvSpPr>
            <a:spLocks noGrp="1" noRot="1" noChangeAspect="1"/>
          </p:cNvSpPr>
          <p:nvPr>
            <p:ph type="sldImg" idx="2"/>
          </p:nvPr>
        </p:nvSpPr>
        <p:spPr>
          <a:xfrm>
            <a:off x="2925763" y="849313"/>
            <a:ext cx="4076700" cy="2293937"/>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992823" y="3271381"/>
            <a:ext cx="7942580" cy="2676585"/>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6456612"/>
            <a:ext cx="4302231" cy="341063"/>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5623697" y="6456612"/>
            <a:ext cx="4302231" cy="341063"/>
          </a:xfrm>
          <a:prstGeom prst="rect">
            <a:avLst/>
          </a:prstGeom>
        </p:spPr>
        <p:txBody>
          <a:bodyPr vert="horz" lIns="91440" tIns="45720" rIns="91440" bIns="45720" rtlCol="0" anchor="b"/>
          <a:lstStyle>
            <a:lvl1pPr algn="r">
              <a:defRPr sz="1200"/>
            </a:lvl1pPr>
          </a:lstStyle>
          <a:p>
            <a:fld id="{C1134DBE-7CC5-4F23-841F-273EC3D50B7F}" type="slidenum">
              <a:rPr lang="zh-TW" altLang="en-US" smtClean="0"/>
              <a:t>‹#›</a:t>
            </a:fld>
            <a:endParaRPr lang="zh-TW" altLang="en-US"/>
          </a:p>
        </p:txBody>
      </p:sp>
    </p:spTree>
    <p:extLst>
      <p:ext uri="{BB962C8B-B14F-4D97-AF65-F5344CB8AC3E}">
        <p14:creationId xmlns:p14="http://schemas.microsoft.com/office/powerpoint/2010/main" val="2306001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latin typeface="Times New Roman" panose="02020603050405020304" pitchFamily="18" charset="0"/>
                <a:ea typeface="標楷體" panose="03000509000000000000" pitchFamily="65" charset="-120"/>
                <a:cs typeface="Times New Roman" panose="02020603050405020304" pitchFamily="18" charset="0"/>
              </a:rPr>
              <a:t>主持人好 大家好 我是演講者楊宏傑 </a:t>
            </a:r>
            <a:br>
              <a:rPr lang="en-US" altLang="zh-TW" sz="1200" b="0" dirty="0">
                <a:latin typeface="DFKai-SB"/>
                <a:ea typeface="DFKai-SB"/>
                <a:cs typeface="DFKai-SB"/>
                <a:sym typeface="DFKai-SB"/>
              </a:rPr>
            </a:br>
            <a:r>
              <a:rPr lang="zh-TW" altLang="en-US" sz="1200" b="0" dirty="0">
                <a:latin typeface="DFKai-SB"/>
                <a:ea typeface="DFKai-SB"/>
                <a:cs typeface="DFKai-SB"/>
                <a:sym typeface="DFKai-SB"/>
              </a:rPr>
              <a:t>我的題目為 </a:t>
            </a:r>
            <a:r>
              <a:rPr lang="en-US" altLang="zh-TW" sz="1200" b="0" dirty="0">
                <a:latin typeface="DFKai-SB"/>
                <a:ea typeface="DFKai-SB"/>
                <a:cs typeface="DFKai-SB"/>
                <a:sym typeface="DFKai-SB"/>
              </a:rPr>
              <a:t>”</a:t>
            </a:r>
            <a:r>
              <a:rPr lang="zh-TW" altLang="zh-TW" sz="1200" b="0" i="0" kern="1200" dirty="0">
                <a:solidFill>
                  <a:schemeClr val="tx1"/>
                </a:solidFill>
                <a:effectLst/>
                <a:latin typeface="+mn-lt"/>
                <a:ea typeface="+mn-ea"/>
                <a:cs typeface="+mn-cs"/>
              </a:rPr>
              <a:t>物流公司支援線規劃之多階段最佳化方法</a:t>
            </a:r>
            <a:r>
              <a:rPr lang="en-US" altLang="zh-TW" sz="1200" b="0" dirty="0">
                <a:latin typeface="DFKai-SB"/>
                <a:ea typeface="DFKai-SB"/>
                <a:cs typeface="DFKai-SB"/>
                <a:sym typeface="DFKai-SB"/>
              </a:rPr>
              <a:t>”</a:t>
            </a:r>
          </a:p>
          <a:p>
            <a:endParaRPr lang="zh-TW" altLang="en-US" dirty="0"/>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1</a:t>
            </a:fld>
            <a:endParaRPr lang="zh-TW" altLang="en-US"/>
          </a:p>
        </p:txBody>
      </p:sp>
    </p:spTree>
    <p:extLst>
      <p:ext uri="{BB962C8B-B14F-4D97-AF65-F5344CB8AC3E}">
        <p14:creationId xmlns:p14="http://schemas.microsoft.com/office/powerpoint/2010/main" val="1716081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這是本研究的報告大綱，分為五個章節</a:t>
            </a:r>
            <a:endParaRPr lang="en-US" altLang="zh-TW" dirty="0"/>
          </a:p>
          <a:p>
            <a:r>
              <a:rPr lang="zh-TW" altLang="en-US" dirty="0"/>
              <a:t>將依序介紹研究動機、背景知識、研究方法、實驗結果、結論與未來研究方向</a:t>
            </a:r>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2</a:t>
            </a:fld>
            <a:endParaRPr lang="zh-TW" altLang="en-US"/>
          </a:p>
        </p:txBody>
      </p:sp>
    </p:spTree>
    <p:extLst>
      <p:ext uri="{BB962C8B-B14F-4D97-AF65-F5344CB8AC3E}">
        <p14:creationId xmlns:p14="http://schemas.microsoft.com/office/powerpoint/2010/main" val="3801625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首先介紹本研究的研究動機</a:t>
            </a:r>
            <a:endParaRPr lang="en-US" altLang="zh-TW" dirty="0"/>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3</a:t>
            </a:fld>
            <a:endParaRPr lang="zh-TW" altLang="en-US"/>
          </a:p>
        </p:txBody>
      </p:sp>
    </p:spTree>
    <p:extLst>
      <p:ext uri="{BB962C8B-B14F-4D97-AF65-F5344CB8AC3E}">
        <p14:creationId xmlns:p14="http://schemas.microsoft.com/office/powerpoint/2010/main" val="420581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隨著電子商務與物流產業的快速發展，物流配送需求持續增加。因此，如何透過有效的路線規劃來降低配送成本並提升配送效率，已成為物流</a:t>
            </a:r>
            <a:r>
              <a:rPr lang="zh-TW" altLang="en-US" dirty="0"/>
              <a:t>產業</a:t>
            </a:r>
            <a:r>
              <a:rPr lang="zh-TW" altLang="zh-TW" dirty="0"/>
              <a:t>的重要課題。</a:t>
            </a:r>
          </a:p>
          <a:p>
            <a:r>
              <a:rPr lang="zh-TW" altLang="zh-TW" dirty="0"/>
              <a:t>雖然車輛路</a:t>
            </a:r>
            <a:r>
              <a:rPr lang="zh-TW" altLang="en-US" dirty="0"/>
              <a:t>徑</a:t>
            </a:r>
            <a:r>
              <a:rPr lang="zh-TW" altLang="zh-TW" dirty="0"/>
              <a:t>問題（Vehicle Routing Problem, VRP）已被廣泛研究，但實際物流配送問題往往包含更多現實限制，無法完全由</a:t>
            </a:r>
            <a:r>
              <a:rPr lang="zh-TW" altLang="en-US" dirty="0"/>
              <a:t>一般</a:t>
            </a:r>
            <a:r>
              <a:rPr lang="zh-TW" altLang="zh-TW" dirty="0"/>
              <a:t>VRP模型描述。</a:t>
            </a:r>
            <a:endParaRPr lang="en-US" altLang="zh-TW" dirty="0"/>
          </a:p>
          <a:p>
            <a:r>
              <a:rPr lang="zh-TW" altLang="zh-TW" dirty="0"/>
              <a:t>此外，目前物流公司的路線規劃仍以人工編排為主。整體規劃不僅需要投入大量時間</a:t>
            </a:r>
            <a:r>
              <a:rPr lang="zh-TW" altLang="en-US" dirty="0"/>
              <a:t>，</a:t>
            </a:r>
            <a:r>
              <a:rPr lang="zh-TW" altLang="zh-TW" dirty="0"/>
              <a:t>過程高度依賴調度人員的經驗與專業判斷。</a:t>
            </a:r>
            <a:endParaRPr lang="en-US" altLang="zh-TW" dirty="0"/>
          </a:p>
          <a:p>
            <a:endParaRPr lang="en-US" altLang="zh-TW" dirty="0"/>
          </a:p>
          <a:p>
            <a:r>
              <a:rPr lang="zh-TW" altLang="zh-TW" dirty="0"/>
              <a:t>因此，本研究提出一套多階段</a:t>
            </a:r>
            <a:r>
              <a:rPr lang="zh-TW" altLang="en-US" dirty="0"/>
              <a:t>符合營運限制的</a:t>
            </a:r>
            <a:r>
              <a:rPr lang="zh-TW" altLang="zh-TW" dirty="0"/>
              <a:t>最佳化方法，在既有路線架構下有效處理超載路線問題，並兼顧配送效率與服務品質。</a:t>
            </a:r>
            <a:endParaRPr lang="zh-TW" altLang="en-US" dirty="0"/>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4</a:t>
            </a:fld>
            <a:endParaRPr lang="zh-TW" altLang="en-US"/>
          </a:p>
        </p:txBody>
      </p:sp>
    </p:spTree>
    <p:extLst>
      <p:ext uri="{BB962C8B-B14F-4D97-AF65-F5344CB8AC3E}">
        <p14:creationId xmlns:p14="http://schemas.microsoft.com/office/powerpoint/2010/main" val="1291591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9895F-3867-6598-8D87-ABE79FF39B9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8884EF8-64AE-0B18-B23D-8F19C95D9CF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A524250-D5E7-0C6A-D1B1-CC4140340D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接下來介紹本研究的背景知識</a:t>
            </a:r>
            <a:endParaRPr lang="en-US" altLang="zh-TW" dirty="0"/>
          </a:p>
        </p:txBody>
      </p:sp>
      <p:sp>
        <p:nvSpPr>
          <p:cNvPr id="4" name="投影片編號版面配置區 3">
            <a:extLst>
              <a:ext uri="{FF2B5EF4-FFF2-40B4-BE49-F238E27FC236}">
                <a16:creationId xmlns:a16="http://schemas.microsoft.com/office/drawing/2014/main" id="{1105EAE1-03D4-E5A1-8F26-4C50F04B914B}"/>
              </a:ext>
            </a:extLst>
          </p:cNvPr>
          <p:cNvSpPr>
            <a:spLocks noGrp="1"/>
          </p:cNvSpPr>
          <p:nvPr>
            <p:ph type="sldNum" sz="quarter" idx="5"/>
          </p:nvPr>
        </p:nvSpPr>
        <p:spPr/>
        <p:txBody>
          <a:bodyPr/>
          <a:lstStyle/>
          <a:p>
            <a:fld id="{C1134DBE-7CC5-4F23-841F-273EC3D50B7F}" type="slidenum">
              <a:rPr lang="zh-TW" altLang="en-US" smtClean="0"/>
              <a:t>5</a:t>
            </a:fld>
            <a:endParaRPr lang="zh-TW" altLang="en-US"/>
          </a:p>
        </p:txBody>
      </p:sp>
    </p:spTree>
    <p:extLst>
      <p:ext uri="{BB962C8B-B14F-4D97-AF65-F5344CB8AC3E}">
        <p14:creationId xmlns:p14="http://schemas.microsoft.com/office/powerpoint/2010/main" val="4233682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72A19-E296-2490-FB38-65E631B105E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AC288A4-4ED1-2C4F-BB6F-96E923880D5C}"/>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8E23A75-A286-79E6-8C88-7B58897763C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本研究的配送問題本質上可以視為車輛路徑問題的延伸變體</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屬於組合最佳化與整數規劃之 NP-hard 問題</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其目標是在滿足各項配送限制的前提下，滿足所有顧客的配送需求，同時最小化配送成本。</a:t>
            </a:r>
          </a:p>
          <a:p>
            <a:endParaRPr lang="en-US" altLang="zh-TW" dirty="0"/>
          </a:p>
          <a:p>
            <a:r>
              <a:rPr lang="zh-TW" altLang="zh-TW" dirty="0"/>
              <a:t>標準 VRP 中，需要滿足以下幾項基本限制條件</a:t>
            </a:r>
            <a:endParaRPr lang="en-US" altLang="zh-TW" dirty="0"/>
          </a:p>
          <a:p>
            <a:pPr lvl="0"/>
            <a:r>
              <a:rPr lang="zh-TW" altLang="zh-TW" sz="1200" kern="1200" dirty="0">
                <a:solidFill>
                  <a:schemeClr val="tx1"/>
                </a:solidFill>
                <a:effectLst/>
                <a:latin typeface="+mn-lt"/>
                <a:ea typeface="+mn-ea"/>
                <a:cs typeface="+mn-cs"/>
              </a:rPr>
              <a:t>每輛車必須從配送中心出發並返回配送中心。</a:t>
            </a:r>
          </a:p>
          <a:p>
            <a:pPr lvl="0"/>
            <a:r>
              <a:rPr lang="zh-TW" altLang="zh-TW" sz="1200" kern="1200" dirty="0">
                <a:solidFill>
                  <a:schemeClr val="tx1"/>
                </a:solidFill>
                <a:effectLst/>
                <a:latin typeface="+mn-lt"/>
                <a:ea typeface="+mn-ea"/>
                <a:cs typeface="+mn-cs"/>
              </a:rPr>
              <a:t>每個顧客僅允許被拜訪一次且僅能由一輛車負責配送。</a:t>
            </a:r>
          </a:p>
          <a:p>
            <a:pPr lvl="0"/>
            <a:r>
              <a:rPr lang="zh-TW" altLang="zh-TW" sz="1200" kern="1200" dirty="0">
                <a:solidFill>
                  <a:schemeClr val="tx1"/>
                </a:solidFill>
                <a:effectLst/>
                <a:latin typeface="+mn-lt"/>
                <a:ea typeface="+mn-ea"/>
                <a:cs typeface="+mn-cs"/>
              </a:rPr>
              <a:t>每個顧客</a:t>
            </a:r>
            <a:r>
              <a:rPr lang="zh-TW" altLang="en-US" sz="1200" kern="1200" dirty="0">
                <a:solidFill>
                  <a:schemeClr val="tx1"/>
                </a:solidFill>
                <a:effectLst/>
                <a:latin typeface="+mn-lt"/>
                <a:ea typeface="+mn-ea"/>
                <a:cs typeface="+mn-cs"/>
              </a:rPr>
              <a:t>的需求</a:t>
            </a:r>
            <a:r>
              <a:rPr lang="zh-TW" altLang="zh-TW" sz="1200" kern="1200" dirty="0">
                <a:solidFill>
                  <a:schemeClr val="tx1"/>
                </a:solidFill>
                <a:effectLst/>
                <a:latin typeface="+mn-lt"/>
                <a:ea typeface="+mn-ea"/>
                <a:cs typeface="+mn-cs"/>
              </a:rPr>
              <a:t>都必須</a:t>
            </a:r>
            <a:r>
              <a:rPr lang="zh-TW" altLang="en-US" sz="1200" kern="1200" dirty="0">
                <a:solidFill>
                  <a:schemeClr val="tx1"/>
                </a:solidFill>
                <a:effectLst/>
                <a:latin typeface="+mn-lt"/>
                <a:ea typeface="+mn-ea"/>
                <a:cs typeface="+mn-cs"/>
              </a:rPr>
              <a:t>被滿足</a:t>
            </a:r>
            <a:r>
              <a:rPr lang="zh-TW" altLang="zh-TW" sz="1200" kern="1200" dirty="0">
                <a:solidFill>
                  <a:schemeClr val="tx1"/>
                </a:solidFill>
                <a:effectLst/>
                <a:latin typeface="+mn-lt"/>
                <a:ea typeface="+mn-ea"/>
                <a:cs typeface="+mn-cs"/>
              </a:rPr>
              <a:t>。</a:t>
            </a:r>
            <a:endParaRPr lang="en-US" altLang="zh-TW" sz="1200" kern="1200" dirty="0">
              <a:solidFill>
                <a:schemeClr val="tx1"/>
              </a:solidFill>
              <a:effectLst/>
              <a:latin typeface="+mn-lt"/>
              <a:ea typeface="+mn-ea"/>
              <a:cs typeface="+mn-cs"/>
            </a:endParaRPr>
          </a:p>
          <a:p>
            <a:pPr lvl="0"/>
            <a:endParaRPr lang="en-US" altLang="zh-TW" sz="1200" kern="1200" dirty="0">
              <a:solidFill>
                <a:schemeClr val="tx1"/>
              </a:solidFill>
              <a:effectLst/>
              <a:latin typeface="+mn-lt"/>
              <a:ea typeface="+mn-ea"/>
              <a:cs typeface="+mn-cs"/>
            </a:endParaRPr>
          </a:p>
          <a:p>
            <a:pPr lvl="0"/>
            <a:r>
              <a:rPr lang="en-US" altLang="zh-TW" sz="1200" kern="1200" dirty="0">
                <a:solidFill>
                  <a:schemeClr val="tx1"/>
                </a:solidFill>
                <a:effectLst/>
                <a:latin typeface="+mn-lt"/>
                <a:ea typeface="+mn-ea"/>
                <a:cs typeface="+mn-cs"/>
              </a:rPr>
              <a:t>Q&amp;A</a:t>
            </a:r>
          </a:p>
          <a:p>
            <a:pPr lvl="0"/>
            <a:r>
              <a:rPr lang="en-US" altLang="zh-TW" dirty="0"/>
              <a:t>1.</a:t>
            </a:r>
            <a:r>
              <a:rPr lang="zh-TW" altLang="en-US" dirty="0"/>
              <a:t> </a:t>
            </a:r>
            <a:r>
              <a:rPr lang="zh-TW" altLang="zh-TW" dirty="0"/>
              <a:t>VRP是NP-hard問題，這對你選擇用metaheuristic而不是exact method</a:t>
            </a:r>
            <a:r>
              <a:rPr lang="zh-TW" altLang="en-US" dirty="0"/>
              <a:t> </a:t>
            </a:r>
            <a:r>
              <a:rPr lang="en-US" altLang="zh-TW" dirty="0"/>
              <a:t>(ILP)</a:t>
            </a:r>
            <a:r>
              <a:rPr lang="zh-TW" altLang="en-US" dirty="0"/>
              <a:t> </a:t>
            </a:r>
            <a:r>
              <a:rPr lang="zh-TW" altLang="zh-TW" dirty="0"/>
              <a:t>來解決有什麼直接關係</a:t>
            </a:r>
            <a:endParaRPr lang="en-US" altLang="zh-TW" dirty="0"/>
          </a:p>
          <a:p>
            <a:pPr lvl="0"/>
            <a:r>
              <a:rPr lang="zh-TW" altLang="zh-TW" dirty="0"/>
              <a:t>因為VRP是NP-hard問題，當問題規模變大時，exact method要花非常多時間才能找到最優解，不符合實務上需要快速規劃的需求。所以選擇metaheuristic</a:t>
            </a:r>
            <a:endParaRPr lang="en-US" altLang="zh-TW" dirty="0"/>
          </a:p>
        </p:txBody>
      </p:sp>
      <p:sp>
        <p:nvSpPr>
          <p:cNvPr id="4" name="投影片編號版面配置區 3">
            <a:extLst>
              <a:ext uri="{FF2B5EF4-FFF2-40B4-BE49-F238E27FC236}">
                <a16:creationId xmlns:a16="http://schemas.microsoft.com/office/drawing/2014/main" id="{9CD009CE-2EDE-722C-BF90-B33BC5FA8CD3}"/>
              </a:ext>
            </a:extLst>
          </p:cNvPr>
          <p:cNvSpPr>
            <a:spLocks noGrp="1"/>
          </p:cNvSpPr>
          <p:nvPr>
            <p:ph type="sldNum" sz="quarter" idx="5"/>
          </p:nvPr>
        </p:nvSpPr>
        <p:spPr/>
        <p:txBody>
          <a:bodyPr/>
          <a:lstStyle/>
          <a:p>
            <a:fld id="{C1134DBE-7CC5-4F23-841F-273EC3D50B7F}" type="slidenum">
              <a:rPr lang="zh-TW" altLang="en-US" smtClean="0"/>
              <a:t>6</a:t>
            </a:fld>
            <a:endParaRPr lang="zh-TW" altLang="en-US"/>
          </a:p>
        </p:txBody>
      </p:sp>
    </p:spTree>
    <p:extLst>
      <p:ext uri="{BB962C8B-B14F-4D97-AF65-F5344CB8AC3E}">
        <p14:creationId xmlns:p14="http://schemas.microsoft.com/office/powerpoint/2010/main" val="7830555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BE992-4D24-B6CF-5B08-26DE7FBFB2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89354B-3A90-2123-A1DF-CA3465D19A1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359DD81-AADA-2CA5-6E73-4B4E645766FA}"/>
              </a:ext>
            </a:extLst>
          </p:cNvPr>
          <p:cNvSpPr>
            <a:spLocks noGrp="1"/>
          </p:cNvSpPr>
          <p:nvPr>
            <p:ph type="body" idx="1"/>
          </p:nvPr>
        </p:nvSpPr>
        <p:spPr/>
        <p:txBody>
          <a:bodyPr/>
          <a:lstStyle/>
          <a:p>
            <a:r>
              <a:rPr lang="zh-TW" altLang="zh-TW" dirty="0"/>
              <a:t>由於實際物流環境相當複雜，因此 VRP 衍生出許多不同的變體。</a:t>
            </a:r>
            <a:endParaRPr lang="en-US" altLang="zh-TW" dirty="0"/>
          </a:p>
          <a:p>
            <a:r>
              <a:rPr lang="en-US" altLang="zh-TW" dirty="0"/>
              <a:t>CVRP</a:t>
            </a:r>
            <a:r>
              <a:rPr lang="zh-TW" altLang="en-US" dirty="0"/>
              <a:t>容量限制車輛途程問題，</a:t>
            </a:r>
            <a:r>
              <a:rPr lang="zh-TW" altLang="zh-TW" dirty="0"/>
              <a:t>除了基本 VRP 條件外，還必須考慮車輛容量限制</a:t>
            </a:r>
            <a:endParaRPr lang="en-US" altLang="zh-TW" dirty="0"/>
          </a:p>
          <a:p>
            <a:r>
              <a:rPr lang="zh-TW" altLang="zh-TW" dirty="0"/>
              <a:t>VRPTW具時間窗限制的車輛途程問題</a:t>
            </a:r>
            <a:r>
              <a:rPr lang="zh-TW" altLang="en-US" dirty="0"/>
              <a:t>，除了容量限制以外，還</a:t>
            </a:r>
            <a:r>
              <a:rPr lang="zh-TW" altLang="zh-TW" dirty="0"/>
              <a:t>要求車輛必須在顧客指定的時間區間內完成配送服務</a:t>
            </a:r>
            <a:endParaRPr lang="en-US" altLang="zh-TW" dirty="0"/>
          </a:p>
          <a:p>
            <a:endParaRPr lang="en-US" altLang="zh-TW" dirty="0"/>
          </a:p>
          <a:p>
            <a:r>
              <a:rPr lang="zh-TW" altLang="zh-TW" dirty="0"/>
              <a:t>本研究所探討的配送問題同時具有車輛容量限制、配送時間窗限制等特性，因此可視為結合 </a:t>
            </a:r>
            <a:r>
              <a:rPr lang="zh-TW" altLang="en-US" dirty="0"/>
              <a:t>物流公司主線架構 符合營運限制的</a:t>
            </a:r>
            <a:r>
              <a:rPr lang="zh-TW" altLang="zh-TW" dirty="0"/>
              <a:t>車輛</a:t>
            </a:r>
            <a:r>
              <a:rPr lang="zh-TW" altLang="en-US" dirty="0"/>
              <a:t>路徑</a:t>
            </a:r>
            <a:r>
              <a:rPr lang="zh-TW" altLang="zh-TW" dirty="0"/>
              <a:t>問題。</a:t>
            </a:r>
            <a:endParaRPr lang="en-US" altLang="zh-TW" dirty="0"/>
          </a:p>
          <a:p>
            <a:endParaRPr lang="en-US" altLang="zh-TW" dirty="0"/>
          </a:p>
        </p:txBody>
      </p:sp>
      <p:sp>
        <p:nvSpPr>
          <p:cNvPr id="4" name="投影片編號版面配置區 3">
            <a:extLst>
              <a:ext uri="{FF2B5EF4-FFF2-40B4-BE49-F238E27FC236}">
                <a16:creationId xmlns:a16="http://schemas.microsoft.com/office/drawing/2014/main" id="{F9D36EC1-C688-738E-A346-0D2246E88493}"/>
              </a:ext>
            </a:extLst>
          </p:cNvPr>
          <p:cNvSpPr>
            <a:spLocks noGrp="1"/>
          </p:cNvSpPr>
          <p:nvPr>
            <p:ph type="sldNum" sz="quarter" idx="5"/>
          </p:nvPr>
        </p:nvSpPr>
        <p:spPr/>
        <p:txBody>
          <a:bodyPr/>
          <a:lstStyle/>
          <a:p>
            <a:fld id="{C1134DBE-7CC5-4F23-841F-273EC3D50B7F}" type="slidenum">
              <a:rPr lang="zh-TW" altLang="en-US" smtClean="0"/>
              <a:t>7</a:t>
            </a:fld>
            <a:endParaRPr lang="zh-TW" altLang="en-US"/>
          </a:p>
        </p:txBody>
      </p:sp>
    </p:spTree>
    <p:extLst>
      <p:ext uri="{BB962C8B-B14F-4D97-AF65-F5344CB8AC3E}">
        <p14:creationId xmlns:p14="http://schemas.microsoft.com/office/powerpoint/2010/main" val="15171552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40E3F-6D39-D7A8-7F8E-CA1474D4DFE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FEFF39F-2914-FB15-7CA5-33B5DB99327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DCDF125-86DB-450A-D7D4-4CB493F0DEA0}"/>
              </a:ext>
            </a:extLst>
          </p:cNvPr>
          <p:cNvSpPr>
            <a:spLocks noGrp="1"/>
          </p:cNvSpPr>
          <p:nvPr>
            <p:ph type="body" idx="1"/>
          </p:nvPr>
        </p:nvSpPr>
        <p:spPr/>
        <p:txBody>
          <a:bodyPr/>
          <a:lstStyle/>
          <a:p>
            <a:r>
              <a:rPr lang="zh-TW" altLang="en-US" dirty="0"/>
              <a:t>並且本研究將該問題分成分</a:t>
            </a:r>
            <a:r>
              <a:rPr lang="en-US" altLang="zh-TW" dirty="0"/>
              <a:t>3</a:t>
            </a:r>
            <a:r>
              <a:rPr lang="zh-TW" altLang="en-US" dirty="0"/>
              <a:t>個子問題</a:t>
            </a:r>
            <a:endParaRPr lang="en-US" altLang="zh-TW" dirty="0"/>
          </a:p>
          <a:p>
            <a:r>
              <a:rPr lang="zh-TW" altLang="zh-TW" dirty="0"/>
              <a:t>針對不同子問題特性，</a:t>
            </a:r>
            <a:r>
              <a:rPr lang="zh-TW" altLang="en-US" dirty="0"/>
              <a:t>使用</a:t>
            </a:r>
            <a:r>
              <a:rPr lang="zh-TW" altLang="zh-TW" dirty="0"/>
              <a:t>相對應之最佳化</a:t>
            </a:r>
            <a:r>
              <a:rPr lang="zh-TW" altLang="en-US" dirty="0"/>
              <a:t>方法</a:t>
            </a:r>
            <a:endParaRPr lang="en-US" altLang="zh-TW" dirty="0"/>
          </a:p>
          <a:p>
            <a:endParaRPr lang="en-US" altLang="zh-TW" dirty="0"/>
          </a:p>
          <a:p>
            <a:r>
              <a:rPr lang="zh-TW" altLang="en-US" dirty="0"/>
              <a:t>合作式</a:t>
            </a:r>
            <a:r>
              <a:rPr lang="zh-TW" altLang="zh-TW" dirty="0"/>
              <a:t>共</a:t>
            </a:r>
            <a:r>
              <a:rPr lang="zh-TW" altLang="en-US" dirty="0"/>
              <a:t>同</a:t>
            </a:r>
            <a:r>
              <a:rPr lang="zh-TW" altLang="zh-TW" dirty="0"/>
              <a:t>演化</a:t>
            </a:r>
            <a:r>
              <a:rPr lang="zh-TW" altLang="en-US" dirty="0"/>
              <a:t>基因</a:t>
            </a:r>
            <a:r>
              <a:rPr lang="zh-TW" altLang="zh-TW" dirty="0"/>
              <a:t>演算法（CCGA）是基因演算法的延伸方法</a:t>
            </a:r>
            <a:endParaRPr lang="en-US" altLang="zh-TW" dirty="0"/>
          </a:p>
          <a:p>
            <a:r>
              <a:rPr lang="zh-TW" altLang="en-US" dirty="0"/>
              <a:t>該方法</a:t>
            </a:r>
            <a:r>
              <a:rPr lang="zh-TW" altLang="zh-TW" dirty="0"/>
              <a:t>是將原始問題拆解為多個較小的子問題</a:t>
            </a:r>
            <a:endParaRPr lang="en-US" altLang="zh-TW" dirty="0"/>
          </a:p>
          <a:p>
            <a:r>
              <a:rPr lang="zh-TW" altLang="zh-TW" dirty="0"/>
              <a:t>並針對每個子問題分別使用</a:t>
            </a:r>
            <a:r>
              <a:rPr lang="zh-TW" altLang="en-US" dirty="0"/>
              <a:t>基因</a:t>
            </a:r>
            <a:r>
              <a:rPr lang="zh-TW" altLang="zh-TW" dirty="0"/>
              <a:t>演算法進行獨立演化搜尋</a:t>
            </a:r>
          </a:p>
          <a:p>
            <a:r>
              <a:rPr lang="zh-TW" altLang="zh-TW" dirty="0"/>
              <a:t>最後再將各子問題的部分解進行整合，形成完整解，並以整體結果進行評估。</a:t>
            </a:r>
            <a:endParaRPr lang="en-US" altLang="zh-TW" dirty="0"/>
          </a:p>
        </p:txBody>
      </p:sp>
      <p:sp>
        <p:nvSpPr>
          <p:cNvPr id="4" name="投影片編號版面配置區 3">
            <a:extLst>
              <a:ext uri="{FF2B5EF4-FFF2-40B4-BE49-F238E27FC236}">
                <a16:creationId xmlns:a16="http://schemas.microsoft.com/office/drawing/2014/main" id="{5C50B93C-E77A-380D-F566-552143BB6F4E}"/>
              </a:ext>
            </a:extLst>
          </p:cNvPr>
          <p:cNvSpPr>
            <a:spLocks noGrp="1"/>
          </p:cNvSpPr>
          <p:nvPr>
            <p:ph type="sldNum" sz="quarter" idx="5"/>
          </p:nvPr>
        </p:nvSpPr>
        <p:spPr/>
        <p:txBody>
          <a:bodyPr/>
          <a:lstStyle/>
          <a:p>
            <a:fld id="{C1134DBE-7CC5-4F23-841F-273EC3D50B7F}" type="slidenum">
              <a:rPr lang="zh-TW" altLang="en-US" smtClean="0"/>
              <a:t>8</a:t>
            </a:fld>
            <a:endParaRPr lang="zh-TW" altLang="en-US"/>
          </a:p>
        </p:txBody>
      </p:sp>
    </p:spTree>
    <p:extLst>
      <p:ext uri="{BB962C8B-B14F-4D97-AF65-F5344CB8AC3E}">
        <p14:creationId xmlns:p14="http://schemas.microsoft.com/office/powerpoint/2010/main" val="27614678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EBED6-E0D0-8D32-FE0F-D6815DEA26E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492CFD7-92C6-2D31-05F5-CA05C61B586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45FB2B-4A26-FEBB-C822-6EB0A79DE72F}"/>
              </a:ext>
            </a:extLst>
          </p:cNvPr>
          <p:cNvSpPr>
            <a:spLocks noGrp="1"/>
          </p:cNvSpPr>
          <p:nvPr>
            <p:ph type="body" idx="1"/>
          </p:nvPr>
        </p:nvSpPr>
        <p:spPr/>
        <p:txBody>
          <a:bodyPr/>
          <a:lstStyle/>
          <a:p>
            <a:r>
              <a:rPr lang="zh-TW" altLang="zh-TW" dirty="0"/>
              <a:t>HACO</a:t>
            </a:r>
            <a:r>
              <a:rPr lang="zh-TW" altLang="en-US" dirty="0"/>
              <a:t>主要是</a:t>
            </a:r>
            <a:r>
              <a:rPr lang="zh-TW" altLang="zh-TW" dirty="0"/>
              <a:t>結合蟻群</a:t>
            </a:r>
            <a:r>
              <a:rPr lang="zh-TW" altLang="en-US" dirty="0"/>
              <a:t>演算法</a:t>
            </a:r>
            <a:r>
              <a:rPr lang="zh-TW" altLang="zh-TW" dirty="0"/>
              <a:t>與啟發式</a:t>
            </a:r>
            <a:r>
              <a:rPr lang="zh-TW" altLang="en-US" dirty="0"/>
              <a:t>方法</a:t>
            </a:r>
            <a:endParaRPr lang="en-US" altLang="zh-TW" dirty="0"/>
          </a:p>
          <a:p>
            <a:r>
              <a:rPr lang="zh-TW" altLang="zh-TW" dirty="0"/>
              <a:t>ACO透過模擬螞蟻之間的費洛蒙傳遞機制來引導搜尋方向建構解</a:t>
            </a:r>
            <a:endParaRPr lang="en-US" altLang="zh-TW" dirty="0"/>
          </a:p>
          <a:p>
            <a:r>
              <a:rPr lang="zh-TW" altLang="zh-TW" dirty="0"/>
              <a:t>在</a:t>
            </a:r>
            <a:r>
              <a:rPr lang="zh-TW" altLang="en-US" dirty="0"/>
              <a:t>建構</a:t>
            </a:r>
            <a:r>
              <a:rPr lang="zh-TW" altLang="zh-TW" dirty="0"/>
              <a:t>完初始解後，會進一步透過啟發式方法進行以跳</a:t>
            </a:r>
            <a:r>
              <a:rPr lang="zh-TW" altLang="en-US" dirty="0"/>
              <a:t>脫</a:t>
            </a:r>
            <a:r>
              <a:rPr lang="zh-TW" altLang="zh-TW" dirty="0"/>
              <a:t>局部最佳解提升</a:t>
            </a:r>
            <a:r>
              <a:rPr lang="zh-TW" altLang="en-US" dirty="0"/>
              <a:t>規劃</a:t>
            </a:r>
            <a:r>
              <a:rPr lang="zh-TW" altLang="zh-TW" dirty="0"/>
              <a:t>品質</a:t>
            </a:r>
            <a:endParaRPr lang="en-US" altLang="zh-TW" dirty="0"/>
          </a:p>
        </p:txBody>
      </p:sp>
      <p:sp>
        <p:nvSpPr>
          <p:cNvPr id="4" name="投影片編號版面配置區 3">
            <a:extLst>
              <a:ext uri="{FF2B5EF4-FFF2-40B4-BE49-F238E27FC236}">
                <a16:creationId xmlns:a16="http://schemas.microsoft.com/office/drawing/2014/main" id="{3CED263C-F79D-8E90-BB54-711673EC1F3A}"/>
              </a:ext>
            </a:extLst>
          </p:cNvPr>
          <p:cNvSpPr>
            <a:spLocks noGrp="1"/>
          </p:cNvSpPr>
          <p:nvPr>
            <p:ph type="sldNum" sz="quarter" idx="5"/>
          </p:nvPr>
        </p:nvSpPr>
        <p:spPr/>
        <p:txBody>
          <a:bodyPr/>
          <a:lstStyle/>
          <a:p>
            <a:fld id="{C1134DBE-7CC5-4F23-841F-273EC3D50B7F}" type="slidenum">
              <a:rPr lang="zh-TW" altLang="en-US" smtClean="0"/>
              <a:t>9</a:t>
            </a:fld>
            <a:endParaRPr lang="zh-TW" altLang="en-US"/>
          </a:p>
        </p:txBody>
      </p:sp>
    </p:spTree>
    <p:extLst>
      <p:ext uri="{BB962C8B-B14F-4D97-AF65-F5344CB8AC3E}">
        <p14:creationId xmlns:p14="http://schemas.microsoft.com/office/powerpoint/2010/main" val="19624213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28D8A-C258-6A39-76A2-A04535CEE9C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933339D-2EE4-9A78-C565-DE1CC321D94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0B771468-2618-E6FF-6882-59B30ED5FF3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多蟻群系統（</a:t>
            </a:r>
            <a:r>
              <a:rPr lang="en-US" altLang="zh-TW" dirty="0"/>
              <a:t>MACS</a:t>
            </a:r>
            <a:r>
              <a:rPr lang="zh-TW" altLang="en-US" dirty="0"/>
              <a:t>）</a:t>
            </a:r>
            <a:r>
              <a:rPr lang="zh-TW" altLang="zh-TW" dirty="0"/>
              <a:t>是一種透過多蟻群來同時</a:t>
            </a:r>
            <a:r>
              <a:rPr lang="zh-TW" altLang="en-US" dirty="0"/>
              <a:t>最佳</a:t>
            </a:r>
            <a:r>
              <a:rPr lang="zh-TW" altLang="zh-TW" dirty="0"/>
              <a:t>化不同路線目標的演算法</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由兩個蟻群所組成</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其中，</a:t>
            </a:r>
            <a:r>
              <a:rPr lang="en-US" altLang="zh-TW" dirty="0"/>
              <a:t>ACS-VEI</a:t>
            </a:r>
            <a:r>
              <a:rPr lang="zh-TW" altLang="zh-TW" dirty="0"/>
              <a:t>透過在路線建構過程中提升店舖覆蓋率來減少所需車輛</a:t>
            </a:r>
            <a:r>
              <a:rPr lang="zh-TW" altLang="en-US" dirty="0"/>
              <a:t>，以</a:t>
            </a:r>
            <a:r>
              <a:rPr lang="zh-TW" altLang="zh-TW" dirty="0"/>
              <a:t>最小化車輛數量</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而 </a:t>
            </a:r>
            <a:r>
              <a:rPr lang="en-US" altLang="zh-TW" dirty="0"/>
              <a:t>ACS-DIST </a:t>
            </a:r>
            <a:r>
              <a:rPr lang="zh-TW" altLang="en-US" dirty="0"/>
              <a:t>則在路線建構完成後結合局部搜尋策略進行局部最佳化，以最小化總行駛距離</a:t>
            </a:r>
            <a:endParaRPr lang="en-US" altLang="zh-TW" dirty="0"/>
          </a:p>
        </p:txBody>
      </p:sp>
      <p:sp>
        <p:nvSpPr>
          <p:cNvPr id="4" name="投影片編號版面配置區 3">
            <a:extLst>
              <a:ext uri="{FF2B5EF4-FFF2-40B4-BE49-F238E27FC236}">
                <a16:creationId xmlns:a16="http://schemas.microsoft.com/office/drawing/2014/main" id="{5573CBA6-AA17-D0E2-EF66-5A2629AEE06C}"/>
              </a:ext>
            </a:extLst>
          </p:cNvPr>
          <p:cNvSpPr>
            <a:spLocks noGrp="1"/>
          </p:cNvSpPr>
          <p:nvPr>
            <p:ph type="sldNum" sz="quarter" idx="5"/>
          </p:nvPr>
        </p:nvSpPr>
        <p:spPr/>
        <p:txBody>
          <a:bodyPr/>
          <a:lstStyle/>
          <a:p>
            <a:fld id="{C1134DBE-7CC5-4F23-841F-273EC3D50B7F}" type="slidenum">
              <a:rPr lang="zh-TW" altLang="en-US" smtClean="0"/>
              <a:t>10</a:t>
            </a:fld>
            <a:endParaRPr lang="zh-TW" altLang="en-US"/>
          </a:p>
        </p:txBody>
      </p:sp>
    </p:spTree>
    <p:extLst>
      <p:ext uri="{BB962C8B-B14F-4D97-AF65-F5344CB8AC3E}">
        <p14:creationId xmlns:p14="http://schemas.microsoft.com/office/powerpoint/2010/main" val="287344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接下來介紹本研究的研究方法</a:t>
            </a:r>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11</a:t>
            </a:fld>
            <a:endParaRPr lang="zh-TW" altLang="en-US"/>
          </a:p>
        </p:txBody>
      </p:sp>
    </p:spTree>
    <p:extLst>
      <p:ext uri="{BB962C8B-B14F-4D97-AF65-F5344CB8AC3E}">
        <p14:creationId xmlns:p14="http://schemas.microsoft.com/office/powerpoint/2010/main" val="8009962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本研究所提出多階段符合</a:t>
            </a:r>
            <a:r>
              <a:rPr lang="zh-TW" altLang="zh-TW" dirty="0"/>
              <a:t>實務作業</a:t>
            </a:r>
            <a:r>
              <a:rPr lang="zh-TW" altLang="en-US" dirty="0"/>
              <a:t>的</a:t>
            </a:r>
            <a:r>
              <a:rPr lang="zh-TW" altLang="zh-TW" dirty="0"/>
              <a:t>車輛路</a:t>
            </a:r>
            <a:r>
              <a:rPr lang="zh-TW" altLang="en-US" dirty="0"/>
              <a:t>徑</a:t>
            </a:r>
            <a:r>
              <a:rPr lang="zh-TW" altLang="zh-TW" dirty="0"/>
              <a:t>問題</a:t>
            </a:r>
            <a:r>
              <a:rPr lang="zh-TW" altLang="en-US" dirty="0"/>
              <a:t>架構主要由下列四個模組組成</a:t>
            </a:r>
            <a:endParaRPr lang="en-US" altLang="zh-TW"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altLang="zh-TW" dirty="0"/>
              <a:t>API</a:t>
            </a:r>
            <a:r>
              <a:rPr lang="zh-TW" altLang="en-US" dirty="0"/>
              <a:t>模組：取得相關</a:t>
            </a:r>
            <a:r>
              <a:rPr lang="zh-TW" altLang="zh-TW" dirty="0"/>
              <a:t>距離</a:t>
            </a:r>
            <a:r>
              <a:rPr lang="zh-TW" altLang="en-US" dirty="0"/>
              <a:t>及</a:t>
            </a:r>
            <a:r>
              <a:rPr lang="zh-TW" altLang="zh-TW" dirty="0"/>
              <a:t>行車時間資訊</a:t>
            </a:r>
            <a:endParaRPr lang="en-US" altLang="zh-TW" dirty="0"/>
          </a:p>
          <a:p>
            <a:pPr marL="228600" indent="-228600">
              <a:buAutoNum type="arabicPeriod"/>
            </a:pPr>
            <a:r>
              <a:rPr lang="zh-TW" altLang="en-US" dirty="0"/>
              <a:t>資料模組：</a:t>
            </a:r>
            <a:r>
              <a:rPr lang="zh-TW" altLang="zh-TW" dirty="0"/>
              <a:t>負責對</a:t>
            </a:r>
            <a:r>
              <a:rPr lang="zh-TW" altLang="en-US" dirty="0"/>
              <a:t>物流公司所提供</a:t>
            </a:r>
            <a:r>
              <a:rPr lang="zh-TW" altLang="zh-TW" dirty="0"/>
              <a:t>路線資料進行前處理</a:t>
            </a:r>
            <a:endParaRPr lang="en-US" altLang="zh-TW" dirty="0"/>
          </a:p>
          <a:p>
            <a:pPr marL="228600" indent="-228600">
              <a:buAutoNum type="arabicPeriod"/>
            </a:pPr>
            <a:r>
              <a:rPr lang="zh-TW" altLang="en-US" dirty="0"/>
              <a:t>路由模組：</a:t>
            </a:r>
            <a:r>
              <a:rPr lang="zh-TW" altLang="zh-TW" dirty="0"/>
              <a:t>負責執行</a:t>
            </a:r>
            <a:r>
              <a:rPr lang="zh-TW" altLang="en-US" dirty="0"/>
              <a:t>路線</a:t>
            </a:r>
            <a:r>
              <a:rPr lang="zh-TW" altLang="zh-TW" dirty="0"/>
              <a:t>最佳化</a:t>
            </a:r>
            <a:r>
              <a:rPr lang="zh-TW" altLang="en-US" dirty="0"/>
              <a:t>方法</a:t>
            </a:r>
            <a:r>
              <a:rPr lang="zh-TW" altLang="zh-TW" dirty="0"/>
              <a:t>產生符合實務作業限制</a:t>
            </a:r>
            <a:r>
              <a:rPr lang="zh-TW" altLang="en-US" dirty="0"/>
              <a:t>的</a:t>
            </a:r>
            <a:r>
              <a:rPr lang="zh-TW" altLang="zh-TW" dirty="0"/>
              <a:t>配送路線</a:t>
            </a:r>
            <a:endParaRPr lang="en-US" altLang="zh-TW" dirty="0"/>
          </a:p>
          <a:p>
            <a:pPr marL="228600" indent="-228600">
              <a:buAutoNum type="arabicPeriod"/>
            </a:pPr>
            <a:r>
              <a:rPr lang="zh-TW" altLang="en-US" dirty="0"/>
              <a:t>評估模組：提供路線可視化並根據各項指標對編排結果進行評估</a:t>
            </a:r>
            <a:endParaRPr lang="en-US" altLang="zh-TW" dirty="0"/>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12</a:t>
            </a:fld>
            <a:endParaRPr lang="zh-TW" altLang="en-US"/>
          </a:p>
        </p:txBody>
      </p:sp>
    </p:spTree>
    <p:extLst>
      <p:ext uri="{BB962C8B-B14F-4D97-AF65-F5344CB8AC3E}">
        <p14:creationId xmlns:p14="http://schemas.microsoft.com/office/powerpoint/2010/main" val="41273107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接下來介紹本研究</a:t>
            </a:r>
            <a:r>
              <a:rPr lang="zh-TW" altLang="zh-TW" dirty="0"/>
              <a:t>所提出之整體架構</a:t>
            </a:r>
            <a:r>
              <a:rPr lang="zh-TW" altLang="en-US" dirty="0"/>
              <a:t>，</a:t>
            </a:r>
            <a:r>
              <a:rPr lang="zh-TW" altLang="zh-TW" dirty="0"/>
              <a:t>將依序說明各模組之功能</a:t>
            </a:r>
            <a:endParaRPr lang="en-US" altLang="zh-TW" dirty="0"/>
          </a:p>
          <a:p>
            <a:endParaRPr lang="en-US" altLang="zh-TW" dirty="0"/>
          </a:p>
          <a:p>
            <a:r>
              <a:rPr lang="zh-TW" altLang="en-US" dirty="0"/>
              <a:t>首先</a:t>
            </a:r>
            <a:endParaRPr lang="en-US" altLang="zh-TW" dirty="0"/>
          </a:p>
          <a:p>
            <a:r>
              <a:rPr lang="zh-TW" altLang="en-US" dirty="0"/>
              <a:t>針對從物流公司所取得之原始路線資料</a:t>
            </a:r>
            <a:endParaRPr lang="en-US" altLang="zh-TW" dirty="0"/>
          </a:p>
          <a:p>
            <a:r>
              <a:rPr lang="zh-TW" altLang="en-US" dirty="0"/>
              <a:t>對其進行前處理同時取得</a:t>
            </a:r>
            <a:r>
              <a:rPr lang="en-US" altLang="zh-TW" dirty="0"/>
              <a:t>OSRM</a:t>
            </a:r>
            <a:r>
              <a:rPr lang="zh-TW" altLang="en-US" dirty="0"/>
              <a:t>相關路線資料</a:t>
            </a:r>
            <a:endParaRPr lang="en-US" altLang="zh-TW" dirty="0"/>
          </a:p>
          <a:p>
            <a:r>
              <a:rPr lang="zh-TW" altLang="en-US" dirty="0"/>
              <a:t>接著進入路由模組，對主線架構中超載的店舖進行店舖抽取</a:t>
            </a:r>
            <a:endParaRPr lang="en-US" altLang="zh-TW" dirty="0"/>
          </a:p>
          <a:p>
            <a:r>
              <a:rPr lang="zh-TW" altLang="en-US" dirty="0"/>
              <a:t>將抽取完的店鋪集合進行店鋪分配以最大化主線的利用率</a:t>
            </a:r>
            <a:endParaRPr lang="en-US" altLang="zh-TW" dirty="0"/>
          </a:p>
          <a:p>
            <a:r>
              <a:rPr lang="zh-TW" altLang="en-US" dirty="0"/>
              <a:t>之後將剩餘的無法分配進主線中的店舖進行支援線規劃</a:t>
            </a:r>
            <a:endParaRPr lang="en-US" altLang="zh-TW" dirty="0"/>
          </a:p>
          <a:p>
            <a:r>
              <a:rPr lang="zh-TW" altLang="en-US" dirty="0"/>
              <a:t>店鋪分配和支援線規劃在規劃完成後會透過</a:t>
            </a:r>
            <a:r>
              <a:rPr lang="en-US" altLang="zh-TW" dirty="0"/>
              <a:t>google maps routes </a:t>
            </a:r>
            <a:r>
              <a:rPr lang="en-US" altLang="zh-TW" dirty="0" err="1"/>
              <a:t>api</a:t>
            </a:r>
            <a:r>
              <a:rPr lang="zh-TW" altLang="en-US" dirty="0"/>
              <a:t>進行驗證</a:t>
            </a:r>
            <a:endParaRPr lang="en-US" altLang="zh-TW" dirty="0"/>
          </a:p>
          <a:p>
            <a:r>
              <a:rPr lang="zh-TW" altLang="en-US" dirty="0"/>
              <a:t>最後再透過評估模組對編排好的路線資料進行評估及驗證</a:t>
            </a:r>
            <a:endParaRPr lang="en-US" altLang="zh-TW" dirty="0"/>
          </a:p>
          <a:p>
            <a:r>
              <a:rPr lang="zh-TW" altLang="en-US" dirty="0"/>
              <a:t>最後再將結果輸出成最佳化路線資料</a:t>
            </a:r>
          </a:p>
          <a:p>
            <a:endParaRPr lang="en-US" altLang="zh-TW" dirty="0"/>
          </a:p>
        </p:txBody>
      </p:sp>
      <p:sp>
        <p:nvSpPr>
          <p:cNvPr id="4" name="投影片編號版面配置區 3"/>
          <p:cNvSpPr>
            <a:spLocks noGrp="1"/>
          </p:cNvSpPr>
          <p:nvPr>
            <p:ph type="sldNum" sz="quarter" idx="5"/>
          </p:nvPr>
        </p:nvSpPr>
        <p:spPr/>
        <p:txBody>
          <a:bodyPr/>
          <a:lstStyle/>
          <a:p>
            <a:fld id="{C1134DBE-7CC5-4F23-841F-273EC3D50B7F}" type="slidenum">
              <a:rPr lang="zh-TW" altLang="en-US" smtClean="0"/>
              <a:t>13</a:t>
            </a:fld>
            <a:endParaRPr lang="zh-TW" altLang="en-US"/>
          </a:p>
        </p:txBody>
      </p:sp>
    </p:spTree>
    <p:extLst>
      <p:ext uri="{BB962C8B-B14F-4D97-AF65-F5344CB8AC3E}">
        <p14:creationId xmlns:p14="http://schemas.microsoft.com/office/powerpoint/2010/main" val="15182722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4589F-4A7A-560F-A2C3-76772C716B4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55F40A1-9A12-4036-0ACA-A8F56AF434D6}"/>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4EF75648-E149-2F2F-9521-7BDD065D3366}"/>
              </a:ext>
            </a:extLst>
          </p:cNvPr>
          <p:cNvSpPr>
            <a:spLocks noGrp="1"/>
          </p:cNvSpPr>
          <p:nvPr>
            <p:ph type="body" idx="1"/>
          </p:nvPr>
        </p:nvSpPr>
        <p:spPr/>
        <p:txBody>
          <a:bodyPr/>
          <a:lstStyle/>
          <a:p>
            <a:r>
              <a:rPr lang="zh-TW" altLang="en-US" dirty="0"/>
              <a:t>根據物流公司的營運限制，</a:t>
            </a:r>
            <a:r>
              <a:rPr lang="zh-TW" altLang="zh-TW" dirty="0"/>
              <a:t>本研究所考量之</a:t>
            </a:r>
            <a:r>
              <a:rPr lang="zh-TW" altLang="en-US" dirty="0"/>
              <a:t>實際</a:t>
            </a:r>
            <a:r>
              <a:rPr lang="zh-TW" altLang="zh-TW" dirty="0"/>
              <a:t>限制如下。</a:t>
            </a:r>
          </a:p>
          <a:p>
            <a:r>
              <a:rPr lang="en-US" altLang="zh-TW" dirty="0"/>
              <a:t>1.</a:t>
            </a:r>
            <a:r>
              <a:rPr lang="zh-TW" altLang="en-US" dirty="0"/>
              <a:t> </a:t>
            </a:r>
            <a:r>
              <a:rPr lang="zh-TW" altLang="zh-TW" dirty="0"/>
              <a:t>原有主線的</a:t>
            </a:r>
            <a:r>
              <a:rPr lang="zh-TW" altLang="en-US" dirty="0"/>
              <a:t>店鋪</a:t>
            </a:r>
            <a:r>
              <a:rPr lang="zh-TW" altLang="zh-TW" dirty="0"/>
              <a:t>服務順序不得變更，以維持既有路線結構。</a:t>
            </a:r>
            <a:endParaRPr lang="en-US" altLang="zh-TW" dirty="0"/>
          </a:p>
          <a:p>
            <a:r>
              <a:rPr lang="en-US" altLang="zh-TW" dirty="0"/>
              <a:t>2.</a:t>
            </a:r>
            <a:r>
              <a:rPr lang="zh-TW" altLang="en-US" dirty="0"/>
              <a:t> </a:t>
            </a:r>
            <a:r>
              <a:rPr lang="zh-TW" altLang="zh-TW" dirty="0"/>
              <a:t>路線調整幅度最小化，以維持原有主線架構的完整性。</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3.</a:t>
            </a:r>
            <a:r>
              <a:rPr lang="zh-TW" altLang="en-US" dirty="0"/>
              <a:t> </a:t>
            </a:r>
            <a:r>
              <a:rPr lang="zh-TW" altLang="zh-TW" dirty="0"/>
              <a:t>車輛載重不得超過其容量限制。</a:t>
            </a:r>
          </a:p>
          <a:p>
            <a:r>
              <a:rPr lang="en-US" altLang="zh-TW" dirty="0"/>
              <a:t>4.</a:t>
            </a:r>
            <a:r>
              <a:rPr lang="zh-TW" altLang="en-US" dirty="0"/>
              <a:t> </a:t>
            </a:r>
            <a:r>
              <a:rPr lang="zh-TW" altLang="zh-TW" dirty="0"/>
              <a:t>配送時間窗設定為預定時間前一小時至後三十分鐘之內。</a:t>
            </a:r>
          </a:p>
          <a:p>
            <a:r>
              <a:rPr lang="en-US" altLang="zh-TW" dirty="0"/>
              <a:t>5.</a:t>
            </a:r>
            <a:r>
              <a:rPr lang="zh-TW" altLang="en-US" dirty="0"/>
              <a:t> 路線</a:t>
            </a:r>
            <a:r>
              <a:rPr lang="zh-TW" altLang="zh-TW" dirty="0"/>
              <a:t>整體配送時間不得超過五小時。</a:t>
            </a:r>
            <a:endParaRPr lang="en-US" altLang="zh-TW" dirty="0"/>
          </a:p>
          <a:p>
            <a:endParaRPr lang="en-US" altLang="zh-TW" dirty="0"/>
          </a:p>
          <a:p>
            <a:r>
              <a:rPr lang="en-US" altLang="zh-TW" dirty="0"/>
              <a:t>Q&amp;A</a:t>
            </a:r>
          </a:p>
          <a:p>
            <a:r>
              <a:rPr lang="zh-TW" altLang="en-US" sz="1200" b="0" i="0" kern="1200" dirty="0">
                <a:solidFill>
                  <a:schemeClr val="tx1"/>
                </a:solidFill>
                <a:effectLst/>
                <a:latin typeface="+mn-lt"/>
                <a:ea typeface="+mn-ea"/>
                <a:cs typeface="+mn-cs"/>
              </a:rPr>
              <a:t>本頁</a:t>
            </a:r>
            <a:r>
              <a:rPr lang="zh-TW" altLang="zh-TW" sz="1200" b="0" i="0" kern="1200" dirty="0">
                <a:solidFill>
                  <a:schemeClr val="tx1"/>
                </a:solidFill>
                <a:effectLst/>
                <a:latin typeface="+mn-lt"/>
                <a:ea typeface="+mn-ea"/>
                <a:cs typeface="+mn-cs"/>
              </a:rPr>
              <a:t>多了「主路線固定順序不可更動」、「路線修改幅度最小化」這兩條，這兩條算是哪一類限制</a:t>
            </a:r>
            <a:endParaRPr lang="en-US" altLang="zh-TW" dirty="0"/>
          </a:p>
          <a:p>
            <a:r>
              <a:rPr lang="zh-TW" altLang="en-US" dirty="0"/>
              <a:t>前述公式限制為</a:t>
            </a:r>
            <a:r>
              <a:rPr lang="zh-TW" altLang="zh-TW" dirty="0"/>
              <a:t>VRP問題中常見的標準限制</a:t>
            </a:r>
            <a:endParaRPr lang="en-US" altLang="zh-TW" dirty="0"/>
          </a:p>
          <a:p>
            <a:r>
              <a:rPr lang="zh-TW" altLang="zh-TW" dirty="0"/>
              <a:t>所以單獨列一頁先說明其定義</a:t>
            </a:r>
            <a:endParaRPr lang="en-US" altLang="zh-TW" dirty="0"/>
          </a:p>
          <a:p>
            <a:r>
              <a:rPr lang="zh-TW" altLang="en-US" dirty="0"/>
              <a:t>本</a:t>
            </a:r>
            <a:r>
              <a:rPr lang="zh-TW" altLang="zh-TW" dirty="0"/>
              <a:t>頁多出的「主路線順序固定不可更動」與「路線修改幅度最小化」</a:t>
            </a:r>
            <a:endParaRPr lang="en-US" altLang="zh-TW" dirty="0"/>
          </a:p>
          <a:p>
            <a:r>
              <a:rPr lang="zh-TW" altLang="zh-TW" dirty="0"/>
              <a:t>是本研究因為</a:t>
            </a:r>
            <a:r>
              <a:rPr lang="zh-TW" altLang="en-US" dirty="0"/>
              <a:t>物流公司主線架構</a:t>
            </a:r>
            <a:r>
              <a:rPr lang="zh-TW" altLang="zh-TW" dirty="0"/>
              <a:t>這個前提，所衍生出來的限制條件，屬於本研究情境特有的限制</a:t>
            </a:r>
            <a:endParaRPr lang="zh-TW" altLang="en-US" dirty="0"/>
          </a:p>
          <a:p>
            <a:endParaRPr lang="zh-TW" altLang="zh-TW" dirty="0"/>
          </a:p>
        </p:txBody>
      </p:sp>
      <p:sp>
        <p:nvSpPr>
          <p:cNvPr id="4" name="投影片編號版面配置區 3">
            <a:extLst>
              <a:ext uri="{FF2B5EF4-FFF2-40B4-BE49-F238E27FC236}">
                <a16:creationId xmlns:a16="http://schemas.microsoft.com/office/drawing/2014/main" id="{C55BFEF2-242E-33AC-7FE6-D9C056259784}"/>
              </a:ext>
            </a:extLst>
          </p:cNvPr>
          <p:cNvSpPr>
            <a:spLocks noGrp="1"/>
          </p:cNvSpPr>
          <p:nvPr>
            <p:ph type="sldNum" sz="quarter" idx="5"/>
          </p:nvPr>
        </p:nvSpPr>
        <p:spPr/>
        <p:txBody>
          <a:bodyPr/>
          <a:lstStyle/>
          <a:p>
            <a:fld id="{C1134DBE-7CC5-4F23-841F-273EC3D50B7F}" type="slidenum">
              <a:rPr lang="zh-TW" altLang="en-US" smtClean="0"/>
              <a:t>14</a:t>
            </a:fld>
            <a:endParaRPr lang="zh-TW" altLang="en-US"/>
          </a:p>
        </p:txBody>
      </p:sp>
    </p:spTree>
    <p:extLst>
      <p:ext uri="{BB962C8B-B14F-4D97-AF65-F5344CB8AC3E}">
        <p14:creationId xmlns:p14="http://schemas.microsoft.com/office/powerpoint/2010/main" val="37979600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1A796-99BE-69F8-0FF1-8E8AE043336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7060558-5D27-679F-0281-7FA424DA0AE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513C1DB-3122-C002-21CD-F2D6A5A88573}"/>
              </a:ext>
            </a:extLst>
          </p:cNvPr>
          <p:cNvSpPr>
            <a:spLocks noGrp="1"/>
          </p:cNvSpPr>
          <p:nvPr>
            <p:ph type="body" idx="1"/>
          </p:nvPr>
        </p:nvSpPr>
        <p:spPr/>
        <p:txBody>
          <a:bodyPr/>
          <a:lstStyle/>
          <a:p>
            <a:r>
              <a:rPr lang="zh-TW" altLang="en-US" dirty="0"/>
              <a:t>並且本研究的目標函數採用階層式目標的設計</a:t>
            </a:r>
          </a:p>
          <a:p>
            <a:r>
              <a:rPr lang="zh-TW" altLang="en-US" dirty="0"/>
              <a:t>主要目標是最小化路線數量</a:t>
            </a:r>
          </a:p>
          <a:p>
            <a:r>
              <a:rPr lang="zh-TW" altLang="en-US" dirty="0"/>
              <a:t>次要目標是最小化總行駛距離</a:t>
            </a:r>
          </a:p>
          <a:p>
            <a:endParaRPr lang="zh-TW" altLang="zh-TW" dirty="0"/>
          </a:p>
        </p:txBody>
      </p:sp>
      <p:sp>
        <p:nvSpPr>
          <p:cNvPr id="4" name="投影片編號版面配置區 3">
            <a:extLst>
              <a:ext uri="{FF2B5EF4-FFF2-40B4-BE49-F238E27FC236}">
                <a16:creationId xmlns:a16="http://schemas.microsoft.com/office/drawing/2014/main" id="{0734FEB2-2F62-275A-11D6-84B65C6A1FFA}"/>
              </a:ext>
            </a:extLst>
          </p:cNvPr>
          <p:cNvSpPr>
            <a:spLocks noGrp="1"/>
          </p:cNvSpPr>
          <p:nvPr>
            <p:ph type="sldNum" sz="quarter" idx="5"/>
          </p:nvPr>
        </p:nvSpPr>
        <p:spPr/>
        <p:txBody>
          <a:bodyPr/>
          <a:lstStyle/>
          <a:p>
            <a:fld id="{C1134DBE-7CC5-4F23-841F-273EC3D50B7F}" type="slidenum">
              <a:rPr lang="zh-TW" altLang="en-US" smtClean="0"/>
              <a:t>15</a:t>
            </a:fld>
            <a:endParaRPr lang="zh-TW" altLang="en-US"/>
          </a:p>
        </p:txBody>
      </p:sp>
    </p:spTree>
    <p:extLst>
      <p:ext uri="{BB962C8B-B14F-4D97-AF65-F5344CB8AC3E}">
        <p14:creationId xmlns:p14="http://schemas.microsoft.com/office/powerpoint/2010/main" val="6041576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41A5D-EA24-6D3F-0F5D-0BA8A1BC58C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2915156-FBD8-ECE3-2B85-A652598EF25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24812ED-F62A-1E83-17EF-324A825A445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本研究於路由模組之架構主要分為三個階段，分別為店鋪抽取、店鋪分配、支援線規劃</a:t>
            </a:r>
            <a:br>
              <a:rPr lang="en-US" altLang="zh-TW" dirty="0"/>
            </a:b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店鋪抽取階段，從超載主線中選取適當店鋪進行移除</a:t>
            </a:r>
            <a:br>
              <a:rPr lang="en-US" altLang="zh-TW" dirty="0"/>
            </a:br>
            <a:r>
              <a:rPr lang="zh-TW" altLang="zh-TW" dirty="0"/>
              <a:t>店鋪分配階段，決定被抽取店鋪應分配至哪條</a:t>
            </a:r>
            <a:r>
              <a:rPr lang="zh-TW" altLang="en-US" dirty="0"/>
              <a:t>主線以最大化主線配送效率</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支援線規劃階段</a:t>
            </a:r>
            <a:r>
              <a:rPr lang="zh-TW" altLang="en-US" dirty="0"/>
              <a:t>，針對無法被安排進主線的店鋪，</a:t>
            </a:r>
            <a:r>
              <a:rPr lang="zh-TW" altLang="zh-TW" dirty="0"/>
              <a:t>建構支援線，以完成整體配送規劃</a:t>
            </a:r>
            <a:br>
              <a:rPr lang="en-US" altLang="zh-TW" dirty="0"/>
            </a:br>
            <a:r>
              <a:rPr lang="zh-TW" altLang="zh-TW" dirty="0"/>
              <a:t>上述三個階段</a:t>
            </a:r>
            <a:r>
              <a:rPr lang="zh-TW" altLang="en-US" dirty="0"/>
              <a:t>分別採用合作式共同演化基因演算法、混合蟻群演算法、多蟻群系統來逐</a:t>
            </a:r>
            <a:r>
              <a:rPr lang="zh-TW" altLang="zh-TW" dirty="0"/>
              <a:t>步完成整體配送規劃</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Q&amp;A</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200" b="0" i="0" kern="1200" dirty="0">
                <a:solidFill>
                  <a:schemeClr val="tx1"/>
                </a:solidFill>
                <a:effectLst/>
                <a:latin typeface="+mn-lt"/>
                <a:ea typeface="+mn-ea"/>
                <a:cs typeface="+mn-cs"/>
              </a:rPr>
              <a:t>整個路徑規劃流程被formulate成VRP，那跟VRP相比，你的</a:t>
            </a:r>
            <a:r>
              <a:rPr lang="zh-TW" altLang="en-US" sz="1200" b="0" i="0" kern="1200" dirty="0">
                <a:solidFill>
                  <a:schemeClr val="tx1"/>
                </a:solidFill>
                <a:effectLst/>
                <a:latin typeface="+mn-lt"/>
                <a:ea typeface="+mn-ea"/>
                <a:cs typeface="+mn-cs"/>
              </a:rPr>
              <a:t>問題</a:t>
            </a:r>
            <a:r>
              <a:rPr lang="zh-TW" altLang="zh-TW" sz="1200" b="0" i="0" kern="1200" dirty="0">
                <a:solidFill>
                  <a:schemeClr val="tx1"/>
                </a:solidFill>
                <a:effectLst/>
                <a:latin typeface="+mn-lt"/>
                <a:ea typeface="+mn-ea"/>
                <a:cs typeface="+mn-cs"/>
              </a:rPr>
              <a:t>多了哪些限制</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物流公司</a:t>
            </a:r>
            <a:r>
              <a:rPr lang="zh-TW" altLang="zh-TW" dirty="0"/>
              <a:t>固定</a:t>
            </a:r>
            <a:r>
              <a:rPr lang="zh-TW" altLang="en-US" dirty="0"/>
              <a:t>主</a:t>
            </a:r>
            <a:r>
              <a:rPr lang="zh-TW" altLang="zh-TW" dirty="0"/>
              <a:t>線結構</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服務限制</a:t>
            </a:r>
            <a:r>
              <a:rPr lang="zh-TW" altLang="en-US" dirty="0"/>
              <a:t> </a:t>
            </a:r>
            <a:r>
              <a:rPr lang="en-US" altLang="zh-TW" dirty="0"/>
              <a:t>(</a:t>
            </a:r>
            <a:r>
              <a:rPr lang="zh-TW" altLang="en-US" dirty="0"/>
              <a:t>容量 </a:t>
            </a:r>
            <a:r>
              <a:rPr lang="en-US" altLang="zh-TW" dirty="0"/>
              <a:t>&amp;</a:t>
            </a:r>
            <a:r>
              <a:rPr lang="zh-TW" altLang="en-US" dirty="0"/>
              <a:t> </a:t>
            </a:r>
            <a:r>
              <a:rPr lang="zh-TW" altLang="zh-TW" dirty="0"/>
              <a:t>時間窗限制</a:t>
            </a:r>
            <a:r>
              <a:rPr lang="en-US" altLang="zh-TW" dirty="0"/>
              <a:t>)</a:t>
            </a:r>
          </a:p>
        </p:txBody>
      </p:sp>
      <p:sp>
        <p:nvSpPr>
          <p:cNvPr id="4" name="投影片編號版面配置區 3">
            <a:extLst>
              <a:ext uri="{FF2B5EF4-FFF2-40B4-BE49-F238E27FC236}">
                <a16:creationId xmlns:a16="http://schemas.microsoft.com/office/drawing/2014/main" id="{A879A534-DF38-D149-4D84-71384B761C6D}"/>
              </a:ext>
            </a:extLst>
          </p:cNvPr>
          <p:cNvSpPr>
            <a:spLocks noGrp="1"/>
          </p:cNvSpPr>
          <p:nvPr>
            <p:ph type="sldNum" sz="quarter" idx="5"/>
          </p:nvPr>
        </p:nvSpPr>
        <p:spPr/>
        <p:txBody>
          <a:bodyPr/>
          <a:lstStyle/>
          <a:p>
            <a:fld id="{C1134DBE-7CC5-4F23-841F-273EC3D50B7F}" type="slidenum">
              <a:rPr lang="zh-TW" altLang="en-US" smtClean="0"/>
              <a:t>16</a:t>
            </a:fld>
            <a:endParaRPr lang="zh-TW" altLang="en-US"/>
          </a:p>
        </p:txBody>
      </p:sp>
    </p:spTree>
    <p:extLst>
      <p:ext uri="{BB962C8B-B14F-4D97-AF65-F5344CB8AC3E}">
        <p14:creationId xmlns:p14="http://schemas.microsoft.com/office/powerpoint/2010/main" val="25019160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82D2E9-0823-2C28-81AD-7C33B032511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85F8B80-CC89-77C0-40E3-867BA3C9AD00}"/>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D7A9057-972D-1966-1710-938AADF1DB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接下來說明本研究的實驗結果</a:t>
            </a:r>
            <a:endParaRPr lang="en-US" altLang="zh-TW" dirty="0"/>
          </a:p>
        </p:txBody>
      </p:sp>
      <p:sp>
        <p:nvSpPr>
          <p:cNvPr id="4" name="投影片編號版面配置區 3">
            <a:extLst>
              <a:ext uri="{FF2B5EF4-FFF2-40B4-BE49-F238E27FC236}">
                <a16:creationId xmlns:a16="http://schemas.microsoft.com/office/drawing/2014/main" id="{608366BC-CEA1-A381-07DD-CE987B2A2D11}"/>
              </a:ext>
            </a:extLst>
          </p:cNvPr>
          <p:cNvSpPr>
            <a:spLocks noGrp="1"/>
          </p:cNvSpPr>
          <p:nvPr>
            <p:ph type="sldNum" sz="quarter" idx="5"/>
          </p:nvPr>
        </p:nvSpPr>
        <p:spPr/>
        <p:txBody>
          <a:bodyPr/>
          <a:lstStyle/>
          <a:p>
            <a:fld id="{C1134DBE-7CC5-4F23-841F-273EC3D50B7F}" type="slidenum">
              <a:rPr lang="zh-TW" altLang="en-US" smtClean="0"/>
              <a:t>17</a:t>
            </a:fld>
            <a:endParaRPr lang="zh-TW" altLang="en-US"/>
          </a:p>
        </p:txBody>
      </p:sp>
    </p:spTree>
    <p:extLst>
      <p:ext uri="{BB962C8B-B14F-4D97-AF65-F5344CB8AC3E}">
        <p14:creationId xmlns:p14="http://schemas.microsoft.com/office/powerpoint/2010/main" val="631549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76FC9-A265-857D-204E-768945FF09F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407EDDE-E189-D5F5-7C8D-6DD9952392E3}"/>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2C22BE0-3B00-73C0-847E-7CA7298421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首先介紹本研究各階段演算法之設定</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Q&amp;A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1.</a:t>
            </a:r>
            <a:r>
              <a:rPr lang="zh-TW" altLang="en-US" dirty="0"/>
              <a:t> 超參數是如何調整的</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由於 VRP 運算本身非常耗時，無法窮舉所有參數組合</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因此</a:t>
            </a:r>
            <a:r>
              <a:rPr lang="zh-TW" altLang="en-US" dirty="0"/>
              <a:t>使用</a:t>
            </a:r>
            <a:r>
              <a:rPr lang="zh-TW" altLang="zh-TW" dirty="0"/>
              <a:t>田口方法，首先依據相關文獻與初步實驗結果設定參數範圍</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透過建立直交表來減少實驗次數，並計算各參數組合的訊雜比（S/N ratio）</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藉此在合理的時間內找出這組最具穩健性（Robustness）的最佳超參數</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2.</a:t>
            </a:r>
            <a:r>
              <a:rPr lang="zh-TW" altLang="en-US" dirty="0"/>
              <a:t> </a:t>
            </a:r>
            <a:r>
              <a:rPr lang="zh-TW" altLang="zh-TW" dirty="0"/>
              <a:t>HACO 與 MACS 的參數差異</a:t>
            </a:r>
            <a:endParaRPr lang="en-US" altLang="zh-TW" dirty="0"/>
          </a:p>
          <a:p>
            <a:r>
              <a:rPr lang="zh-TW" altLang="zh-TW" dirty="0"/>
              <a:t>HACO 是</a:t>
            </a:r>
            <a:r>
              <a:rPr lang="zh-TW" altLang="en-US" dirty="0"/>
              <a:t>針對</a:t>
            </a:r>
            <a:r>
              <a:rPr lang="zh-TW" altLang="zh-TW" dirty="0"/>
              <a:t>主線結構設計，因此下一個店鋪的選擇會受到主線</a:t>
            </a:r>
            <a:r>
              <a:rPr lang="zh-TW" altLang="en-US" dirty="0"/>
              <a:t>以及可行解</a:t>
            </a:r>
            <a:r>
              <a:rPr lang="zh-TW" altLang="zh-TW" dirty="0"/>
              <a:t>的限制</a:t>
            </a:r>
          </a:p>
          <a:p>
            <a:r>
              <a:rPr lang="zh-TW" altLang="zh-TW" dirty="0"/>
              <a:t>MACS 是直接將問題視為</a:t>
            </a:r>
            <a:r>
              <a:rPr lang="zh-TW" altLang="en-US" dirty="0"/>
              <a:t>嚴格時間窗的</a:t>
            </a:r>
            <a:r>
              <a:rPr lang="zh-TW" altLang="zh-TW" dirty="0"/>
              <a:t>VRPTW 進行求解，雖然同樣有可行性限制，但沒有主線結構的額外約束，因此解空間相對更自由</a:t>
            </a:r>
          </a:p>
        </p:txBody>
      </p:sp>
      <p:sp>
        <p:nvSpPr>
          <p:cNvPr id="4" name="投影片編號版面配置區 3">
            <a:extLst>
              <a:ext uri="{FF2B5EF4-FFF2-40B4-BE49-F238E27FC236}">
                <a16:creationId xmlns:a16="http://schemas.microsoft.com/office/drawing/2014/main" id="{9BDB44C1-48CE-2BC0-28CF-AABF7FCACFBB}"/>
              </a:ext>
            </a:extLst>
          </p:cNvPr>
          <p:cNvSpPr>
            <a:spLocks noGrp="1"/>
          </p:cNvSpPr>
          <p:nvPr>
            <p:ph type="sldNum" sz="quarter" idx="5"/>
          </p:nvPr>
        </p:nvSpPr>
        <p:spPr/>
        <p:txBody>
          <a:bodyPr/>
          <a:lstStyle/>
          <a:p>
            <a:fld id="{C1134DBE-7CC5-4F23-841F-273EC3D50B7F}" type="slidenum">
              <a:rPr lang="zh-TW" altLang="en-US" smtClean="0"/>
              <a:t>18</a:t>
            </a:fld>
            <a:endParaRPr lang="zh-TW" altLang="en-US"/>
          </a:p>
        </p:txBody>
      </p:sp>
    </p:spTree>
    <p:extLst>
      <p:ext uri="{BB962C8B-B14F-4D97-AF65-F5344CB8AC3E}">
        <p14:creationId xmlns:p14="http://schemas.microsoft.com/office/powerpoint/2010/main" val="19860539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2F04B-F934-9ED9-D2F8-8F497722A29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431C448-BC01-3F12-A3ED-4C0C537F18C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900D42-D3F4-22F5-A185-D8F6BD7217A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本研究比較所提出</a:t>
            </a:r>
            <a:r>
              <a:rPr lang="zh-TW" altLang="zh-TW" dirty="0"/>
              <a:t>方法</a:t>
            </a:r>
            <a:r>
              <a:rPr lang="zh-TW" altLang="en-US" b="1" dirty="0"/>
              <a:t>、</a:t>
            </a:r>
            <a:r>
              <a:rPr lang="zh-TW" altLang="en-US" dirty="0"/>
              <a:t>基準方法與</a:t>
            </a:r>
            <a:r>
              <a:rPr lang="zh-TW" altLang="en-US" b="1" dirty="0"/>
              <a:t>物流公司</a:t>
            </a:r>
            <a:r>
              <a:rPr lang="zh-TW" altLang="zh-TW" dirty="0"/>
              <a:t>人工規劃的整體配送</a:t>
            </a:r>
            <a:r>
              <a:rPr lang="zh-TW" altLang="en-US" dirty="0"/>
              <a:t>結果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表中可以觀察到本研究所提出之完整方法於各指標皆取得最佳結果</a:t>
            </a:r>
            <a:br>
              <a:rPr lang="en-US" altLang="zh-TW" dirty="0"/>
            </a:br>
            <a:endParaRPr lang="en-US" altLang="zh-TW" dirty="0"/>
          </a:p>
        </p:txBody>
      </p:sp>
      <p:sp>
        <p:nvSpPr>
          <p:cNvPr id="4" name="投影片編號版面配置區 3">
            <a:extLst>
              <a:ext uri="{FF2B5EF4-FFF2-40B4-BE49-F238E27FC236}">
                <a16:creationId xmlns:a16="http://schemas.microsoft.com/office/drawing/2014/main" id="{964562B9-EB86-04A8-8F70-C8C5ED0F44EC}"/>
              </a:ext>
            </a:extLst>
          </p:cNvPr>
          <p:cNvSpPr>
            <a:spLocks noGrp="1"/>
          </p:cNvSpPr>
          <p:nvPr>
            <p:ph type="sldNum" sz="quarter" idx="5"/>
          </p:nvPr>
        </p:nvSpPr>
        <p:spPr/>
        <p:txBody>
          <a:bodyPr/>
          <a:lstStyle/>
          <a:p>
            <a:fld id="{C1134DBE-7CC5-4F23-841F-273EC3D50B7F}" type="slidenum">
              <a:rPr lang="zh-TW" altLang="en-US" smtClean="0"/>
              <a:t>19</a:t>
            </a:fld>
            <a:endParaRPr lang="zh-TW" altLang="en-US"/>
          </a:p>
        </p:txBody>
      </p:sp>
    </p:spTree>
    <p:extLst>
      <p:ext uri="{BB962C8B-B14F-4D97-AF65-F5344CB8AC3E}">
        <p14:creationId xmlns:p14="http://schemas.microsoft.com/office/powerpoint/2010/main" val="3271605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40C61-25BD-91A1-A17B-76B2E2BCD36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24834C2-B3EC-E9A2-6CF5-6E1CFE21F00B}"/>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AB23D18E-C9A0-561F-8732-B5D197A05C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本頁為各案例</a:t>
            </a:r>
            <a:r>
              <a:rPr lang="zh-TW" altLang="en-US" dirty="0"/>
              <a:t>中車輛數量及總行駛距離</a:t>
            </a:r>
            <a:r>
              <a:rPr lang="zh-TW" altLang="zh-TW" dirty="0"/>
              <a:t>比較結果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從圖中可知本研究方法在車輛數量方面於所有案例皆能夠降低車輛數量需求</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而在總行駛距離方面，於大部分案例</a:t>
            </a:r>
            <a:r>
              <a:rPr lang="zh-TW" altLang="en-US" dirty="0"/>
              <a:t>取得</a:t>
            </a:r>
            <a:r>
              <a:rPr lang="zh-TW" altLang="zh-TW" dirty="0"/>
              <a:t>較佳表現，能有效縮短總行駛距離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Q&amp;A</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zh-TW" altLang="en-US" dirty="0"/>
              <a:t>少部分路線總行駛距離比人工規劃還長</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其原因為本研究之目標優先考量車輛數量，其次為總行駛距離</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因此，</a:t>
            </a:r>
            <a:r>
              <a:rPr lang="zh-TW" altLang="zh-TW" dirty="0"/>
              <a:t>部分案例會以增加少量行駛距離作為代價，換取減少車輛數量</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進而達到更佳的整體配送</a:t>
            </a:r>
            <a:r>
              <a:rPr lang="zh-TW" altLang="en-US" dirty="0"/>
              <a:t>效果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2.</a:t>
            </a:r>
            <a:r>
              <a:rPr lang="zh-TW" altLang="en-US" dirty="0"/>
              <a:t> </a:t>
            </a:r>
            <a:r>
              <a:rPr lang="zh-TW" altLang="zh-TW" dirty="0"/>
              <a:t>距離縮減了這幾百公里，對物流公司來說具體的意義是什麼</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第一是油資與車輛耗損的直接降低</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第二是司機整體工時的縮短</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第三是減少了碳排放量</a:t>
            </a:r>
            <a:endParaRPr lang="zh-TW" altLang="en-US" dirty="0"/>
          </a:p>
        </p:txBody>
      </p:sp>
      <p:sp>
        <p:nvSpPr>
          <p:cNvPr id="4" name="投影片編號版面配置區 3">
            <a:extLst>
              <a:ext uri="{FF2B5EF4-FFF2-40B4-BE49-F238E27FC236}">
                <a16:creationId xmlns:a16="http://schemas.microsoft.com/office/drawing/2014/main" id="{FEF3B2CD-D8D6-E8C9-2730-57AF5FCAFEEF}"/>
              </a:ext>
            </a:extLst>
          </p:cNvPr>
          <p:cNvSpPr>
            <a:spLocks noGrp="1"/>
          </p:cNvSpPr>
          <p:nvPr>
            <p:ph type="sldNum" sz="quarter" idx="5"/>
          </p:nvPr>
        </p:nvSpPr>
        <p:spPr/>
        <p:txBody>
          <a:bodyPr/>
          <a:lstStyle/>
          <a:p>
            <a:fld id="{C1134DBE-7CC5-4F23-841F-273EC3D50B7F}" type="slidenum">
              <a:rPr lang="zh-TW" altLang="en-US" smtClean="0"/>
              <a:t>20</a:t>
            </a:fld>
            <a:endParaRPr lang="zh-TW" altLang="en-US"/>
          </a:p>
        </p:txBody>
      </p:sp>
    </p:spTree>
    <p:extLst>
      <p:ext uri="{BB962C8B-B14F-4D97-AF65-F5344CB8AC3E}">
        <p14:creationId xmlns:p14="http://schemas.microsoft.com/office/powerpoint/2010/main" val="3014472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84EAE-8913-10C8-01B0-E0DFA6206F4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0D712DF-A6FA-247B-7918-D8BD9829F13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4706AE8-BA57-5568-01DB-20C890F7C8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本頁為各</a:t>
            </a:r>
            <a:r>
              <a:rPr lang="zh-TW" altLang="en-US" dirty="0"/>
              <a:t>案</a:t>
            </a:r>
            <a:r>
              <a:rPr lang="zh-TW" altLang="zh-TW" dirty="0"/>
              <a:t>例</a:t>
            </a:r>
            <a:r>
              <a:rPr lang="zh-TW" altLang="en-US" dirty="0"/>
              <a:t>中平均裝載率及準點率</a:t>
            </a:r>
            <a:r>
              <a:rPr lang="zh-TW" altLang="zh-TW" dirty="0"/>
              <a:t>比較結果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從圖中可知本研究方法於所有案例皆能夠有效提升車輛平均裝載率及店鋪準點率</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en-US" dirty="0"/>
          </a:p>
        </p:txBody>
      </p:sp>
      <p:sp>
        <p:nvSpPr>
          <p:cNvPr id="4" name="投影片編號版面配置區 3">
            <a:extLst>
              <a:ext uri="{FF2B5EF4-FFF2-40B4-BE49-F238E27FC236}">
                <a16:creationId xmlns:a16="http://schemas.microsoft.com/office/drawing/2014/main" id="{DE7C5E36-979D-C0B6-45D1-A83324D998D7}"/>
              </a:ext>
            </a:extLst>
          </p:cNvPr>
          <p:cNvSpPr>
            <a:spLocks noGrp="1"/>
          </p:cNvSpPr>
          <p:nvPr>
            <p:ph type="sldNum" sz="quarter" idx="5"/>
          </p:nvPr>
        </p:nvSpPr>
        <p:spPr/>
        <p:txBody>
          <a:bodyPr/>
          <a:lstStyle/>
          <a:p>
            <a:fld id="{C1134DBE-7CC5-4F23-841F-273EC3D50B7F}" type="slidenum">
              <a:rPr lang="zh-TW" altLang="en-US" smtClean="0"/>
              <a:t>21</a:t>
            </a:fld>
            <a:endParaRPr lang="zh-TW" altLang="en-US"/>
          </a:p>
        </p:txBody>
      </p:sp>
    </p:spTree>
    <p:extLst>
      <p:ext uri="{BB962C8B-B14F-4D97-AF65-F5344CB8AC3E}">
        <p14:creationId xmlns:p14="http://schemas.microsoft.com/office/powerpoint/2010/main" val="73371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5108F-0559-FCA4-845A-D67C0AED919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31B1F06-BC12-6E3A-2A2F-E6733288010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B6AC9F90-270F-4B3D-6792-12EFD3DD2DA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為驗證各項評估指標的改善是否具有顯著性</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本研究進一步針對各項指標進行統計分析</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以確認其是否具有顯著差異</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本研究</a:t>
            </a:r>
            <a:r>
              <a:rPr lang="zh-TW" altLang="en-US" dirty="0"/>
              <a:t>使用</a:t>
            </a:r>
            <a:r>
              <a:rPr lang="en-US" altLang="zh-TW" b="0" dirty="0"/>
              <a:t>Wilcoxon Signed</a:t>
            </a:r>
            <a:r>
              <a:rPr lang="zh-TW" altLang="en-US" b="0" dirty="0"/>
              <a:t> </a:t>
            </a:r>
            <a:r>
              <a:rPr lang="en-US" altLang="zh-TW" b="0" dirty="0"/>
              <a:t>Rank Test</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並</a:t>
            </a:r>
            <a:r>
              <a:rPr lang="zh-TW" altLang="zh-TW" dirty="0"/>
              <a:t>將顯著水準設為 0.05</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結果顯示</a:t>
            </a:r>
            <a:r>
              <a:rPr lang="zh-TW" altLang="en-US" dirty="0"/>
              <a:t>本研究所提出的方法相比於兩種方法的結果</a:t>
            </a:r>
            <a:r>
              <a:rPr lang="zh-TW" altLang="zh-TW" dirty="0"/>
              <a:t>在各項評估指標皆具有顯著改善</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顯示本研究方法皆能有效提升整體的配送規劃結果</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Q&amp;A</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Wilcoxon </a:t>
            </a:r>
            <a:r>
              <a:rPr lang="zh-TW" altLang="en-US" dirty="0"/>
              <a:t>為</a:t>
            </a:r>
            <a:r>
              <a:rPr lang="zh-TW" altLang="zh-TW" dirty="0"/>
              <a:t>無母數檢定</a:t>
            </a:r>
            <a:r>
              <a:rPr lang="zh-TW" altLang="en-US" dirty="0"/>
              <a:t>，本研究</a:t>
            </a:r>
            <a:r>
              <a:rPr lang="zh-TW" altLang="zh-TW" dirty="0"/>
              <a:t>數據分佈並不符合常態分配</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p>
        </p:txBody>
      </p:sp>
      <p:sp>
        <p:nvSpPr>
          <p:cNvPr id="4" name="投影片編號版面配置區 3">
            <a:extLst>
              <a:ext uri="{FF2B5EF4-FFF2-40B4-BE49-F238E27FC236}">
                <a16:creationId xmlns:a16="http://schemas.microsoft.com/office/drawing/2014/main" id="{72EBC585-8D64-FBFC-48E9-224E588023DC}"/>
              </a:ext>
            </a:extLst>
          </p:cNvPr>
          <p:cNvSpPr>
            <a:spLocks noGrp="1"/>
          </p:cNvSpPr>
          <p:nvPr>
            <p:ph type="sldNum" sz="quarter" idx="5"/>
          </p:nvPr>
        </p:nvSpPr>
        <p:spPr/>
        <p:txBody>
          <a:bodyPr/>
          <a:lstStyle/>
          <a:p>
            <a:fld id="{C1134DBE-7CC5-4F23-841F-273EC3D50B7F}" type="slidenum">
              <a:rPr lang="zh-TW" altLang="en-US" smtClean="0"/>
              <a:t>22</a:t>
            </a:fld>
            <a:endParaRPr lang="zh-TW" altLang="en-US"/>
          </a:p>
        </p:txBody>
      </p:sp>
    </p:spTree>
    <p:extLst>
      <p:ext uri="{BB962C8B-B14F-4D97-AF65-F5344CB8AC3E}">
        <p14:creationId xmlns:p14="http://schemas.microsoft.com/office/powerpoint/2010/main" val="39673882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49396-5C3E-F4E3-6678-7B93124F51B5}"/>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A4F90EA-0F91-B118-DA16-EA258DB8366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40C814E-D669-9013-6F7C-7B018634F5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接下來介紹本研究的結論與未來研究方向</a:t>
            </a:r>
            <a:endParaRPr lang="en-US" altLang="zh-TW" dirty="0"/>
          </a:p>
        </p:txBody>
      </p:sp>
      <p:sp>
        <p:nvSpPr>
          <p:cNvPr id="4" name="投影片編號版面配置區 3">
            <a:extLst>
              <a:ext uri="{FF2B5EF4-FFF2-40B4-BE49-F238E27FC236}">
                <a16:creationId xmlns:a16="http://schemas.microsoft.com/office/drawing/2014/main" id="{181F462A-71CD-8010-063E-BCB927B4CCA4}"/>
              </a:ext>
            </a:extLst>
          </p:cNvPr>
          <p:cNvSpPr>
            <a:spLocks noGrp="1"/>
          </p:cNvSpPr>
          <p:nvPr>
            <p:ph type="sldNum" sz="quarter" idx="5"/>
          </p:nvPr>
        </p:nvSpPr>
        <p:spPr/>
        <p:txBody>
          <a:bodyPr/>
          <a:lstStyle/>
          <a:p>
            <a:fld id="{C1134DBE-7CC5-4F23-841F-273EC3D50B7F}" type="slidenum">
              <a:rPr lang="zh-TW" altLang="en-US" smtClean="0"/>
              <a:t>23</a:t>
            </a:fld>
            <a:endParaRPr lang="zh-TW" altLang="en-US"/>
          </a:p>
        </p:txBody>
      </p:sp>
    </p:spTree>
    <p:extLst>
      <p:ext uri="{BB962C8B-B14F-4D97-AF65-F5344CB8AC3E}">
        <p14:creationId xmlns:p14="http://schemas.microsoft.com/office/powerpoint/2010/main" val="11143158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063B5-5867-FB24-7F0E-5B6A24E2F73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2DE6DFE-3FCA-9F2D-A6A1-2DF55B99CB8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C0A78D7-20DF-63F4-8990-24B0E97781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本研究針對</a:t>
            </a:r>
            <a:r>
              <a:rPr lang="zh-TW" altLang="en-US" dirty="0"/>
              <a:t>物流公司</a:t>
            </a:r>
            <a:r>
              <a:rPr lang="zh-TW" altLang="zh-TW" dirty="0"/>
              <a:t>固定主線架構下之物流配送問題，提出一個多階段</a:t>
            </a:r>
            <a:r>
              <a:rPr lang="zh-TW" altLang="en-US" dirty="0"/>
              <a:t>符合營運</a:t>
            </a:r>
            <a:r>
              <a:rPr lang="zh-TW" altLang="zh-TW" dirty="0"/>
              <a:t>限制</a:t>
            </a:r>
            <a:r>
              <a:rPr lang="zh-TW" altLang="en-US" dirty="0"/>
              <a:t>的車輛路徑問題</a:t>
            </a:r>
            <a:r>
              <a:rPr lang="zh-TW" altLang="zh-TW" dirty="0"/>
              <a:t>模型</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將問題分解成三個子問題，並</a:t>
            </a:r>
            <a:r>
              <a:rPr lang="zh-TW" altLang="zh-TW" dirty="0"/>
              <a:t>結合 CCGA、HACO 與 MACS 的混合式最佳化架構</a:t>
            </a:r>
            <a:r>
              <a:rPr lang="zh-TW" altLang="en-US" dirty="0"/>
              <a:t>解決此問題</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dirty="0"/>
              <a:t>實驗結果顯示，本研究方法</a:t>
            </a:r>
            <a:r>
              <a:rPr lang="zh-TW" altLang="en-US" dirty="0"/>
              <a:t>於</a:t>
            </a:r>
            <a:r>
              <a:rPr lang="zh-TW" altLang="zh-TW" dirty="0"/>
              <a:t>實務資料中，能有效提升</a:t>
            </a:r>
            <a:r>
              <a:rPr lang="zh-TW" altLang="en-US" dirty="0"/>
              <a:t>整體配送規劃結果</a:t>
            </a:r>
            <a:endParaRPr lang="en-US" altLang="zh-TW" dirty="0"/>
          </a:p>
        </p:txBody>
      </p:sp>
      <p:sp>
        <p:nvSpPr>
          <p:cNvPr id="4" name="投影片編號版面配置區 3">
            <a:extLst>
              <a:ext uri="{FF2B5EF4-FFF2-40B4-BE49-F238E27FC236}">
                <a16:creationId xmlns:a16="http://schemas.microsoft.com/office/drawing/2014/main" id="{F7A58BFF-24F9-DE08-B11D-23A1DD6AD70E}"/>
              </a:ext>
            </a:extLst>
          </p:cNvPr>
          <p:cNvSpPr>
            <a:spLocks noGrp="1"/>
          </p:cNvSpPr>
          <p:nvPr>
            <p:ph type="sldNum" sz="quarter" idx="5"/>
          </p:nvPr>
        </p:nvSpPr>
        <p:spPr/>
        <p:txBody>
          <a:bodyPr/>
          <a:lstStyle/>
          <a:p>
            <a:fld id="{C1134DBE-7CC5-4F23-841F-273EC3D50B7F}" type="slidenum">
              <a:rPr lang="zh-TW" altLang="en-US" smtClean="0"/>
              <a:t>24</a:t>
            </a:fld>
            <a:endParaRPr lang="zh-TW" altLang="en-US"/>
          </a:p>
        </p:txBody>
      </p:sp>
    </p:spTree>
    <p:extLst>
      <p:ext uri="{BB962C8B-B14F-4D97-AF65-F5344CB8AC3E}">
        <p14:creationId xmlns:p14="http://schemas.microsoft.com/office/powerpoint/2010/main" val="435959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FA125-3886-DA4B-61C9-E97A040C711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CFA92B6-1FEC-1ADF-4F8C-AF74F845E891}"/>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BEB330C-C401-B4D8-5414-832C144C1E80}"/>
              </a:ext>
            </a:extLst>
          </p:cNvPr>
          <p:cNvSpPr>
            <a:spLocks noGrp="1"/>
          </p:cNvSpPr>
          <p:nvPr>
            <p:ph type="body" idx="1"/>
          </p:nvPr>
        </p:nvSpPr>
        <p:spPr/>
        <p:txBody>
          <a:bodyPr/>
          <a:lstStyle/>
          <a:p>
            <a:r>
              <a:rPr lang="zh-TW" altLang="en-US" dirty="0"/>
              <a:t>接下來介紹本研究的未來研究方向</a:t>
            </a:r>
            <a:endParaRPr lang="en-US" altLang="zh-TW" dirty="0"/>
          </a:p>
          <a:p>
            <a:r>
              <a:rPr lang="zh-TW" altLang="zh-TW" dirty="0"/>
              <a:t>在問題擴展方面</a:t>
            </a:r>
            <a:endParaRPr lang="en-US" altLang="zh-TW" dirty="0"/>
          </a:p>
          <a:p>
            <a:r>
              <a:rPr lang="zh-TW" altLang="zh-TW" dirty="0"/>
              <a:t>未來可進一步將所提出的方法延伸至更多不同類型的車輛途程問題。例如，多類型異質車隊車輛路徑問題。</a:t>
            </a:r>
          </a:p>
          <a:p>
            <a:r>
              <a:rPr lang="zh-TW" altLang="zh-TW" dirty="0"/>
              <a:t>亦可將綠色物流相關考量納入模型之中，</a:t>
            </a:r>
            <a:r>
              <a:rPr lang="zh-TW" altLang="en-US" dirty="0"/>
              <a:t>同時考量</a:t>
            </a:r>
            <a:r>
              <a:rPr lang="zh-TW" altLang="zh-TW" dirty="0"/>
              <a:t>例如碳排放量、能源消耗等因素</a:t>
            </a:r>
          </a:p>
          <a:p>
            <a:endParaRPr lang="zh-TW" altLang="zh-TW" dirty="0"/>
          </a:p>
          <a:p>
            <a:r>
              <a:rPr lang="zh-TW" altLang="zh-TW" dirty="0"/>
              <a:t>在方法方面</a:t>
            </a:r>
            <a:endParaRPr lang="en-US" altLang="zh-TW" dirty="0"/>
          </a:p>
          <a:p>
            <a:r>
              <a:rPr lang="zh-TW" altLang="zh-TW" dirty="0"/>
              <a:t>未來可進一步整合的人工智慧技術</a:t>
            </a:r>
            <a:endParaRPr lang="en-US" altLang="zh-TW" dirty="0"/>
          </a:p>
          <a:p>
            <a:r>
              <a:rPr lang="zh-TW" altLang="zh-TW" dirty="0"/>
              <a:t>例如結合深度學習與強化學習方法，學習</a:t>
            </a:r>
            <a:r>
              <a:rPr lang="zh-TW" altLang="en-US" dirty="0"/>
              <a:t>物流公司的</a:t>
            </a:r>
            <a:r>
              <a:rPr lang="zh-TW" altLang="zh-TW" dirty="0"/>
              <a:t>配送決策，進一步提升</a:t>
            </a:r>
            <a:r>
              <a:rPr lang="zh-TW" altLang="en-US" dirty="0"/>
              <a:t>整體</a:t>
            </a:r>
            <a:r>
              <a:rPr lang="zh-TW" altLang="zh-TW" dirty="0"/>
              <a:t>決策品質</a:t>
            </a:r>
          </a:p>
        </p:txBody>
      </p:sp>
      <p:sp>
        <p:nvSpPr>
          <p:cNvPr id="4" name="投影片編號版面配置區 3">
            <a:extLst>
              <a:ext uri="{FF2B5EF4-FFF2-40B4-BE49-F238E27FC236}">
                <a16:creationId xmlns:a16="http://schemas.microsoft.com/office/drawing/2014/main" id="{7308416B-DF2A-C7A8-918B-801F135F9073}"/>
              </a:ext>
            </a:extLst>
          </p:cNvPr>
          <p:cNvSpPr>
            <a:spLocks noGrp="1"/>
          </p:cNvSpPr>
          <p:nvPr>
            <p:ph type="sldNum" sz="quarter" idx="5"/>
          </p:nvPr>
        </p:nvSpPr>
        <p:spPr/>
        <p:txBody>
          <a:bodyPr/>
          <a:lstStyle/>
          <a:p>
            <a:fld id="{C1134DBE-7CC5-4F23-841F-273EC3D50B7F}" type="slidenum">
              <a:rPr lang="zh-TW" altLang="en-US" smtClean="0"/>
              <a:t>25</a:t>
            </a:fld>
            <a:endParaRPr lang="zh-TW" altLang="en-US"/>
          </a:p>
        </p:txBody>
      </p:sp>
    </p:spTree>
    <p:extLst>
      <p:ext uri="{BB962C8B-B14F-4D97-AF65-F5344CB8AC3E}">
        <p14:creationId xmlns:p14="http://schemas.microsoft.com/office/powerpoint/2010/main" val="21334381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C1FF8-A54F-35B6-2FCF-978AFDC5EA5B}"/>
            </a:ext>
          </a:extLst>
        </p:cNvPr>
        <p:cNvGrpSpPr/>
        <p:nvPr/>
      </p:nvGrpSpPr>
      <p:grpSpPr>
        <a:xfrm>
          <a:off x="0" y="0"/>
          <a:ext cx="0" cy="0"/>
          <a:chOff x="0" y="0"/>
          <a:chExt cx="0" cy="0"/>
        </a:xfrm>
      </p:grpSpPr>
      <p:sp>
        <p:nvSpPr>
          <p:cNvPr id="2" name="投影片圖像版面配置區 1">
            <a:extLst>
              <a:ext uri="{FF2B5EF4-FFF2-40B4-BE49-F238E27FC236}">
                <a16:creationId xmlns:a16="http://schemas.microsoft.com/office/drawing/2014/main" id="{74FEC18D-32CB-B808-7156-9130E163D0C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87E7F8D-11EB-5DE8-7669-9C2E9606BCC3}"/>
              </a:ext>
            </a:extLst>
          </p:cNvPr>
          <p:cNvSpPr>
            <a:spLocks noGrp="1"/>
          </p:cNvSpPr>
          <p:nvPr>
            <p:ph type="body" idx="1"/>
          </p:nvPr>
        </p:nvSpPr>
        <p:spPr/>
        <p:txBody>
          <a:bodyPr/>
          <a:lstStyle/>
          <a:p>
            <a:r>
              <a:rPr lang="zh-TW" altLang="en-US" dirty="0"/>
              <a:t>我的報告到此結束，謝謝各位大家的聆聽。</a:t>
            </a:r>
            <a:endParaRPr lang="en-US" altLang="zh-TW" dirty="0"/>
          </a:p>
          <a:p>
            <a:endParaRPr lang="en-US" altLang="zh-TW" dirty="0"/>
          </a:p>
          <a:p>
            <a:r>
              <a:rPr lang="en-US" altLang="zh-TW" dirty="0"/>
              <a:t>Q&amp;A</a:t>
            </a:r>
          </a:p>
          <a:p>
            <a:r>
              <a:rPr lang="en-US" altLang="zh-TW" dirty="0"/>
              <a:t>1.</a:t>
            </a:r>
            <a:r>
              <a:rPr lang="zh-TW" altLang="zh-TW" dirty="0"/>
              <a:t>大多現在都是做 LLM 或者深度學習相關的問題 那你為什麼還在做演算法</a:t>
            </a:r>
            <a:r>
              <a:rPr lang="en-US" altLang="zh-TW" dirty="0"/>
              <a:t>?</a:t>
            </a:r>
          </a:p>
          <a:p>
            <a:r>
              <a:rPr lang="zh-TW" altLang="en-US" dirty="0"/>
              <a:t>目前確實有許多研究聚焦於 </a:t>
            </a:r>
            <a:r>
              <a:rPr lang="en-US" altLang="zh-TW" dirty="0"/>
              <a:t>LLM </a:t>
            </a:r>
            <a:r>
              <a:rPr lang="zh-TW" altLang="en-US" dirty="0"/>
              <a:t>或深度學習，但我所研究的是車輛途程規劃，本質上屬於組合最佳化問題。</a:t>
            </a:r>
            <a:endParaRPr lang="en-US" altLang="zh-TW" dirty="0"/>
          </a:p>
          <a:p>
            <a:r>
              <a:rPr lang="zh-TW" altLang="en-US" dirty="0"/>
              <a:t>這類問題的目標是在解空間中尋找滿足多項限制條件的最佳解，例如車輛容量、配送時間窗及路線限制等，因此仍然需要最佳化演算法來求解。</a:t>
            </a:r>
          </a:p>
          <a:p>
            <a:endParaRPr lang="en-US" altLang="zh-TW" dirty="0"/>
          </a:p>
          <a:p>
            <a:r>
              <a:rPr lang="en-US" altLang="zh-TW" dirty="0"/>
              <a:t>2.</a:t>
            </a:r>
            <a:r>
              <a:rPr lang="zh-TW" altLang="en-US" dirty="0"/>
              <a:t> 這些沒辦法用</a:t>
            </a:r>
            <a:r>
              <a:rPr lang="en-US" altLang="zh-TW" dirty="0"/>
              <a:t>LLM</a:t>
            </a:r>
            <a:r>
              <a:rPr lang="zh-TW" altLang="en-US" dirty="0"/>
              <a:t>做嗎</a:t>
            </a:r>
            <a:endParaRPr lang="en-US" altLang="zh-TW" dirty="0"/>
          </a:p>
          <a:p>
            <a:r>
              <a:rPr lang="zh-TW" altLang="zh-TW" dirty="0"/>
              <a:t>我認為 LLM 可以協助這個流程，但目前還不能直接取代最佳化演算法。</a:t>
            </a:r>
            <a:endParaRPr lang="en-US" altLang="zh-TW" dirty="0"/>
          </a:p>
          <a:p>
            <a:r>
              <a:rPr lang="zh-TW" altLang="zh-TW" dirty="0"/>
              <a:t>如果把物流資料直接丟給 LLM，請它輸出一份 Excel 路線，它確實有可能產生一個結果，但有幾個問題。</a:t>
            </a:r>
            <a:endParaRPr lang="en-US" altLang="zh-TW" dirty="0"/>
          </a:p>
          <a:p>
            <a:pPr marL="228600" indent="-228600">
              <a:buAutoNum type="arabicPeriod"/>
            </a:pPr>
            <a:r>
              <a:rPr lang="zh-TW" altLang="zh-TW" dirty="0"/>
              <a:t>LLM 不保證滿足所有限制條件</a:t>
            </a:r>
            <a:endParaRPr lang="en-US" altLang="zh-TW" dirty="0"/>
          </a:p>
          <a:p>
            <a:pPr marL="228600" indent="-228600">
              <a:buAutoNum type="arabicPeriod"/>
            </a:pPr>
            <a:r>
              <a:rPr lang="zh-TW" altLang="zh-TW" dirty="0"/>
              <a:t>結果的穩定性與可驗證性</a:t>
            </a:r>
            <a:endParaRPr lang="en-US" altLang="zh-TW" dirty="0"/>
          </a:p>
        </p:txBody>
      </p:sp>
      <p:sp>
        <p:nvSpPr>
          <p:cNvPr id="4" name="投影片編號版面配置區 3">
            <a:extLst>
              <a:ext uri="{FF2B5EF4-FFF2-40B4-BE49-F238E27FC236}">
                <a16:creationId xmlns:a16="http://schemas.microsoft.com/office/drawing/2014/main" id="{37935761-A00F-80CE-B28F-172EAB01429B}"/>
              </a:ext>
            </a:extLst>
          </p:cNvPr>
          <p:cNvSpPr>
            <a:spLocks noGrp="1"/>
          </p:cNvSpPr>
          <p:nvPr>
            <p:ph type="sldNum" sz="quarter" idx="10"/>
          </p:nvPr>
        </p:nvSpPr>
        <p:spPr/>
        <p:txBody>
          <a:bodyPr/>
          <a:lstStyle/>
          <a:p>
            <a:fld id="{504706DC-D834-4F28-8B12-F5017493D9BA}" type="slidenum">
              <a:rPr lang="zh-TW" altLang="en-US" smtClean="0"/>
              <a:t>26</a:t>
            </a:fld>
            <a:endParaRPr lang="zh-TW" altLang="en-US"/>
          </a:p>
        </p:txBody>
      </p:sp>
    </p:spTree>
    <p:extLst>
      <p:ext uri="{BB962C8B-B14F-4D97-AF65-F5344CB8AC3E}">
        <p14:creationId xmlns:p14="http://schemas.microsoft.com/office/powerpoint/2010/main" val="4110328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zh-TW" altLang="en-US"/>
              <a:t>按一下以編輯母片標題樣式</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4615597C-F572-4A2F-8DB3-4E70DD865481}" type="datetime1">
              <a:rPr lang="zh-TW" altLang="en-US" smtClean="0"/>
              <a:t>2026/7/3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AC25633-CB68-4D6B-BEE8-144406895708}" type="slidenum">
              <a:rPr lang="zh-TW" altLang="en-US" smtClean="0"/>
              <a:t>‹#›</a:t>
            </a:fld>
            <a:endParaRPr lang="zh-TW"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40417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lvl3pPr>
              <a:spcBef>
                <a:spcPts val="600"/>
              </a:spcBef>
              <a:spcAft>
                <a:spcPts val="600"/>
              </a:spcAft>
              <a:buClr>
                <a:schemeClr val="accent1">
                  <a:lumMod val="50000"/>
                </a:schemeClr>
              </a:buClr>
              <a:defRPr/>
            </a:lvl3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Date Placeholder 3"/>
          <p:cNvSpPr>
            <a:spLocks noGrp="1"/>
          </p:cNvSpPr>
          <p:nvPr>
            <p:ph type="dt" sz="half" idx="10"/>
          </p:nvPr>
        </p:nvSpPr>
        <p:spPr/>
        <p:txBody>
          <a:bodyPr/>
          <a:lstStyle/>
          <a:p>
            <a:fld id="{37A0302E-DE4D-4787-9FB6-0B2A2A238E02}" type="datetime1">
              <a:rPr lang="zh-TW" altLang="en-US" smtClean="0"/>
              <a:t>2026/7/3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1727954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305B98BF-7504-47B1-8CFB-9D9962CBFE76}" type="datetime1">
              <a:rPr lang="zh-TW" altLang="en-US" smtClean="0"/>
              <a:t>2026/7/3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AC25633-CB68-4D6B-BEE8-144406895708}" type="slidenum">
              <a:rPr lang="zh-TW" altLang="en-US" smtClean="0"/>
              <a:t>‹#›</a:t>
            </a:fld>
            <a:endParaRPr lang="zh-TW" alt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6271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097278" y="1845734"/>
            <a:ext cx="4937760" cy="4023360"/>
          </a:xfrm>
        </p:spPr>
        <p:txBody>
          <a:bodyPr/>
          <a:lstStyle>
            <a:lvl1pPr>
              <a:defRPr sz="2400"/>
            </a:lvl1pPr>
            <a:lvl2pPr marL="384048" indent="-182880">
              <a:buFont typeface="Wingdings" panose="05000000000000000000" pitchFamily="2" charset="2"/>
              <a:buChar char="Ø"/>
              <a:defRPr/>
            </a:lvl2pPr>
            <a:lvl3pPr marL="566928" indent="-182880">
              <a:buFont typeface="Wingdings" panose="05000000000000000000" pitchFamily="2" charset="2"/>
              <a:buChar char="l"/>
              <a:defRPr/>
            </a:lvl3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Content Placeholder 3"/>
          <p:cNvSpPr>
            <a:spLocks noGrp="1"/>
          </p:cNvSpPr>
          <p:nvPr>
            <p:ph sz="half" idx="2"/>
          </p:nvPr>
        </p:nvSpPr>
        <p:spPr>
          <a:xfrm>
            <a:off x="6217920" y="1845735"/>
            <a:ext cx="4937760" cy="4023360"/>
          </a:xfrm>
        </p:spPr>
        <p:txBody>
          <a:bodyPr/>
          <a:lstStyle>
            <a:lvl1pPr>
              <a:defRPr sz="2400"/>
            </a:lvl1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5" name="Date Placeholder 4"/>
          <p:cNvSpPr>
            <a:spLocks noGrp="1"/>
          </p:cNvSpPr>
          <p:nvPr>
            <p:ph type="dt" sz="half" idx="10"/>
          </p:nvPr>
        </p:nvSpPr>
        <p:spPr/>
        <p:txBody>
          <a:bodyPr/>
          <a:lstStyle/>
          <a:p>
            <a:fld id="{3294B217-F04C-499F-B3C3-2495ADA884A1}" type="datetime1">
              <a:rPr lang="zh-TW" altLang="en-US" smtClean="0"/>
              <a:t>2026/7/3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947762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097280" y="2582334"/>
            <a:ext cx="4937760" cy="33782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217920" y="2582334"/>
            <a:ext cx="4937760" cy="33782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69589430-20CC-4CB6-8099-6D6F8AD9126B}" type="datetime1">
              <a:rPr lang="zh-TW" altLang="en-US" smtClean="0"/>
              <a:t>2026/7/3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26859661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0B64F23A-ADA9-4B81-BA25-B90A125A7E29}" type="datetime1">
              <a:rPr lang="zh-TW" altLang="en-US" smtClean="0"/>
              <a:t>2026/7/3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3953415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873358DE-BAB7-43C6-B230-87048C96B64C}" type="datetime1">
              <a:rPr lang="zh-TW" altLang="en-US" smtClean="0"/>
              <a:t>2026/7/3</a:t>
            </a:fld>
            <a:endParaRPr lang="zh-TW"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zh-TW" altLang="en-US"/>
          </a:p>
        </p:txBody>
      </p:sp>
      <p:sp>
        <p:nvSpPr>
          <p:cNvPr id="9" name="Slide Number Placeholder 8"/>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3893399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zh-TW" altLang="en-US"/>
              <a:t>按一下以編輯母片標題樣式</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B69258C-861B-4A67-93B0-E5B8B2157AFE}" type="datetime1">
              <a:rPr lang="zh-TW" altLang="en-US" smtClean="0"/>
              <a:t>2026/7/3</a:t>
            </a:fld>
            <a:endParaRPr lang="zh-TW" alt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zh-TW"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199355627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5" name="Date Placeholder 4"/>
          <p:cNvSpPr>
            <a:spLocks noGrp="1"/>
          </p:cNvSpPr>
          <p:nvPr>
            <p:ph type="dt" sz="half" idx="10"/>
          </p:nvPr>
        </p:nvSpPr>
        <p:spPr/>
        <p:txBody>
          <a:bodyPr/>
          <a:lstStyle/>
          <a:p>
            <a:fld id="{6B69258C-861B-4A67-93B0-E5B8B2157AFE}" type="datetime1">
              <a:rPr lang="zh-TW" altLang="en-US" smtClean="0"/>
              <a:t>2026/7/3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289003229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511B4937-A29C-4193-9DD1-4AB39B0FC9A5}" type="datetime1">
              <a:rPr lang="zh-TW" altLang="en-US" smtClean="0"/>
              <a:t>2026/7/3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316982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4ABB3EA8-8FA6-47FB-B4CB-5B3095828625}" type="datetime1">
              <a:rPr lang="zh-TW" altLang="en-US" smtClean="0"/>
              <a:t>2026/7/3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5AC25633-CB68-4D6B-BEE8-144406895708}" type="slidenum">
              <a:rPr lang="zh-TW" altLang="en-US" smtClean="0"/>
              <a:t>‹#›</a:t>
            </a:fld>
            <a:endParaRPr lang="zh-TW" altLang="en-US"/>
          </a:p>
        </p:txBody>
      </p:sp>
    </p:spTree>
    <p:extLst>
      <p:ext uri="{BB962C8B-B14F-4D97-AF65-F5344CB8AC3E}">
        <p14:creationId xmlns:p14="http://schemas.microsoft.com/office/powerpoint/2010/main" val="3383738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9" name="Rectangle 8"/>
          <p:cNvSpPr/>
          <p:nvPr/>
        </p:nvSpPr>
        <p:spPr>
          <a:xfrm>
            <a:off x="15" y="6334316"/>
            <a:ext cx="12191985" cy="6648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zh-TW" altLang="en-U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6B69258C-861B-4A67-93B0-E5B8B2157AFE}" type="datetime1">
              <a:rPr lang="zh-TW" altLang="en-US" smtClean="0"/>
              <a:t>2026/7/3</a:t>
            </a:fld>
            <a:endParaRPr lang="zh-TW" alt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zh-TW" alt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AC25633-CB68-4D6B-BEE8-144406895708}" type="slidenum">
              <a:rPr lang="zh-TW" altLang="en-US" smtClean="0"/>
              <a:t>‹#›</a:t>
            </a:fld>
            <a:endParaRPr lang="zh-TW" alt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309255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lumMod val="50000"/>
          </a:schemeClr>
        </a:buClr>
        <a:buFont typeface="Wingdings" panose="05000000000000000000" pitchFamily="2" charset="2"/>
        <a:buChar char="Ø"/>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Wingdings" panose="05000000000000000000" pitchFamily="2" charset="2"/>
        <a:buChar char="l"/>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chart" Target="../charts/chart4.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598A351-EA25-436B-B36F-4AF45C795F89}"/>
              </a:ext>
            </a:extLst>
          </p:cNvPr>
          <p:cNvSpPr>
            <a:spLocks noGrp="1"/>
          </p:cNvSpPr>
          <p:nvPr>
            <p:ph type="title"/>
          </p:nvPr>
        </p:nvSpPr>
        <p:spPr>
          <a:xfrm>
            <a:off x="515793" y="2008972"/>
            <a:ext cx="11221374" cy="1750588"/>
          </a:xfrm>
        </p:spPr>
        <p:txBody>
          <a:bodyPr>
            <a:noAutofit/>
          </a:bodyPr>
          <a:lstStyle/>
          <a:p>
            <a:pPr algn="ctr"/>
            <a:r>
              <a:rPr lang="en-US" altLang="zh-TW" sz="4800" b="1" dirty="0"/>
              <a:t>Multi-Stage Optimization for Supporting Lines in Logistics Companies</a:t>
            </a:r>
            <a:endParaRPr lang="zh-TW" altLang="en-US" sz="4800" b="1" dirty="0"/>
          </a:p>
        </p:txBody>
      </p:sp>
      <p:sp>
        <p:nvSpPr>
          <p:cNvPr id="4" name="投影片編號版面配置區 3">
            <a:extLst>
              <a:ext uri="{FF2B5EF4-FFF2-40B4-BE49-F238E27FC236}">
                <a16:creationId xmlns:a16="http://schemas.microsoft.com/office/drawing/2014/main" id="{3F9DE4A7-02C9-437F-8E5D-A0C80B45D072}"/>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1</a:t>
            </a:fld>
            <a:endParaRPr lang="zh-TW" altLang="en-US" sz="1600" dirty="0"/>
          </a:p>
        </p:txBody>
      </p:sp>
      <p:sp>
        <p:nvSpPr>
          <p:cNvPr id="9" name="文字版面配置區 8">
            <a:extLst>
              <a:ext uri="{FF2B5EF4-FFF2-40B4-BE49-F238E27FC236}">
                <a16:creationId xmlns:a16="http://schemas.microsoft.com/office/drawing/2014/main" id="{C9626854-F57D-1205-9F35-ADDFB7CE8AA1}"/>
              </a:ext>
            </a:extLst>
          </p:cNvPr>
          <p:cNvSpPr txBox="1">
            <a:spLocks noGrp="1"/>
          </p:cNvSpPr>
          <p:nvPr>
            <p:ph type="body" idx="1"/>
          </p:nvPr>
        </p:nvSpPr>
        <p:spPr>
          <a:xfrm>
            <a:off x="3459182" y="4452938"/>
            <a:ext cx="5333961" cy="1200329"/>
          </a:xfrm>
          <a:prstGeom prst="rect">
            <a:avLst/>
          </a:prstGeom>
          <a:noFill/>
        </p:spPr>
        <p:txBody>
          <a:bodyPr wrap="none" rtlCol="0">
            <a:spAutoFit/>
          </a:bodyPr>
          <a:lstStyle/>
          <a:p>
            <a:pPr lvl="0" algn="ctr">
              <a:lnSpc>
                <a:spcPct val="100000"/>
              </a:lnSpc>
              <a:spcBef>
                <a:spcPts val="0"/>
              </a:spcBef>
              <a:spcAft>
                <a:spcPts val="0"/>
              </a:spcAft>
              <a:buSzPts val="2200"/>
            </a:pPr>
            <a:r>
              <a:rPr lang="en-US" altLang="zh-TW" sz="18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Jong-Yih Kuo, Hong-Jie Yang, Ti-Feng Hsieh</a:t>
            </a:r>
          </a:p>
          <a:p>
            <a:pPr marL="0" lvl="0" indent="0" algn="ctr" rtl="0">
              <a:lnSpc>
                <a:spcPct val="100000"/>
              </a:lnSpc>
              <a:spcBef>
                <a:spcPts val="0"/>
              </a:spcBef>
              <a:spcAft>
                <a:spcPts val="0"/>
              </a:spcAft>
              <a:buSzPts val="2200"/>
              <a:buNone/>
            </a:pPr>
            <a:r>
              <a:rPr lang="en-US" altLang="zh-TW" sz="18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Computer Science and Information Engineering</a:t>
            </a:r>
            <a:endParaRPr lang="en-US" altLang="zh-TW" sz="1800" spc="0" dirty="0">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SzPts val="2200"/>
              <a:buNone/>
            </a:pPr>
            <a:r>
              <a:rPr lang="en-US" altLang="zh-TW" sz="18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National Taipei University of Technology</a:t>
            </a:r>
            <a:endParaRPr lang="en-US" altLang="zh-TW" sz="1800" spc="0" dirty="0">
              <a:latin typeface="Times New Roman" panose="02020603050405020304" pitchFamily="18" charset="0"/>
              <a:cs typeface="Times New Roman" panose="02020603050405020304" pitchFamily="18" charset="0"/>
            </a:endParaRPr>
          </a:p>
          <a:p>
            <a:pPr marL="0" lvl="0" indent="0" algn="ctr" rtl="0">
              <a:lnSpc>
                <a:spcPct val="100000"/>
              </a:lnSpc>
              <a:spcBef>
                <a:spcPts val="0"/>
              </a:spcBef>
              <a:spcAft>
                <a:spcPts val="0"/>
              </a:spcAft>
              <a:buSzPts val="2200"/>
              <a:buNone/>
            </a:pPr>
            <a:r>
              <a:rPr lang="en-US" altLang="zh-TW" sz="18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Email: {</a:t>
            </a:r>
            <a:r>
              <a:rPr lang="en-US" altLang="zh-TW" sz="1800" cap="none" spc="0" dirty="0" err="1">
                <a:solidFill>
                  <a:schemeClr val="dk1"/>
                </a:solidFill>
                <a:latin typeface="Times New Roman" panose="02020603050405020304" pitchFamily="18" charset="0"/>
                <a:ea typeface="Times New Roman"/>
                <a:cs typeface="Times New Roman" panose="02020603050405020304" pitchFamily="18" charset="0"/>
                <a:sym typeface="Times New Roman"/>
              </a:rPr>
              <a:t>jykuo</a:t>
            </a:r>
            <a:r>
              <a:rPr lang="en-US" altLang="zh-TW" sz="1800" cap="none" spc="0" dirty="0">
                <a:solidFill>
                  <a:schemeClr val="dk1"/>
                </a:solidFill>
                <a:latin typeface="Times New Roman" panose="02020603050405020304" pitchFamily="18" charset="0"/>
                <a:ea typeface="Times New Roman"/>
                <a:cs typeface="Times New Roman" panose="02020603050405020304" pitchFamily="18" charset="0"/>
                <a:sym typeface="Times New Roman"/>
              </a:rPr>
              <a:t>, t113598012, t112599002} @ntut.edu.tw</a:t>
            </a:r>
            <a:endParaRPr lang="zh-TW" altLang="en-US" dirty="0"/>
          </a:p>
        </p:txBody>
      </p:sp>
    </p:spTree>
    <p:extLst>
      <p:ext uri="{BB962C8B-B14F-4D97-AF65-F5344CB8AC3E}">
        <p14:creationId xmlns:p14="http://schemas.microsoft.com/office/powerpoint/2010/main" val="1114137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ED77C9-E9AE-4295-A29B-C5B04C6C0F84}"/>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AA3B7F4D-32A3-41E9-BD73-E34204462DB0}"/>
              </a:ext>
            </a:extLst>
          </p:cNvPr>
          <p:cNvSpPr>
            <a:spLocks noGrp="1"/>
          </p:cNvSpPr>
          <p:nvPr>
            <p:ph idx="1"/>
          </p:nvPr>
        </p:nvSpPr>
        <p:spPr/>
        <p:txBody>
          <a:bodyPr>
            <a:normAutofit/>
          </a:bodyPr>
          <a:lstStyle/>
          <a:p>
            <a:pPr>
              <a:buFont typeface="Wingdings" panose="05000000000000000000" pitchFamily="2" charset="2"/>
              <a:buChar char="Ø"/>
            </a:pPr>
            <a:r>
              <a:rPr lang="en-US" altLang="zh-TW" sz="3200" dirty="0"/>
              <a:t>Motivation</a:t>
            </a:r>
          </a:p>
          <a:p>
            <a:pPr>
              <a:buFont typeface="Wingdings" panose="05000000000000000000" pitchFamily="2" charset="2"/>
              <a:buChar char="Ø"/>
            </a:pPr>
            <a:r>
              <a:rPr lang="en-US" altLang="zh-TW" sz="3200" dirty="0"/>
              <a:t>Background</a:t>
            </a:r>
          </a:p>
          <a:p>
            <a:pPr>
              <a:buFont typeface="Wingdings" panose="05000000000000000000" pitchFamily="2" charset="2"/>
              <a:buChar char="Ø"/>
            </a:pPr>
            <a:r>
              <a:rPr lang="en-US" altLang="zh-TW" sz="3200" dirty="0"/>
              <a:t>The proposed approach</a:t>
            </a:r>
          </a:p>
          <a:p>
            <a:pPr>
              <a:buFont typeface="Wingdings" panose="05000000000000000000" pitchFamily="2" charset="2"/>
              <a:buChar char="Ø"/>
            </a:pPr>
            <a:r>
              <a:rPr lang="en-US" altLang="zh-TW" sz="3200" dirty="0"/>
              <a:t>Experiment</a:t>
            </a:r>
          </a:p>
          <a:p>
            <a:pPr>
              <a:buFont typeface="Wingdings" panose="05000000000000000000" pitchFamily="2" charset="2"/>
              <a:buChar char="Ø"/>
            </a:pPr>
            <a:r>
              <a:rPr lang="en-US" altLang="zh-TW" sz="3200" dirty="0"/>
              <a:t>Conclusion &amp; Future</a:t>
            </a:r>
          </a:p>
        </p:txBody>
      </p:sp>
      <p:sp>
        <p:nvSpPr>
          <p:cNvPr id="4" name="投影片編號版面配置區 3">
            <a:extLst>
              <a:ext uri="{FF2B5EF4-FFF2-40B4-BE49-F238E27FC236}">
                <a16:creationId xmlns:a16="http://schemas.microsoft.com/office/drawing/2014/main" id="{EC3E75BF-F0EA-4036-BF71-34C7F697411D}"/>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2</a:t>
            </a:fld>
            <a:endParaRPr lang="zh-TW" altLang="en-US" sz="1600"/>
          </a:p>
        </p:txBody>
      </p:sp>
    </p:spTree>
    <p:extLst>
      <p:ext uri="{BB962C8B-B14F-4D97-AF65-F5344CB8AC3E}">
        <p14:creationId xmlns:p14="http://schemas.microsoft.com/office/powerpoint/2010/main" val="31586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ED77C9-E9AE-4295-A29B-C5B04C6C0F84}"/>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AA3B7F4D-32A3-41E9-BD73-E34204462DB0}"/>
              </a:ext>
            </a:extLst>
          </p:cNvPr>
          <p:cNvSpPr>
            <a:spLocks noGrp="1"/>
          </p:cNvSpPr>
          <p:nvPr>
            <p:ph idx="1"/>
          </p:nvPr>
        </p:nvSpPr>
        <p:spPr/>
        <p:txBody>
          <a:bodyPr>
            <a:normAutofit/>
          </a:bodyPr>
          <a:lstStyle/>
          <a:p>
            <a:pPr>
              <a:buFont typeface="Wingdings" panose="05000000000000000000" pitchFamily="2" charset="2"/>
              <a:buChar char="Ø"/>
            </a:pPr>
            <a:r>
              <a:rPr lang="en-US" altLang="zh-TW" sz="3200" dirty="0"/>
              <a:t>Motivation</a:t>
            </a:r>
          </a:p>
          <a:p>
            <a:pPr>
              <a:buFont typeface="Wingdings" panose="05000000000000000000" pitchFamily="2" charset="2"/>
              <a:buChar char="Ø"/>
            </a:pPr>
            <a:r>
              <a:rPr lang="en-US" altLang="zh-TW" sz="3200" dirty="0">
                <a:solidFill>
                  <a:schemeClr val="bg2">
                    <a:lumMod val="75000"/>
                  </a:schemeClr>
                </a:solidFill>
              </a:rPr>
              <a:t>Background</a:t>
            </a:r>
          </a:p>
          <a:p>
            <a:pPr>
              <a:buFont typeface="Wingdings" panose="05000000000000000000" pitchFamily="2" charset="2"/>
              <a:buChar char="Ø"/>
            </a:pPr>
            <a:r>
              <a:rPr lang="en-US" altLang="zh-TW" sz="3200" dirty="0">
                <a:solidFill>
                  <a:schemeClr val="bg2">
                    <a:lumMod val="75000"/>
                  </a:schemeClr>
                </a:solidFill>
              </a:rPr>
              <a:t>The proposed approach</a:t>
            </a:r>
          </a:p>
          <a:p>
            <a:pPr>
              <a:buFont typeface="Wingdings" panose="05000000000000000000" pitchFamily="2" charset="2"/>
              <a:buChar char="Ø"/>
            </a:pPr>
            <a:r>
              <a:rPr lang="en-US" altLang="zh-TW" sz="3200" dirty="0">
                <a:solidFill>
                  <a:schemeClr val="bg2">
                    <a:lumMod val="75000"/>
                  </a:schemeClr>
                </a:solidFill>
              </a:rPr>
              <a:t>Experiment</a:t>
            </a:r>
          </a:p>
          <a:p>
            <a:pPr>
              <a:buFont typeface="Wingdings" panose="05000000000000000000" pitchFamily="2" charset="2"/>
              <a:buChar char="Ø"/>
            </a:pPr>
            <a:r>
              <a:rPr lang="en-US" altLang="zh-TW" sz="3200" dirty="0">
                <a:solidFill>
                  <a:schemeClr val="bg2">
                    <a:lumMod val="75000"/>
                  </a:schemeClr>
                </a:solidFill>
              </a:rPr>
              <a:t>Conclusion &amp; Future</a:t>
            </a:r>
          </a:p>
        </p:txBody>
      </p:sp>
      <p:sp>
        <p:nvSpPr>
          <p:cNvPr id="4" name="投影片編號版面配置區 3">
            <a:extLst>
              <a:ext uri="{FF2B5EF4-FFF2-40B4-BE49-F238E27FC236}">
                <a16:creationId xmlns:a16="http://schemas.microsoft.com/office/drawing/2014/main" id="{EC3E75BF-F0EA-4036-BF71-34C7F697411D}"/>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3</a:t>
            </a:fld>
            <a:endParaRPr lang="zh-TW" altLang="en-US" sz="1600"/>
          </a:p>
        </p:txBody>
      </p:sp>
    </p:spTree>
    <p:extLst>
      <p:ext uri="{BB962C8B-B14F-4D97-AF65-F5344CB8AC3E}">
        <p14:creationId xmlns:p14="http://schemas.microsoft.com/office/powerpoint/2010/main" val="1385974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23D1BB-6D12-4C72-81FB-7062B86D27A2}"/>
              </a:ext>
            </a:extLst>
          </p:cNvPr>
          <p:cNvSpPr>
            <a:spLocks noGrp="1"/>
          </p:cNvSpPr>
          <p:nvPr>
            <p:ph type="title"/>
          </p:nvPr>
        </p:nvSpPr>
        <p:spPr/>
        <p:txBody>
          <a:bodyPr/>
          <a:lstStyle/>
          <a:p>
            <a:r>
              <a:rPr lang="en-US" altLang="zh-TW" dirty="0"/>
              <a:t>Motivation</a:t>
            </a:r>
            <a:endParaRPr lang="zh-TW" altLang="en-US" dirty="0"/>
          </a:p>
        </p:txBody>
      </p:sp>
      <p:sp>
        <p:nvSpPr>
          <p:cNvPr id="3" name="內容版面配置區 2">
            <a:extLst>
              <a:ext uri="{FF2B5EF4-FFF2-40B4-BE49-F238E27FC236}">
                <a16:creationId xmlns:a16="http://schemas.microsoft.com/office/drawing/2014/main" id="{A3F0BA10-9BD8-44CF-8049-9A706AE1DDF4}"/>
              </a:ext>
            </a:extLst>
          </p:cNvPr>
          <p:cNvSpPr>
            <a:spLocks noGrp="1"/>
          </p:cNvSpPr>
          <p:nvPr>
            <p:ph idx="1"/>
          </p:nvPr>
        </p:nvSpPr>
        <p:spPr>
          <a:xfrm>
            <a:off x="1097280" y="1845734"/>
            <a:ext cx="10058400" cy="4492922"/>
          </a:xfrm>
        </p:spPr>
        <p:txBody>
          <a:bodyPr>
            <a:normAutofit/>
          </a:bodyPr>
          <a:lstStyle/>
          <a:p>
            <a:pPr>
              <a:buFont typeface="Wingdings" panose="05000000000000000000" pitchFamily="2" charset="2"/>
              <a:buChar char="Ø"/>
            </a:pPr>
            <a:r>
              <a:rPr lang="en-US" altLang="zh-TW" dirty="0"/>
              <a:t>Logistics distribution demand is continuously increasing</a:t>
            </a:r>
          </a:p>
          <a:p>
            <a:pPr marL="395478" lvl="1" indent="-285750">
              <a:buFont typeface="Arial" panose="020B0604020202020204" pitchFamily="34" charset="0"/>
              <a:buChar char="•"/>
            </a:pPr>
            <a:r>
              <a:rPr lang="zh-TW" altLang="zh-TW" dirty="0"/>
              <a:t>Growth of logistics and e-commerce increases delivery complexit</a:t>
            </a:r>
            <a:r>
              <a:rPr lang="en-US" altLang="zh-TW" dirty="0"/>
              <a:t>y</a:t>
            </a:r>
          </a:p>
          <a:p>
            <a:pPr marL="395478" lvl="1" indent="-285750">
              <a:buFont typeface="Arial" panose="020B0604020202020204" pitchFamily="34" charset="0"/>
              <a:buChar char="•"/>
            </a:pPr>
            <a:r>
              <a:rPr lang="zh-TW" altLang="zh-TW" dirty="0"/>
              <a:t>Efficient route planning is </a:t>
            </a:r>
            <a:r>
              <a:rPr lang="en-US" altLang="zh-TW" dirty="0"/>
              <a:t>critical</a:t>
            </a:r>
            <a:r>
              <a:rPr lang="zh-TW" altLang="zh-TW" dirty="0"/>
              <a:t> for reducing operational cost</a:t>
            </a:r>
            <a:r>
              <a:rPr lang="en-US" altLang="zh-TW" dirty="0"/>
              <a:t>s</a:t>
            </a:r>
          </a:p>
          <a:p>
            <a:pPr marL="109728" lvl="1" indent="0">
              <a:buNone/>
            </a:pPr>
            <a:endParaRPr lang="en-US" altLang="zh-TW" dirty="0"/>
          </a:p>
          <a:p>
            <a:pPr>
              <a:buFont typeface="Wingdings" panose="05000000000000000000" pitchFamily="2" charset="2"/>
              <a:buChar char="Ø"/>
            </a:pPr>
            <a:r>
              <a:rPr lang="zh-TW" altLang="zh-TW" dirty="0"/>
              <a:t>Real-world logistics operations differ from </a:t>
            </a:r>
            <a:r>
              <a:rPr lang="en-US" altLang="zh-TW" dirty="0"/>
              <a:t>Vehicle Routing Problem (</a:t>
            </a:r>
            <a:r>
              <a:rPr lang="zh-TW" altLang="zh-TW" dirty="0"/>
              <a:t>VRP</a:t>
            </a:r>
            <a:r>
              <a:rPr lang="en-US" altLang="zh-TW" dirty="0"/>
              <a:t>) models</a:t>
            </a:r>
          </a:p>
          <a:p>
            <a:pPr lvl="1">
              <a:buFont typeface="Arial" panose="020B0604020202020204" pitchFamily="34" charset="0"/>
              <a:buChar char="•"/>
            </a:pPr>
            <a:r>
              <a:rPr lang="zh-TW" altLang="zh-TW" dirty="0"/>
              <a:t>Fixed-route structures and service restrictions are rarely considered</a:t>
            </a:r>
            <a:r>
              <a:rPr lang="en-US" altLang="zh-TW" dirty="0"/>
              <a:t> in VRP studies</a:t>
            </a:r>
          </a:p>
          <a:p>
            <a:pPr marL="201168" lvl="1" indent="0">
              <a:buNone/>
            </a:pPr>
            <a:endParaRPr lang="en-US" altLang="zh-TW" dirty="0"/>
          </a:p>
          <a:p>
            <a:pPr>
              <a:buFont typeface="Wingdings" panose="05000000000000000000" pitchFamily="2" charset="2"/>
              <a:buChar char="Ø"/>
            </a:pPr>
            <a:r>
              <a:rPr lang="en-US" altLang="zh-TW" dirty="0"/>
              <a:t>Route planning is performed manually</a:t>
            </a:r>
          </a:p>
          <a:p>
            <a:pPr lvl="1">
              <a:buFont typeface="Arial" panose="020B0604020202020204" pitchFamily="34" charset="0"/>
              <a:buChar char="•"/>
            </a:pPr>
            <a:r>
              <a:rPr lang="zh-TW" altLang="zh-TW" dirty="0"/>
              <a:t>Route planning is a time-consuming</a:t>
            </a:r>
            <a:endParaRPr lang="en-US" altLang="zh-TW" dirty="0"/>
          </a:p>
          <a:p>
            <a:pPr lvl="1">
              <a:buFont typeface="Arial" panose="020B0604020202020204" pitchFamily="34" charset="0"/>
              <a:buChar char="•"/>
            </a:pPr>
            <a:r>
              <a:rPr lang="en-US" altLang="zh-TW" dirty="0"/>
              <a:t>Route planning is highly dependent on human experience</a:t>
            </a:r>
          </a:p>
        </p:txBody>
      </p:sp>
      <p:sp>
        <p:nvSpPr>
          <p:cNvPr id="4" name="投影片編號版面配置區 3">
            <a:extLst>
              <a:ext uri="{FF2B5EF4-FFF2-40B4-BE49-F238E27FC236}">
                <a16:creationId xmlns:a16="http://schemas.microsoft.com/office/drawing/2014/main" id="{CBCC8382-3E42-4175-A9E0-F9F79B8357E0}"/>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4</a:t>
            </a:fld>
            <a:endParaRPr lang="zh-TW" altLang="en-US" sz="1600" dirty="0"/>
          </a:p>
        </p:txBody>
      </p:sp>
    </p:spTree>
    <p:extLst>
      <p:ext uri="{BB962C8B-B14F-4D97-AF65-F5344CB8AC3E}">
        <p14:creationId xmlns:p14="http://schemas.microsoft.com/office/powerpoint/2010/main" val="371286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99087E7-ADE9-6E4D-C165-ED1A99CE27C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E56A873-878F-BA78-1604-369A9213BF7B}"/>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EE2CB3E1-2A69-6119-B89D-BD7F22672524}"/>
              </a:ext>
            </a:extLst>
          </p:cNvPr>
          <p:cNvSpPr>
            <a:spLocks noGrp="1"/>
          </p:cNvSpPr>
          <p:nvPr>
            <p:ph idx="1"/>
          </p:nvPr>
        </p:nvSpPr>
        <p:spPr/>
        <p:txBody>
          <a:bodyPr>
            <a:normAutofit/>
          </a:bodyPr>
          <a:lstStyle/>
          <a:p>
            <a:pPr>
              <a:buFont typeface="Wingdings" panose="05000000000000000000" pitchFamily="2" charset="2"/>
              <a:buChar char="Ø"/>
            </a:pPr>
            <a:r>
              <a:rPr lang="en-US" altLang="zh-TW" sz="3200" dirty="0">
                <a:solidFill>
                  <a:schemeClr val="bg2">
                    <a:lumMod val="75000"/>
                  </a:schemeClr>
                </a:solidFill>
              </a:rPr>
              <a:t>Motivation</a:t>
            </a:r>
          </a:p>
          <a:p>
            <a:pPr>
              <a:buFont typeface="Wingdings" panose="05000000000000000000" pitchFamily="2" charset="2"/>
              <a:buChar char="Ø"/>
            </a:pPr>
            <a:r>
              <a:rPr lang="en-US" altLang="zh-TW" sz="3200" dirty="0"/>
              <a:t>Background</a:t>
            </a:r>
          </a:p>
          <a:p>
            <a:pPr>
              <a:buFont typeface="Wingdings" panose="05000000000000000000" pitchFamily="2" charset="2"/>
              <a:buChar char="Ø"/>
            </a:pPr>
            <a:r>
              <a:rPr lang="en-US" altLang="zh-TW" sz="3200" dirty="0">
                <a:solidFill>
                  <a:schemeClr val="bg2">
                    <a:lumMod val="75000"/>
                  </a:schemeClr>
                </a:solidFill>
              </a:rPr>
              <a:t>The proposed approach</a:t>
            </a:r>
          </a:p>
          <a:p>
            <a:pPr>
              <a:buFont typeface="Wingdings" panose="05000000000000000000" pitchFamily="2" charset="2"/>
              <a:buChar char="Ø"/>
            </a:pPr>
            <a:r>
              <a:rPr lang="en-US" altLang="zh-TW" sz="3200" dirty="0">
                <a:solidFill>
                  <a:schemeClr val="bg2">
                    <a:lumMod val="75000"/>
                  </a:schemeClr>
                </a:solidFill>
              </a:rPr>
              <a:t>Experiment</a:t>
            </a:r>
          </a:p>
          <a:p>
            <a:pPr>
              <a:buFont typeface="Wingdings" panose="05000000000000000000" pitchFamily="2" charset="2"/>
              <a:buChar char="Ø"/>
            </a:pPr>
            <a:r>
              <a:rPr lang="en-US" altLang="zh-TW" sz="3200" dirty="0">
                <a:solidFill>
                  <a:schemeClr val="bg2">
                    <a:lumMod val="75000"/>
                  </a:schemeClr>
                </a:solidFill>
              </a:rPr>
              <a:t>Conclusion &amp; Future</a:t>
            </a:r>
          </a:p>
        </p:txBody>
      </p:sp>
      <p:sp>
        <p:nvSpPr>
          <p:cNvPr id="4" name="投影片編號版面配置區 3">
            <a:extLst>
              <a:ext uri="{FF2B5EF4-FFF2-40B4-BE49-F238E27FC236}">
                <a16:creationId xmlns:a16="http://schemas.microsoft.com/office/drawing/2014/main" id="{11868B77-58F2-0BD7-56E8-2942C75C081F}"/>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5</a:t>
            </a:fld>
            <a:endParaRPr lang="zh-TW" altLang="en-US" sz="1600"/>
          </a:p>
        </p:txBody>
      </p:sp>
    </p:spTree>
    <p:extLst>
      <p:ext uri="{BB962C8B-B14F-4D97-AF65-F5344CB8AC3E}">
        <p14:creationId xmlns:p14="http://schemas.microsoft.com/office/powerpoint/2010/main" val="3506993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E61BFB-70A7-6BB9-36E2-8F0073A3B00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F1D6FF3-8321-6BA7-AE4C-8A998842A8EA}"/>
              </a:ext>
            </a:extLst>
          </p:cNvPr>
          <p:cNvSpPr>
            <a:spLocks noGrp="1"/>
          </p:cNvSpPr>
          <p:nvPr>
            <p:ph type="title"/>
          </p:nvPr>
        </p:nvSpPr>
        <p:spPr/>
        <p:txBody>
          <a:bodyPr/>
          <a:lstStyle/>
          <a:p>
            <a:r>
              <a:rPr lang="en-US" altLang="zh-TW" dirty="0"/>
              <a:t>VRP</a:t>
            </a:r>
            <a:endParaRPr lang="zh-TW" altLang="en-US" dirty="0"/>
          </a:p>
        </p:txBody>
      </p:sp>
      <p:sp>
        <p:nvSpPr>
          <p:cNvPr id="3" name="內容版面配置區 2">
            <a:extLst>
              <a:ext uri="{FF2B5EF4-FFF2-40B4-BE49-F238E27FC236}">
                <a16:creationId xmlns:a16="http://schemas.microsoft.com/office/drawing/2014/main" id="{B8C8CF03-1754-8007-99D3-9DA64B4A4C36}"/>
              </a:ext>
            </a:extLst>
          </p:cNvPr>
          <p:cNvSpPr>
            <a:spLocks noGrp="1"/>
          </p:cNvSpPr>
          <p:nvPr>
            <p:ph idx="1"/>
          </p:nvPr>
        </p:nvSpPr>
        <p:spPr/>
        <p:txBody>
          <a:bodyPr>
            <a:normAutofit/>
          </a:bodyPr>
          <a:lstStyle/>
          <a:p>
            <a:pPr marL="0" indent="0">
              <a:buClr>
                <a:schemeClr val="accent1">
                  <a:lumMod val="50000"/>
                </a:schemeClr>
              </a:buClr>
              <a:buNone/>
            </a:pPr>
            <a:r>
              <a:rPr lang="en-US" altLang="zh-TW" dirty="0"/>
              <a:t>Vehicle Routing Problem</a:t>
            </a:r>
            <a:r>
              <a:rPr lang="zh-TW" altLang="en-US" dirty="0"/>
              <a:t> </a:t>
            </a:r>
            <a:r>
              <a:rPr lang="en-US" altLang="zh-TW" dirty="0"/>
              <a:t>(VRP)[1]</a:t>
            </a:r>
          </a:p>
          <a:p>
            <a:pPr>
              <a:buClr>
                <a:schemeClr val="accent1">
                  <a:lumMod val="50000"/>
                </a:schemeClr>
              </a:buClr>
              <a:buFont typeface="Wingdings" panose="05000000000000000000" pitchFamily="2" charset="2"/>
              <a:buChar char="Ø"/>
            </a:pPr>
            <a:r>
              <a:rPr lang="en-US" altLang="zh-TW" dirty="0"/>
              <a:t>NP-hard problem in combinatorial optimization and integer programming</a:t>
            </a:r>
          </a:p>
          <a:p>
            <a:pPr>
              <a:buClr>
                <a:schemeClr val="accent1">
                  <a:lumMod val="50000"/>
                </a:schemeClr>
              </a:buClr>
              <a:buFont typeface="Wingdings" panose="05000000000000000000" pitchFamily="2" charset="2"/>
              <a:buChar char="Ø"/>
            </a:pPr>
            <a:r>
              <a:rPr lang="en-US" altLang="zh-TW" dirty="0"/>
              <a:t>The objective is to ensure that all customer demands are satisfied while complying with operational constraints and minimizing the overall cost</a:t>
            </a:r>
          </a:p>
          <a:p>
            <a:pPr>
              <a:buClr>
                <a:schemeClr val="accent1">
                  <a:lumMod val="50000"/>
                </a:schemeClr>
              </a:buClr>
              <a:buFont typeface="Wingdings" panose="05000000000000000000" pitchFamily="2" charset="2"/>
              <a:buChar char="Ø"/>
            </a:pPr>
            <a:endParaRPr lang="en-US" altLang="zh-TW" dirty="0"/>
          </a:p>
          <a:p>
            <a:pPr>
              <a:buClr>
                <a:schemeClr val="accent1">
                  <a:lumMod val="50000"/>
                </a:schemeClr>
              </a:buClr>
              <a:buFont typeface="Wingdings" panose="05000000000000000000" pitchFamily="2" charset="2"/>
              <a:buChar char="Ø"/>
            </a:pPr>
            <a:r>
              <a:rPr lang="en-US" altLang="zh-TW" dirty="0"/>
              <a:t>Constraints</a:t>
            </a:r>
          </a:p>
          <a:p>
            <a:pPr lvl="1">
              <a:buFont typeface="Arial" panose="020B0604020202020204" pitchFamily="34" charset="0"/>
              <a:buChar char="•"/>
            </a:pPr>
            <a:r>
              <a:rPr lang="en-US" altLang="zh-TW" sz="2000" dirty="0"/>
              <a:t>Each vehicle starts and ends its route at the depot</a:t>
            </a:r>
          </a:p>
          <a:p>
            <a:pPr lvl="1">
              <a:buFont typeface="Arial" panose="020B0604020202020204" pitchFamily="34" charset="0"/>
              <a:buChar char="•"/>
            </a:pPr>
            <a:r>
              <a:rPr lang="en-US" altLang="zh-TW" sz="2000" dirty="0"/>
              <a:t>Each customer is visited exactly once and served by exactly one vehicle</a:t>
            </a:r>
          </a:p>
          <a:p>
            <a:pPr lvl="1">
              <a:buFont typeface="Arial" panose="020B0604020202020204" pitchFamily="34" charset="0"/>
              <a:buChar char="•"/>
            </a:pPr>
            <a:r>
              <a:rPr lang="en-US" altLang="zh-TW" sz="2000" dirty="0"/>
              <a:t>The demand of every customer must be satisfied</a:t>
            </a:r>
          </a:p>
        </p:txBody>
      </p:sp>
      <p:sp>
        <p:nvSpPr>
          <p:cNvPr id="4" name="投影片編號版面配置區 3">
            <a:extLst>
              <a:ext uri="{FF2B5EF4-FFF2-40B4-BE49-F238E27FC236}">
                <a16:creationId xmlns:a16="http://schemas.microsoft.com/office/drawing/2014/main" id="{02E53523-D08A-59D4-99E5-9EFFBBF165E4}"/>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6</a:t>
            </a:fld>
            <a:endParaRPr lang="zh-TW" altLang="en-US" sz="1600" dirty="0"/>
          </a:p>
        </p:txBody>
      </p:sp>
      <p:sp>
        <p:nvSpPr>
          <p:cNvPr id="6" name="文字方塊 5">
            <a:extLst>
              <a:ext uri="{FF2B5EF4-FFF2-40B4-BE49-F238E27FC236}">
                <a16:creationId xmlns:a16="http://schemas.microsoft.com/office/drawing/2014/main" id="{066D4813-1FB8-4F04-92C2-DBEDECC35DA1}"/>
              </a:ext>
            </a:extLst>
          </p:cNvPr>
          <p:cNvSpPr txBox="1"/>
          <p:nvPr/>
        </p:nvSpPr>
        <p:spPr>
          <a:xfrm>
            <a:off x="979517" y="6365348"/>
            <a:ext cx="6096000" cy="276999"/>
          </a:xfrm>
          <a:prstGeom prst="rect">
            <a:avLst/>
          </a:prstGeom>
          <a:noFill/>
        </p:spPr>
        <p:txBody>
          <a:bodyPr wrap="square">
            <a:spAutoFit/>
          </a:bodyPr>
          <a:lstStyle/>
          <a:p>
            <a:pPr marL="457200" indent="-457200">
              <a:spcAft>
                <a:spcPts val="800"/>
              </a:spcAft>
              <a:buNone/>
            </a:pPr>
            <a:r>
              <a:rPr lang="en-US" altLang="zh-TW" sz="1200" kern="100" dirty="0">
                <a:solidFill>
                  <a:schemeClr val="bg1"/>
                </a:solidFill>
                <a:effectLst/>
                <a:latin typeface="Times New Roman" panose="02020603050405020304" pitchFamily="18" charset="0"/>
                <a:ea typeface="新細明體" panose="02020500000000000000" pitchFamily="18" charset="-120"/>
              </a:rPr>
              <a:t>[1]</a:t>
            </a:r>
            <a:r>
              <a:rPr lang="zh-TW" altLang="en-US" sz="1200" kern="100" dirty="0">
                <a:solidFill>
                  <a:schemeClr val="bg1"/>
                </a:solidFill>
                <a:effectLst/>
                <a:latin typeface="Times New Roman" panose="02020603050405020304" pitchFamily="18" charset="0"/>
                <a:ea typeface="新細明體" panose="02020500000000000000" pitchFamily="18" charset="-120"/>
              </a:rPr>
              <a:t>  </a:t>
            </a:r>
            <a:r>
              <a:rPr lang="en-US" altLang="zh-TW" sz="1200" kern="100" dirty="0">
                <a:solidFill>
                  <a:schemeClr val="bg1"/>
                </a:solidFill>
                <a:effectLst/>
                <a:latin typeface="Times New Roman" panose="02020603050405020304" pitchFamily="18" charset="0"/>
                <a:ea typeface="新細明體" panose="02020500000000000000" pitchFamily="18" charset="-120"/>
              </a:rPr>
              <a:t>P. Toth and D. Vigo, </a:t>
            </a:r>
            <a:r>
              <a:rPr lang="en-US" altLang="zh-TW" sz="1200" i="1" kern="100" dirty="0">
                <a:solidFill>
                  <a:schemeClr val="bg1"/>
                </a:solidFill>
                <a:effectLst/>
                <a:latin typeface="Times New Roman" panose="02020603050405020304" pitchFamily="18" charset="0"/>
                <a:ea typeface="新細明體" panose="02020500000000000000" pitchFamily="18" charset="-120"/>
              </a:rPr>
              <a:t>The vehicle routing problem</a:t>
            </a:r>
            <a:r>
              <a:rPr lang="en-US" altLang="zh-TW" sz="1200" kern="100" dirty="0">
                <a:solidFill>
                  <a:schemeClr val="bg1"/>
                </a:solidFill>
                <a:effectLst/>
                <a:latin typeface="Times New Roman" panose="02020603050405020304" pitchFamily="18" charset="0"/>
                <a:ea typeface="新細明體" panose="02020500000000000000" pitchFamily="18" charset="-120"/>
              </a:rPr>
              <a:t>. SIAM, 2002.</a:t>
            </a:r>
            <a:endParaRPr lang="zh-TW" altLang="zh-TW" sz="1200" kern="100" dirty="0">
              <a:solidFill>
                <a:schemeClr val="bg1"/>
              </a:solidFill>
              <a:effectLst/>
              <a:latin typeface="Times New Roman" panose="02020603050405020304" pitchFamily="18" charset="0"/>
              <a:ea typeface="新細明體" panose="02020500000000000000" pitchFamily="18" charset="-120"/>
            </a:endParaRPr>
          </a:p>
        </p:txBody>
      </p:sp>
    </p:spTree>
    <p:extLst>
      <p:ext uri="{BB962C8B-B14F-4D97-AF65-F5344CB8AC3E}">
        <p14:creationId xmlns:p14="http://schemas.microsoft.com/office/powerpoint/2010/main" val="2223490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8104D2-0CE3-C978-B9C9-0773B24D5B3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ED79EAB-D062-209B-78B8-12963C7A691B}"/>
              </a:ext>
            </a:extLst>
          </p:cNvPr>
          <p:cNvSpPr>
            <a:spLocks noGrp="1"/>
          </p:cNvSpPr>
          <p:nvPr>
            <p:ph type="title"/>
          </p:nvPr>
        </p:nvSpPr>
        <p:spPr/>
        <p:txBody>
          <a:bodyPr/>
          <a:lstStyle/>
          <a:p>
            <a:r>
              <a:rPr lang="en-US" altLang="zh-TW" dirty="0"/>
              <a:t>VRP</a:t>
            </a:r>
            <a:endParaRPr lang="zh-TW" altLang="en-US" dirty="0"/>
          </a:p>
        </p:txBody>
      </p:sp>
      <p:sp>
        <p:nvSpPr>
          <p:cNvPr id="3" name="內容版面配置區 2">
            <a:extLst>
              <a:ext uri="{FF2B5EF4-FFF2-40B4-BE49-F238E27FC236}">
                <a16:creationId xmlns:a16="http://schemas.microsoft.com/office/drawing/2014/main" id="{DD3524AB-C7F0-330E-01E5-DC326524A3FC}"/>
              </a:ext>
            </a:extLst>
          </p:cNvPr>
          <p:cNvSpPr>
            <a:spLocks noGrp="1"/>
          </p:cNvSpPr>
          <p:nvPr>
            <p:ph idx="1"/>
          </p:nvPr>
        </p:nvSpPr>
        <p:spPr/>
        <p:txBody>
          <a:bodyPr>
            <a:normAutofit/>
          </a:bodyPr>
          <a:lstStyle/>
          <a:p>
            <a:pPr>
              <a:lnSpc>
                <a:spcPct val="150000"/>
              </a:lnSpc>
              <a:buClr>
                <a:schemeClr val="accent1">
                  <a:lumMod val="50000"/>
                </a:schemeClr>
              </a:buClr>
              <a:buFont typeface="Wingdings" panose="05000000000000000000" pitchFamily="2" charset="2"/>
              <a:buChar char="Ø"/>
            </a:pPr>
            <a:r>
              <a:rPr lang="en-US" altLang="zh-TW" dirty="0"/>
              <a:t>Variants</a:t>
            </a:r>
          </a:p>
          <a:p>
            <a:pPr lvl="1">
              <a:lnSpc>
                <a:spcPct val="150000"/>
              </a:lnSpc>
              <a:buFont typeface="Arial" panose="020B0604020202020204" pitchFamily="34" charset="0"/>
              <a:buChar char="•"/>
            </a:pPr>
            <a:r>
              <a:rPr lang="en-US" altLang="zh-TW" sz="2000" dirty="0"/>
              <a:t>Capacitated Vehicle Routing Problem</a:t>
            </a:r>
            <a:r>
              <a:rPr lang="zh-TW" altLang="en-US" sz="2000" dirty="0"/>
              <a:t> </a:t>
            </a:r>
            <a:r>
              <a:rPr lang="en-US" altLang="zh-TW" sz="2000" dirty="0"/>
              <a:t>(CVRP)</a:t>
            </a:r>
          </a:p>
          <a:p>
            <a:pPr lvl="1">
              <a:lnSpc>
                <a:spcPct val="150000"/>
              </a:lnSpc>
              <a:buFont typeface="Arial" panose="020B0604020202020204" pitchFamily="34" charset="0"/>
              <a:buChar char="•"/>
            </a:pPr>
            <a:r>
              <a:rPr lang="en-US" altLang="zh-TW" sz="2000" dirty="0"/>
              <a:t>Vehicle Routing Problem with Time Windows</a:t>
            </a:r>
            <a:r>
              <a:rPr lang="zh-TW" altLang="en-US" sz="2000" dirty="0"/>
              <a:t> </a:t>
            </a:r>
            <a:r>
              <a:rPr lang="en-US" altLang="zh-TW" sz="2000" dirty="0"/>
              <a:t>(VRPTW)</a:t>
            </a:r>
          </a:p>
          <a:p>
            <a:pPr lvl="1">
              <a:lnSpc>
                <a:spcPct val="150000"/>
              </a:lnSpc>
              <a:buFont typeface="Arial" panose="020B0604020202020204" pitchFamily="34" charset="0"/>
              <a:buChar char="•"/>
            </a:pPr>
            <a:r>
              <a:rPr lang="en-US" altLang="zh-TW" sz="2000" dirty="0"/>
              <a:t>etc.</a:t>
            </a:r>
          </a:p>
          <a:p>
            <a:pPr lvl="1">
              <a:buFont typeface="Arial" panose="020B0604020202020204" pitchFamily="34" charset="0"/>
              <a:buChar char="•"/>
            </a:pPr>
            <a:endParaRPr lang="en-US" altLang="zh-TW" sz="2000" dirty="0"/>
          </a:p>
          <a:p>
            <a:pPr lvl="1">
              <a:buFont typeface="Arial" panose="020B0604020202020204" pitchFamily="34" charset="0"/>
              <a:buChar char="•"/>
            </a:pPr>
            <a:endParaRPr lang="en-US" altLang="zh-TW" sz="2200" dirty="0"/>
          </a:p>
          <a:p>
            <a:pPr>
              <a:buFont typeface="Arial" panose="020B0604020202020204" pitchFamily="34" charset="0"/>
              <a:buChar char="•"/>
            </a:pPr>
            <a:endParaRPr lang="en-US" altLang="zh-TW" sz="2200" dirty="0"/>
          </a:p>
        </p:txBody>
      </p:sp>
      <p:sp>
        <p:nvSpPr>
          <p:cNvPr id="4" name="投影片編號版面配置區 3">
            <a:extLst>
              <a:ext uri="{FF2B5EF4-FFF2-40B4-BE49-F238E27FC236}">
                <a16:creationId xmlns:a16="http://schemas.microsoft.com/office/drawing/2014/main" id="{5A70888C-E0D4-917B-D15D-FCA24FDBA5E8}"/>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7</a:t>
            </a:fld>
            <a:endParaRPr lang="zh-TW" altLang="en-US" sz="1600"/>
          </a:p>
        </p:txBody>
      </p:sp>
    </p:spTree>
    <p:extLst>
      <p:ext uri="{BB962C8B-B14F-4D97-AF65-F5344CB8AC3E}">
        <p14:creationId xmlns:p14="http://schemas.microsoft.com/office/powerpoint/2010/main" val="2165522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BACA42-CA46-66D0-9057-F8AC356A76AA}"/>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E0E515BD-4380-412E-93D5-306AFEB84B1D}"/>
              </a:ext>
            </a:extLst>
          </p:cNvPr>
          <p:cNvSpPr>
            <a:spLocks noGrp="1"/>
          </p:cNvSpPr>
          <p:nvPr>
            <p:ph idx="1"/>
          </p:nvPr>
        </p:nvSpPr>
        <p:spPr/>
        <p:txBody>
          <a:bodyPr>
            <a:normAutofit/>
          </a:bodyPr>
          <a:lstStyle/>
          <a:p>
            <a:pPr>
              <a:lnSpc>
                <a:spcPct val="150000"/>
              </a:lnSpc>
              <a:buFont typeface="Wingdings" panose="05000000000000000000" pitchFamily="2" charset="2"/>
              <a:buChar char="Ø"/>
            </a:pPr>
            <a:r>
              <a:rPr lang="en-US" altLang="zh-TW" dirty="0"/>
              <a:t>Cooperative Co-evolutionary Genetic Algorithm</a:t>
            </a:r>
            <a:r>
              <a:rPr lang="zh-TW" altLang="en-US" dirty="0"/>
              <a:t> </a:t>
            </a:r>
            <a:r>
              <a:rPr lang="en-US" altLang="zh-TW" dirty="0"/>
              <a:t>(CCGA)[2]</a:t>
            </a:r>
          </a:p>
          <a:p>
            <a:pPr lvl="1">
              <a:lnSpc>
                <a:spcPct val="150000"/>
              </a:lnSpc>
              <a:buFont typeface="Arial" panose="020B0604020202020204" pitchFamily="34" charset="0"/>
              <a:buChar char="•"/>
            </a:pPr>
            <a:r>
              <a:rPr lang="zh-TW" altLang="zh-TW" dirty="0"/>
              <a:t>Decompose the problem into </a:t>
            </a:r>
            <a:r>
              <a:rPr lang="en-US" altLang="zh-TW" dirty="0"/>
              <a:t>multiple </a:t>
            </a:r>
            <a:r>
              <a:rPr lang="zh-TW" altLang="zh-TW" dirty="0"/>
              <a:t>smaller subproblems</a:t>
            </a:r>
            <a:endParaRPr lang="en-US" altLang="zh-TW" dirty="0"/>
          </a:p>
          <a:p>
            <a:pPr lvl="1">
              <a:lnSpc>
                <a:spcPct val="150000"/>
              </a:lnSpc>
              <a:buFont typeface="Arial" panose="020B0604020202020204" pitchFamily="34" charset="0"/>
              <a:buChar char="•"/>
            </a:pPr>
            <a:r>
              <a:rPr lang="zh-TW" altLang="zh-TW" dirty="0"/>
              <a:t>Evolve each subproblem independently using Genetic Algorithms</a:t>
            </a:r>
            <a:endParaRPr lang="en-US" altLang="zh-TW" dirty="0"/>
          </a:p>
          <a:p>
            <a:pPr lvl="1">
              <a:lnSpc>
                <a:spcPct val="150000"/>
              </a:lnSpc>
              <a:buFont typeface="Arial" panose="020B0604020202020204" pitchFamily="34" charset="0"/>
              <a:buChar char="•"/>
            </a:pPr>
            <a:r>
              <a:rPr lang="zh-TW" altLang="zh-TW" dirty="0"/>
              <a:t>Combine partial solutions and evaluate the complete solution</a:t>
            </a:r>
            <a:endParaRPr lang="en-US" altLang="zh-TW" dirty="0"/>
          </a:p>
        </p:txBody>
      </p:sp>
      <p:sp>
        <p:nvSpPr>
          <p:cNvPr id="4" name="投影片編號版面配置區 3">
            <a:extLst>
              <a:ext uri="{FF2B5EF4-FFF2-40B4-BE49-F238E27FC236}">
                <a16:creationId xmlns:a16="http://schemas.microsoft.com/office/drawing/2014/main" id="{D1DCA0E3-A4A2-3D85-5E3A-653EA3133B3C}"/>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8</a:t>
            </a:fld>
            <a:endParaRPr lang="zh-TW" altLang="en-US" sz="1600" dirty="0"/>
          </a:p>
        </p:txBody>
      </p:sp>
      <p:sp>
        <p:nvSpPr>
          <p:cNvPr id="7" name="文字方塊 6">
            <a:extLst>
              <a:ext uri="{FF2B5EF4-FFF2-40B4-BE49-F238E27FC236}">
                <a16:creationId xmlns:a16="http://schemas.microsoft.com/office/drawing/2014/main" id="{80F10C9A-40A7-FBAD-3FDD-574609297868}"/>
              </a:ext>
            </a:extLst>
          </p:cNvPr>
          <p:cNvSpPr txBox="1"/>
          <p:nvPr/>
        </p:nvSpPr>
        <p:spPr>
          <a:xfrm>
            <a:off x="979517" y="6367183"/>
            <a:ext cx="10058400" cy="276999"/>
          </a:xfrm>
          <a:prstGeom prst="rect">
            <a:avLst/>
          </a:prstGeom>
          <a:noFill/>
        </p:spPr>
        <p:txBody>
          <a:bodyPr wrap="square">
            <a:spAutoFit/>
          </a:bodyPr>
          <a:lstStyle/>
          <a:p>
            <a:pPr marL="457200" indent="-457200">
              <a:spcAft>
                <a:spcPts val="800"/>
              </a:spcAft>
              <a:buNone/>
            </a:pPr>
            <a:r>
              <a:rPr lang="en-US" altLang="zh-TW" sz="1200" kern="100" dirty="0">
                <a:solidFill>
                  <a:schemeClr val="bg1"/>
                </a:solidFill>
                <a:effectLst/>
                <a:latin typeface="Times New Roman" panose="02020603050405020304" pitchFamily="18" charset="0"/>
                <a:ea typeface="新細明體" panose="02020500000000000000" pitchFamily="18" charset="-120"/>
              </a:rPr>
              <a:t>[2]</a:t>
            </a:r>
            <a:r>
              <a:rPr lang="en-US" altLang="zh-TW" sz="1200" kern="100" dirty="0">
                <a:solidFill>
                  <a:schemeClr val="bg1"/>
                </a:solidFill>
                <a:latin typeface="Times New Roman" panose="02020603050405020304" pitchFamily="18" charset="0"/>
                <a:ea typeface="新細明體" panose="02020500000000000000" pitchFamily="18" charset="-120"/>
              </a:rPr>
              <a:t>  </a:t>
            </a:r>
            <a:r>
              <a:rPr lang="en-US" altLang="zh-TW" sz="1200" kern="100" dirty="0">
                <a:solidFill>
                  <a:schemeClr val="bg1"/>
                </a:solidFill>
                <a:effectLst/>
                <a:latin typeface="Times New Roman" panose="02020603050405020304" pitchFamily="18" charset="0"/>
                <a:ea typeface="新細明體" panose="02020500000000000000" pitchFamily="18" charset="-120"/>
              </a:rPr>
              <a:t>X. Ma</a:t>
            </a:r>
            <a:r>
              <a:rPr lang="en-US" altLang="zh-TW" sz="1200" i="1" kern="100" dirty="0">
                <a:solidFill>
                  <a:schemeClr val="bg1"/>
                </a:solidFill>
                <a:effectLst/>
                <a:latin typeface="Times New Roman" panose="02020603050405020304" pitchFamily="18" charset="0"/>
                <a:ea typeface="新細明體" panose="02020500000000000000" pitchFamily="18" charset="-120"/>
              </a:rPr>
              <a:t> et al.</a:t>
            </a:r>
            <a:r>
              <a:rPr lang="en-US" altLang="zh-TW" sz="1200" kern="100" dirty="0">
                <a:solidFill>
                  <a:schemeClr val="bg1"/>
                </a:solidFill>
                <a:effectLst/>
                <a:latin typeface="Times New Roman" panose="02020603050405020304" pitchFamily="18" charset="0"/>
                <a:ea typeface="新細明體" panose="02020500000000000000" pitchFamily="18" charset="-120"/>
              </a:rPr>
              <a:t>, "A survey on cooperative co-evolutionary algorithms," </a:t>
            </a:r>
            <a:r>
              <a:rPr lang="en-US" altLang="zh-TW" sz="1200" i="1" kern="100" dirty="0">
                <a:solidFill>
                  <a:schemeClr val="bg1"/>
                </a:solidFill>
                <a:effectLst/>
                <a:latin typeface="Times New Roman" panose="02020603050405020304" pitchFamily="18" charset="0"/>
                <a:ea typeface="新細明體" panose="02020500000000000000" pitchFamily="18" charset="-120"/>
              </a:rPr>
              <a:t>IEEE Transactions on Evolutionary Computation, </a:t>
            </a:r>
            <a:r>
              <a:rPr lang="en-US" altLang="zh-TW" sz="1200" kern="100" dirty="0">
                <a:solidFill>
                  <a:schemeClr val="bg1"/>
                </a:solidFill>
                <a:effectLst/>
                <a:latin typeface="Times New Roman" panose="02020603050405020304" pitchFamily="18" charset="0"/>
                <a:ea typeface="新細明體" panose="02020500000000000000" pitchFamily="18" charset="-120"/>
              </a:rPr>
              <a:t>vol. 23, no. 3, pp. 421–441, 2018.</a:t>
            </a:r>
            <a:endParaRPr lang="zh-TW" altLang="zh-TW" sz="1200" kern="100" dirty="0">
              <a:solidFill>
                <a:schemeClr val="bg1"/>
              </a:solidFill>
              <a:effectLst/>
              <a:latin typeface="Times New Roman" panose="02020603050405020304" pitchFamily="18" charset="0"/>
              <a:ea typeface="新細明體" panose="02020500000000000000" pitchFamily="18" charset="-120"/>
            </a:endParaRPr>
          </a:p>
        </p:txBody>
      </p:sp>
      <p:sp>
        <p:nvSpPr>
          <p:cNvPr id="9" name="標題 8">
            <a:extLst>
              <a:ext uri="{FF2B5EF4-FFF2-40B4-BE49-F238E27FC236}">
                <a16:creationId xmlns:a16="http://schemas.microsoft.com/office/drawing/2014/main" id="{D048981F-C6CB-2204-1442-1C771F15638B}"/>
              </a:ext>
            </a:extLst>
          </p:cNvPr>
          <p:cNvSpPr>
            <a:spLocks noGrp="1"/>
          </p:cNvSpPr>
          <p:nvPr>
            <p:ph type="title"/>
          </p:nvPr>
        </p:nvSpPr>
        <p:spPr/>
        <p:txBody>
          <a:bodyPr/>
          <a:lstStyle/>
          <a:p>
            <a:r>
              <a:rPr lang="en-US" altLang="zh-TW" dirty="0"/>
              <a:t>CCGA</a:t>
            </a:r>
            <a:endParaRPr lang="zh-TW" altLang="en-US" dirty="0"/>
          </a:p>
        </p:txBody>
      </p:sp>
    </p:spTree>
    <p:extLst>
      <p:ext uri="{BB962C8B-B14F-4D97-AF65-F5344CB8AC3E}">
        <p14:creationId xmlns:p14="http://schemas.microsoft.com/office/powerpoint/2010/main" val="212611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E2D4E1-6622-4F88-5D20-CCCE868072F1}"/>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F6398F18-F1AD-0F61-ABCC-0E7ECD61FD1F}"/>
              </a:ext>
            </a:extLst>
          </p:cNvPr>
          <p:cNvSpPr>
            <a:spLocks noGrp="1"/>
          </p:cNvSpPr>
          <p:nvPr>
            <p:ph idx="1"/>
          </p:nvPr>
        </p:nvSpPr>
        <p:spPr/>
        <p:txBody>
          <a:bodyPr>
            <a:normAutofit/>
          </a:bodyPr>
          <a:lstStyle/>
          <a:p>
            <a:pPr>
              <a:lnSpc>
                <a:spcPct val="150000"/>
              </a:lnSpc>
              <a:buFont typeface="Wingdings" panose="05000000000000000000" pitchFamily="2" charset="2"/>
              <a:buChar char="Ø"/>
            </a:pPr>
            <a:r>
              <a:rPr lang="en-US" altLang="zh-TW" dirty="0"/>
              <a:t>Hybrid Ant Colony Optimization (HACO)[3]</a:t>
            </a:r>
          </a:p>
          <a:p>
            <a:pPr lvl="1">
              <a:lnSpc>
                <a:spcPct val="150000"/>
              </a:lnSpc>
              <a:buFont typeface="Arial" panose="020B0604020202020204" pitchFamily="34" charset="0"/>
              <a:buChar char="•"/>
            </a:pPr>
            <a:r>
              <a:rPr lang="en-US" altLang="zh-TW" dirty="0"/>
              <a:t>Combine Ant Colony Optimization</a:t>
            </a:r>
            <a:r>
              <a:rPr lang="zh-TW" altLang="en-US" dirty="0"/>
              <a:t> </a:t>
            </a:r>
            <a:r>
              <a:rPr lang="en-US" altLang="zh-TW" dirty="0"/>
              <a:t>(ACO) with </a:t>
            </a:r>
            <a:r>
              <a:rPr lang="zh-TW" altLang="zh-TW" dirty="0"/>
              <a:t>heuristic improvement methods</a:t>
            </a:r>
            <a:endParaRPr lang="en-US" altLang="zh-TW" dirty="0"/>
          </a:p>
          <a:p>
            <a:pPr lvl="1">
              <a:lnSpc>
                <a:spcPct val="150000"/>
              </a:lnSpc>
              <a:buFont typeface="Arial" panose="020B0604020202020204" pitchFamily="34" charset="0"/>
              <a:buChar char="•"/>
            </a:pPr>
            <a:r>
              <a:rPr lang="en-US" altLang="zh-TW" dirty="0"/>
              <a:t>C</a:t>
            </a:r>
            <a:r>
              <a:rPr lang="zh-TW" altLang="zh-TW" dirty="0"/>
              <a:t>onstructs solutions by simulating pheromone-based communication among ants</a:t>
            </a:r>
            <a:endParaRPr lang="en-US" altLang="zh-TW" dirty="0"/>
          </a:p>
          <a:p>
            <a:pPr lvl="1">
              <a:lnSpc>
                <a:spcPct val="150000"/>
              </a:lnSpc>
              <a:buFont typeface="Arial" panose="020B0604020202020204" pitchFamily="34" charset="0"/>
              <a:buChar char="•"/>
            </a:pPr>
            <a:r>
              <a:rPr lang="zh-TW" altLang="zh-TW" dirty="0"/>
              <a:t>Enhances solution quality through iterative local improvement while maintaining global exploration</a:t>
            </a:r>
            <a:endParaRPr lang="en-US" altLang="zh-TW" dirty="0"/>
          </a:p>
        </p:txBody>
      </p:sp>
      <p:sp>
        <p:nvSpPr>
          <p:cNvPr id="4" name="投影片編號版面配置區 3">
            <a:extLst>
              <a:ext uri="{FF2B5EF4-FFF2-40B4-BE49-F238E27FC236}">
                <a16:creationId xmlns:a16="http://schemas.microsoft.com/office/drawing/2014/main" id="{782D0B64-0923-BFC6-1CC6-A9BE38C1BF46}"/>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9</a:t>
            </a:fld>
            <a:endParaRPr lang="zh-TW" altLang="en-US" sz="1600" dirty="0"/>
          </a:p>
        </p:txBody>
      </p:sp>
      <p:sp>
        <p:nvSpPr>
          <p:cNvPr id="6" name="文字方塊 5">
            <a:extLst>
              <a:ext uri="{FF2B5EF4-FFF2-40B4-BE49-F238E27FC236}">
                <a16:creationId xmlns:a16="http://schemas.microsoft.com/office/drawing/2014/main" id="{EBA2592A-A68B-E65F-66B9-0A6B46BE3557}"/>
              </a:ext>
            </a:extLst>
          </p:cNvPr>
          <p:cNvSpPr txBox="1"/>
          <p:nvPr/>
        </p:nvSpPr>
        <p:spPr>
          <a:xfrm>
            <a:off x="979517" y="6363245"/>
            <a:ext cx="9383683" cy="461665"/>
          </a:xfrm>
          <a:prstGeom prst="rect">
            <a:avLst/>
          </a:prstGeom>
          <a:noFill/>
        </p:spPr>
        <p:txBody>
          <a:bodyPr wrap="square">
            <a:spAutoFit/>
          </a:bodyPr>
          <a:lstStyle/>
          <a:p>
            <a:pPr marL="457200" indent="-457200">
              <a:spcAft>
                <a:spcPts val="800"/>
              </a:spcAft>
              <a:buNone/>
            </a:pPr>
            <a:r>
              <a:rPr lang="en-US" altLang="zh-TW" sz="1200" kern="100" dirty="0">
                <a:solidFill>
                  <a:schemeClr val="bg1"/>
                </a:solidFill>
                <a:effectLst/>
                <a:latin typeface="Times New Roman" panose="02020603050405020304" pitchFamily="18" charset="0"/>
                <a:ea typeface="新細明體" panose="02020500000000000000" pitchFamily="18" charset="-120"/>
              </a:rPr>
              <a:t>[3]</a:t>
            </a:r>
            <a:r>
              <a:rPr lang="zh-TW" altLang="en-US" sz="1200" kern="100" dirty="0">
                <a:solidFill>
                  <a:schemeClr val="bg1"/>
                </a:solidFill>
                <a:effectLst/>
                <a:latin typeface="Times New Roman" panose="02020603050405020304" pitchFamily="18" charset="0"/>
                <a:ea typeface="新細明體" panose="02020500000000000000" pitchFamily="18" charset="-120"/>
              </a:rPr>
              <a:t>  </a:t>
            </a:r>
            <a:r>
              <a:rPr lang="en-US" altLang="zh-TW" sz="1200" kern="100" dirty="0">
                <a:solidFill>
                  <a:schemeClr val="bg1"/>
                </a:solidFill>
                <a:effectLst/>
                <a:latin typeface="Times New Roman" panose="02020603050405020304" pitchFamily="18" charset="0"/>
                <a:ea typeface="新細明體" panose="02020500000000000000" pitchFamily="18" charset="-120"/>
              </a:rPr>
              <a:t>Q. Ding, X. Hu, L. Sun, and Y. Wang, "An improved ant colony optimization and its application to vehicle routing problem with time windows," </a:t>
            </a:r>
            <a:r>
              <a:rPr lang="en-US" altLang="zh-TW" sz="1200" i="1" kern="100" dirty="0">
                <a:solidFill>
                  <a:schemeClr val="bg1"/>
                </a:solidFill>
                <a:effectLst/>
                <a:latin typeface="Times New Roman" panose="02020603050405020304" pitchFamily="18" charset="0"/>
                <a:ea typeface="新細明體" panose="02020500000000000000" pitchFamily="18" charset="-120"/>
              </a:rPr>
              <a:t>Neurocomputing, </a:t>
            </a:r>
            <a:r>
              <a:rPr lang="en-US" altLang="zh-TW" sz="1200" kern="100" dirty="0">
                <a:solidFill>
                  <a:schemeClr val="bg1"/>
                </a:solidFill>
                <a:effectLst/>
                <a:latin typeface="Times New Roman" panose="02020603050405020304" pitchFamily="18" charset="0"/>
                <a:ea typeface="新細明體" panose="02020500000000000000" pitchFamily="18" charset="-120"/>
              </a:rPr>
              <a:t>vol. 98, pp. 101–107, 2012.</a:t>
            </a:r>
            <a:endParaRPr lang="zh-TW" altLang="zh-TW" sz="1200" kern="100" dirty="0">
              <a:solidFill>
                <a:schemeClr val="bg1"/>
              </a:solidFill>
              <a:effectLst/>
              <a:latin typeface="Times New Roman" panose="02020603050405020304" pitchFamily="18" charset="0"/>
              <a:ea typeface="新細明體" panose="02020500000000000000" pitchFamily="18" charset="-120"/>
            </a:endParaRPr>
          </a:p>
        </p:txBody>
      </p:sp>
      <p:sp>
        <p:nvSpPr>
          <p:cNvPr id="8" name="標題 7">
            <a:extLst>
              <a:ext uri="{FF2B5EF4-FFF2-40B4-BE49-F238E27FC236}">
                <a16:creationId xmlns:a16="http://schemas.microsoft.com/office/drawing/2014/main" id="{0E051D61-92C1-26A6-E1BD-DDBEEA5B4786}"/>
              </a:ext>
            </a:extLst>
          </p:cNvPr>
          <p:cNvSpPr>
            <a:spLocks noGrp="1"/>
          </p:cNvSpPr>
          <p:nvPr>
            <p:ph type="title"/>
          </p:nvPr>
        </p:nvSpPr>
        <p:spPr/>
        <p:txBody>
          <a:bodyPr/>
          <a:lstStyle/>
          <a:p>
            <a:r>
              <a:rPr lang="en-US" altLang="zh-TW" dirty="0"/>
              <a:t>HACO</a:t>
            </a:r>
            <a:endParaRPr lang="zh-TW" altLang="en-US" dirty="0"/>
          </a:p>
        </p:txBody>
      </p:sp>
    </p:spTree>
    <p:extLst>
      <p:ext uri="{BB962C8B-B14F-4D97-AF65-F5344CB8AC3E}">
        <p14:creationId xmlns:p14="http://schemas.microsoft.com/office/powerpoint/2010/main" val="942896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F0D266-1885-6647-1B4B-732F5231620D}"/>
            </a:ext>
          </a:extLst>
        </p:cNvPr>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45E06BF5-D69B-1301-0949-14BBBFB4BCE6}"/>
              </a:ext>
            </a:extLst>
          </p:cNvPr>
          <p:cNvSpPr>
            <a:spLocks noGrp="1"/>
          </p:cNvSpPr>
          <p:nvPr>
            <p:ph idx="1"/>
          </p:nvPr>
        </p:nvSpPr>
        <p:spPr/>
        <p:txBody>
          <a:bodyPr>
            <a:normAutofit/>
          </a:bodyPr>
          <a:lstStyle/>
          <a:p>
            <a:pPr>
              <a:lnSpc>
                <a:spcPct val="150000"/>
              </a:lnSpc>
              <a:buFont typeface="Wingdings" panose="05000000000000000000" pitchFamily="2" charset="2"/>
              <a:buChar char="Ø"/>
            </a:pPr>
            <a:r>
              <a:rPr lang="en-US" altLang="zh-TW" dirty="0"/>
              <a:t>Multiple Ant Colony System</a:t>
            </a:r>
            <a:r>
              <a:rPr lang="zh-TW" altLang="en-US" dirty="0"/>
              <a:t> </a:t>
            </a:r>
            <a:r>
              <a:rPr lang="en-US" altLang="zh-TW" dirty="0"/>
              <a:t>(MACS)[4]</a:t>
            </a:r>
          </a:p>
          <a:p>
            <a:pPr lvl="1">
              <a:lnSpc>
                <a:spcPct val="150000"/>
              </a:lnSpc>
              <a:buFont typeface="Arial" panose="020B0604020202020204" pitchFamily="34" charset="0"/>
              <a:buChar char="•"/>
            </a:pPr>
            <a:r>
              <a:rPr lang="zh-TW" altLang="zh-TW" dirty="0"/>
              <a:t>Employ multiple cooperative ant colonies to optimize different routing objectives</a:t>
            </a:r>
            <a:endParaRPr lang="en-US" altLang="zh-TW" dirty="0"/>
          </a:p>
          <a:p>
            <a:pPr lvl="1">
              <a:lnSpc>
                <a:spcPct val="150000"/>
              </a:lnSpc>
              <a:buFont typeface="Arial" panose="020B0604020202020204" pitchFamily="34" charset="0"/>
              <a:buChar char="•"/>
            </a:pPr>
            <a:r>
              <a:rPr lang="zh-TW" altLang="zh-TW" dirty="0"/>
              <a:t>ACS-VEI minimizes the number of vehicles by improving </a:t>
            </a:r>
            <a:r>
              <a:rPr lang="en-US" altLang="zh-TW" dirty="0"/>
              <a:t>store</a:t>
            </a:r>
            <a:r>
              <a:rPr lang="zh-TW" altLang="zh-TW" dirty="0"/>
              <a:t> coverage during route construction</a:t>
            </a:r>
            <a:endParaRPr lang="en-US" altLang="zh-TW" dirty="0"/>
          </a:p>
          <a:p>
            <a:pPr lvl="1">
              <a:lnSpc>
                <a:spcPct val="150000"/>
              </a:lnSpc>
              <a:buFont typeface="Arial" panose="020B0604020202020204" pitchFamily="34" charset="0"/>
              <a:buChar char="•"/>
            </a:pPr>
            <a:r>
              <a:rPr lang="zh-TW" altLang="zh-TW" dirty="0"/>
              <a:t>ACS-DIST minimizes total travel distance through local optimization after solution construction</a:t>
            </a:r>
            <a:endParaRPr lang="en-US" altLang="zh-TW" dirty="0"/>
          </a:p>
        </p:txBody>
      </p:sp>
      <p:sp>
        <p:nvSpPr>
          <p:cNvPr id="4" name="投影片編號版面配置區 3">
            <a:extLst>
              <a:ext uri="{FF2B5EF4-FFF2-40B4-BE49-F238E27FC236}">
                <a16:creationId xmlns:a16="http://schemas.microsoft.com/office/drawing/2014/main" id="{4DBF2C1E-786D-4D2A-1C69-5E276A47EAAA}"/>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10</a:t>
            </a:fld>
            <a:endParaRPr lang="zh-TW" altLang="en-US" sz="1600" dirty="0"/>
          </a:p>
        </p:txBody>
      </p:sp>
      <p:sp>
        <p:nvSpPr>
          <p:cNvPr id="9" name="文字方塊 8">
            <a:extLst>
              <a:ext uri="{FF2B5EF4-FFF2-40B4-BE49-F238E27FC236}">
                <a16:creationId xmlns:a16="http://schemas.microsoft.com/office/drawing/2014/main" id="{242305C2-9D4E-DE24-C364-DC15B323F6B6}"/>
              </a:ext>
            </a:extLst>
          </p:cNvPr>
          <p:cNvSpPr txBox="1"/>
          <p:nvPr/>
        </p:nvSpPr>
        <p:spPr>
          <a:xfrm>
            <a:off x="979517" y="6363245"/>
            <a:ext cx="9648825" cy="461665"/>
          </a:xfrm>
          <a:prstGeom prst="rect">
            <a:avLst/>
          </a:prstGeom>
          <a:noFill/>
        </p:spPr>
        <p:txBody>
          <a:bodyPr wrap="square">
            <a:spAutoFit/>
          </a:bodyPr>
          <a:lstStyle/>
          <a:p>
            <a:r>
              <a:rPr lang="en-US" altLang="zh-TW" sz="1200" dirty="0">
                <a:solidFill>
                  <a:schemeClr val="bg1"/>
                </a:solidFill>
              </a:rPr>
              <a:t>[4]  L. M. Gambardella, É. </a:t>
            </a:r>
            <a:r>
              <a:rPr lang="en-US" altLang="zh-TW" sz="1200" dirty="0" err="1">
                <a:solidFill>
                  <a:schemeClr val="bg1"/>
                </a:solidFill>
              </a:rPr>
              <a:t>Taillard</a:t>
            </a:r>
            <a:r>
              <a:rPr lang="en-US" altLang="zh-TW" sz="1200" dirty="0">
                <a:solidFill>
                  <a:schemeClr val="bg1"/>
                </a:solidFill>
              </a:rPr>
              <a:t>, and G. Agazzi, "MACS-VRPTW: A multiple ant colony system for vehicle routing problems with time windows," ed: Istituto Dalle Molle Di Studi Sull </a:t>
            </a:r>
            <a:r>
              <a:rPr lang="en-US" altLang="zh-TW" sz="1200" dirty="0" err="1">
                <a:solidFill>
                  <a:schemeClr val="bg1"/>
                </a:solidFill>
              </a:rPr>
              <a:t>Intelligenza</a:t>
            </a:r>
            <a:r>
              <a:rPr lang="en-US" altLang="zh-TW" sz="1200" dirty="0">
                <a:solidFill>
                  <a:schemeClr val="bg1"/>
                </a:solidFill>
              </a:rPr>
              <a:t> </a:t>
            </a:r>
            <a:r>
              <a:rPr lang="en-US" altLang="zh-TW" sz="1200" dirty="0" err="1">
                <a:solidFill>
                  <a:schemeClr val="bg1"/>
                </a:solidFill>
              </a:rPr>
              <a:t>Artificiale</a:t>
            </a:r>
            <a:r>
              <a:rPr lang="en-US" altLang="zh-TW" sz="1200" dirty="0">
                <a:solidFill>
                  <a:schemeClr val="bg1"/>
                </a:solidFill>
              </a:rPr>
              <a:t>, 1999</a:t>
            </a:r>
            <a:endParaRPr lang="zh-TW" altLang="en-US" sz="1200" dirty="0">
              <a:solidFill>
                <a:schemeClr val="bg1"/>
              </a:solidFill>
            </a:endParaRPr>
          </a:p>
        </p:txBody>
      </p:sp>
      <p:sp>
        <p:nvSpPr>
          <p:cNvPr id="11" name="標題 10">
            <a:extLst>
              <a:ext uri="{FF2B5EF4-FFF2-40B4-BE49-F238E27FC236}">
                <a16:creationId xmlns:a16="http://schemas.microsoft.com/office/drawing/2014/main" id="{5229BA37-59F1-2B2F-1354-5DDEDAD520AE}"/>
              </a:ext>
            </a:extLst>
          </p:cNvPr>
          <p:cNvSpPr>
            <a:spLocks noGrp="1"/>
          </p:cNvSpPr>
          <p:nvPr>
            <p:ph type="title"/>
          </p:nvPr>
        </p:nvSpPr>
        <p:spPr/>
        <p:txBody>
          <a:bodyPr/>
          <a:lstStyle/>
          <a:p>
            <a:r>
              <a:rPr lang="en-US" altLang="zh-TW" dirty="0"/>
              <a:t>MACS</a:t>
            </a:r>
            <a:endParaRPr lang="zh-TW" altLang="en-US" dirty="0"/>
          </a:p>
        </p:txBody>
      </p:sp>
    </p:spTree>
    <p:extLst>
      <p:ext uri="{BB962C8B-B14F-4D97-AF65-F5344CB8AC3E}">
        <p14:creationId xmlns:p14="http://schemas.microsoft.com/office/powerpoint/2010/main" val="804704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ED77C9-E9AE-4295-A29B-C5B04C6C0F84}"/>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AA3B7F4D-32A3-41E9-BD73-E34204462DB0}"/>
              </a:ext>
            </a:extLst>
          </p:cNvPr>
          <p:cNvSpPr>
            <a:spLocks noGrp="1"/>
          </p:cNvSpPr>
          <p:nvPr>
            <p:ph idx="1"/>
          </p:nvPr>
        </p:nvSpPr>
        <p:spPr/>
        <p:txBody>
          <a:bodyPr>
            <a:normAutofit/>
          </a:bodyPr>
          <a:lstStyle/>
          <a:p>
            <a:pPr>
              <a:buFont typeface="Wingdings" panose="05000000000000000000" pitchFamily="2" charset="2"/>
              <a:buChar char="Ø"/>
            </a:pPr>
            <a:r>
              <a:rPr lang="en-US" altLang="zh-TW" sz="3200" dirty="0">
                <a:solidFill>
                  <a:schemeClr val="bg2">
                    <a:lumMod val="75000"/>
                  </a:schemeClr>
                </a:solidFill>
              </a:rPr>
              <a:t>Motivation</a:t>
            </a:r>
          </a:p>
          <a:p>
            <a:pPr>
              <a:buFont typeface="Wingdings" panose="05000000000000000000" pitchFamily="2" charset="2"/>
              <a:buChar char="Ø"/>
            </a:pPr>
            <a:r>
              <a:rPr lang="en-US" altLang="zh-TW" sz="3200" dirty="0">
                <a:solidFill>
                  <a:schemeClr val="bg2">
                    <a:lumMod val="75000"/>
                  </a:schemeClr>
                </a:solidFill>
              </a:rPr>
              <a:t>Background</a:t>
            </a:r>
          </a:p>
          <a:p>
            <a:pPr>
              <a:buFont typeface="Wingdings" panose="05000000000000000000" pitchFamily="2" charset="2"/>
              <a:buChar char="Ø"/>
            </a:pPr>
            <a:r>
              <a:rPr lang="en-US" altLang="zh-TW" sz="3200" dirty="0"/>
              <a:t>The proposed approach</a:t>
            </a:r>
          </a:p>
          <a:p>
            <a:pPr>
              <a:buFont typeface="Wingdings" panose="05000000000000000000" pitchFamily="2" charset="2"/>
              <a:buChar char="Ø"/>
            </a:pPr>
            <a:r>
              <a:rPr lang="en-US" altLang="zh-TW" sz="3200" dirty="0">
                <a:solidFill>
                  <a:schemeClr val="bg2">
                    <a:lumMod val="75000"/>
                  </a:schemeClr>
                </a:solidFill>
              </a:rPr>
              <a:t>Experiment</a:t>
            </a:r>
          </a:p>
          <a:p>
            <a:pPr>
              <a:buFont typeface="Wingdings" panose="05000000000000000000" pitchFamily="2" charset="2"/>
              <a:buChar char="Ø"/>
            </a:pPr>
            <a:r>
              <a:rPr lang="en-US" altLang="zh-TW" sz="3200" dirty="0">
                <a:solidFill>
                  <a:schemeClr val="bg2">
                    <a:lumMod val="75000"/>
                  </a:schemeClr>
                </a:solidFill>
              </a:rPr>
              <a:t>Conclusion &amp; Future</a:t>
            </a:r>
          </a:p>
        </p:txBody>
      </p:sp>
      <p:sp>
        <p:nvSpPr>
          <p:cNvPr id="4" name="投影片編號版面配置區 3">
            <a:extLst>
              <a:ext uri="{FF2B5EF4-FFF2-40B4-BE49-F238E27FC236}">
                <a16:creationId xmlns:a16="http://schemas.microsoft.com/office/drawing/2014/main" id="{EC3E75BF-F0EA-4036-BF71-34C7F697411D}"/>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11</a:t>
            </a:fld>
            <a:endParaRPr lang="zh-TW" altLang="en-US" sz="1600"/>
          </a:p>
        </p:txBody>
      </p:sp>
    </p:spTree>
    <p:extLst>
      <p:ext uri="{BB962C8B-B14F-4D97-AF65-F5344CB8AC3E}">
        <p14:creationId xmlns:p14="http://schemas.microsoft.com/office/powerpoint/2010/main" val="2944705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25F604-5187-444F-BBAA-92953D6FC196}"/>
              </a:ext>
            </a:extLst>
          </p:cNvPr>
          <p:cNvSpPr>
            <a:spLocks noGrp="1"/>
          </p:cNvSpPr>
          <p:nvPr>
            <p:ph type="title"/>
          </p:nvPr>
        </p:nvSpPr>
        <p:spPr/>
        <p:txBody>
          <a:bodyPr/>
          <a:lstStyle/>
          <a:p>
            <a:r>
              <a:rPr lang="en-US" altLang="zh-TW" dirty="0"/>
              <a:t>The proposed approach</a:t>
            </a:r>
            <a:endParaRPr lang="zh-TW" altLang="en-US" dirty="0"/>
          </a:p>
        </p:txBody>
      </p:sp>
      <p:sp>
        <p:nvSpPr>
          <p:cNvPr id="3" name="內容版面配置區 2">
            <a:extLst>
              <a:ext uri="{FF2B5EF4-FFF2-40B4-BE49-F238E27FC236}">
                <a16:creationId xmlns:a16="http://schemas.microsoft.com/office/drawing/2014/main" id="{F3F3023D-8FAB-45FA-9088-07342E8DDB88}"/>
              </a:ext>
            </a:extLst>
          </p:cNvPr>
          <p:cNvSpPr>
            <a:spLocks noGrp="1"/>
          </p:cNvSpPr>
          <p:nvPr>
            <p:ph idx="1"/>
          </p:nvPr>
        </p:nvSpPr>
        <p:spPr>
          <a:xfrm>
            <a:off x="1097279" y="1845734"/>
            <a:ext cx="10350533" cy="4023360"/>
          </a:xfrm>
        </p:spPr>
        <p:txBody>
          <a:bodyPr>
            <a:normAutofit/>
          </a:bodyPr>
          <a:lstStyle/>
          <a:p>
            <a:pPr marL="0" indent="0">
              <a:buNone/>
            </a:pPr>
            <a:r>
              <a:rPr lang="en-US" altLang="zh-TW" dirty="0"/>
              <a:t>Multi-stage Operationally Constrained VRP Framework composed of four main modules</a:t>
            </a:r>
          </a:p>
          <a:p>
            <a:pPr marL="457200" indent="-457200">
              <a:buClr>
                <a:schemeClr val="accent1">
                  <a:lumMod val="50000"/>
                </a:schemeClr>
              </a:buClr>
              <a:buFont typeface="+mj-lt"/>
              <a:buAutoNum type="arabicPeriod"/>
            </a:pPr>
            <a:r>
              <a:rPr lang="en-US" altLang="zh-TW" dirty="0"/>
              <a:t>API Module</a:t>
            </a:r>
          </a:p>
          <a:p>
            <a:pPr marL="749808" lvl="1" indent="-457200"/>
            <a:r>
              <a:rPr lang="zh-TW" altLang="zh-TW" dirty="0"/>
              <a:t>Provide distance and travel-time data through </a:t>
            </a:r>
            <a:r>
              <a:rPr lang="en-US" altLang="zh-TW" dirty="0"/>
              <a:t>Open Source Routing Machine (OSRM)</a:t>
            </a:r>
            <a:r>
              <a:rPr lang="zh-TW" altLang="zh-TW" dirty="0"/>
              <a:t> and Routes API</a:t>
            </a:r>
            <a:endParaRPr lang="en-US" altLang="zh-TW" dirty="0"/>
          </a:p>
          <a:p>
            <a:pPr marL="457200" indent="-457200">
              <a:buClr>
                <a:schemeClr val="accent1">
                  <a:lumMod val="50000"/>
                </a:schemeClr>
              </a:buClr>
              <a:buFont typeface="+mj-lt"/>
              <a:buAutoNum type="arabicPeriod"/>
            </a:pPr>
            <a:r>
              <a:rPr lang="en-US" altLang="zh-TW" dirty="0"/>
              <a:t>Data Module</a:t>
            </a:r>
          </a:p>
          <a:p>
            <a:pPr marL="749808" lvl="1" indent="-457200"/>
            <a:r>
              <a:rPr lang="zh-TW" altLang="zh-TW" dirty="0"/>
              <a:t>Preprocess raw routing data for route planning</a:t>
            </a:r>
            <a:endParaRPr lang="en-US" altLang="zh-TW" dirty="0"/>
          </a:p>
          <a:p>
            <a:pPr marL="457200" indent="-457200">
              <a:buClr>
                <a:schemeClr val="accent1">
                  <a:lumMod val="50000"/>
                </a:schemeClr>
              </a:buClr>
              <a:buFont typeface="+mj-lt"/>
              <a:buAutoNum type="arabicPeriod"/>
            </a:pPr>
            <a:r>
              <a:rPr lang="en-US" altLang="zh-TW" dirty="0"/>
              <a:t>Routing Module</a:t>
            </a:r>
          </a:p>
          <a:p>
            <a:pPr marL="749808" lvl="1" indent="-457200"/>
            <a:r>
              <a:rPr lang="en-US" altLang="zh-TW" dirty="0"/>
              <a:t>Perform store extraction, assignment, and support route planning under operational constraints</a:t>
            </a:r>
          </a:p>
          <a:p>
            <a:pPr marL="457200" indent="-457200">
              <a:buClr>
                <a:schemeClr val="accent1">
                  <a:lumMod val="50000"/>
                </a:schemeClr>
              </a:buClr>
              <a:buFont typeface="+mj-lt"/>
              <a:buAutoNum type="arabicPeriod"/>
            </a:pPr>
            <a:r>
              <a:rPr lang="en-US" altLang="zh-TW" dirty="0"/>
              <a:t>Evaluation Module</a:t>
            </a:r>
          </a:p>
          <a:p>
            <a:pPr marL="749808" lvl="1" indent="-457200"/>
            <a:r>
              <a:rPr lang="en-US" altLang="zh-TW" dirty="0"/>
              <a:t>Provide route visualization and performance evaluation using multiple routing metrics</a:t>
            </a:r>
          </a:p>
        </p:txBody>
      </p:sp>
      <p:sp>
        <p:nvSpPr>
          <p:cNvPr id="4" name="投影片編號版面配置區 3">
            <a:extLst>
              <a:ext uri="{FF2B5EF4-FFF2-40B4-BE49-F238E27FC236}">
                <a16:creationId xmlns:a16="http://schemas.microsoft.com/office/drawing/2014/main" id="{890DAC88-58ED-4794-BEB6-6B1FAFD1C7D7}"/>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12</a:t>
            </a:fld>
            <a:endParaRPr lang="zh-TW" altLang="en-US" sz="1600"/>
          </a:p>
        </p:txBody>
      </p:sp>
    </p:spTree>
    <p:extLst>
      <p:ext uri="{BB962C8B-B14F-4D97-AF65-F5344CB8AC3E}">
        <p14:creationId xmlns:p14="http://schemas.microsoft.com/office/powerpoint/2010/main" val="1112248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23D1BB-6D12-4C72-81FB-7062B86D27A2}"/>
              </a:ext>
            </a:extLst>
          </p:cNvPr>
          <p:cNvSpPr>
            <a:spLocks noGrp="1"/>
          </p:cNvSpPr>
          <p:nvPr>
            <p:ph type="title"/>
          </p:nvPr>
        </p:nvSpPr>
        <p:spPr/>
        <p:txBody>
          <a:bodyPr/>
          <a:lstStyle/>
          <a:p>
            <a:r>
              <a:rPr lang="en-US" altLang="zh-TW" dirty="0"/>
              <a:t>The proposed approach</a:t>
            </a:r>
          </a:p>
        </p:txBody>
      </p:sp>
      <p:sp>
        <p:nvSpPr>
          <p:cNvPr id="4" name="投影片編號版面配置區 3">
            <a:extLst>
              <a:ext uri="{FF2B5EF4-FFF2-40B4-BE49-F238E27FC236}">
                <a16:creationId xmlns:a16="http://schemas.microsoft.com/office/drawing/2014/main" id="{4A4BCDA3-19D4-4822-9389-695E95BCED00}"/>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13</a:t>
            </a:fld>
            <a:endParaRPr lang="zh-TW" altLang="en-US" sz="1600"/>
          </a:p>
        </p:txBody>
      </p:sp>
      <p:sp>
        <p:nvSpPr>
          <p:cNvPr id="172" name="矩形 171">
            <a:extLst>
              <a:ext uri="{FF2B5EF4-FFF2-40B4-BE49-F238E27FC236}">
                <a16:creationId xmlns:a16="http://schemas.microsoft.com/office/drawing/2014/main" id="{9D69D38C-44A0-14DE-E1EA-D315DBF6C776}"/>
              </a:ext>
            </a:extLst>
          </p:cNvPr>
          <p:cNvSpPr/>
          <p:nvPr/>
        </p:nvSpPr>
        <p:spPr>
          <a:xfrm>
            <a:off x="2207260" y="3713020"/>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3" name="矩形 172">
            <a:extLst>
              <a:ext uri="{FF2B5EF4-FFF2-40B4-BE49-F238E27FC236}">
                <a16:creationId xmlns:a16="http://schemas.microsoft.com/office/drawing/2014/main" id="{8E71A7A6-572D-3CDA-988F-CE3694C9990E}"/>
              </a:ext>
            </a:extLst>
          </p:cNvPr>
          <p:cNvSpPr/>
          <p:nvPr/>
        </p:nvSpPr>
        <p:spPr>
          <a:xfrm>
            <a:off x="2416093" y="3971496"/>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50" dirty="0">
                <a:solidFill>
                  <a:schemeClr val="tx1"/>
                </a:solidFill>
              </a:rPr>
              <a:t>Data Preprocessing</a:t>
            </a:r>
            <a:endParaRPr lang="zh-TW" altLang="en-US" sz="1050" dirty="0">
              <a:solidFill>
                <a:schemeClr val="tx1"/>
              </a:solidFill>
            </a:endParaRPr>
          </a:p>
        </p:txBody>
      </p:sp>
      <p:sp>
        <p:nvSpPr>
          <p:cNvPr id="174" name="矩形 173">
            <a:extLst>
              <a:ext uri="{FF2B5EF4-FFF2-40B4-BE49-F238E27FC236}">
                <a16:creationId xmlns:a16="http://schemas.microsoft.com/office/drawing/2014/main" id="{D69977D4-7D5B-75F1-0F12-CCDAB92D70C6}"/>
              </a:ext>
            </a:extLst>
          </p:cNvPr>
          <p:cNvSpPr/>
          <p:nvPr/>
        </p:nvSpPr>
        <p:spPr>
          <a:xfrm>
            <a:off x="4032406" y="3971495"/>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Extraction</a:t>
            </a:r>
            <a:endParaRPr lang="zh-TW" altLang="en-US" sz="1000" dirty="0">
              <a:solidFill>
                <a:schemeClr val="tx1"/>
              </a:solidFill>
            </a:endParaRPr>
          </a:p>
        </p:txBody>
      </p:sp>
      <p:sp>
        <p:nvSpPr>
          <p:cNvPr id="175" name="矩形 174">
            <a:extLst>
              <a:ext uri="{FF2B5EF4-FFF2-40B4-BE49-F238E27FC236}">
                <a16:creationId xmlns:a16="http://schemas.microsoft.com/office/drawing/2014/main" id="{EAFC525D-25CD-B081-3B05-E329107B02BF}"/>
              </a:ext>
            </a:extLst>
          </p:cNvPr>
          <p:cNvSpPr/>
          <p:nvPr/>
        </p:nvSpPr>
        <p:spPr>
          <a:xfrm>
            <a:off x="5416858" y="3973089"/>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Store Assignment</a:t>
            </a:r>
            <a:endParaRPr lang="zh-TW" altLang="en-US" sz="1000" dirty="0">
              <a:solidFill>
                <a:schemeClr val="tx1"/>
              </a:solidFill>
            </a:endParaRPr>
          </a:p>
        </p:txBody>
      </p:sp>
      <p:sp>
        <p:nvSpPr>
          <p:cNvPr id="176" name="矩形 175">
            <a:extLst>
              <a:ext uri="{FF2B5EF4-FFF2-40B4-BE49-F238E27FC236}">
                <a16:creationId xmlns:a16="http://schemas.microsoft.com/office/drawing/2014/main" id="{66F1F7C1-F5D7-5FA0-113A-7E32F3B92E42}"/>
              </a:ext>
            </a:extLst>
          </p:cNvPr>
          <p:cNvSpPr/>
          <p:nvPr/>
        </p:nvSpPr>
        <p:spPr>
          <a:xfrm>
            <a:off x="8546197" y="3978422"/>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Performance Evaluation</a:t>
            </a:r>
            <a:endParaRPr lang="zh-TW" altLang="en-US" sz="1000" dirty="0">
              <a:solidFill>
                <a:schemeClr val="tx1"/>
              </a:solidFill>
            </a:endParaRPr>
          </a:p>
        </p:txBody>
      </p:sp>
      <p:sp>
        <p:nvSpPr>
          <p:cNvPr id="177" name="矩形 176">
            <a:extLst>
              <a:ext uri="{FF2B5EF4-FFF2-40B4-BE49-F238E27FC236}">
                <a16:creationId xmlns:a16="http://schemas.microsoft.com/office/drawing/2014/main" id="{6CA444DA-B87E-929F-C983-8D83E00EA694}"/>
              </a:ext>
            </a:extLst>
          </p:cNvPr>
          <p:cNvSpPr/>
          <p:nvPr/>
        </p:nvSpPr>
        <p:spPr>
          <a:xfrm>
            <a:off x="5394947" y="2488190"/>
            <a:ext cx="971297"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Google Maps Routes API</a:t>
            </a:r>
            <a:endParaRPr lang="zh-TW" altLang="en-US" sz="1000" dirty="0">
              <a:solidFill>
                <a:schemeClr val="tx1"/>
              </a:solidFill>
            </a:endParaRPr>
          </a:p>
        </p:txBody>
      </p:sp>
      <p:sp>
        <p:nvSpPr>
          <p:cNvPr id="178" name="矩形 177">
            <a:extLst>
              <a:ext uri="{FF2B5EF4-FFF2-40B4-BE49-F238E27FC236}">
                <a16:creationId xmlns:a16="http://schemas.microsoft.com/office/drawing/2014/main" id="{BF6D9718-6BF4-F6A9-C9FA-C51CD2C5BC6E}"/>
              </a:ext>
            </a:extLst>
          </p:cNvPr>
          <p:cNvSpPr/>
          <p:nvPr/>
        </p:nvSpPr>
        <p:spPr>
          <a:xfrm>
            <a:off x="4029382" y="2483833"/>
            <a:ext cx="973389"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OSRM</a:t>
            </a:r>
            <a:endParaRPr lang="zh-TW" altLang="en-US" sz="1000" dirty="0">
              <a:solidFill>
                <a:schemeClr val="tx1"/>
              </a:solidFill>
            </a:endParaRPr>
          </a:p>
        </p:txBody>
      </p:sp>
      <p:cxnSp>
        <p:nvCxnSpPr>
          <p:cNvPr id="179" name="直線單箭頭接點 178">
            <a:extLst>
              <a:ext uri="{FF2B5EF4-FFF2-40B4-BE49-F238E27FC236}">
                <a16:creationId xmlns:a16="http://schemas.microsoft.com/office/drawing/2014/main" id="{CA3C18F4-EFB4-1E80-265A-CF190E40F26C}"/>
              </a:ext>
            </a:extLst>
          </p:cNvPr>
          <p:cNvCxnSpPr>
            <a:cxnSpLocks/>
            <a:endCxn id="173" idx="1"/>
          </p:cNvCxnSpPr>
          <p:nvPr/>
        </p:nvCxnSpPr>
        <p:spPr>
          <a:xfrm flipV="1">
            <a:off x="1637714" y="4238267"/>
            <a:ext cx="778379"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0" name="直線單箭頭接點 179">
            <a:extLst>
              <a:ext uri="{FF2B5EF4-FFF2-40B4-BE49-F238E27FC236}">
                <a16:creationId xmlns:a16="http://schemas.microsoft.com/office/drawing/2014/main" id="{8251C3D4-530D-E3B1-48F1-1C959DC59BFB}"/>
              </a:ext>
            </a:extLst>
          </p:cNvPr>
          <p:cNvCxnSpPr>
            <a:cxnSpLocks/>
            <a:stCxn id="176" idx="3"/>
          </p:cNvCxnSpPr>
          <p:nvPr/>
        </p:nvCxnSpPr>
        <p:spPr>
          <a:xfrm flipV="1">
            <a:off x="9517494" y="4242191"/>
            <a:ext cx="754355" cy="30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1" name="文字方塊 180">
            <a:extLst>
              <a:ext uri="{FF2B5EF4-FFF2-40B4-BE49-F238E27FC236}">
                <a16:creationId xmlns:a16="http://schemas.microsoft.com/office/drawing/2014/main" id="{E8F55DD7-6C66-2FD7-7AF1-FC92EE6CB5D0}"/>
              </a:ext>
            </a:extLst>
          </p:cNvPr>
          <p:cNvSpPr txBox="1"/>
          <p:nvPr/>
        </p:nvSpPr>
        <p:spPr>
          <a:xfrm>
            <a:off x="2352890" y="4642440"/>
            <a:ext cx="1101961" cy="246221"/>
          </a:xfrm>
          <a:prstGeom prst="rect">
            <a:avLst/>
          </a:prstGeom>
          <a:noFill/>
        </p:spPr>
        <p:txBody>
          <a:bodyPr wrap="square" rtlCol="0">
            <a:spAutoFit/>
          </a:bodyPr>
          <a:lstStyle/>
          <a:p>
            <a:pPr algn="ctr"/>
            <a:r>
              <a:rPr lang="en-US" altLang="zh-TW" sz="1000" dirty="0"/>
              <a:t>Data Module</a:t>
            </a:r>
            <a:endParaRPr lang="zh-TW" altLang="en-US" sz="1000" dirty="0"/>
          </a:p>
        </p:txBody>
      </p:sp>
      <p:cxnSp>
        <p:nvCxnSpPr>
          <p:cNvPr id="182" name="直線單箭頭接點 181">
            <a:extLst>
              <a:ext uri="{FF2B5EF4-FFF2-40B4-BE49-F238E27FC236}">
                <a16:creationId xmlns:a16="http://schemas.microsoft.com/office/drawing/2014/main" id="{10930DB9-9129-F325-4DD2-092A349452E6}"/>
              </a:ext>
            </a:extLst>
          </p:cNvPr>
          <p:cNvCxnSpPr>
            <a:cxnSpLocks/>
            <a:stCxn id="173" idx="3"/>
            <a:endCxn id="174" idx="1"/>
          </p:cNvCxnSpPr>
          <p:nvPr/>
        </p:nvCxnSpPr>
        <p:spPr>
          <a:xfrm flipV="1">
            <a:off x="3389482" y="4238266"/>
            <a:ext cx="64292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3" name="直線單箭頭接點 182">
            <a:extLst>
              <a:ext uri="{FF2B5EF4-FFF2-40B4-BE49-F238E27FC236}">
                <a16:creationId xmlns:a16="http://schemas.microsoft.com/office/drawing/2014/main" id="{06538F09-9AB6-7CE9-55AA-07842A0BF988}"/>
              </a:ext>
            </a:extLst>
          </p:cNvPr>
          <p:cNvCxnSpPr>
            <a:cxnSpLocks/>
            <a:stCxn id="174" idx="3"/>
            <a:endCxn id="175" idx="1"/>
          </p:cNvCxnSpPr>
          <p:nvPr/>
        </p:nvCxnSpPr>
        <p:spPr>
          <a:xfrm>
            <a:off x="5005795" y="4238266"/>
            <a:ext cx="411063" cy="15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4" name="矩形 183">
            <a:extLst>
              <a:ext uri="{FF2B5EF4-FFF2-40B4-BE49-F238E27FC236}">
                <a16:creationId xmlns:a16="http://schemas.microsoft.com/office/drawing/2014/main" id="{6AA396CE-99DA-E3D5-0565-85AA2A15ACAF}"/>
              </a:ext>
            </a:extLst>
          </p:cNvPr>
          <p:cNvSpPr/>
          <p:nvPr/>
        </p:nvSpPr>
        <p:spPr>
          <a:xfrm>
            <a:off x="8350917" y="3727824"/>
            <a:ext cx="137277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5" name="矩形 184">
            <a:extLst>
              <a:ext uri="{FF2B5EF4-FFF2-40B4-BE49-F238E27FC236}">
                <a16:creationId xmlns:a16="http://schemas.microsoft.com/office/drawing/2014/main" id="{673AC6C1-9D38-9289-76F6-86C70A399375}"/>
              </a:ext>
            </a:extLst>
          </p:cNvPr>
          <p:cNvSpPr/>
          <p:nvPr/>
        </p:nvSpPr>
        <p:spPr>
          <a:xfrm>
            <a:off x="3814907" y="3713020"/>
            <a:ext cx="4144530"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6" name="文字方塊 185">
            <a:extLst>
              <a:ext uri="{FF2B5EF4-FFF2-40B4-BE49-F238E27FC236}">
                <a16:creationId xmlns:a16="http://schemas.microsoft.com/office/drawing/2014/main" id="{5BCC180E-59BB-ED92-DDCB-599EDA1DE7C6}"/>
              </a:ext>
            </a:extLst>
          </p:cNvPr>
          <p:cNvSpPr txBox="1"/>
          <p:nvPr/>
        </p:nvSpPr>
        <p:spPr>
          <a:xfrm>
            <a:off x="3845719" y="4642440"/>
            <a:ext cx="4249007" cy="246221"/>
          </a:xfrm>
          <a:prstGeom prst="rect">
            <a:avLst/>
          </a:prstGeom>
          <a:noFill/>
        </p:spPr>
        <p:txBody>
          <a:bodyPr wrap="square" rtlCol="0">
            <a:spAutoFit/>
          </a:bodyPr>
          <a:lstStyle/>
          <a:p>
            <a:pPr algn="ctr"/>
            <a:r>
              <a:rPr lang="en-US" altLang="zh-TW" sz="1000" dirty="0"/>
              <a:t>Routing Module</a:t>
            </a:r>
            <a:endParaRPr lang="zh-TW" altLang="en-US" sz="1000" dirty="0"/>
          </a:p>
        </p:txBody>
      </p:sp>
      <p:sp>
        <p:nvSpPr>
          <p:cNvPr id="187" name="矩形 186">
            <a:extLst>
              <a:ext uri="{FF2B5EF4-FFF2-40B4-BE49-F238E27FC236}">
                <a16:creationId xmlns:a16="http://schemas.microsoft.com/office/drawing/2014/main" id="{3786ECA4-8B90-411B-6160-C70F7FBED422}"/>
              </a:ext>
            </a:extLst>
          </p:cNvPr>
          <p:cNvSpPr/>
          <p:nvPr/>
        </p:nvSpPr>
        <p:spPr>
          <a:xfrm>
            <a:off x="6784509" y="3977014"/>
            <a:ext cx="969210" cy="533541"/>
          </a:xfrm>
          <a:prstGeom prst="rect">
            <a:avLst/>
          </a:prstGeom>
          <a:solidFill>
            <a:schemeClr val="bg1"/>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TW" sz="1000" dirty="0">
                <a:solidFill>
                  <a:schemeClr val="tx1"/>
                </a:solidFill>
              </a:rPr>
              <a:t>Support Route</a:t>
            </a:r>
          </a:p>
          <a:p>
            <a:pPr algn="ctr"/>
            <a:r>
              <a:rPr lang="en-US" altLang="zh-TW" sz="1000" dirty="0">
                <a:solidFill>
                  <a:schemeClr val="tx1"/>
                </a:solidFill>
              </a:rPr>
              <a:t>Planning</a:t>
            </a:r>
            <a:endParaRPr lang="zh-TW" altLang="en-US" sz="1000" dirty="0">
              <a:solidFill>
                <a:schemeClr val="tx1"/>
              </a:solidFill>
            </a:endParaRPr>
          </a:p>
        </p:txBody>
      </p:sp>
      <p:cxnSp>
        <p:nvCxnSpPr>
          <p:cNvPr id="188" name="直線單箭頭接點 187">
            <a:extLst>
              <a:ext uri="{FF2B5EF4-FFF2-40B4-BE49-F238E27FC236}">
                <a16:creationId xmlns:a16="http://schemas.microsoft.com/office/drawing/2014/main" id="{33691792-869A-FD61-6A37-8C1D38401A2B}"/>
              </a:ext>
            </a:extLst>
          </p:cNvPr>
          <p:cNvCxnSpPr>
            <a:cxnSpLocks/>
            <a:stCxn id="175" idx="3"/>
            <a:endCxn id="187" idx="1"/>
          </p:cNvCxnSpPr>
          <p:nvPr/>
        </p:nvCxnSpPr>
        <p:spPr>
          <a:xfrm>
            <a:off x="6390247" y="4239860"/>
            <a:ext cx="394262" cy="39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9" name="文字方塊 188">
            <a:extLst>
              <a:ext uri="{FF2B5EF4-FFF2-40B4-BE49-F238E27FC236}">
                <a16:creationId xmlns:a16="http://schemas.microsoft.com/office/drawing/2014/main" id="{528B902F-5983-DAB6-8CD4-D16446BBB166}"/>
              </a:ext>
            </a:extLst>
          </p:cNvPr>
          <p:cNvSpPr txBox="1"/>
          <p:nvPr/>
        </p:nvSpPr>
        <p:spPr>
          <a:xfrm>
            <a:off x="8355648" y="4641210"/>
            <a:ext cx="1368040" cy="246221"/>
          </a:xfrm>
          <a:prstGeom prst="rect">
            <a:avLst/>
          </a:prstGeom>
          <a:noFill/>
        </p:spPr>
        <p:txBody>
          <a:bodyPr wrap="square" rtlCol="0">
            <a:spAutoFit/>
          </a:bodyPr>
          <a:lstStyle/>
          <a:p>
            <a:pPr algn="ctr"/>
            <a:r>
              <a:rPr lang="en-US" altLang="zh-TW" sz="1000" dirty="0"/>
              <a:t>Evaluation Module</a:t>
            </a:r>
            <a:endParaRPr lang="zh-TW" altLang="en-US" sz="1000" dirty="0"/>
          </a:p>
        </p:txBody>
      </p:sp>
      <p:sp>
        <p:nvSpPr>
          <p:cNvPr id="190" name="矩形 189">
            <a:extLst>
              <a:ext uri="{FF2B5EF4-FFF2-40B4-BE49-F238E27FC236}">
                <a16:creationId xmlns:a16="http://schemas.microsoft.com/office/drawing/2014/main" id="{48571EB6-1E29-0A1A-C34D-143A761FA26F}"/>
              </a:ext>
            </a:extLst>
          </p:cNvPr>
          <p:cNvSpPr/>
          <p:nvPr/>
        </p:nvSpPr>
        <p:spPr>
          <a:xfrm>
            <a:off x="3814907" y="2221202"/>
            <a:ext cx="2757055" cy="1246908"/>
          </a:xfrm>
          <a:prstGeom prst="rect">
            <a:avLst/>
          </a:prstGeom>
          <a:noFill/>
          <a:ln w="1270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1" name="文字方塊 190">
            <a:extLst>
              <a:ext uri="{FF2B5EF4-FFF2-40B4-BE49-F238E27FC236}">
                <a16:creationId xmlns:a16="http://schemas.microsoft.com/office/drawing/2014/main" id="{DECD945B-ECFB-58B7-6987-95518587A91A}"/>
              </a:ext>
            </a:extLst>
          </p:cNvPr>
          <p:cNvSpPr txBox="1"/>
          <p:nvPr/>
        </p:nvSpPr>
        <p:spPr>
          <a:xfrm>
            <a:off x="3814907" y="3150622"/>
            <a:ext cx="2757054" cy="246221"/>
          </a:xfrm>
          <a:prstGeom prst="rect">
            <a:avLst/>
          </a:prstGeom>
          <a:noFill/>
        </p:spPr>
        <p:txBody>
          <a:bodyPr wrap="square" rtlCol="0">
            <a:spAutoFit/>
          </a:bodyPr>
          <a:lstStyle/>
          <a:p>
            <a:pPr algn="ctr"/>
            <a:r>
              <a:rPr lang="en-US" altLang="zh-TW" sz="1000" dirty="0"/>
              <a:t>API Module</a:t>
            </a:r>
            <a:endParaRPr lang="zh-TW" altLang="en-US" sz="1000" dirty="0"/>
          </a:p>
        </p:txBody>
      </p:sp>
      <p:cxnSp>
        <p:nvCxnSpPr>
          <p:cNvPr id="192" name="接點: 肘形 191">
            <a:extLst>
              <a:ext uri="{FF2B5EF4-FFF2-40B4-BE49-F238E27FC236}">
                <a16:creationId xmlns:a16="http://schemas.microsoft.com/office/drawing/2014/main" id="{671B1BB2-48FF-E726-9979-A55001841824}"/>
              </a:ext>
            </a:extLst>
          </p:cNvPr>
          <p:cNvCxnSpPr>
            <a:cxnSpLocks/>
          </p:cNvCxnSpPr>
          <p:nvPr/>
        </p:nvCxnSpPr>
        <p:spPr>
          <a:xfrm rot="5400000" flipH="1" flipV="1">
            <a:off x="2743068" y="2690702"/>
            <a:ext cx="1342991" cy="1229635"/>
          </a:xfrm>
          <a:prstGeom prst="bentConnector3">
            <a:avLst>
              <a:gd name="adj1" fmla="val 10000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3" name="接點: 肘形 192">
            <a:extLst>
              <a:ext uri="{FF2B5EF4-FFF2-40B4-BE49-F238E27FC236}">
                <a16:creationId xmlns:a16="http://schemas.microsoft.com/office/drawing/2014/main" id="{88F97789-B714-CFA8-DF3E-556F2A297133}"/>
              </a:ext>
            </a:extLst>
          </p:cNvPr>
          <p:cNvCxnSpPr>
            <a:cxnSpLocks/>
          </p:cNvCxnSpPr>
          <p:nvPr/>
        </p:nvCxnSpPr>
        <p:spPr>
          <a:xfrm rot="5400000">
            <a:off x="2990892" y="2931332"/>
            <a:ext cx="1106015" cy="970965"/>
          </a:xfrm>
          <a:prstGeom prst="bentConnector3">
            <a:avLst>
              <a:gd name="adj1" fmla="val 266"/>
            </a:avLst>
          </a:prstGeom>
          <a:ln>
            <a:tailEnd type="triangle"/>
          </a:ln>
        </p:spPr>
        <p:style>
          <a:lnRef idx="1">
            <a:schemeClr val="accent1"/>
          </a:lnRef>
          <a:fillRef idx="0">
            <a:schemeClr val="accent1"/>
          </a:fillRef>
          <a:effectRef idx="0">
            <a:schemeClr val="accent1"/>
          </a:effectRef>
          <a:fontRef idx="minor">
            <a:schemeClr val="tx1"/>
          </a:fontRef>
        </p:style>
      </p:cxnSp>
      <p:sp>
        <p:nvSpPr>
          <p:cNvPr id="195" name="流程圖: 磁碟 194">
            <a:extLst>
              <a:ext uri="{FF2B5EF4-FFF2-40B4-BE49-F238E27FC236}">
                <a16:creationId xmlns:a16="http://schemas.microsoft.com/office/drawing/2014/main" id="{D0B2F0AB-6326-F82A-A214-76CCC7BADA54}"/>
              </a:ext>
            </a:extLst>
          </p:cNvPr>
          <p:cNvSpPr/>
          <p:nvPr/>
        </p:nvSpPr>
        <p:spPr>
          <a:xfrm>
            <a:off x="10264923"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197" name="流程圖: 磁碟 196">
            <a:extLst>
              <a:ext uri="{FF2B5EF4-FFF2-40B4-BE49-F238E27FC236}">
                <a16:creationId xmlns:a16="http://schemas.microsoft.com/office/drawing/2014/main" id="{C19FFD95-30B9-BF1D-8B12-7F1F0F0859D9}"/>
              </a:ext>
            </a:extLst>
          </p:cNvPr>
          <p:cNvSpPr/>
          <p:nvPr/>
        </p:nvSpPr>
        <p:spPr>
          <a:xfrm>
            <a:off x="901102" y="3823855"/>
            <a:ext cx="792480" cy="896431"/>
          </a:xfrm>
          <a:prstGeom prst="flowChartMagneticDisk">
            <a:avLst/>
          </a:prstGeom>
          <a:solidFill>
            <a:schemeClr val="bg1"/>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zh-TW" altLang="en-US" dirty="0"/>
          </a:p>
        </p:txBody>
      </p:sp>
      <p:sp>
        <p:nvSpPr>
          <p:cNvPr id="201" name="文字方塊 8">
            <a:extLst>
              <a:ext uri="{FF2B5EF4-FFF2-40B4-BE49-F238E27FC236}">
                <a16:creationId xmlns:a16="http://schemas.microsoft.com/office/drawing/2014/main" id="{D38F179D-C93A-F49D-80D3-D90579D0558E}"/>
              </a:ext>
            </a:extLst>
          </p:cNvPr>
          <p:cNvSpPr txBox="1"/>
          <p:nvPr/>
        </p:nvSpPr>
        <p:spPr>
          <a:xfrm>
            <a:off x="10271847" y="4115510"/>
            <a:ext cx="792479" cy="259366"/>
          </a:xfrm>
          <a:prstGeom prst="rect">
            <a:avLst/>
          </a:prstGeom>
          <a:noFill/>
        </p:spPr>
        <p:txBody>
          <a:bodyPr wrap="square" rtlCol="0">
            <a:spAutoFit/>
          </a:bodyPr>
          <a:lstStyle/>
          <a:p>
            <a:pPr algn="ctr">
              <a:lnSpc>
                <a:spcPct val="115000"/>
              </a:lnSpc>
              <a:spcAft>
                <a:spcPts val="800"/>
              </a:spcAft>
              <a:buNone/>
            </a:pPr>
            <a:r>
              <a:rPr lang="en-US"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Optimized</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202" name="文字方塊 8">
            <a:extLst>
              <a:ext uri="{FF2B5EF4-FFF2-40B4-BE49-F238E27FC236}">
                <a16:creationId xmlns:a16="http://schemas.microsoft.com/office/drawing/2014/main" id="{A0444FB2-FEBE-7883-C0AA-74EA17B7BD8A}"/>
              </a:ext>
            </a:extLst>
          </p:cNvPr>
          <p:cNvSpPr txBox="1"/>
          <p:nvPr/>
        </p:nvSpPr>
        <p:spPr>
          <a:xfrm>
            <a:off x="10278774"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cxnSp>
        <p:nvCxnSpPr>
          <p:cNvPr id="203" name="直線單箭頭接點 202">
            <a:extLst>
              <a:ext uri="{FF2B5EF4-FFF2-40B4-BE49-F238E27FC236}">
                <a16:creationId xmlns:a16="http://schemas.microsoft.com/office/drawing/2014/main" id="{FDA3CF09-A957-D659-C7C4-AFBA9CE987E6}"/>
              </a:ext>
            </a:extLst>
          </p:cNvPr>
          <p:cNvCxnSpPr>
            <a:cxnSpLocks/>
            <a:stCxn id="187" idx="3"/>
            <a:endCxn id="176" idx="1"/>
          </p:cNvCxnSpPr>
          <p:nvPr/>
        </p:nvCxnSpPr>
        <p:spPr>
          <a:xfrm>
            <a:off x="7753719" y="4243785"/>
            <a:ext cx="792478" cy="14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5" name="接點: 肘形 204">
            <a:extLst>
              <a:ext uri="{FF2B5EF4-FFF2-40B4-BE49-F238E27FC236}">
                <a16:creationId xmlns:a16="http://schemas.microsoft.com/office/drawing/2014/main" id="{C56053C4-9DFD-1BB4-540D-3EFB513B48A4}"/>
              </a:ext>
            </a:extLst>
          </p:cNvPr>
          <p:cNvCxnSpPr>
            <a:cxnSpLocks/>
          </p:cNvCxnSpPr>
          <p:nvPr/>
        </p:nvCxnSpPr>
        <p:spPr>
          <a:xfrm rot="16200000" flipH="1">
            <a:off x="6216892" y="2796745"/>
            <a:ext cx="1339501" cy="1023856"/>
          </a:xfrm>
          <a:prstGeom prst="bentConnector3">
            <a:avLst>
              <a:gd name="adj1" fmla="val -164"/>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6" name="接點: 肘形 205">
            <a:extLst>
              <a:ext uri="{FF2B5EF4-FFF2-40B4-BE49-F238E27FC236}">
                <a16:creationId xmlns:a16="http://schemas.microsoft.com/office/drawing/2014/main" id="{BE174483-93A4-CC5D-C1D4-EEFFA8641E2A}"/>
              </a:ext>
            </a:extLst>
          </p:cNvPr>
          <p:cNvCxnSpPr>
            <a:cxnSpLocks/>
          </p:cNvCxnSpPr>
          <p:nvPr/>
        </p:nvCxnSpPr>
        <p:spPr>
          <a:xfrm rot="16200000" flipV="1">
            <a:off x="6210910" y="3031511"/>
            <a:ext cx="1103789" cy="776180"/>
          </a:xfrm>
          <a:prstGeom prst="bentConnector3">
            <a:avLst>
              <a:gd name="adj1" fmla="val 1000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 name="直線單箭頭接點 2">
            <a:extLst>
              <a:ext uri="{FF2B5EF4-FFF2-40B4-BE49-F238E27FC236}">
                <a16:creationId xmlns:a16="http://schemas.microsoft.com/office/drawing/2014/main" id="{BB972648-97FF-E8C8-9E25-A7DE60B97E90}"/>
              </a:ext>
            </a:extLst>
          </p:cNvPr>
          <p:cNvCxnSpPr>
            <a:cxnSpLocks/>
          </p:cNvCxnSpPr>
          <p:nvPr/>
        </p:nvCxnSpPr>
        <p:spPr>
          <a:xfrm flipH="1" flipV="1">
            <a:off x="5780821" y="3021731"/>
            <a:ext cx="1043" cy="955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直線單箭頭接點 4">
            <a:extLst>
              <a:ext uri="{FF2B5EF4-FFF2-40B4-BE49-F238E27FC236}">
                <a16:creationId xmlns:a16="http://schemas.microsoft.com/office/drawing/2014/main" id="{A3A2E296-B4C0-37A0-ABF4-81088E069F5F}"/>
              </a:ext>
            </a:extLst>
          </p:cNvPr>
          <p:cNvCxnSpPr>
            <a:cxnSpLocks/>
          </p:cNvCxnSpPr>
          <p:nvPr/>
        </p:nvCxnSpPr>
        <p:spPr>
          <a:xfrm>
            <a:off x="5980564" y="3024694"/>
            <a:ext cx="0" cy="9523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13F30499-215B-519E-0386-4105B16A9AE7}"/>
              </a:ext>
            </a:extLst>
          </p:cNvPr>
          <p:cNvSpPr txBox="1"/>
          <p:nvPr/>
        </p:nvSpPr>
        <p:spPr>
          <a:xfrm>
            <a:off x="918200" y="4115510"/>
            <a:ext cx="792479" cy="259366"/>
          </a:xfrm>
          <a:prstGeom prst="rect">
            <a:avLst/>
          </a:prstGeom>
          <a:noFill/>
        </p:spPr>
        <p:txBody>
          <a:bodyPr wrap="square" rtlCol="0">
            <a:spAutoFit/>
          </a:bodyPr>
          <a:lstStyle/>
          <a:p>
            <a:pPr algn="ctr">
              <a:lnSpc>
                <a:spcPct val="115000"/>
              </a:lnSpc>
              <a:spcAft>
                <a:spcPts val="800"/>
              </a:spcAft>
              <a:buNone/>
            </a:pPr>
            <a:r>
              <a:rPr lang="en-US" altLang="zh-TW" sz="1000" dirty="0">
                <a:solidFill>
                  <a:srgbClr val="000000"/>
                </a:solidFill>
                <a:latin typeface="Times New Roman" panose="02020603050405020304" pitchFamily="18" charset="0"/>
                <a:ea typeface="新細明體" panose="02020500000000000000" pitchFamily="18" charset="-120"/>
                <a:cs typeface="Times New Roman" panose="02020603050405020304" pitchFamily="18" charset="0"/>
              </a:rPr>
              <a:t>Original</a:t>
            </a:r>
            <a:endParaRPr lang="zh-TW"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
        <p:nvSpPr>
          <p:cNvPr id="10" name="文字方塊 8">
            <a:extLst>
              <a:ext uri="{FF2B5EF4-FFF2-40B4-BE49-F238E27FC236}">
                <a16:creationId xmlns:a16="http://schemas.microsoft.com/office/drawing/2014/main" id="{A861499A-696B-5518-FE9F-FF42C47E7ABF}"/>
              </a:ext>
            </a:extLst>
          </p:cNvPr>
          <p:cNvSpPr txBox="1"/>
          <p:nvPr/>
        </p:nvSpPr>
        <p:spPr>
          <a:xfrm>
            <a:off x="925127" y="4288508"/>
            <a:ext cx="792479" cy="259366"/>
          </a:xfrm>
          <a:prstGeom prst="rect">
            <a:avLst/>
          </a:prstGeom>
          <a:noFill/>
        </p:spPr>
        <p:txBody>
          <a:bodyPr wrap="square" rtlCol="0">
            <a:spAutoFit/>
          </a:bodyPr>
          <a:lstStyle/>
          <a:p>
            <a:pPr algn="ctr">
              <a:lnSpc>
                <a:spcPct val="115000"/>
              </a:lnSpc>
              <a:spcAft>
                <a:spcPts val="800"/>
              </a:spcAft>
              <a:buNone/>
            </a:pPr>
            <a:r>
              <a:rPr lang="en-US" altLang="zh-TW" sz="1000" kern="1200" dirty="0">
                <a:solidFill>
                  <a:srgbClr val="000000"/>
                </a:solidFill>
                <a:effectLst/>
                <a:latin typeface="Times New Roman" panose="02020603050405020304" pitchFamily="18" charset="0"/>
                <a:ea typeface="新細明體" panose="02020500000000000000" pitchFamily="18" charset="-120"/>
                <a:cs typeface="Times New Roman" panose="02020603050405020304" pitchFamily="18" charset="0"/>
              </a:rPr>
              <a:t>Route Data</a:t>
            </a:r>
            <a:endParaRPr lang="zh-TW" sz="1600" kern="100" dirty="0">
              <a:effectLst/>
              <a:latin typeface="Aptos" panose="020B0004020202020204" pitchFamily="34" charset="0"/>
              <a:ea typeface="新細明體" panose="02020500000000000000" pitchFamily="18" charset="-120"/>
              <a:cs typeface="Times New Roman" panose="02020603050405020304" pitchFamily="18" charset="0"/>
            </a:endParaRPr>
          </a:p>
        </p:txBody>
      </p:sp>
    </p:spTree>
    <p:extLst>
      <p:ext uri="{BB962C8B-B14F-4D97-AF65-F5344CB8AC3E}">
        <p14:creationId xmlns:p14="http://schemas.microsoft.com/office/powerpoint/2010/main" val="345824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09F6C5-5171-E6A8-FD20-1EF3761BF85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0C26BB0-BF47-53A8-7DA2-5364CFDD8AE8}"/>
              </a:ext>
            </a:extLst>
          </p:cNvPr>
          <p:cNvSpPr>
            <a:spLocks noGrp="1"/>
          </p:cNvSpPr>
          <p:nvPr>
            <p:ph type="title"/>
          </p:nvPr>
        </p:nvSpPr>
        <p:spPr/>
        <p:txBody>
          <a:bodyPr/>
          <a:lstStyle/>
          <a:p>
            <a:r>
              <a:rPr lang="en-US" altLang="zh-TW" dirty="0"/>
              <a:t>Constraints</a:t>
            </a:r>
            <a:endParaRPr lang="zh-TW" altLang="en-US" dirty="0"/>
          </a:p>
        </p:txBody>
      </p:sp>
      <p:sp>
        <p:nvSpPr>
          <p:cNvPr id="3" name="內容版面配置區 2">
            <a:extLst>
              <a:ext uri="{FF2B5EF4-FFF2-40B4-BE49-F238E27FC236}">
                <a16:creationId xmlns:a16="http://schemas.microsoft.com/office/drawing/2014/main" id="{05A92964-F95B-68C8-CF3F-8C885349A082}"/>
              </a:ext>
            </a:extLst>
          </p:cNvPr>
          <p:cNvSpPr>
            <a:spLocks noGrp="1"/>
          </p:cNvSpPr>
          <p:nvPr>
            <p:ph idx="1"/>
          </p:nvPr>
        </p:nvSpPr>
        <p:spPr>
          <a:xfrm>
            <a:off x="1086431" y="1857610"/>
            <a:ext cx="10058400" cy="4023360"/>
          </a:xfrm>
        </p:spPr>
        <p:txBody>
          <a:bodyPr>
            <a:normAutofit/>
          </a:bodyPr>
          <a:lstStyle/>
          <a:p>
            <a:pPr marL="0" indent="0">
              <a:buClr>
                <a:schemeClr val="accent1">
                  <a:lumMod val="50000"/>
                </a:schemeClr>
              </a:buClr>
              <a:buNone/>
            </a:pPr>
            <a:r>
              <a:rPr lang="en-US" altLang="zh-TW" dirty="0"/>
              <a:t>The constraints considered in this study</a:t>
            </a:r>
            <a:r>
              <a:rPr lang="zh-TW" altLang="en-US" dirty="0"/>
              <a:t> </a:t>
            </a:r>
            <a:r>
              <a:rPr lang="en-US" altLang="zh-TW" dirty="0"/>
              <a:t>are defined as follows</a:t>
            </a:r>
          </a:p>
          <a:p>
            <a:pPr marL="457200" indent="-457200">
              <a:buClr>
                <a:schemeClr val="accent1">
                  <a:lumMod val="50000"/>
                </a:schemeClr>
              </a:buClr>
              <a:buFont typeface="+mj-lt"/>
              <a:buAutoNum type="arabicPeriod"/>
            </a:pPr>
            <a:r>
              <a:rPr lang="en-US" altLang="zh-TW" dirty="0"/>
              <a:t>The main routes are defined with a fixed sequence of stores, and the ordering cannot be modified</a:t>
            </a:r>
          </a:p>
          <a:p>
            <a:pPr marL="457200" indent="-457200">
              <a:buClr>
                <a:schemeClr val="accent1">
                  <a:lumMod val="50000"/>
                </a:schemeClr>
              </a:buClr>
              <a:buFont typeface="+mj-lt"/>
              <a:buAutoNum type="arabicPeriod"/>
            </a:pPr>
            <a:r>
              <a:rPr lang="zh-TW" altLang="zh-TW" dirty="0"/>
              <a:t>The extent of route modification is minimized while preserving the main</a:t>
            </a:r>
            <a:r>
              <a:rPr lang="zh-TW" altLang="en-US" dirty="0"/>
              <a:t> </a:t>
            </a:r>
            <a:r>
              <a:rPr lang="zh-TW" altLang="zh-TW" dirty="0"/>
              <a:t>route structure</a:t>
            </a:r>
            <a:endParaRPr lang="en-US" altLang="zh-TW" dirty="0"/>
          </a:p>
          <a:p>
            <a:pPr marL="457200" indent="-457200">
              <a:buClr>
                <a:schemeClr val="accent1">
                  <a:lumMod val="50000"/>
                </a:schemeClr>
              </a:buClr>
              <a:buFont typeface="+mj-lt"/>
              <a:buAutoNum type="arabicPeriod"/>
            </a:pPr>
            <a:r>
              <a:rPr lang="zh-TW" altLang="zh-TW" dirty="0"/>
              <a:t>The vehicle capacity must not be exceeded</a:t>
            </a:r>
            <a:endParaRPr lang="en-US" altLang="zh-TW" dirty="0"/>
          </a:p>
          <a:p>
            <a:pPr marL="457200" indent="-457200">
              <a:buClr>
                <a:schemeClr val="accent1">
                  <a:lumMod val="50000"/>
                </a:schemeClr>
              </a:buClr>
              <a:buFont typeface="+mj-lt"/>
              <a:buAutoNum type="arabicPeriod"/>
            </a:pPr>
            <a:r>
              <a:rPr lang="en-US" altLang="zh-TW" dirty="0"/>
              <a:t>The time window is defined as 1 hour before and 30 minutes after the scheduled time</a:t>
            </a:r>
          </a:p>
          <a:p>
            <a:pPr marL="457200" indent="-457200">
              <a:buClr>
                <a:schemeClr val="accent1">
                  <a:lumMod val="50000"/>
                </a:schemeClr>
              </a:buClr>
              <a:buFont typeface="+mj-lt"/>
              <a:buAutoNum type="arabicPeriod"/>
            </a:pPr>
            <a:r>
              <a:rPr lang="zh-TW" altLang="zh-TW" dirty="0"/>
              <a:t>The total route duration must not exceed 5 hours</a:t>
            </a:r>
            <a:endParaRPr lang="en-US" altLang="zh-TW" dirty="0"/>
          </a:p>
          <a:p>
            <a:pPr marL="457200" indent="-457200">
              <a:buClr>
                <a:schemeClr val="accent1">
                  <a:lumMod val="50000"/>
                </a:schemeClr>
              </a:buClr>
              <a:buFont typeface="+mj-lt"/>
              <a:buAutoNum type="arabicPeriod"/>
            </a:pPr>
            <a:endParaRPr lang="en-US" altLang="zh-TW" dirty="0"/>
          </a:p>
        </p:txBody>
      </p:sp>
      <p:sp>
        <p:nvSpPr>
          <p:cNvPr id="4" name="投影片編號版面配置區 3">
            <a:extLst>
              <a:ext uri="{FF2B5EF4-FFF2-40B4-BE49-F238E27FC236}">
                <a16:creationId xmlns:a16="http://schemas.microsoft.com/office/drawing/2014/main" id="{145AF1E6-4B73-3F2B-E889-C720196F0E4B}"/>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14</a:t>
            </a:fld>
            <a:endParaRPr lang="zh-TW" altLang="en-US" sz="1600" dirty="0"/>
          </a:p>
        </p:txBody>
      </p:sp>
    </p:spTree>
    <p:extLst>
      <p:ext uri="{BB962C8B-B14F-4D97-AF65-F5344CB8AC3E}">
        <p14:creationId xmlns:p14="http://schemas.microsoft.com/office/powerpoint/2010/main" val="15576812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E3C3B2-2A84-30FC-3E24-FCD661D51B9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9766BD8-6B89-AC9C-68DB-C51037D518A2}"/>
              </a:ext>
            </a:extLst>
          </p:cNvPr>
          <p:cNvSpPr>
            <a:spLocks noGrp="1"/>
          </p:cNvSpPr>
          <p:nvPr>
            <p:ph type="title"/>
          </p:nvPr>
        </p:nvSpPr>
        <p:spPr/>
        <p:txBody>
          <a:bodyPr/>
          <a:lstStyle/>
          <a:p>
            <a:r>
              <a:rPr lang="zh-TW" altLang="zh-TW" dirty="0"/>
              <a:t>Objective Function</a:t>
            </a:r>
            <a:endParaRPr lang="zh-TW" altLang="en-US" dirty="0"/>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6E3BE9A6-9026-B190-CFE2-00DB532533B2}"/>
                  </a:ext>
                </a:extLst>
              </p:cNvPr>
              <p:cNvSpPr>
                <a:spLocks noGrp="1"/>
              </p:cNvSpPr>
              <p:nvPr>
                <p:ph idx="1"/>
              </p:nvPr>
            </p:nvSpPr>
            <p:spPr/>
            <p:txBody>
              <a:bodyPr>
                <a:normAutofit/>
              </a:bodyPr>
              <a:lstStyle/>
              <a:p>
                <a:pPr>
                  <a:lnSpc>
                    <a:spcPct val="150000"/>
                  </a:lnSpc>
                  <a:buClr>
                    <a:schemeClr val="accent1">
                      <a:lumMod val="50000"/>
                    </a:schemeClr>
                  </a:buClr>
                  <a:buFont typeface="Wingdings" panose="05000000000000000000" pitchFamily="2" charset="2"/>
                  <a:buChar char="Ø"/>
                </a:pPr>
                <a:r>
                  <a:rPr lang="en-US" altLang="zh-TW" dirty="0"/>
                  <a:t>The objective function is formulated as a hierarchical objective</a:t>
                </a:r>
              </a:p>
              <a:p>
                <a:pPr lvl="1">
                  <a:lnSpc>
                    <a:spcPct val="150000"/>
                  </a:lnSpc>
                  <a:buFont typeface="Arial" panose="020B0604020202020204" pitchFamily="34" charset="0"/>
                  <a:buChar char="•"/>
                </a:pPr>
                <a:r>
                  <a:rPr lang="zh-TW" altLang="zh-TW" dirty="0"/>
                  <a:t>Minimize Number of Routes</a:t>
                </a:r>
                <a:endParaRPr lang="en-US" altLang="zh-TW" dirty="0"/>
              </a:p>
              <a:p>
                <a:pPr marL="201168" lvl="1" indent="0">
                  <a:buNone/>
                </a:pPr>
                <a14:m>
                  <m:oMathPara xmlns:m="http://schemas.openxmlformats.org/officeDocument/2006/math">
                    <m:oMathParaPr>
                      <m:jc m:val="centerGroup"/>
                    </m:oMathParaPr>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𝑓</m:t>
                          </m:r>
                        </m:e>
                        <m:sub>
                          <m:r>
                            <a:rPr lang="zh-TW" altLang="en-US" i="1">
                              <a:latin typeface="Cambria Math" panose="02040503050406030204" pitchFamily="18" charset="0"/>
                            </a:rPr>
                            <m:t>𝑣𝑒</m:t>
                          </m:r>
                          <m:r>
                            <a:rPr lang="en-US" altLang="zh-TW" i="1">
                              <a:latin typeface="Cambria Math" panose="02040503050406030204" pitchFamily="18" charset="0"/>
                            </a:rPr>
                            <m:t>h</m:t>
                          </m:r>
                          <m:r>
                            <a:rPr lang="zh-TW" altLang="en-US" i="1">
                              <a:latin typeface="Cambria Math" panose="02040503050406030204" pitchFamily="18" charset="0"/>
                            </a:rPr>
                            <m:t>𝑖𝑐𝑙𝑒</m:t>
                          </m:r>
                        </m:sub>
                      </m:sSub>
                      <m:d>
                        <m:dPr>
                          <m:ctrlPr>
                            <a:rPr lang="zh-TW" altLang="en-US" i="1">
                              <a:latin typeface="Cambria Math" panose="02040503050406030204" pitchFamily="18" charset="0"/>
                            </a:rPr>
                          </m:ctrlPr>
                        </m:dPr>
                        <m:e>
                          <m:r>
                            <a:rPr lang="zh-TW" altLang="en-US" i="1">
                              <a:latin typeface="Cambria Math" panose="02040503050406030204" pitchFamily="18" charset="0"/>
                            </a:rPr>
                            <m:t>𝑆</m:t>
                          </m:r>
                        </m:e>
                      </m:d>
                      <m:r>
                        <a:rPr lang="en-US" altLang="zh-TW" i="1">
                          <a:latin typeface="Cambria Math" panose="02040503050406030204" pitchFamily="18" charset="0"/>
                        </a:rPr>
                        <m:t>=</m:t>
                      </m:r>
                      <m:nary>
                        <m:naryPr>
                          <m:chr m:val="∑"/>
                          <m:limLoc m:val="undOvr"/>
                          <m:supHide m:val="on"/>
                          <m:ctrlPr>
                            <a:rPr lang="zh-TW" altLang="en-US" i="1">
                              <a:latin typeface="Cambria Math" panose="02040503050406030204" pitchFamily="18" charset="0"/>
                            </a:rPr>
                          </m:ctrlPr>
                        </m:naryPr>
                        <m:sub>
                          <m:r>
                            <a:rPr lang="en-US" altLang="zh-TW" i="1">
                              <a:latin typeface="Cambria Math" panose="02040503050406030204" pitchFamily="18" charset="0"/>
                            </a:rPr>
                            <m:t>h</m:t>
                          </m:r>
                          <m:r>
                            <a:rPr lang="en-US" altLang="zh-TW" i="1">
                              <a:latin typeface="Cambria Math" panose="02040503050406030204" pitchFamily="18" charset="0"/>
                            </a:rPr>
                            <m:t>∈</m:t>
                          </m:r>
                          <m:r>
                            <a:rPr lang="zh-TW" altLang="en-US" i="1">
                              <a:latin typeface="Cambria Math" panose="02040503050406030204" pitchFamily="18" charset="0"/>
                            </a:rPr>
                            <m:t>𝐻</m:t>
                          </m:r>
                        </m:sub>
                        <m:sup/>
                        <m:e>
                          <m:nary>
                            <m:naryPr>
                              <m:chr m:val="∑"/>
                              <m:supHide m:val="on"/>
                              <m:ctrlPr>
                                <a:rPr lang="zh-TW" altLang="en-US" i="1">
                                  <a:latin typeface="Cambria Math" panose="02040503050406030204" pitchFamily="18" charset="0"/>
                                </a:rPr>
                              </m:ctrlPr>
                            </m:naryPr>
                            <m:sub>
                              <m:eqArr>
                                <m:eqArrPr>
                                  <m:ctrlPr>
                                    <a:rPr lang="zh-TW" altLang="en-US" i="1">
                                      <a:latin typeface="Cambria Math" panose="02040503050406030204" pitchFamily="18" charset="0"/>
                                    </a:rPr>
                                  </m:ctrlPr>
                                </m:eqArrPr>
                                <m:e>
                                  <m:r>
                                    <a:rPr lang="zh-TW" altLang="en-US" i="1">
                                      <a:latin typeface="Cambria Math" panose="02040503050406030204" pitchFamily="18" charset="0"/>
                                    </a:rPr>
                                    <m:t>𝑗</m:t>
                                  </m:r>
                                  <m:r>
                                    <a:rPr lang="zh-TW" altLang="en-US" i="1">
                                      <a:latin typeface="Cambria Math" panose="02040503050406030204" pitchFamily="18" charset="0"/>
                                    </a:rPr>
                                    <m:t>∈</m:t>
                                  </m:r>
                                  <m:r>
                                    <a:rPr lang="zh-TW" altLang="en-US" i="1">
                                      <a:latin typeface="Cambria Math" panose="02040503050406030204" pitchFamily="18" charset="0"/>
                                    </a:rPr>
                                    <m:t>𝑁</m:t>
                                  </m:r>
                                </m:e>
                                <m:e>
                                  <m:r>
                                    <a:rPr lang="en-US" altLang="zh-TW" i="1">
                                      <a:latin typeface="Cambria Math" panose="02040503050406030204" pitchFamily="18" charset="0"/>
                                    </a:rPr>
                                    <m:t>(</m:t>
                                  </m:r>
                                  <m:r>
                                    <a:rPr lang="zh-TW" altLang="en-US" i="1">
                                      <a:latin typeface="Cambria Math" panose="02040503050406030204" pitchFamily="18" charset="0"/>
                                    </a:rPr>
                                    <m:t>𝑗</m:t>
                                  </m:r>
                                  <m:r>
                                    <a:rPr lang="zh-TW" altLang="en-US" i="1">
                                      <a:latin typeface="Cambria Math" panose="02040503050406030204" pitchFamily="18" charset="0"/>
                                    </a:rPr>
                                    <m:t>≠0)</m:t>
                                  </m:r>
                                </m:e>
                              </m:eqArr>
                            </m:sub>
                            <m:sup/>
                            <m:e>
                              <m:sSubSup>
                                <m:sSubSupPr>
                                  <m:ctrlPr>
                                    <a:rPr lang="zh-TW" altLang="en-US" i="1">
                                      <a:latin typeface="Cambria Math" panose="02040503050406030204" pitchFamily="18" charset="0"/>
                                    </a:rPr>
                                  </m:ctrlPr>
                                </m:sSubSupPr>
                                <m:e>
                                  <m:r>
                                    <a:rPr lang="zh-TW" altLang="en-US" i="1">
                                      <a:latin typeface="Cambria Math" panose="02040503050406030204" pitchFamily="18" charset="0"/>
                                    </a:rPr>
                                    <m:t>𝑥</m:t>
                                  </m:r>
                                </m:e>
                                <m:sub>
                                  <m:r>
                                    <a:rPr lang="en-US" altLang="zh-TW" i="1">
                                      <a:latin typeface="Cambria Math" panose="02040503050406030204" pitchFamily="18" charset="0"/>
                                    </a:rPr>
                                    <m:t>0,</m:t>
                                  </m:r>
                                  <m:r>
                                    <a:rPr lang="zh-TW" altLang="en-US" i="1">
                                      <a:latin typeface="Cambria Math" panose="02040503050406030204" pitchFamily="18" charset="0"/>
                                    </a:rPr>
                                    <m:t>𝑗</m:t>
                                  </m:r>
                                </m:sub>
                                <m:sup>
                                  <m:r>
                                    <a:rPr lang="en-US" altLang="zh-TW" i="1">
                                      <a:latin typeface="Cambria Math" panose="02040503050406030204" pitchFamily="18" charset="0"/>
                                    </a:rPr>
                                    <m:t>h</m:t>
                                  </m:r>
                                </m:sup>
                              </m:sSubSup>
                            </m:e>
                          </m:nary>
                        </m:e>
                      </m:nary>
                    </m:oMath>
                  </m:oMathPara>
                </a14:m>
                <a:endParaRPr lang="en-US" altLang="zh-TW" dirty="0"/>
              </a:p>
              <a:p>
                <a:pPr lvl="1">
                  <a:buFont typeface="Arial" panose="020B0604020202020204" pitchFamily="34" charset="0"/>
                  <a:buChar char="•"/>
                </a:pPr>
                <a:r>
                  <a:rPr lang="zh-TW" altLang="zh-TW" dirty="0"/>
                  <a:t>Minimize Total Distance</a:t>
                </a:r>
                <a:endParaRPr lang="en-US" altLang="zh-TW" dirty="0"/>
              </a:p>
              <a:p>
                <a:pPr marL="201168" lvl="1" indent="0">
                  <a:buNone/>
                </a:pPr>
                <a14:m>
                  <m:oMathPara xmlns:m="http://schemas.openxmlformats.org/officeDocument/2006/math">
                    <m:oMathParaPr>
                      <m:jc m:val="centerGroup"/>
                    </m:oMathParaPr>
                    <m:oMath xmlns:m="http://schemas.openxmlformats.org/officeDocument/2006/math">
                      <m:sSub>
                        <m:sSubPr>
                          <m:ctrlPr>
                            <a:rPr lang="zh-TW" altLang="en-US" i="1">
                              <a:latin typeface="Cambria Math" panose="02040503050406030204" pitchFamily="18" charset="0"/>
                            </a:rPr>
                          </m:ctrlPr>
                        </m:sSubPr>
                        <m:e>
                          <m:r>
                            <a:rPr lang="zh-TW" altLang="en-US" i="1">
                              <a:latin typeface="Cambria Math" panose="02040503050406030204" pitchFamily="18" charset="0"/>
                            </a:rPr>
                            <m:t>𝑓</m:t>
                          </m:r>
                        </m:e>
                        <m:sub>
                          <m:r>
                            <a:rPr lang="zh-TW" altLang="en-US" i="1">
                              <a:latin typeface="Cambria Math" panose="02040503050406030204" pitchFamily="18" charset="0"/>
                            </a:rPr>
                            <m:t>𝑡𝑟𝑎𝑣𝑒𝑙</m:t>
                          </m:r>
                        </m:sub>
                      </m:sSub>
                      <m:d>
                        <m:dPr>
                          <m:ctrlPr>
                            <a:rPr lang="zh-TW" altLang="en-US" i="1">
                              <a:latin typeface="Cambria Math" panose="02040503050406030204" pitchFamily="18" charset="0"/>
                            </a:rPr>
                          </m:ctrlPr>
                        </m:dPr>
                        <m:e>
                          <m:r>
                            <a:rPr lang="zh-TW" altLang="en-US" i="1">
                              <a:latin typeface="Cambria Math" panose="02040503050406030204" pitchFamily="18" charset="0"/>
                            </a:rPr>
                            <m:t>𝑆</m:t>
                          </m:r>
                        </m:e>
                      </m:d>
                      <m:r>
                        <a:rPr lang="en-US" altLang="zh-TW" i="1">
                          <a:latin typeface="Cambria Math" panose="02040503050406030204" pitchFamily="18" charset="0"/>
                        </a:rPr>
                        <m:t>=</m:t>
                      </m:r>
                      <m:nary>
                        <m:naryPr>
                          <m:chr m:val="∑"/>
                          <m:limLoc m:val="undOvr"/>
                          <m:supHide m:val="on"/>
                          <m:ctrlPr>
                            <a:rPr lang="zh-TW" altLang="en-US" i="1">
                              <a:latin typeface="Cambria Math" panose="02040503050406030204" pitchFamily="18" charset="0"/>
                            </a:rPr>
                          </m:ctrlPr>
                        </m:naryPr>
                        <m:sub>
                          <m:r>
                            <a:rPr lang="zh-TW" altLang="en-US" i="1">
                              <a:latin typeface="Cambria Math" panose="02040503050406030204" pitchFamily="18" charset="0"/>
                            </a:rPr>
                            <m:t>𝑘</m:t>
                          </m:r>
                          <m:r>
                            <a:rPr lang="zh-TW" altLang="en-US" i="1">
                              <a:latin typeface="Cambria Math" panose="02040503050406030204" pitchFamily="18" charset="0"/>
                            </a:rPr>
                            <m:t>∈</m:t>
                          </m:r>
                          <m:r>
                            <a:rPr lang="zh-TW" altLang="en-US" i="1">
                              <a:latin typeface="Cambria Math" panose="02040503050406030204" pitchFamily="18" charset="0"/>
                            </a:rPr>
                            <m:t>𝐾</m:t>
                          </m:r>
                        </m:sub>
                        <m:sup/>
                        <m:e>
                          <m:nary>
                            <m:naryPr>
                              <m:chr m:val="∑"/>
                              <m:supHide m:val="on"/>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i="1">
                                  <a:latin typeface="Cambria Math" panose="02040503050406030204" pitchFamily="18" charset="0"/>
                                </a:rPr>
                                <m:t>∈</m:t>
                              </m:r>
                              <m:r>
                                <a:rPr lang="zh-TW" altLang="en-US" i="1">
                                  <a:latin typeface="Cambria Math" panose="02040503050406030204" pitchFamily="18" charset="0"/>
                                </a:rPr>
                                <m:t>𝑁</m:t>
                              </m:r>
                            </m:sub>
                            <m:sup/>
                            <m:e>
                              <m:nary>
                                <m:naryPr>
                                  <m:chr m:val="∑"/>
                                  <m:supHide m:val="on"/>
                                  <m:ctrlPr>
                                    <a:rPr lang="zh-TW" altLang="en-US" i="1">
                                      <a:latin typeface="Cambria Math" panose="02040503050406030204" pitchFamily="18" charset="0"/>
                                    </a:rPr>
                                  </m:ctrlPr>
                                </m:naryPr>
                                <m:sub>
                                  <m:eqArr>
                                    <m:eqArrPr>
                                      <m:ctrlPr>
                                        <a:rPr lang="zh-TW" altLang="en-US" i="1">
                                          <a:latin typeface="Cambria Math" panose="02040503050406030204" pitchFamily="18" charset="0"/>
                                        </a:rPr>
                                      </m:ctrlPr>
                                    </m:eqArrPr>
                                    <m:e>
                                      <m:r>
                                        <a:rPr lang="zh-TW" altLang="en-US" i="1">
                                          <a:latin typeface="Cambria Math" panose="02040503050406030204" pitchFamily="18" charset="0"/>
                                        </a:rPr>
                                        <m:t>𝑗</m:t>
                                      </m:r>
                                      <m:r>
                                        <a:rPr lang="zh-TW" altLang="en-US" i="1">
                                          <a:latin typeface="Cambria Math" panose="02040503050406030204" pitchFamily="18" charset="0"/>
                                        </a:rPr>
                                        <m:t>∈</m:t>
                                      </m:r>
                                      <m:r>
                                        <a:rPr lang="zh-TW" altLang="en-US" i="1">
                                          <a:latin typeface="Cambria Math" panose="02040503050406030204" pitchFamily="18" charset="0"/>
                                        </a:rPr>
                                        <m:t>𝑁</m:t>
                                      </m:r>
                                    </m:e>
                                    <m:e>
                                      <m:r>
                                        <a:rPr lang="en-US" altLang="zh-TW" i="1">
                                          <a:latin typeface="Cambria Math" panose="02040503050406030204" pitchFamily="18" charset="0"/>
                                        </a:rPr>
                                        <m:t>(</m:t>
                                      </m:r>
                                      <m:r>
                                        <a:rPr lang="zh-TW" altLang="en-US" i="1">
                                          <a:latin typeface="Cambria Math" panose="02040503050406030204" pitchFamily="18" charset="0"/>
                                        </a:rPr>
                                        <m:t>𝑗</m:t>
                                      </m:r>
                                      <m:r>
                                        <a:rPr lang="zh-TW" altLang="en-US" i="1">
                                          <a:latin typeface="Cambria Math" panose="02040503050406030204" pitchFamily="18" charset="0"/>
                                        </a:rPr>
                                        <m:t>≠</m:t>
                                      </m:r>
                                      <m:r>
                                        <a:rPr lang="zh-TW" altLang="en-US" i="1">
                                          <a:latin typeface="Cambria Math" panose="02040503050406030204" pitchFamily="18" charset="0"/>
                                        </a:rPr>
                                        <m:t>𝑖</m:t>
                                      </m:r>
                                      <m:r>
                                        <a:rPr lang="en-US" altLang="zh-TW" i="1">
                                          <a:latin typeface="Cambria Math" panose="02040503050406030204" pitchFamily="18" charset="0"/>
                                        </a:rPr>
                                        <m:t>)</m:t>
                                      </m:r>
                                    </m:e>
                                  </m:eqArr>
                                </m:sub>
                                <m:sup/>
                                <m:e>
                                  <m:sSub>
                                    <m:sSubPr>
                                      <m:ctrlPr>
                                        <a:rPr lang="zh-TW" altLang="en-US" i="1">
                                          <a:latin typeface="Cambria Math" panose="02040503050406030204" pitchFamily="18" charset="0"/>
                                        </a:rPr>
                                      </m:ctrlPr>
                                    </m:sSubPr>
                                    <m:e>
                                      <m:r>
                                        <a:rPr lang="zh-TW" altLang="en-US" i="1">
                                          <a:latin typeface="Cambria Math" panose="02040503050406030204" pitchFamily="18" charset="0"/>
                                        </a:rPr>
                                        <m:t>𝑑</m:t>
                                      </m:r>
                                    </m:e>
                                    <m:sub>
                                      <m:r>
                                        <a:rPr lang="zh-TW" altLang="en-US" i="1">
                                          <a:latin typeface="Cambria Math" panose="02040503050406030204" pitchFamily="18" charset="0"/>
                                        </a:rPr>
                                        <m:t>𝑖</m:t>
                                      </m:r>
                                      <m:r>
                                        <a:rPr lang="en-US" altLang="zh-TW" i="1">
                                          <a:latin typeface="Cambria Math" panose="02040503050406030204" pitchFamily="18" charset="0"/>
                                        </a:rPr>
                                        <m:t>,</m:t>
                                      </m:r>
                                      <m:r>
                                        <a:rPr lang="zh-TW" altLang="en-US" i="1">
                                          <a:latin typeface="Cambria Math" panose="02040503050406030204" pitchFamily="18" charset="0"/>
                                        </a:rPr>
                                        <m:t>𝑗</m:t>
                                      </m:r>
                                    </m:sub>
                                  </m:sSub>
                                  <m:r>
                                    <a:rPr lang="zh-TW" altLang="en-US" i="1">
                                      <a:latin typeface="Cambria Math" panose="02040503050406030204" pitchFamily="18" charset="0"/>
                                    </a:rPr>
                                    <m:t>⋅</m:t>
                                  </m:r>
                                  <m:sSubSup>
                                    <m:sSubSupPr>
                                      <m:ctrlPr>
                                        <a:rPr lang="zh-TW" altLang="en-US" i="1">
                                          <a:latin typeface="Cambria Math" panose="02040503050406030204" pitchFamily="18" charset="0"/>
                                        </a:rPr>
                                      </m:ctrlPr>
                                    </m:sSubSupPr>
                                    <m:e>
                                      <m:r>
                                        <a:rPr lang="zh-TW" altLang="en-US" i="1">
                                          <a:latin typeface="Cambria Math" panose="02040503050406030204" pitchFamily="18" charset="0"/>
                                        </a:rPr>
                                        <m:t>𝑥</m:t>
                                      </m:r>
                                    </m:e>
                                    <m:sub>
                                      <m:r>
                                        <a:rPr lang="zh-TW" altLang="en-US" i="1">
                                          <a:latin typeface="Cambria Math" panose="02040503050406030204" pitchFamily="18" charset="0"/>
                                        </a:rPr>
                                        <m:t>𝑖</m:t>
                                      </m:r>
                                      <m:r>
                                        <a:rPr lang="en-US" altLang="zh-TW" i="1">
                                          <a:latin typeface="Cambria Math" panose="02040503050406030204" pitchFamily="18" charset="0"/>
                                        </a:rPr>
                                        <m:t>,</m:t>
                                      </m:r>
                                      <m:r>
                                        <a:rPr lang="zh-TW" altLang="en-US" i="1">
                                          <a:latin typeface="Cambria Math" panose="02040503050406030204" pitchFamily="18" charset="0"/>
                                        </a:rPr>
                                        <m:t>𝑗</m:t>
                                      </m:r>
                                    </m:sub>
                                    <m:sup>
                                      <m:r>
                                        <a:rPr lang="zh-TW" altLang="en-US" i="1">
                                          <a:latin typeface="Cambria Math" panose="02040503050406030204" pitchFamily="18" charset="0"/>
                                        </a:rPr>
                                        <m:t>𝑘</m:t>
                                      </m:r>
                                    </m:sup>
                                  </m:sSubSup>
                                </m:e>
                              </m:nary>
                            </m:e>
                          </m:nary>
                        </m:e>
                      </m:nary>
                    </m:oMath>
                  </m:oMathPara>
                </a14:m>
                <a:endParaRPr lang="en-US" altLang="zh-TW" dirty="0">
                  <a:solidFill>
                    <a:schemeClr val="tx1"/>
                  </a:solidFill>
                </a:endParaRPr>
              </a:p>
            </p:txBody>
          </p:sp>
        </mc:Choice>
        <mc:Fallback xmlns="">
          <p:sp>
            <p:nvSpPr>
              <p:cNvPr id="3" name="內容版面配置區 2">
                <a:extLst>
                  <a:ext uri="{FF2B5EF4-FFF2-40B4-BE49-F238E27FC236}">
                    <a16:creationId xmlns:a16="http://schemas.microsoft.com/office/drawing/2014/main" id="{6E3BE9A6-9026-B190-CFE2-00DB532533B2}"/>
                  </a:ext>
                </a:extLst>
              </p:cNvPr>
              <p:cNvSpPr>
                <a:spLocks noGrp="1" noRot="1" noChangeAspect="1" noMove="1" noResize="1" noEditPoints="1" noAdjustHandles="1" noChangeArrowheads="1" noChangeShapeType="1" noTextEdit="1"/>
              </p:cNvSpPr>
              <p:nvPr>
                <p:ph idx="1"/>
              </p:nvPr>
            </p:nvSpPr>
            <p:spPr>
              <a:blipFill>
                <a:blip r:embed="rId3"/>
                <a:stretch>
                  <a:fillRect l="-1455"/>
                </a:stretch>
              </a:blipFill>
            </p:spPr>
            <p:txBody>
              <a:bodyPr/>
              <a:lstStyle/>
              <a:p>
                <a:r>
                  <a:rPr lang="zh-TW" altLang="en-US">
                    <a:noFill/>
                  </a:rPr>
                  <a:t> </a:t>
                </a:r>
              </a:p>
            </p:txBody>
          </p:sp>
        </mc:Fallback>
      </mc:AlternateContent>
      <p:sp>
        <p:nvSpPr>
          <p:cNvPr id="4" name="投影片編號版面配置區 3">
            <a:extLst>
              <a:ext uri="{FF2B5EF4-FFF2-40B4-BE49-F238E27FC236}">
                <a16:creationId xmlns:a16="http://schemas.microsoft.com/office/drawing/2014/main" id="{E861939F-C541-3267-E13A-7960BD01B0FB}"/>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15</a:t>
            </a:fld>
            <a:endParaRPr lang="zh-TW" altLang="en-US" sz="1600" dirty="0"/>
          </a:p>
        </p:txBody>
      </p:sp>
    </p:spTree>
    <p:extLst>
      <p:ext uri="{BB962C8B-B14F-4D97-AF65-F5344CB8AC3E}">
        <p14:creationId xmlns:p14="http://schemas.microsoft.com/office/powerpoint/2010/main" val="1285402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0607BA-65E0-9671-82C1-A3D835CD0A1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E4DB061-6C80-17AF-4B5E-84CB8C1F8A56}"/>
              </a:ext>
            </a:extLst>
          </p:cNvPr>
          <p:cNvSpPr>
            <a:spLocks noGrp="1"/>
          </p:cNvSpPr>
          <p:nvPr>
            <p:ph type="title"/>
          </p:nvPr>
        </p:nvSpPr>
        <p:spPr/>
        <p:txBody>
          <a:bodyPr/>
          <a:lstStyle/>
          <a:p>
            <a:r>
              <a:rPr lang="en-US" altLang="zh-TW" dirty="0"/>
              <a:t>Routing Module</a:t>
            </a:r>
            <a:endParaRPr lang="zh-TW" altLang="en-US" dirty="0"/>
          </a:p>
        </p:txBody>
      </p:sp>
      <p:sp>
        <p:nvSpPr>
          <p:cNvPr id="3" name="內容版面配置區 2">
            <a:extLst>
              <a:ext uri="{FF2B5EF4-FFF2-40B4-BE49-F238E27FC236}">
                <a16:creationId xmlns:a16="http://schemas.microsoft.com/office/drawing/2014/main" id="{6523EA98-4841-AB80-5022-30741AC4A77C}"/>
              </a:ext>
            </a:extLst>
          </p:cNvPr>
          <p:cNvSpPr>
            <a:spLocks noGrp="1"/>
          </p:cNvSpPr>
          <p:nvPr>
            <p:ph idx="1"/>
          </p:nvPr>
        </p:nvSpPr>
        <p:spPr>
          <a:xfrm>
            <a:off x="1097280" y="1845734"/>
            <a:ext cx="10718668" cy="4023360"/>
          </a:xfrm>
        </p:spPr>
        <p:txBody>
          <a:bodyPr>
            <a:normAutofit/>
          </a:bodyPr>
          <a:lstStyle/>
          <a:p>
            <a:pPr marL="0" indent="0">
              <a:buNone/>
            </a:pPr>
            <a:r>
              <a:rPr lang="zh-TW" altLang="zh-TW" dirty="0"/>
              <a:t>The proposed framework is developed by considering the constraints of the logistics company, and mainly consists of three stage</a:t>
            </a:r>
            <a:r>
              <a:rPr lang="en-US" altLang="zh-TW" dirty="0"/>
              <a:t>s</a:t>
            </a:r>
          </a:p>
          <a:p>
            <a:pPr marL="457200" indent="-457200">
              <a:buClr>
                <a:schemeClr val="accent1">
                  <a:lumMod val="50000"/>
                </a:schemeClr>
              </a:buClr>
              <a:buFont typeface="+mj-lt"/>
              <a:buAutoNum type="arabicPeriod"/>
            </a:pPr>
            <a:r>
              <a:rPr lang="en-US" altLang="zh-TW" dirty="0"/>
              <a:t>Store Extraction</a:t>
            </a:r>
            <a:r>
              <a:rPr lang="zh-TW" altLang="en-US" dirty="0"/>
              <a:t> </a:t>
            </a:r>
            <a:r>
              <a:rPr lang="en-US" altLang="zh-TW" dirty="0"/>
              <a:t>:</a:t>
            </a:r>
            <a:r>
              <a:rPr lang="zh-TW" altLang="en-US" dirty="0"/>
              <a:t> </a:t>
            </a:r>
            <a:r>
              <a:rPr lang="en-US" altLang="zh-TW" dirty="0"/>
              <a:t>Co-evolutionary Genetic Algorithm</a:t>
            </a:r>
            <a:r>
              <a:rPr lang="zh-TW" altLang="en-US" dirty="0"/>
              <a:t> </a:t>
            </a:r>
            <a:r>
              <a:rPr lang="en-US" altLang="zh-TW" dirty="0"/>
              <a:t>(CCGA)</a:t>
            </a:r>
          </a:p>
          <a:p>
            <a:pPr marL="457200" indent="-457200">
              <a:buClr>
                <a:schemeClr val="accent1">
                  <a:lumMod val="50000"/>
                </a:schemeClr>
              </a:buClr>
              <a:buFont typeface="+mj-lt"/>
              <a:buAutoNum type="arabicPeriod"/>
            </a:pPr>
            <a:r>
              <a:rPr lang="en-US" altLang="zh-TW" dirty="0"/>
              <a:t>Store Assignment</a:t>
            </a:r>
            <a:r>
              <a:rPr lang="zh-TW" altLang="en-US" dirty="0"/>
              <a:t> </a:t>
            </a:r>
            <a:r>
              <a:rPr lang="en-US" altLang="zh-TW" dirty="0"/>
              <a:t>:</a:t>
            </a:r>
            <a:r>
              <a:rPr lang="zh-TW" altLang="en-US" dirty="0"/>
              <a:t> </a:t>
            </a:r>
            <a:r>
              <a:rPr lang="en-US" altLang="zh-TW" dirty="0"/>
              <a:t>Hybrid Ant Colony Optimization (HACO)</a:t>
            </a:r>
          </a:p>
          <a:p>
            <a:pPr marL="457200" indent="-457200">
              <a:buClr>
                <a:schemeClr val="accent1">
                  <a:lumMod val="50000"/>
                </a:schemeClr>
              </a:buClr>
              <a:buFont typeface="+mj-lt"/>
              <a:buAutoNum type="arabicPeriod"/>
            </a:pPr>
            <a:r>
              <a:rPr lang="en-US" altLang="zh-TW" dirty="0"/>
              <a:t>Support Route Planning</a:t>
            </a:r>
            <a:r>
              <a:rPr lang="zh-TW" altLang="en-US" dirty="0"/>
              <a:t> </a:t>
            </a:r>
            <a:r>
              <a:rPr lang="en-US" altLang="zh-TW" dirty="0"/>
              <a:t>:</a:t>
            </a:r>
            <a:r>
              <a:rPr lang="zh-TW" altLang="en-US" dirty="0"/>
              <a:t> </a:t>
            </a:r>
            <a:r>
              <a:rPr lang="en-US" altLang="zh-TW" dirty="0"/>
              <a:t>Multiple Ant Colony System</a:t>
            </a:r>
            <a:r>
              <a:rPr lang="zh-TW" altLang="en-US" dirty="0"/>
              <a:t> </a:t>
            </a:r>
            <a:r>
              <a:rPr lang="en-US" altLang="zh-TW" dirty="0"/>
              <a:t>(MACS)</a:t>
            </a:r>
          </a:p>
          <a:p>
            <a:pPr>
              <a:buClr>
                <a:schemeClr val="accent1">
                  <a:lumMod val="50000"/>
                </a:schemeClr>
              </a:buClr>
              <a:buFont typeface="Wingdings" panose="05000000000000000000" pitchFamily="2" charset="2"/>
              <a:buChar char="Ø"/>
            </a:pPr>
            <a:endParaRPr lang="en-US" altLang="zh-TW" dirty="0"/>
          </a:p>
        </p:txBody>
      </p:sp>
      <p:sp>
        <p:nvSpPr>
          <p:cNvPr id="4" name="投影片編號版面配置區 3">
            <a:extLst>
              <a:ext uri="{FF2B5EF4-FFF2-40B4-BE49-F238E27FC236}">
                <a16:creationId xmlns:a16="http://schemas.microsoft.com/office/drawing/2014/main" id="{FC74B726-3822-BF3C-0167-C409891BECC7}"/>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16</a:t>
            </a:fld>
            <a:endParaRPr lang="zh-TW" altLang="en-US" sz="1600" dirty="0"/>
          </a:p>
        </p:txBody>
      </p:sp>
    </p:spTree>
    <p:extLst>
      <p:ext uri="{BB962C8B-B14F-4D97-AF65-F5344CB8AC3E}">
        <p14:creationId xmlns:p14="http://schemas.microsoft.com/office/powerpoint/2010/main" val="3190044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9DB30E-D6A4-A194-2B05-8842C85A290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CABDC1DF-149D-9936-C341-93B96ECB40BC}"/>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68F62BB8-5859-7DA0-8954-D1FD69C97740}"/>
              </a:ext>
            </a:extLst>
          </p:cNvPr>
          <p:cNvSpPr>
            <a:spLocks noGrp="1"/>
          </p:cNvSpPr>
          <p:nvPr>
            <p:ph idx="1"/>
          </p:nvPr>
        </p:nvSpPr>
        <p:spPr/>
        <p:txBody>
          <a:bodyPr>
            <a:normAutofit/>
          </a:bodyPr>
          <a:lstStyle/>
          <a:p>
            <a:pPr>
              <a:buFont typeface="Wingdings" panose="05000000000000000000" pitchFamily="2" charset="2"/>
              <a:buChar char="Ø"/>
            </a:pPr>
            <a:r>
              <a:rPr lang="en-US" altLang="zh-TW" sz="3200" dirty="0">
                <a:solidFill>
                  <a:schemeClr val="bg2">
                    <a:lumMod val="75000"/>
                  </a:schemeClr>
                </a:solidFill>
              </a:rPr>
              <a:t>Motivation</a:t>
            </a:r>
          </a:p>
          <a:p>
            <a:pPr>
              <a:buFont typeface="Wingdings" panose="05000000000000000000" pitchFamily="2" charset="2"/>
              <a:buChar char="Ø"/>
            </a:pPr>
            <a:r>
              <a:rPr lang="en-US" altLang="zh-TW" sz="3200" dirty="0">
                <a:solidFill>
                  <a:schemeClr val="bg2">
                    <a:lumMod val="75000"/>
                  </a:schemeClr>
                </a:solidFill>
              </a:rPr>
              <a:t>Background</a:t>
            </a:r>
          </a:p>
          <a:p>
            <a:pPr>
              <a:buFont typeface="Wingdings" panose="05000000000000000000" pitchFamily="2" charset="2"/>
              <a:buChar char="Ø"/>
            </a:pPr>
            <a:r>
              <a:rPr lang="en-US" altLang="zh-TW" sz="3200" dirty="0">
                <a:solidFill>
                  <a:schemeClr val="bg2">
                    <a:lumMod val="75000"/>
                  </a:schemeClr>
                </a:solidFill>
              </a:rPr>
              <a:t>The proposed approach</a:t>
            </a:r>
          </a:p>
          <a:p>
            <a:pPr>
              <a:buFont typeface="Wingdings" panose="05000000000000000000" pitchFamily="2" charset="2"/>
              <a:buChar char="Ø"/>
            </a:pPr>
            <a:r>
              <a:rPr lang="en-US" altLang="zh-TW" sz="3200" dirty="0"/>
              <a:t>Experiment</a:t>
            </a:r>
          </a:p>
          <a:p>
            <a:pPr>
              <a:buFont typeface="Wingdings" panose="05000000000000000000" pitchFamily="2" charset="2"/>
              <a:buChar char="Ø"/>
            </a:pPr>
            <a:r>
              <a:rPr lang="en-US" altLang="zh-TW" sz="3200" dirty="0">
                <a:solidFill>
                  <a:schemeClr val="bg2">
                    <a:lumMod val="75000"/>
                  </a:schemeClr>
                </a:solidFill>
              </a:rPr>
              <a:t>Conclusion &amp; Future</a:t>
            </a:r>
          </a:p>
        </p:txBody>
      </p:sp>
      <p:sp>
        <p:nvSpPr>
          <p:cNvPr id="4" name="投影片編號版面配置區 3">
            <a:extLst>
              <a:ext uri="{FF2B5EF4-FFF2-40B4-BE49-F238E27FC236}">
                <a16:creationId xmlns:a16="http://schemas.microsoft.com/office/drawing/2014/main" id="{4E306AF4-B507-B555-86C3-54915D3C799B}"/>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17</a:t>
            </a:fld>
            <a:endParaRPr lang="zh-TW" altLang="en-US" sz="1600" dirty="0"/>
          </a:p>
        </p:txBody>
      </p:sp>
    </p:spTree>
    <p:extLst>
      <p:ext uri="{BB962C8B-B14F-4D97-AF65-F5344CB8AC3E}">
        <p14:creationId xmlns:p14="http://schemas.microsoft.com/office/powerpoint/2010/main" val="1136722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0E154C-75C4-9ADD-4818-3095EE5A3A8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85796E7-A53F-6435-6D8C-59C16957B918}"/>
              </a:ext>
            </a:extLst>
          </p:cNvPr>
          <p:cNvSpPr>
            <a:spLocks noGrp="1"/>
          </p:cNvSpPr>
          <p:nvPr>
            <p:ph type="title"/>
          </p:nvPr>
        </p:nvSpPr>
        <p:spPr/>
        <p:txBody>
          <a:bodyPr/>
          <a:lstStyle/>
          <a:p>
            <a:r>
              <a:rPr lang="en-US" altLang="zh-TW" dirty="0"/>
              <a:t>Experiment Setting</a:t>
            </a:r>
          </a:p>
        </p:txBody>
      </p:sp>
      <p:sp>
        <p:nvSpPr>
          <p:cNvPr id="4" name="投影片編號版面配置區 3">
            <a:extLst>
              <a:ext uri="{FF2B5EF4-FFF2-40B4-BE49-F238E27FC236}">
                <a16:creationId xmlns:a16="http://schemas.microsoft.com/office/drawing/2014/main" id="{3495F4E8-F981-FD93-6EBA-0090750CF55B}"/>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18</a:t>
            </a:fld>
            <a:endParaRPr lang="zh-TW" altLang="en-US" sz="1600"/>
          </a:p>
        </p:txBody>
      </p:sp>
      <mc:AlternateContent xmlns:mc="http://schemas.openxmlformats.org/markup-compatibility/2006" xmlns:a14="http://schemas.microsoft.com/office/drawing/2010/main">
        <mc:Choice Requires="a14">
          <p:graphicFrame>
            <p:nvGraphicFramePr>
              <p:cNvPr id="3" name="內容版面配置區 4">
                <a:extLst>
                  <a:ext uri="{FF2B5EF4-FFF2-40B4-BE49-F238E27FC236}">
                    <a16:creationId xmlns:a16="http://schemas.microsoft.com/office/drawing/2014/main" id="{D13940BF-A90A-FB5C-A08F-BA909B335A98}"/>
                  </a:ext>
                </a:extLst>
              </p:cNvPr>
              <p:cNvGraphicFramePr>
                <a:graphicFrameLocks/>
              </p:cNvGraphicFramePr>
              <p:nvPr>
                <p:extLst>
                  <p:ext uri="{D42A27DB-BD31-4B8C-83A1-F6EECF244321}">
                    <p14:modId xmlns:p14="http://schemas.microsoft.com/office/powerpoint/2010/main" val="1327829979"/>
                  </p:ext>
                </p:extLst>
              </p:nvPr>
            </p:nvGraphicFramePr>
            <p:xfrm>
              <a:off x="2700900" y="2287459"/>
              <a:ext cx="6851159" cy="2833182"/>
            </p:xfrm>
            <a:graphic>
              <a:graphicData uri="http://schemas.openxmlformats.org/drawingml/2006/table">
                <a:tbl>
                  <a:tblPr firstCol="1">
                    <a:tableStyleId>{5C22544A-7EE6-4342-B048-85BDC9FD1C3A}</a:tableStyleId>
                  </a:tblPr>
                  <a:tblGrid>
                    <a:gridCol w="1527810">
                      <a:extLst>
                        <a:ext uri="{9D8B030D-6E8A-4147-A177-3AD203B41FA5}">
                          <a16:colId xmlns:a16="http://schemas.microsoft.com/office/drawing/2014/main" val="1458894256"/>
                        </a:ext>
                      </a:extLst>
                    </a:gridCol>
                    <a:gridCol w="684337">
                      <a:extLst>
                        <a:ext uri="{9D8B030D-6E8A-4147-A177-3AD203B41FA5}">
                          <a16:colId xmlns:a16="http://schemas.microsoft.com/office/drawing/2014/main" val="4258632931"/>
                        </a:ext>
                      </a:extLst>
                    </a:gridCol>
                    <a:gridCol w="1667574">
                      <a:extLst>
                        <a:ext uri="{9D8B030D-6E8A-4147-A177-3AD203B41FA5}">
                          <a16:colId xmlns:a16="http://schemas.microsoft.com/office/drawing/2014/main" val="2614782621"/>
                        </a:ext>
                      </a:extLst>
                    </a:gridCol>
                    <a:gridCol w="651932">
                      <a:extLst>
                        <a:ext uri="{9D8B030D-6E8A-4147-A177-3AD203B41FA5}">
                          <a16:colId xmlns:a16="http://schemas.microsoft.com/office/drawing/2014/main" val="3631343940"/>
                        </a:ext>
                      </a:extLst>
                    </a:gridCol>
                    <a:gridCol w="1667574">
                      <a:extLst>
                        <a:ext uri="{9D8B030D-6E8A-4147-A177-3AD203B41FA5}">
                          <a16:colId xmlns:a16="http://schemas.microsoft.com/office/drawing/2014/main" val="841469282"/>
                        </a:ext>
                      </a:extLst>
                    </a:gridCol>
                    <a:gridCol w="651932">
                      <a:extLst>
                        <a:ext uri="{9D8B030D-6E8A-4147-A177-3AD203B41FA5}">
                          <a16:colId xmlns:a16="http://schemas.microsoft.com/office/drawing/2014/main" val="735290427"/>
                        </a:ext>
                      </a:extLst>
                    </a:gridCol>
                  </a:tblGrid>
                  <a:tr h="472197">
                    <a:tc gridSpan="2">
                      <a:txBody>
                        <a:bodyPr/>
                        <a:lstStyle/>
                        <a:p>
                          <a:pPr algn="ctr">
                            <a:lnSpc>
                              <a:spcPct val="150000"/>
                            </a:lnSpc>
                            <a:spcAft>
                              <a:spcPts val="0"/>
                            </a:spcAft>
                          </a:pPr>
                          <a:r>
                            <a:rPr lang="en-US" alt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CCGA</a:t>
                          </a: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algn="ctr">
                            <a:lnSpc>
                              <a:spcPct val="100000"/>
                            </a:lnSpc>
                            <a:spcAft>
                              <a:spcPts val="0"/>
                            </a:spcAft>
                          </a:pP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lnSpc>
                              <a:spcPct val="150000"/>
                            </a:lnSpc>
                            <a:spcAft>
                              <a:spcPts val="0"/>
                            </a:spcAft>
                          </a:pPr>
                          <a:r>
                            <a:rPr lang="en-US" alt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HACO</a:t>
                          </a: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algn="ctr">
                            <a:lnSpc>
                              <a:spcPct val="150000"/>
                            </a:lnSpc>
                            <a:spcAft>
                              <a:spcPts val="0"/>
                            </a:spcAft>
                          </a:pP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gridSpan="2">
                      <a:txBody>
                        <a:bodyPr/>
                        <a:lstStyle/>
                        <a:p>
                          <a:pPr algn="ctr">
                            <a:lnSpc>
                              <a:spcPct val="150000"/>
                            </a:lnSpc>
                            <a:spcAft>
                              <a:spcPts val="0"/>
                            </a:spcAft>
                          </a:pPr>
                          <a:r>
                            <a:rPr lang="en-US" alt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MACS</a:t>
                          </a: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algn="ctr">
                            <a:lnSpc>
                              <a:spcPct val="150000"/>
                            </a:lnSpc>
                            <a:spcAft>
                              <a:spcPts val="0"/>
                            </a:spcAft>
                          </a:pP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196218974"/>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Generation</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200" dirty="0">
                              <a:solidFill>
                                <a:schemeClr val="dk1"/>
                              </a:solidFill>
                              <a:effectLst/>
                              <a:latin typeface="+mn-lt"/>
                              <a:ea typeface="+mn-ea"/>
                              <a:cs typeface="+mn-cs"/>
                            </a:rPr>
                            <a:t>200</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Iteration</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200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Time</a:t>
                          </a:r>
                          <a:r>
                            <a:rPr lang="zh-TW" altLang="en-US" sz="1800" b="0" kern="100" dirty="0">
                              <a:solidFill>
                                <a:schemeClr val="tx1"/>
                              </a:solidFill>
                              <a:effectLst/>
                              <a:latin typeface="+mj-lt"/>
                              <a:ea typeface="標楷體" panose="03000509000000000000" pitchFamily="65" charset="-120"/>
                              <a:cs typeface="Times New Roman" panose="02020603050405020304" pitchFamily="18" charset="0"/>
                            </a:rPr>
                            <a:t> </a:t>
                          </a: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Limit (s)</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100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504475"/>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Subpopulation</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20</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Number of Ants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50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Number of Ants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50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7795021"/>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Cross Rate</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0.8</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Pheromone</a:t>
                          </a:r>
                          <a:r>
                            <a:rPr lang="zh-TW" altLang="en-US" sz="1800" b="0" kern="100" dirty="0">
                              <a:solidFill>
                                <a:schemeClr val="tx1"/>
                              </a:solidFill>
                              <a:effectLst/>
                              <a:latin typeface="+mj-lt"/>
                              <a:ea typeface="標楷體" panose="03000509000000000000" pitchFamily="65" charset="-120"/>
                              <a:cs typeface="Times New Roman" panose="02020603050405020304" pitchFamily="18" charset="0"/>
                            </a:rPr>
                            <a:t> </a:t>
                          </a: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14:m>
                            <m:oMath xmlns:m="http://schemas.openxmlformats.org/officeDocument/2006/math">
                              <m:r>
                                <a:rPr lang="en-US" altLang="zh-TW" sz="1800" b="0" i="1" kern="10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𝛼</m:t>
                              </m:r>
                            </m:oMath>
                          </a14:m>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Pheromone</a:t>
                          </a:r>
                          <a:r>
                            <a:rPr lang="zh-TW" altLang="en-US" sz="1800" b="0" kern="100" dirty="0">
                              <a:solidFill>
                                <a:schemeClr val="tx1"/>
                              </a:solidFill>
                              <a:effectLst/>
                              <a:latin typeface="+mj-lt"/>
                              <a:ea typeface="標楷體" panose="03000509000000000000" pitchFamily="65" charset="-120"/>
                              <a:cs typeface="Times New Roman" panose="02020603050405020304" pitchFamily="18" charset="0"/>
                            </a:rPr>
                            <a:t> </a:t>
                          </a: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14:m>
                            <m:oMath xmlns:m="http://schemas.openxmlformats.org/officeDocument/2006/math">
                              <m:r>
                                <a:rPr lang="en-US" altLang="zh-TW" sz="1800" b="0" i="1" kern="10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𝛼</m:t>
                              </m:r>
                            </m:oMath>
                          </a14:m>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4293028"/>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Mutate Rate</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0.1</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Heuristic (</a:t>
                          </a:r>
                          <a14:m>
                            <m:oMath xmlns:m="http://schemas.openxmlformats.org/officeDocument/2006/math">
                              <m:r>
                                <a:rPr lang="en-US" altLang="zh-TW" sz="1800" b="0" i="1" kern="10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𝛽</m:t>
                              </m:r>
                            </m:oMath>
                          </a14:m>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Heuristic (</a:t>
                          </a:r>
                          <a14:m>
                            <m:oMath xmlns:m="http://schemas.openxmlformats.org/officeDocument/2006/math">
                              <m:r>
                                <a:rPr lang="en-US" altLang="zh-TW" sz="1800" b="0" i="1" kern="10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𝛽</m:t>
                              </m:r>
                            </m:oMath>
                          </a14:m>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7</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7011392"/>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Elite Rate</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0.1</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Evaporation (</a:t>
                          </a:r>
                          <a14:m>
                            <m:oMath xmlns:m="http://schemas.openxmlformats.org/officeDocument/2006/math">
                              <m:r>
                                <a:rPr lang="en-US" altLang="zh-TW" sz="1800" b="0" i="1" kern="10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𝜌</m:t>
                              </m:r>
                            </m:oMath>
                          </a14:m>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0.7</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Evaporation (</a:t>
                          </a:r>
                          <a14:m>
                            <m:oMath xmlns:m="http://schemas.openxmlformats.org/officeDocument/2006/math">
                              <m:r>
                                <a:rPr lang="en-US" altLang="zh-TW" sz="1800" b="0" i="1" kern="100" smtClean="0">
                                  <a:solidFill>
                                    <a:schemeClr val="tx1"/>
                                  </a:solidFill>
                                  <a:effectLst/>
                                  <a:latin typeface="Cambria Math" panose="02040503050406030204" pitchFamily="18" charset="0"/>
                                  <a:ea typeface="標楷體" panose="03000509000000000000" pitchFamily="65" charset="-120"/>
                                  <a:cs typeface="Times New Roman" panose="02020603050405020304" pitchFamily="18" charset="0"/>
                                </a:rPr>
                                <m:t>𝜌</m:t>
                              </m:r>
                            </m:oMath>
                          </a14:m>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0.5</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9298877"/>
                      </a:ext>
                    </a:extLst>
                  </a:tr>
                </a:tbl>
              </a:graphicData>
            </a:graphic>
          </p:graphicFrame>
        </mc:Choice>
        <mc:Fallback xmlns="">
          <p:graphicFrame>
            <p:nvGraphicFramePr>
              <p:cNvPr id="3" name="內容版面配置區 4">
                <a:extLst>
                  <a:ext uri="{FF2B5EF4-FFF2-40B4-BE49-F238E27FC236}">
                    <a16:creationId xmlns:a16="http://schemas.microsoft.com/office/drawing/2014/main" id="{D13940BF-A90A-FB5C-A08F-BA909B335A98}"/>
                  </a:ext>
                </a:extLst>
              </p:cNvPr>
              <p:cNvGraphicFramePr>
                <a:graphicFrameLocks/>
              </p:cNvGraphicFramePr>
              <p:nvPr>
                <p:extLst>
                  <p:ext uri="{D42A27DB-BD31-4B8C-83A1-F6EECF244321}">
                    <p14:modId xmlns:p14="http://schemas.microsoft.com/office/powerpoint/2010/main" val="1327829979"/>
                  </p:ext>
                </p:extLst>
              </p:nvPr>
            </p:nvGraphicFramePr>
            <p:xfrm>
              <a:off x="2700900" y="2287459"/>
              <a:ext cx="6851159" cy="2833182"/>
            </p:xfrm>
            <a:graphic>
              <a:graphicData uri="http://schemas.openxmlformats.org/drawingml/2006/table">
                <a:tbl>
                  <a:tblPr firstCol="1">
                    <a:tableStyleId>{5C22544A-7EE6-4342-B048-85BDC9FD1C3A}</a:tableStyleId>
                  </a:tblPr>
                  <a:tblGrid>
                    <a:gridCol w="1527810">
                      <a:extLst>
                        <a:ext uri="{9D8B030D-6E8A-4147-A177-3AD203B41FA5}">
                          <a16:colId xmlns:a16="http://schemas.microsoft.com/office/drawing/2014/main" val="1458894256"/>
                        </a:ext>
                      </a:extLst>
                    </a:gridCol>
                    <a:gridCol w="684337">
                      <a:extLst>
                        <a:ext uri="{9D8B030D-6E8A-4147-A177-3AD203B41FA5}">
                          <a16:colId xmlns:a16="http://schemas.microsoft.com/office/drawing/2014/main" val="4258632931"/>
                        </a:ext>
                      </a:extLst>
                    </a:gridCol>
                    <a:gridCol w="1667574">
                      <a:extLst>
                        <a:ext uri="{9D8B030D-6E8A-4147-A177-3AD203B41FA5}">
                          <a16:colId xmlns:a16="http://schemas.microsoft.com/office/drawing/2014/main" val="2614782621"/>
                        </a:ext>
                      </a:extLst>
                    </a:gridCol>
                    <a:gridCol w="651932">
                      <a:extLst>
                        <a:ext uri="{9D8B030D-6E8A-4147-A177-3AD203B41FA5}">
                          <a16:colId xmlns:a16="http://schemas.microsoft.com/office/drawing/2014/main" val="3631343940"/>
                        </a:ext>
                      </a:extLst>
                    </a:gridCol>
                    <a:gridCol w="1667574">
                      <a:extLst>
                        <a:ext uri="{9D8B030D-6E8A-4147-A177-3AD203B41FA5}">
                          <a16:colId xmlns:a16="http://schemas.microsoft.com/office/drawing/2014/main" val="841469282"/>
                        </a:ext>
                      </a:extLst>
                    </a:gridCol>
                    <a:gridCol w="651932">
                      <a:extLst>
                        <a:ext uri="{9D8B030D-6E8A-4147-A177-3AD203B41FA5}">
                          <a16:colId xmlns:a16="http://schemas.microsoft.com/office/drawing/2014/main" val="735290427"/>
                        </a:ext>
                      </a:extLst>
                    </a:gridCol>
                  </a:tblGrid>
                  <a:tr h="472197">
                    <a:tc gridSpan="2">
                      <a:txBody>
                        <a:bodyPr/>
                        <a:lstStyle/>
                        <a:p>
                          <a:pPr algn="ctr">
                            <a:lnSpc>
                              <a:spcPct val="150000"/>
                            </a:lnSpc>
                            <a:spcAft>
                              <a:spcPts val="0"/>
                            </a:spcAft>
                          </a:pPr>
                          <a:r>
                            <a:rPr lang="en-US" alt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CCGA</a:t>
                          </a: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algn="ctr">
                            <a:lnSpc>
                              <a:spcPct val="100000"/>
                            </a:lnSpc>
                            <a:spcAft>
                              <a:spcPts val="0"/>
                            </a:spcAft>
                          </a:pP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lnSpc>
                              <a:spcPct val="150000"/>
                            </a:lnSpc>
                            <a:spcAft>
                              <a:spcPts val="0"/>
                            </a:spcAft>
                          </a:pPr>
                          <a:r>
                            <a:rPr lang="en-US" alt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HACO</a:t>
                          </a: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algn="ctr">
                            <a:lnSpc>
                              <a:spcPct val="150000"/>
                            </a:lnSpc>
                            <a:spcAft>
                              <a:spcPts val="0"/>
                            </a:spcAft>
                          </a:pP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gridSpan="2">
                      <a:txBody>
                        <a:bodyPr/>
                        <a:lstStyle/>
                        <a:p>
                          <a:pPr algn="ctr">
                            <a:lnSpc>
                              <a:spcPct val="150000"/>
                            </a:lnSpc>
                            <a:spcAft>
                              <a:spcPts val="0"/>
                            </a:spcAft>
                          </a:pPr>
                          <a:r>
                            <a:rPr lang="en-US" alt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MACS</a:t>
                          </a: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hMerge="1">
                      <a:txBody>
                        <a:bodyPr/>
                        <a:lstStyle/>
                        <a:p>
                          <a:pPr algn="ctr">
                            <a:lnSpc>
                              <a:spcPct val="150000"/>
                            </a:lnSpc>
                            <a:spcAft>
                              <a:spcPts val="0"/>
                            </a:spcAft>
                          </a:pPr>
                          <a:endParaRPr lang="zh-TW" sz="1800" b="1"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2196218974"/>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Generation</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200" dirty="0">
                              <a:solidFill>
                                <a:schemeClr val="dk1"/>
                              </a:solidFill>
                              <a:effectLst/>
                              <a:latin typeface="+mn-lt"/>
                              <a:ea typeface="+mn-ea"/>
                              <a:cs typeface="+mn-cs"/>
                            </a:rPr>
                            <a:t>200</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Iteration</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200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Time</a:t>
                          </a:r>
                          <a:r>
                            <a:rPr lang="zh-TW" altLang="en-US" sz="1800" b="0" kern="100" dirty="0">
                              <a:solidFill>
                                <a:schemeClr val="tx1"/>
                              </a:solidFill>
                              <a:effectLst/>
                              <a:latin typeface="+mj-lt"/>
                              <a:ea typeface="標楷體" panose="03000509000000000000" pitchFamily="65" charset="-120"/>
                              <a:cs typeface="Times New Roman" panose="02020603050405020304" pitchFamily="18" charset="0"/>
                            </a:rPr>
                            <a:t> </a:t>
                          </a: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Limit (s)</a:t>
                          </a:r>
                          <a:endParaRPr lang="zh-TW" sz="1800" b="0"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100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504475"/>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Subpopulation</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20</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5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Number of Ants</a:t>
                          </a: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50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lnSpc>
                              <a:spcPct val="100000"/>
                            </a:lnSpc>
                            <a:spcAft>
                              <a:spcPts val="0"/>
                            </a:spcAft>
                          </a:pPr>
                          <a:r>
                            <a:rPr lang="en-US" altLang="zh-TW" sz="1800" b="0" kern="100" dirty="0">
                              <a:solidFill>
                                <a:schemeClr val="tx1"/>
                              </a:solidFill>
                              <a:effectLst/>
                              <a:latin typeface="+mj-lt"/>
                              <a:ea typeface="標楷體" panose="03000509000000000000" pitchFamily="65" charset="-120"/>
                              <a:cs typeface="Times New Roman" panose="02020603050405020304" pitchFamily="18" charset="0"/>
                            </a:rPr>
                            <a:t>Number of Ants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50</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7795021"/>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Cross Rate</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0.8</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2847" t="-300000" r="-178832" b="-206410"/>
                          </a:stretch>
                        </a:blip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1533" t="-300000" r="-40146" b="-206410"/>
                          </a:stretch>
                        </a:blip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4293028"/>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Mutate Rate</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0.1</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2847" t="-405195" r="-178832" b="-109091"/>
                          </a:stretch>
                        </a:blip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1533" t="-405195" r="-40146" b="-109091"/>
                          </a:stretch>
                        </a:blip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7</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7011392"/>
                      </a:ext>
                    </a:extLst>
                  </a:tr>
                  <a:tr h="472197">
                    <a:tc>
                      <a:txBody>
                        <a:bodyPr/>
                        <a:lstStyle/>
                        <a:p>
                          <a:pPr algn="l">
                            <a:lnSpc>
                              <a:spcPct val="100000"/>
                            </a:lnSpc>
                            <a:spcAft>
                              <a:spcPts val="0"/>
                            </a:spcAft>
                          </a:pPr>
                          <a:r>
                            <a:rPr lang="en-US" alt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rPr>
                            <a:t>Elite Rate</a:t>
                          </a:r>
                          <a:endParaRPr lang="zh-TW" sz="1800" b="0" kern="100" dirty="0">
                            <a:solidFill>
                              <a:schemeClr val="tx1"/>
                            </a:solidFill>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lnSpc>
                              <a:spcPct val="100000"/>
                            </a:lnSpc>
                            <a:spcAft>
                              <a:spcPts val="0"/>
                            </a:spcAft>
                          </a:pPr>
                          <a:r>
                            <a:rPr lang="en-US" altLang="zh-TW" sz="1800" kern="100" dirty="0">
                              <a:effectLst/>
                              <a:latin typeface="Times New Roman" panose="02020603050405020304" pitchFamily="18" charset="0"/>
                              <a:ea typeface="標楷體" panose="03000509000000000000" pitchFamily="65" charset="-120"/>
                              <a:cs typeface="Times New Roman" panose="02020603050405020304" pitchFamily="18" charset="0"/>
                            </a:rPr>
                            <a:t>0.1</a:t>
                          </a:r>
                          <a:endParaRPr lang="zh-TW" sz="1800" kern="100" dirty="0">
                            <a:effectLst/>
                            <a:latin typeface="Times New Roman" panose="02020603050405020304" pitchFamily="18" charset="0"/>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32847" t="-498718" r="-178832" b="-7692"/>
                          </a:stretch>
                        </a:blipFill>
                      </a:tcPr>
                    </a:tc>
                    <a:tc>
                      <a:txBody>
                        <a:bodyPr/>
                        <a:lstStyle/>
                        <a:p>
                          <a:pPr algn="ctr">
                            <a:lnSpc>
                              <a:spcPct val="15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0.7</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TW"/>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71533" t="-498718" r="-40146" b="-7692"/>
                          </a:stretch>
                        </a:blip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0.5</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39298877"/>
                      </a:ext>
                    </a:extLst>
                  </a:tr>
                </a:tbl>
              </a:graphicData>
            </a:graphic>
          </p:graphicFrame>
        </mc:Fallback>
      </mc:AlternateContent>
    </p:spTree>
    <p:extLst>
      <p:ext uri="{BB962C8B-B14F-4D97-AF65-F5344CB8AC3E}">
        <p14:creationId xmlns:p14="http://schemas.microsoft.com/office/powerpoint/2010/main" val="527567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E7EC2B-4DFB-4C53-6E2C-6067027F5BE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06C5674F-BCCC-ACDC-A9CA-5C092DB71A6E}"/>
              </a:ext>
            </a:extLst>
          </p:cNvPr>
          <p:cNvSpPr>
            <a:spLocks noGrp="1"/>
          </p:cNvSpPr>
          <p:nvPr>
            <p:ph type="title"/>
          </p:nvPr>
        </p:nvSpPr>
        <p:spPr/>
        <p:txBody>
          <a:bodyPr/>
          <a:lstStyle/>
          <a:p>
            <a:r>
              <a:rPr lang="en-US" altLang="zh-TW" dirty="0"/>
              <a:t>Experiment Result</a:t>
            </a:r>
          </a:p>
        </p:txBody>
      </p:sp>
      <p:sp>
        <p:nvSpPr>
          <p:cNvPr id="4" name="投影片編號版面配置區 3">
            <a:extLst>
              <a:ext uri="{FF2B5EF4-FFF2-40B4-BE49-F238E27FC236}">
                <a16:creationId xmlns:a16="http://schemas.microsoft.com/office/drawing/2014/main" id="{1F8AE684-85D9-452B-6574-238D67006C23}"/>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19</a:t>
            </a:fld>
            <a:endParaRPr lang="zh-TW" altLang="en-US" sz="1600" dirty="0"/>
          </a:p>
        </p:txBody>
      </p:sp>
      <p:graphicFrame>
        <p:nvGraphicFramePr>
          <p:cNvPr id="6" name="內容版面配置區 4">
            <a:extLst>
              <a:ext uri="{FF2B5EF4-FFF2-40B4-BE49-F238E27FC236}">
                <a16:creationId xmlns:a16="http://schemas.microsoft.com/office/drawing/2014/main" id="{B7C7E742-0C9E-439C-4301-D10394B9E552}"/>
              </a:ext>
            </a:extLst>
          </p:cNvPr>
          <p:cNvGraphicFramePr>
            <a:graphicFrameLocks/>
          </p:cNvGraphicFramePr>
          <p:nvPr>
            <p:extLst>
              <p:ext uri="{D42A27DB-BD31-4B8C-83A1-F6EECF244321}">
                <p14:modId xmlns:p14="http://schemas.microsoft.com/office/powerpoint/2010/main" val="2540218774"/>
              </p:ext>
            </p:extLst>
          </p:nvPr>
        </p:nvGraphicFramePr>
        <p:xfrm>
          <a:off x="1648090" y="2409245"/>
          <a:ext cx="8486716" cy="2573685"/>
        </p:xfrm>
        <a:graphic>
          <a:graphicData uri="http://schemas.openxmlformats.org/drawingml/2006/table">
            <a:tbl>
              <a:tblPr firstCol="1">
                <a:tableStyleId>{5C22544A-7EE6-4342-B048-85BDC9FD1C3A}</a:tableStyleId>
              </a:tblPr>
              <a:tblGrid>
                <a:gridCol w="2507806">
                  <a:extLst>
                    <a:ext uri="{9D8B030D-6E8A-4147-A177-3AD203B41FA5}">
                      <a16:colId xmlns:a16="http://schemas.microsoft.com/office/drawing/2014/main" val="1458894256"/>
                    </a:ext>
                  </a:extLst>
                </a:gridCol>
                <a:gridCol w="1980882">
                  <a:extLst>
                    <a:ext uri="{9D8B030D-6E8A-4147-A177-3AD203B41FA5}">
                      <a16:colId xmlns:a16="http://schemas.microsoft.com/office/drawing/2014/main" val="4258632931"/>
                    </a:ext>
                  </a:extLst>
                </a:gridCol>
                <a:gridCol w="1980882">
                  <a:extLst>
                    <a:ext uri="{9D8B030D-6E8A-4147-A177-3AD203B41FA5}">
                      <a16:colId xmlns:a16="http://schemas.microsoft.com/office/drawing/2014/main" val="1663490534"/>
                    </a:ext>
                  </a:extLst>
                </a:gridCol>
                <a:gridCol w="2017146">
                  <a:extLst>
                    <a:ext uri="{9D8B030D-6E8A-4147-A177-3AD203B41FA5}">
                      <a16:colId xmlns:a16="http://schemas.microsoft.com/office/drawing/2014/main" val="2934832940"/>
                    </a:ext>
                  </a:extLst>
                </a:gridCol>
              </a:tblGrid>
              <a:tr h="580445">
                <a:tc>
                  <a:txBody>
                    <a:bodyPr/>
                    <a:lstStyle/>
                    <a:p>
                      <a:pPr algn="ctr">
                        <a:lnSpc>
                          <a:spcPct val="100000"/>
                        </a:lnSpc>
                        <a:spcAft>
                          <a:spcPts val="0"/>
                        </a:spcAft>
                      </a:pPr>
                      <a:endParaRPr lang="zh-TW" sz="1800" b="1" kern="100" dirty="0">
                        <a:solidFill>
                          <a:schemeClr val="tx1">
                            <a:lumMod val="75000"/>
                            <a:lumOff val="25000"/>
                          </a:schemeClr>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Proposed</a:t>
                      </a:r>
                      <a:r>
                        <a:rPr lang="zh-TW" altLang="en-US" sz="1800" b="1" kern="100" dirty="0">
                          <a:effectLst/>
                          <a:latin typeface="+mj-lt"/>
                          <a:ea typeface="標楷體" panose="03000509000000000000" pitchFamily="65" charset="-120"/>
                          <a:cs typeface="Times New Roman" panose="02020603050405020304" pitchFamily="18" charset="0"/>
                        </a:rPr>
                        <a:t> </a:t>
                      </a:r>
                      <a:r>
                        <a:rPr lang="en-US" altLang="zh-TW" sz="1800" b="1" kern="100" dirty="0">
                          <a:effectLst/>
                          <a:latin typeface="+mj-lt"/>
                          <a:ea typeface="標楷體" panose="03000509000000000000" pitchFamily="65" charset="-120"/>
                          <a:cs typeface="Times New Roman" panose="02020603050405020304" pitchFamily="18" charset="0"/>
                        </a:rPr>
                        <a:t>Method </a:t>
                      </a:r>
                      <a:endParaRPr lang="zh-TW" sz="1800" b="1"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b="1" kern="100" dirty="0">
                          <a:solidFill>
                            <a:schemeClr val="dk1"/>
                          </a:solidFill>
                          <a:effectLst/>
                          <a:latin typeface="+mn-lt"/>
                          <a:ea typeface="標楷體" panose="03000509000000000000" pitchFamily="65" charset="-120"/>
                          <a:cs typeface="Times New Roman" panose="02020603050405020304" pitchFamily="18" charset="0"/>
                        </a:rPr>
                        <a:t>HGA-SIH [5]</a:t>
                      </a:r>
                      <a:endParaRPr lang="zh-TW" altLang="zh-TW" sz="1800" b="1" kern="100" dirty="0">
                        <a:solidFill>
                          <a:schemeClr val="dk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Manually</a:t>
                      </a:r>
                      <a:r>
                        <a:rPr lang="zh-TW" altLang="en-US" sz="1800" b="1" kern="100" dirty="0">
                          <a:effectLst/>
                          <a:latin typeface="+mj-lt"/>
                          <a:ea typeface="標楷體" panose="03000509000000000000" pitchFamily="65" charset="-120"/>
                          <a:cs typeface="Times New Roman" panose="02020603050405020304" pitchFamily="18" charset="0"/>
                        </a:rPr>
                        <a:t> </a:t>
                      </a:r>
                      <a:r>
                        <a:rPr lang="en-US" altLang="zh-TW" sz="1800" b="1" kern="100" dirty="0">
                          <a:effectLst/>
                          <a:latin typeface="+mj-lt"/>
                          <a:ea typeface="標楷體" panose="03000509000000000000" pitchFamily="65" charset="-120"/>
                          <a:cs typeface="Times New Roman" panose="02020603050405020304" pitchFamily="18" charset="0"/>
                        </a:rPr>
                        <a:t>Planned</a:t>
                      </a:r>
                      <a:endParaRPr lang="zh-TW" sz="1800" b="1"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689319815"/>
                  </a:ext>
                </a:extLst>
              </a:tr>
              <a:tr h="498310">
                <a:tc>
                  <a:txBody>
                    <a:bodyPr/>
                    <a:lstStyle/>
                    <a:p>
                      <a:pPr algn="l">
                        <a:lnSpc>
                          <a:spcPct val="10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Number of Vehicles</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92.93</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97.72</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100.88</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7504475"/>
                  </a:ext>
                </a:extLst>
              </a:tr>
              <a:tr h="498310">
                <a:tc>
                  <a:txBody>
                    <a:bodyPr/>
                    <a:lstStyle/>
                    <a:p>
                      <a:pPr algn="l">
                        <a:lnSpc>
                          <a:spcPct val="10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Total Distance (km)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4375.41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00" dirty="0">
                          <a:solidFill>
                            <a:schemeClr val="dk1"/>
                          </a:solidFill>
                          <a:effectLst/>
                          <a:latin typeface="+mn-lt"/>
                          <a:ea typeface="標楷體" panose="03000509000000000000" pitchFamily="65" charset="-120"/>
                          <a:cs typeface="Times New Roman" panose="02020603050405020304" pitchFamily="18" charset="0"/>
                        </a:rPr>
                        <a:t>4583.14</a:t>
                      </a:r>
                      <a:endParaRPr lang="zh-TW" altLang="zh-TW" sz="1800" kern="100" dirty="0">
                        <a:solidFill>
                          <a:schemeClr val="dk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4531.51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67795021"/>
                  </a:ext>
                </a:extLst>
              </a:tr>
              <a:tr h="498310">
                <a:tc>
                  <a:txBody>
                    <a:bodyPr/>
                    <a:lstStyle/>
                    <a:p>
                      <a:pPr algn="l">
                        <a:lnSpc>
                          <a:spcPct val="10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Average Load Rate (%)</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89.28</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84.98</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83.01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4293028"/>
                  </a:ext>
                </a:extLst>
              </a:tr>
              <a:tr h="498310">
                <a:tc>
                  <a:txBody>
                    <a:bodyPr/>
                    <a:lstStyle/>
                    <a:p>
                      <a:pPr algn="l">
                        <a:lnSpc>
                          <a:spcPct val="100000"/>
                        </a:lnSpc>
                        <a:spcAft>
                          <a:spcPts val="0"/>
                        </a:spcAft>
                      </a:pP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On Time Rate</a:t>
                      </a:r>
                      <a:r>
                        <a:rPr lang="zh-TW" altLang="en-US" sz="1800" b="1" kern="100" dirty="0">
                          <a:solidFill>
                            <a:schemeClr val="tx1"/>
                          </a:solidFill>
                          <a:effectLst/>
                          <a:latin typeface="+mj-lt"/>
                          <a:ea typeface="標楷體" panose="03000509000000000000" pitchFamily="65" charset="-120"/>
                          <a:cs typeface="Times New Roman" panose="02020603050405020304" pitchFamily="18" charset="0"/>
                        </a:rPr>
                        <a:t> </a:t>
                      </a:r>
                      <a:r>
                        <a:rPr lang="en-US" altLang="zh-TW" sz="1800" b="1" kern="100" dirty="0">
                          <a:solidFill>
                            <a:schemeClr val="tx1"/>
                          </a:solidFill>
                          <a:effectLst/>
                          <a:latin typeface="+mj-lt"/>
                          <a:ea typeface="標楷體" panose="03000509000000000000" pitchFamily="65" charset="-120"/>
                          <a:cs typeface="Times New Roman" panose="02020603050405020304" pitchFamily="18" charset="0"/>
                        </a:rPr>
                        <a:t>(%)</a:t>
                      </a:r>
                      <a:endParaRPr lang="zh-TW" sz="1800" b="1" kern="100" dirty="0">
                        <a:solidFill>
                          <a:schemeClr val="tx1"/>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99.03</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98.21</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effectLst/>
                          <a:latin typeface="+mj-lt"/>
                          <a:ea typeface="標楷體" panose="03000509000000000000" pitchFamily="65" charset="-120"/>
                          <a:cs typeface="Times New Roman" panose="02020603050405020304" pitchFamily="18" charset="0"/>
                        </a:rPr>
                        <a:t>92.43</a:t>
                      </a:r>
                      <a:endParaRPr lang="zh-TW" sz="1800"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8110203"/>
                  </a:ext>
                </a:extLst>
              </a:tr>
            </a:tbl>
          </a:graphicData>
        </a:graphic>
      </p:graphicFrame>
      <p:sp>
        <p:nvSpPr>
          <p:cNvPr id="5" name="文字方塊 4">
            <a:extLst>
              <a:ext uri="{FF2B5EF4-FFF2-40B4-BE49-F238E27FC236}">
                <a16:creationId xmlns:a16="http://schemas.microsoft.com/office/drawing/2014/main" id="{0AA4D981-B215-B946-6566-8A7B0DC93F95}"/>
              </a:ext>
            </a:extLst>
          </p:cNvPr>
          <p:cNvSpPr txBox="1"/>
          <p:nvPr/>
        </p:nvSpPr>
        <p:spPr>
          <a:xfrm>
            <a:off x="979517" y="6396335"/>
            <a:ext cx="9823863" cy="461665"/>
          </a:xfrm>
          <a:prstGeom prst="rect">
            <a:avLst/>
          </a:prstGeom>
          <a:noFill/>
        </p:spPr>
        <p:txBody>
          <a:bodyPr wrap="square">
            <a:spAutoFit/>
          </a:bodyPr>
          <a:lstStyle/>
          <a:p>
            <a:r>
              <a:rPr lang="en-US" altLang="zh-TW" sz="1200" dirty="0">
                <a:solidFill>
                  <a:schemeClr val="bg1"/>
                </a:solidFill>
                <a:effectLst/>
                <a:latin typeface="+mj-lt"/>
                <a:ea typeface="新細明體" panose="02020500000000000000" pitchFamily="18" charset="-120"/>
                <a:cs typeface="Times New Roman" panose="02020603050405020304" pitchFamily="18" charset="0"/>
              </a:rPr>
              <a:t>[5]  A. Maroof, B. Ayvaz, and K. Naeem, "Logistics optimization using hybrid genetic algorithm (</a:t>
            </a:r>
            <a:r>
              <a:rPr lang="en-US" altLang="zh-TW" sz="1200" dirty="0" err="1">
                <a:solidFill>
                  <a:schemeClr val="bg1"/>
                </a:solidFill>
                <a:effectLst/>
                <a:latin typeface="+mj-lt"/>
                <a:ea typeface="新細明體" panose="02020500000000000000" pitchFamily="18" charset="-120"/>
                <a:cs typeface="Times New Roman" panose="02020603050405020304" pitchFamily="18" charset="0"/>
              </a:rPr>
              <a:t>hga</a:t>
            </a:r>
            <a:r>
              <a:rPr lang="en-US" altLang="zh-TW" sz="1200" dirty="0">
                <a:solidFill>
                  <a:schemeClr val="bg1"/>
                </a:solidFill>
                <a:effectLst/>
                <a:latin typeface="+mj-lt"/>
                <a:ea typeface="新細明體" panose="02020500000000000000" pitchFamily="18" charset="-120"/>
                <a:cs typeface="Times New Roman" panose="02020603050405020304" pitchFamily="18" charset="0"/>
              </a:rPr>
              <a:t>): A solution to the vehicle routing problem with time windows (</a:t>
            </a:r>
            <a:r>
              <a:rPr lang="en-US" altLang="zh-TW" sz="1200" dirty="0" err="1">
                <a:solidFill>
                  <a:schemeClr val="bg1"/>
                </a:solidFill>
                <a:effectLst/>
                <a:latin typeface="+mj-lt"/>
                <a:ea typeface="新細明體" panose="02020500000000000000" pitchFamily="18" charset="-120"/>
                <a:cs typeface="Times New Roman" panose="02020603050405020304" pitchFamily="18" charset="0"/>
              </a:rPr>
              <a:t>vrptw</a:t>
            </a:r>
            <a:r>
              <a:rPr lang="en-US" altLang="zh-TW" sz="1200" dirty="0">
                <a:solidFill>
                  <a:schemeClr val="bg1"/>
                </a:solidFill>
                <a:effectLst/>
                <a:latin typeface="+mj-lt"/>
                <a:ea typeface="新細明體" panose="02020500000000000000" pitchFamily="18" charset="-120"/>
                <a:cs typeface="Times New Roman" panose="02020603050405020304" pitchFamily="18" charset="0"/>
              </a:rPr>
              <a:t>)," </a:t>
            </a:r>
            <a:r>
              <a:rPr lang="en-US" altLang="zh-TW" sz="1200" i="1" dirty="0">
                <a:solidFill>
                  <a:schemeClr val="bg1"/>
                </a:solidFill>
                <a:effectLst/>
                <a:latin typeface="+mj-lt"/>
                <a:ea typeface="新細明體" panose="02020500000000000000" pitchFamily="18" charset="-120"/>
                <a:cs typeface="Times New Roman" panose="02020603050405020304" pitchFamily="18" charset="0"/>
              </a:rPr>
              <a:t>IEEE Access, </a:t>
            </a:r>
            <a:r>
              <a:rPr lang="en-US" altLang="zh-TW" sz="1200" dirty="0">
                <a:solidFill>
                  <a:schemeClr val="bg1"/>
                </a:solidFill>
                <a:effectLst/>
                <a:latin typeface="+mj-lt"/>
                <a:ea typeface="新細明體" panose="02020500000000000000" pitchFamily="18" charset="-120"/>
                <a:cs typeface="Times New Roman" panose="02020603050405020304" pitchFamily="18" charset="0"/>
              </a:rPr>
              <a:t>vol. 12, pp. 36974–36989, 2024</a:t>
            </a:r>
            <a:endParaRPr lang="zh-TW" altLang="en-US" sz="1200" dirty="0">
              <a:solidFill>
                <a:schemeClr val="bg1"/>
              </a:solidFill>
              <a:latin typeface="+mj-lt"/>
            </a:endParaRPr>
          </a:p>
        </p:txBody>
      </p:sp>
    </p:spTree>
    <p:extLst>
      <p:ext uri="{BB962C8B-B14F-4D97-AF65-F5344CB8AC3E}">
        <p14:creationId xmlns:p14="http://schemas.microsoft.com/office/powerpoint/2010/main" val="212498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6C37E9-1F7D-3F3A-2F29-2563835C279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AF7D10D-159F-7F39-13E8-F0ED8B65832E}"/>
              </a:ext>
            </a:extLst>
          </p:cNvPr>
          <p:cNvSpPr>
            <a:spLocks noGrp="1"/>
          </p:cNvSpPr>
          <p:nvPr>
            <p:ph type="title"/>
          </p:nvPr>
        </p:nvSpPr>
        <p:spPr/>
        <p:txBody>
          <a:bodyPr/>
          <a:lstStyle/>
          <a:p>
            <a:r>
              <a:rPr lang="en-US" altLang="zh-TW" dirty="0"/>
              <a:t>Experiment Result</a:t>
            </a:r>
          </a:p>
        </p:txBody>
      </p:sp>
      <p:sp>
        <p:nvSpPr>
          <p:cNvPr id="4" name="投影片編號版面配置區 3">
            <a:extLst>
              <a:ext uri="{FF2B5EF4-FFF2-40B4-BE49-F238E27FC236}">
                <a16:creationId xmlns:a16="http://schemas.microsoft.com/office/drawing/2014/main" id="{A83C3853-492B-5B55-89EB-39271457350F}"/>
              </a:ext>
            </a:extLst>
          </p:cNvPr>
          <p:cNvSpPr>
            <a:spLocks noGrp="1"/>
          </p:cNvSpPr>
          <p:nvPr>
            <p:ph type="sldNum" sz="quarter" idx="12"/>
          </p:nvPr>
        </p:nvSpPr>
        <p:spPr/>
        <p:txBody>
          <a:bodyPr/>
          <a:lstStyle/>
          <a:p>
            <a:fld id="{5AC25633-CB68-4D6B-BEE8-144406895708}" type="slidenum">
              <a:rPr lang="zh-TW" altLang="en-US" sz="1600"/>
              <a:t>20</a:t>
            </a:fld>
            <a:endParaRPr lang="zh-TW" altLang="en-US" sz="1600" dirty="0"/>
          </a:p>
        </p:txBody>
      </p:sp>
      <p:graphicFrame>
        <p:nvGraphicFramePr>
          <p:cNvPr id="24" name="內容版面配置區 23">
            <a:extLst>
              <a:ext uri="{FF2B5EF4-FFF2-40B4-BE49-F238E27FC236}">
                <a16:creationId xmlns:a16="http://schemas.microsoft.com/office/drawing/2014/main" id="{CD5C253E-C3B4-1721-841A-FDEE1288A32F}"/>
              </a:ext>
            </a:extLst>
          </p:cNvPr>
          <p:cNvGraphicFramePr>
            <a:graphicFrameLocks noGrp="1"/>
          </p:cNvGraphicFramePr>
          <p:nvPr>
            <p:ph idx="1"/>
            <p:extLst>
              <p:ext uri="{D42A27DB-BD31-4B8C-83A1-F6EECF244321}">
                <p14:modId xmlns:p14="http://schemas.microsoft.com/office/powerpoint/2010/main" val="216476887"/>
              </p:ext>
            </p:extLst>
          </p:nvPr>
        </p:nvGraphicFramePr>
        <p:xfrm>
          <a:off x="1097280" y="2006852"/>
          <a:ext cx="4998720" cy="384687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圖表 5">
            <a:extLst>
              <a:ext uri="{FF2B5EF4-FFF2-40B4-BE49-F238E27FC236}">
                <a16:creationId xmlns:a16="http://schemas.microsoft.com/office/drawing/2014/main" id="{01C579D1-CD67-CD90-D8D6-D362152CB4B1}"/>
              </a:ext>
            </a:extLst>
          </p:cNvPr>
          <p:cNvGraphicFramePr>
            <a:graphicFrameLocks/>
          </p:cNvGraphicFramePr>
          <p:nvPr>
            <p:extLst>
              <p:ext uri="{D42A27DB-BD31-4B8C-83A1-F6EECF244321}">
                <p14:modId xmlns:p14="http://schemas.microsoft.com/office/powerpoint/2010/main" val="166586524"/>
              </p:ext>
            </p:extLst>
          </p:nvPr>
        </p:nvGraphicFramePr>
        <p:xfrm>
          <a:off x="6096000" y="2013242"/>
          <a:ext cx="5116483" cy="384686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77680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D15F38-6A8C-2D3B-5FC6-DF9308FA6596}"/>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6514701-BDB7-5CD8-36F2-984FC5635DE3}"/>
              </a:ext>
            </a:extLst>
          </p:cNvPr>
          <p:cNvSpPr>
            <a:spLocks noGrp="1"/>
          </p:cNvSpPr>
          <p:nvPr>
            <p:ph type="title"/>
          </p:nvPr>
        </p:nvSpPr>
        <p:spPr/>
        <p:txBody>
          <a:bodyPr/>
          <a:lstStyle/>
          <a:p>
            <a:r>
              <a:rPr lang="en-US" altLang="zh-TW" dirty="0"/>
              <a:t>Experiment Result</a:t>
            </a:r>
          </a:p>
        </p:txBody>
      </p:sp>
      <p:sp>
        <p:nvSpPr>
          <p:cNvPr id="4" name="投影片編號版面配置區 3">
            <a:extLst>
              <a:ext uri="{FF2B5EF4-FFF2-40B4-BE49-F238E27FC236}">
                <a16:creationId xmlns:a16="http://schemas.microsoft.com/office/drawing/2014/main" id="{E00F4723-4F00-F892-2321-37A4141CF6FD}"/>
              </a:ext>
            </a:extLst>
          </p:cNvPr>
          <p:cNvSpPr>
            <a:spLocks noGrp="1"/>
          </p:cNvSpPr>
          <p:nvPr>
            <p:ph type="sldNum" sz="quarter" idx="12"/>
          </p:nvPr>
        </p:nvSpPr>
        <p:spPr/>
        <p:txBody>
          <a:bodyPr/>
          <a:lstStyle/>
          <a:p>
            <a:fld id="{5AC25633-CB68-4D6B-BEE8-144406895708}" type="slidenum">
              <a:rPr lang="zh-TW" altLang="en-US" sz="1600"/>
              <a:t>21</a:t>
            </a:fld>
            <a:endParaRPr lang="zh-TW" altLang="en-US" sz="1600" dirty="0"/>
          </a:p>
        </p:txBody>
      </p:sp>
      <p:graphicFrame>
        <p:nvGraphicFramePr>
          <p:cNvPr id="3" name="內容版面配置區 2">
            <a:extLst>
              <a:ext uri="{FF2B5EF4-FFF2-40B4-BE49-F238E27FC236}">
                <a16:creationId xmlns:a16="http://schemas.microsoft.com/office/drawing/2014/main" id="{33F78BCC-C903-3A22-2302-18E46241D6A0}"/>
              </a:ext>
            </a:extLst>
          </p:cNvPr>
          <p:cNvGraphicFramePr>
            <a:graphicFrameLocks noGrp="1"/>
          </p:cNvGraphicFramePr>
          <p:nvPr>
            <p:ph idx="1"/>
            <p:extLst>
              <p:ext uri="{D42A27DB-BD31-4B8C-83A1-F6EECF244321}">
                <p14:modId xmlns:p14="http://schemas.microsoft.com/office/powerpoint/2010/main" val="948677015"/>
              </p:ext>
            </p:extLst>
          </p:nvPr>
        </p:nvGraphicFramePr>
        <p:xfrm>
          <a:off x="1097280" y="1846263"/>
          <a:ext cx="4998720" cy="40227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圖表 4">
            <a:extLst>
              <a:ext uri="{FF2B5EF4-FFF2-40B4-BE49-F238E27FC236}">
                <a16:creationId xmlns:a16="http://schemas.microsoft.com/office/drawing/2014/main" id="{87CC64D4-C0B2-7096-12DF-77C844F0BCE0}"/>
              </a:ext>
            </a:extLst>
          </p:cNvPr>
          <p:cNvGraphicFramePr>
            <a:graphicFrameLocks/>
          </p:cNvGraphicFramePr>
          <p:nvPr>
            <p:extLst>
              <p:ext uri="{D42A27DB-BD31-4B8C-83A1-F6EECF244321}">
                <p14:modId xmlns:p14="http://schemas.microsoft.com/office/powerpoint/2010/main" val="3111464101"/>
              </p:ext>
            </p:extLst>
          </p:nvPr>
        </p:nvGraphicFramePr>
        <p:xfrm>
          <a:off x="6096000" y="1846263"/>
          <a:ext cx="5116483" cy="402272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096851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C4C01F-CE6E-EAD2-4C11-B4591ABB8BE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4EB42B6-A38E-C34C-D924-8978A404F32E}"/>
              </a:ext>
            </a:extLst>
          </p:cNvPr>
          <p:cNvSpPr>
            <a:spLocks noGrp="1"/>
          </p:cNvSpPr>
          <p:nvPr>
            <p:ph type="title"/>
          </p:nvPr>
        </p:nvSpPr>
        <p:spPr/>
        <p:txBody>
          <a:bodyPr/>
          <a:lstStyle/>
          <a:p>
            <a:r>
              <a:rPr lang="en-US" altLang="zh-TW" dirty="0"/>
              <a:t>Experiment Result</a:t>
            </a:r>
          </a:p>
        </p:txBody>
      </p:sp>
      <p:sp>
        <p:nvSpPr>
          <p:cNvPr id="4" name="投影片編號版面配置區 3">
            <a:extLst>
              <a:ext uri="{FF2B5EF4-FFF2-40B4-BE49-F238E27FC236}">
                <a16:creationId xmlns:a16="http://schemas.microsoft.com/office/drawing/2014/main" id="{676DFD0D-88D9-41A1-6E22-354ED7094A66}"/>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22</a:t>
            </a:fld>
            <a:endParaRPr lang="zh-TW" altLang="en-US" sz="1600" dirty="0"/>
          </a:p>
        </p:txBody>
      </p:sp>
      <mc:AlternateContent xmlns:mc="http://schemas.openxmlformats.org/markup-compatibility/2006" xmlns:a14="http://schemas.microsoft.com/office/drawing/2010/main">
        <mc:Choice Requires="a14">
          <p:sp>
            <p:nvSpPr>
              <p:cNvPr id="5" name="內容版面配置區 4">
                <a:extLst>
                  <a:ext uri="{FF2B5EF4-FFF2-40B4-BE49-F238E27FC236}">
                    <a16:creationId xmlns:a16="http://schemas.microsoft.com/office/drawing/2014/main" id="{B7589530-6498-BC9C-D47F-D6B3F53497FC}"/>
                  </a:ext>
                </a:extLst>
              </p:cNvPr>
              <p:cNvSpPr>
                <a:spLocks noGrp="1"/>
              </p:cNvSpPr>
              <p:nvPr>
                <p:ph idx="1"/>
              </p:nvPr>
            </p:nvSpPr>
            <p:spPr/>
            <p:txBody>
              <a:bodyPr/>
              <a:lstStyle/>
              <a:p>
                <a:pPr>
                  <a:buFont typeface="Wingdings" panose="05000000000000000000" pitchFamily="2" charset="2"/>
                  <a:buChar char="Ø"/>
                </a:pPr>
                <a:r>
                  <a:rPr lang="en-US" altLang="zh-TW" dirty="0"/>
                  <a:t>Wilcoxon Signed-Rank Test</a:t>
                </a:r>
              </a:p>
              <a:p>
                <a:pPr lvl="1">
                  <a:buFont typeface="Arial" panose="020B0604020202020204" pitchFamily="34" charset="0"/>
                  <a:buChar char="•"/>
                </a:pPr>
                <a:r>
                  <a:rPr lang="en-US" altLang="zh-TW" dirty="0"/>
                  <a:t>Significant at </a:t>
                </a:r>
                <a14:m>
                  <m:oMath xmlns:m="http://schemas.openxmlformats.org/officeDocument/2006/math">
                    <m:r>
                      <m:rPr>
                        <m:sty m:val="p"/>
                      </m:rPr>
                      <a:rPr lang="en-US" altLang="zh-TW" b="0" i="0" smtClean="0">
                        <a:latin typeface="Cambria Math" panose="02040503050406030204" pitchFamily="18" charset="0"/>
                      </a:rPr>
                      <m:t>α</m:t>
                    </m:r>
                  </m:oMath>
                </a14:m>
                <a:r>
                  <a:rPr lang="en-US" altLang="zh-TW" dirty="0"/>
                  <a:t>=0.05</a:t>
                </a:r>
                <a:endParaRPr lang="zh-TW" altLang="en-US" dirty="0"/>
              </a:p>
            </p:txBody>
          </p:sp>
        </mc:Choice>
        <mc:Fallback xmlns="">
          <p:sp>
            <p:nvSpPr>
              <p:cNvPr id="5" name="內容版面配置區 4">
                <a:extLst>
                  <a:ext uri="{FF2B5EF4-FFF2-40B4-BE49-F238E27FC236}">
                    <a16:creationId xmlns:a16="http://schemas.microsoft.com/office/drawing/2014/main" id="{B7589530-6498-BC9C-D47F-D6B3F53497FC}"/>
                  </a:ext>
                </a:extLst>
              </p:cNvPr>
              <p:cNvSpPr>
                <a:spLocks noGrp="1" noRot="1" noChangeAspect="1" noMove="1" noResize="1" noEditPoints="1" noAdjustHandles="1" noChangeArrowheads="1" noChangeShapeType="1" noTextEdit="1"/>
              </p:cNvSpPr>
              <p:nvPr>
                <p:ph idx="1"/>
              </p:nvPr>
            </p:nvSpPr>
            <p:spPr>
              <a:blipFill>
                <a:blip r:embed="rId3"/>
                <a:stretch>
                  <a:fillRect l="-1455" t="-1667"/>
                </a:stretch>
              </a:blipFill>
            </p:spPr>
            <p:txBody>
              <a:bodyPr/>
              <a:lstStyle/>
              <a:p>
                <a:r>
                  <a:rPr lang="zh-TW" altLang="en-US">
                    <a:noFill/>
                  </a:rPr>
                  <a:t> </a:t>
                </a:r>
              </a:p>
            </p:txBody>
          </p:sp>
        </mc:Fallback>
      </mc:AlternateContent>
      <p:graphicFrame>
        <p:nvGraphicFramePr>
          <p:cNvPr id="6" name="內容版面配置區 4">
            <a:extLst>
              <a:ext uri="{FF2B5EF4-FFF2-40B4-BE49-F238E27FC236}">
                <a16:creationId xmlns:a16="http://schemas.microsoft.com/office/drawing/2014/main" id="{C5EED8B4-6E83-6F86-5529-650C2F4458DA}"/>
              </a:ext>
            </a:extLst>
          </p:cNvPr>
          <p:cNvGraphicFramePr>
            <a:graphicFrameLocks/>
          </p:cNvGraphicFramePr>
          <p:nvPr>
            <p:extLst>
              <p:ext uri="{D42A27DB-BD31-4B8C-83A1-F6EECF244321}">
                <p14:modId xmlns:p14="http://schemas.microsoft.com/office/powerpoint/2010/main" val="4168925774"/>
              </p:ext>
            </p:extLst>
          </p:nvPr>
        </p:nvGraphicFramePr>
        <p:xfrm>
          <a:off x="2277765" y="2690503"/>
          <a:ext cx="7697429" cy="3286965"/>
        </p:xfrm>
        <a:graphic>
          <a:graphicData uri="http://schemas.openxmlformats.org/drawingml/2006/table">
            <a:tbl>
              <a:tblPr firstCol="1">
                <a:tableStyleId>{5C22544A-7EE6-4342-B048-85BDC9FD1C3A}</a:tableStyleId>
              </a:tblPr>
              <a:tblGrid>
                <a:gridCol w="2290128">
                  <a:extLst>
                    <a:ext uri="{9D8B030D-6E8A-4147-A177-3AD203B41FA5}">
                      <a16:colId xmlns:a16="http://schemas.microsoft.com/office/drawing/2014/main" val="1458894256"/>
                    </a:ext>
                  </a:extLst>
                </a:gridCol>
                <a:gridCol w="2855738">
                  <a:extLst>
                    <a:ext uri="{9D8B030D-6E8A-4147-A177-3AD203B41FA5}">
                      <a16:colId xmlns:a16="http://schemas.microsoft.com/office/drawing/2014/main" val="4258632931"/>
                    </a:ext>
                  </a:extLst>
                </a:gridCol>
                <a:gridCol w="2551563">
                  <a:extLst>
                    <a:ext uri="{9D8B030D-6E8A-4147-A177-3AD203B41FA5}">
                      <a16:colId xmlns:a16="http://schemas.microsoft.com/office/drawing/2014/main" val="4186979241"/>
                    </a:ext>
                  </a:extLst>
                </a:gridCol>
              </a:tblGrid>
              <a:tr h="519237">
                <a:tc>
                  <a:txBody>
                    <a:bodyPr/>
                    <a:lstStyle/>
                    <a:p>
                      <a:pPr algn="ctr">
                        <a:lnSpc>
                          <a:spcPct val="100000"/>
                        </a:lnSpc>
                        <a:spcAft>
                          <a:spcPts val="0"/>
                        </a:spcAft>
                      </a:pPr>
                      <a:endParaRPr lang="zh-TW" sz="1800" b="1" kern="100" dirty="0">
                        <a:solidFill>
                          <a:schemeClr val="tx1">
                            <a:lumMod val="75000"/>
                            <a:lumOff val="25000"/>
                          </a:schemeClr>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Metric</a:t>
                      </a:r>
                      <a:endParaRPr lang="zh-TW" sz="1800" b="1"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algn="ctr">
                        <a:lnSpc>
                          <a:spcPct val="100000"/>
                        </a:lnSpc>
                        <a:spcAft>
                          <a:spcPts val="0"/>
                        </a:spcAft>
                      </a:pPr>
                      <a:r>
                        <a:rPr lang="en-US" altLang="zh-TW" sz="1800" b="1" kern="100" dirty="0">
                          <a:effectLst/>
                          <a:latin typeface="+mj-lt"/>
                          <a:ea typeface="標楷體" panose="03000509000000000000" pitchFamily="65" charset="-120"/>
                          <a:cs typeface="Times New Roman" panose="02020603050405020304" pitchFamily="18" charset="0"/>
                        </a:rPr>
                        <a:t>p-value</a:t>
                      </a:r>
                      <a:endParaRPr lang="zh-TW" sz="1800" b="1" kern="100" dirty="0">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extLst>
                  <a:ext uri="{0D108BD9-81ED-4DB2-BD59-A6C34878D82A}">
                    <a16:rowId xmlns:a16="http://schemas.microsoft.com/office/drawing/2014/main" val="689319815"/>
                  </a:ext>
                </a:extLst>
              </a:tr>
              <a:tr h="345966">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1" kern="100" dirty="0">
                          <a:solidFill>
                            <a:schemeClr val="tx1"/>
                          </a:solidFill>
                          <a:effectLst/>
                          <a:latin typeface="+mn-lt"/>
                          <a:ea typeface="標楷體" panose="03000509000000000000" pitchFamily="65" charset="-120"/>
                          <a:cs typeface="Times New Roman" panose="02020603050405020304" pitchFamily="18" charset="0"/>
                        </a:rPr>
                        <a:t>Manually Planned</a:t>
                      </a:r>
                      <a:endParaRPr lang="zh-TW" altLang="zh-TW" sz="1800" b="1"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Number of Vehicles</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solidFill>
                            <a:srgbClr val="FF0000"/>
                          </a:solidFill>
                          <a:effectLst/>
                          <a:latin typeface="+mj-lt"/>
                          <a:ea typeface="標楷體" panose="03000509000000000000" pitchFamily="65" charset="-120"/>
                          <a:cs typeface="Times New Roman" panose="02020603050405020304" pitchFamily="18" charset="0"/>
                        </a:rPr>
                        <a:t>0.00001231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926277"/>
                  </a:ext>
                </a:extLst>
              </a:tr>
              <a:tr h="34596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b="1"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Total Distance</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solidFill>
                            <a:srgbClr val="FF0000"/>
                          </a:solidFill>
                          <a:effectLst/>
                          <a:latin typeface="+mj-lt"/>
                          <a:ea typeface="標楷體" panose="03000509000000000000" pitchFamily="65" charset="-120"/>
                          <a:cs typeface="Times New Roman" panose="02020603050405020304" pitchFamily="18" charset="0"/>
                        </a:rPr>
                        <a:t>0.00004415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63714535"/>
                  </a:ext>
                </a:extLst>
              </a:tr>
              <a:tr h="34596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b="1"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Average Load Rate </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lnSpc>
                          <a:spcPct val="100000"/>
                        </a:lnSpc>
                        <a:spcAft>
                          <a:spcPts val="0"/>
                        </a:spcAft>
                      </a:pPr>
                      <a:r>
                        <a:rPr lang="en-US" altLang="zh-TW" sz="1800" kern="100" dirty="0">
                          <a:solidFill>
                            <a:srgbClr val="FF0000"/>
                          </a:solidFill>
                          <a:effectLst/>
                          <a:latin typeface="+mn-lt"/>
                          <a:ea typeface="標楷體" panose="03000509000000000000" pitchFamily="65" charset="-120"/>
                          <a:cs typeface="Times New Roman" panose="02020603050405020304" pitchFamily="18" charset="0"/>
                        </a:rPr>
                        <a:t>0.00000003</a:t>
                      </a:r>
                      <a:endParaRPr lang="en-US" altLang="zh-TW" sz="1800" kern="100" dirty="0">
                        <a:solidFill>
                          <a:srgbClr val="FF0000"/>
                        </a:solidFill>
                        <a:effectLst/>
                        <a:latin typeface="+mj-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33497767"/>
                  </a:ext>
                </a:extLst>
              </a:tr>
              <a:tr h="34596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b="1"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On Time Rate </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00" dirty="0">
                          <a:solidFill>
                            <a:srgbClr val="FF0000"/>
                          </a:solidFill>
                          <a:effectLst/>
                          <a:latin typeface="+mn-lt"/>
                          <a:ea typeface="標楷體" panose="03000509000000000000" pitchFamily="65" charset="-120"/>
                          <a:cs typeface="Times New Roman" panose="02020603050405020304" pitchFamily="18" charset="0"/>
                        </a:rPr>
                        <a:t>0.00000003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77436013"/>
                  </a:ext>
                </a:extLst>
              </a:tr>
              <a:tr h="345966">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b="1" kern="100" dirty="0">
                          <a:solidFill>
                            <a:schemeClr val="tx1"/>
                          </a:solidFill>
                          <a:effectLst/>
                          <a:latin typeface="+mn-lt"/>
                          <a:ea typeface="標楷體" panose="03000509000000000000" pitchFamily="65" charset="-120"/>
                          <a:cs typeface="Times New Roman" panose="02020603050405020304" pitchFamily="18" charset="0"/>
                        </a:rPr>
                        <a:t>HGA-SIH</a:t>
                      </a:r>
                      <a:endParaRPr lang="zh-TW" altLang="zh-TW" sz="1800" b="1"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Number of Vehicles</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00" dirty="0">
                          <a:solidFill>
                            <a:srgbClr val="FF0000"/>
                          </a:solidFill>
                          <a:effectLst/>
                          <a:latin typeface="+mn-lt"/>
                          <a:ea typeface="標楷體" panose="03000509000000000000" pitchFamily="65" charset="-120"/>
                          <a:cs typeface="Times New Roman" panose="02020603050405020304" pitchFamily="18" charset="0"/>
                        </a:rPr>
                        <a:t>0.00000003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52059"/>
                  </a:ext>
                </a:extLst>
              </a:tr>
              <a:tr h="34596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b="1"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Total Distance</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00" dirty="0">
                          <a:solidFill>
                            <a:srgbClr val="FF0000"/>
                          </a:solidFill>
                          <a:effectLst/>
                          <a:latin typeface="+mn-lt"/>
                          <a:ea typeface="標楷體" panose="03000509000000000000" pitchFamily="65" charset="-120"/>
                          <a:cs typeface="Times New Roman" panose="02020603050405020304" pitchFamily="18" charset="0"/>
                        </a:rPr>
                        <a:t>0.00000003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53706071"/>
                  </a:ext>
                </a:extLst>
              </a:tr>
              <a:tr h="34596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b="1"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Average Load Rate </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00" dirty="0">
                          <a:solidFill>
                            <a:srgbClr val="FF0000"/>
                          </a:solidFill>
                          <a:effectLst/>
                          <a:latin typeface="+mn-lt"/>
                          <a:ea typeface="標楷體" panose="03000509000000000000" pitchFamily="65" charset="-120"/>
                          <a:cs typeface="Times New Roman" panose="02020603050405020304" pitchFamily="18" charset="0"/>
                        </a:rPr>
                        <a:t>0.00000003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44053933"/>
                  </a:ext>
                </a:extLst>
              </a:tr>
              <a:tr h="345966">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TW" altLang="zh-TW" sz="1800" b="1"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5000"/>
                        <a:lumOff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b="0" kern="100" dirty="0">
                          <a:solidFill>
                            <a:schemeClr val="tx1"/>
                          </a:solidFill>
                          <a:effectLst/>
                          <a:latin typeface="+mn-lt"/>
                          <a:ea typeface="標楷體" panose="03000509000000000000" pitchFamily="65" charset="-120"/>
                          <a:cs typeface="Times New Roman" panose="02020603050405020304" pitchFamily="18" charset="0"/>
                        </a:rPr>
                        <a:t>On Time Rate </a:t>
                      </a:r>
                      <a:endParaRPr lang="zh-TW" altLang="zh-TW" sz="1800" b="0" kern="100" dirty="0">
                        <a:solidFill>
                          <a:schemeClr val="tx1"/>
                        </a:solidFill>
                        <a:effectLst/>
                        <a:latin typeface="+mn-lt"/>
                        <a:ea typeface="標楷體" panose="03000509000000000000" pitchFamily="65" charset="-12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sz="1800" kern="100" dirty="0">
                          <a:solidFill>
                            <a:srgbClr val="FF0000"/>
                          </a:solidFill>
                          <a:effectLst/>
                          <a:latin typeface="+mn-lt"/>
                          <a:ea typeface="標楷體" panose="03000509000000000000" pitchFamily="65" charset="-120"/>
                          <a:cs typeface="Times New Roman" panose="02020603050405020304" pitchFamily="18" charset="0"/>
                        </a:rPr>
                        <a:t>0.00000003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06183473"/>
                  </a:ext>
                </a:extLst>
              </a:tr>
            </a:tbl>
          </a:graphicData>
        </a:graphic>
      </p:graphicFrame>
    </p:spTree>
    <p:extLst>
      <p:ext uri="{BB962C8B-B14F-4D97-AF65-F5344CB8AC3E}">
        <p14:creationId xmlns:p14="http://schemas.microsoft.com/office/powerpoint/2010/main" val="3670357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A3BDA6-B1CC-CC77-5E7B-0147B947BA78}"/>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C533922-4B8A-8A61-A8CD-D2842E706C36}"/>
              </a:ext>
            </a:extLst>
          </p:cNvPr>
          <p:cNvSpPr>
            <a:spLocks noGrp="1"/>
          </p:cNvSpPr>
          <p:nvPr>
            <p:ph type="title"/>
          </p:nvPr>
        </p:nvSpPr>
        <p:spPr/>
        <p:txBody>
          <a:bodyPr/>
          <a:lstStyle/>
          <a:p>
            <a:r>
              <a:rPr lang="en-US" altLang="zh-TW" dirty="0"/>
              <a:t>Outline</a:t>
            </a:r>
            <a:endParaRPr lang="zh-TW" altLang="en-US" dirty="0"/>
          </a:p>
        </p:txBody>
      </p:sp>
      <p:sp>
        <p:nvSpPr>
          <p:cNvPr id="3" name="內容版面配置區 2">
            <a:extLst>
              <a:ext uri="{FF2B5EF4-FFF2-40B4-BE49-F238E27FC236}">
                <a16:creationId xmlns:a16="http://schemas.microsoft.com/office/drawing/2014/main" id="{BDE62C09-9F85-6CD6-251F-F4188154ED28}"/>
              </a:ext>
            </a:extLst>
          </p:cNvPr>
          <p:cNvSpPr>
            <a:spLocks noGrp="1"/>
          </p:cNvSpPr>
          <p:nvPr>
            <p:ph idx="1"/>
          </p:nvPr>
        </p:nvSpPr>
        <p:spPr/>
        <p:txBody>
          <a:bodyPr>
            <a:normAutofit/>
          </a:bodyPr>
          <a:lstStyle/>
          <a:p>
            <a:pPr>
              <a:buFont typeface="Wingdings" panose="05000000000000000000" pitchFamily="2" charset="2"/>
              <a:buChar char="Ø"/>
            </a:pPr>
            <a:r>
              <a:rPr lang="en-US" altLang="zh-TW" sz="3200" dirty="0">
                <a:solidFill>
                  <a:schemeClr val="bg2">
                    <a:lumMod val="75000"/>
                  </a:schemeClr>
                </a:solidFill>
              </a:rPr>
              <a:t>Motivation</a:t>
            </a:r>
          </a:p>
          <a:p>
            <a:pPr>
              <a:buFont typeface="Wingdings" panose="05000000000000000000" pitchFamily="2" charset="2"/>
              <a:buChar char="Ø"/>
            </a:pPr>
            <a:r>
              <a:rPr lang="en-US" altLang="zh-TW" sz="3200" dirty="0">
                <a:solidFill>
                  <a:schemeClr val="bg2">
                    <a:lumMod val="75000"/>
                  </a:schemeClr>
                </a:solidFill>
              </a:rPr>
              <a:t>Background</a:t>
            </a:r>
          </a:p>
          <a:p>
            <a:pPr>
              <a:buFont typeface="Wingdings" panose="05000000000000000000" pitchFamily="2" charset="2"/>
              <a:buChar char="Ø"/>
            </a:pPr>
            <a:r>
              <a:rPr lang="en-US" altLang="zh-TW" sz="3200" dirty="0">
                <a:solidFill>
                  <a:schemeClr val="bg2">
                    <a:lumMod val="75000"/>
                  </a:schemeClr>
                </a:solidFill>
              </a:rPr>
              <a:t>The proposed approach</a:t>
            </a:r>
          </a:p>
          <a:p>
            <a:pPr>
              <a:buFont typeface="Wingdings" panose="05000000000000000000" pitchFamily="2" charset="2"/>
              <a:buChar char="Ø"/>
            </a:pPr>
            <a:r>
              <a:rPr lang="en-US" altLang="zh-TW" sz="3200" dirty="0">
                <a:solidFill>
                  <a:schemeClr val="bg2">
                    <a:lumMod val="75000"/>
                  </a:schemeClr>
                </a:solidFill>
              </a:rPr>
              <a:t>Experiment</a:t>
            </a:r>
          </a:p>
          <a:p>
            <a:pPr>
              <a:buFont typeface="Wingdings" panose="05000000000000000000" pitchFamily="2" charset="2"/>
              <a:buChar char="Ø"/>
            </a:pPr>
            <a:r>
              <a:rPr lang="en-US" altLang="zh-TW" sz="3200" dirty="0"/>
              <a:t>Conclusion &amp; Future</a:t>
            </a:r>
          </a:p>
        </p:txBody>
      </p:sp>
      <p:sp>
        <p:nvSpPr>
          <p:cNvPr id="4" name="投影片編號版面配置區 3">
            <a:extLst>
              <a:ext uri="{FF2B5EF4-FFF2-40B4-BE49-F238E27FC236}">
                <a16:creationId xmlns:a16="http://schemas.microsoft.com/office/drawing/2014/main" id="{EB2977C1-7FDB-0A66-B228-A37220DCC20E}"/>
              </a:ext>
            </a:extLst>
          </p:cNvPr>
          <p:cNvSpPr>
            <a:spLocks noGrp="1"/>
          </p:cNvSpPr>
          <p:nvPr>
            <p:ph type="sldNum" sz="quarter" idx="12"/>
          </p:nvPr>
        </p:nvSpPr>
        <p:spPr/>
        <p:txBody>
          <a:bodyPr vert="horz" lIns="91440" tIns="45720" rIns="91440" bIns="45720" rtlCol="0" anchor="ctr"/>
          <a:lstStyle/>
          <a:p>
            <a:fld id="{5AC25633-CB68-4D6B-BEE8-144406895708}" type="slidenum">
              <a:rPr lang="zh-TW" altLang="en-US" sz="1600"/>
              <a:pPr/>
              <a:t>23</a:t>
            </a:fld>
            <a:endParaRPr lang="zh-TW" altLang="en-US" sz="1600"/>
          </a:p>
        </p:txBody>
      </p:sp>
    </p:spTree>
    <p:extLst>
      <p:ext uri="{BB962C8B-B14F-4D97-AF65-F5344CB8AC3E}">
        <p14:creationId xmlns:p14="http://schemas.microsoft.com/office/powerpoint/2010/main" val="28118055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BE007B-82E8-216A-54C6-68DE3B14C1F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0DD5D9D-97D0-3DA8-CF49-1D1EA07D03BC}"/>
              </a:ext>
            </a:extLst>
          </p:cNvPr>
          <p:cNvSpPr>
            <a:spLocks noGrp="1"/>
          </p:cNvSpPr>
          <p:nvPr>
            <p:ph type="title"/>
          </p:nvPr>
        </p:nvSpPr>
        <p:spPr/>
        <p:txBody>
          <a:bodyPr/>
          <a:lstStyle/>
          <a:p>
            <a:r>
              <a:rPr lang="en-US" altLang="zh-TW" dirty="0"/>
              <a:t>Conclusion</a:t>
            </a:r>
          </a:p>
        </p:txBody>
      </p:sp>
      <p:sp>
        <p:nvSpPr>
          <p:cNvPr id="4" name="投影片編號版面配置區 3">
            <a:extLst>
              <a:ext uri="{FF2B5EF4-FFF2-40B4-BE49-F238E27FC236}">
                <a16:creationId xmlns:a16="http://schemas.microsoft.com/office/drawing/2014/main" id="{F2D7BDCD-7602-8F36-F084-DDAC0FCDF8CF}"/>
              </a:ext>
            </a:extLst>
          </p:cNvPr>
          <p:cNvSpPr>
            <a:spLocks noGrp="1"/>
          </p:cNvSpPr>
          <p:nvPr>
            <p:ph type="sldNum" sz="quarter" idx="12"/>
          </p:nvPr>
        </p:nvSpPr>
        <p:spPr/>
        <p:txBody>
          <a:bodyPr/>
          <a:lstStyle/>
          <a:p>
            <a:fld id="{5AC25633-CB68-4D6B-BEE8-144406895708}" type="slidenum">
              <a:rPr lang="zh-TW" altLang="en-US" sz="1600" smtClean="0"/>
              <a:t>24</a:t>
            </a:fld>
            <a:endParaRPr lang="zh-TW" altLang="en-US" sz="1600" dirty="0"/>
          </a:p>
        </p:txBody>
      </p:sp>
      <p:sp>
        <p:nvSpPr>
          <p:cNvPr id="59" name="內容版面配置區 2">
            <a:extLst>
              <a:ext uri="{FF2B5EF4-FFF2-40B4-BE49-F238E27FC236}">
                <a16:creationId xmlns:a16="http://schemas.microsoft.com/office/drawing/2014/main" id="{8FE8E4F5-8D23-DDC6-13C9-F88F2126CCCF}"/>
              </a:ext>
            </a:extLst>
          </p:cNvPr>
          <p:cNvSpPr>
            <a:spLocks noGrp="1"/>
          </p:cNvSpPr>
          <p:nvPr>
            <p:ph idx="1"/>
          </p:nvPr>
        </p:nvSpPr>
        <p:spPr>
          <a:xfrm>
            <a:off x="1097280" y="1845733"/>
            <a:ext cx="10058400" cy="4614052"/>
          </a:xfrm>
        </p:spPr>
        <p:txBody>
          <a:bodyPr>
            <a:normAutofit/>
          </a:bodyPr>
          <a:lstStyle/>
          <a:p>
            <a:pPr>
              <a:buClr>
                <a:schemeClr val="accent1">
                  <a:lumMod val="50000"/>
                </a:schemeClr>
              </a:buClr>
              <a:buFont typeface="Wingdings" panose="05000000000000000000" pitchFamily="2" charset="2"/>
              <a:buChar char="Ø"/>
            </a:pPr>
            <a:endParaRPr lang="en-US" altLang="zh-TW" dirty="0"/>
          </a:p>
          <a:p>
            <a:pPr>
              <a:buClr>
                <a:schemeClr val="accent1">
                  <a:lumMod val="50000"/>
                </a:schemeClr>
              </a:buClr>
              <a:buFont typeface="Wingdings" panose="05000000000000000000" pitchFamily="2" charset="2"/>
              <a:buChar char="Ø"/>
            </a:pPr>
            <a:endParaRPr lang="en-US" altLang="zh-TW" dirty="0"/>
          </a:p>
          <a:p>
            <a:pPr>
              <a:buClr>
                <a:schemeClr val="accent1">
                  <a:lumMod val="50000"/>
                </a:schemeClr>
              </a:buClr>
              <a:buFont typeface="Wingdings" panose="05000000000000000000" pitchFamily="2" charset="2"/>
              <a:buChar char="Ø"/>
            </a:pPr>
            <a:endParaRPr lang="en-US" altLang="zh-TW" dirty="0"/>
          </a:p>
          <a:p>
            <a:pPr>
              <a:buClr>
                <a:schemeClr val="accent1">
                  <a:lumMod val="50000"/>
                </a:schemeClr>
              </a:buClr>
              <a:buFont typeface="Wingdings" panose="05000000000000000000" pitchFamily="2" charset="2"/>
              <a:buChar char="Ø"/>
            </a:pPr>
            <a:endParaRPr lang="en-US" altLang="zh-TW" dirty="0"/>
          </a:p>
        </p:txBody>
      </p:sp>
      <p:sp>
        <p:nvSpPr>
          <p:cNvPr id="5" name="內容版面配置區 2">
            <a:extLst>
              <a:ext uri="{FF2B5EF4-FFF2-40B4-BE49-F238E27FC236}">
                <a16:creationId xmlns:a16="http://schemas.microsoft.com/office/drawing/2014/main" id="{815C0E44-0C06-116A-157C-BEA497E0E4A3}"/>
              </a:ext>
            </a:extLst>
          </p:cNvPr>
          <p:cNvSpPr txBox="1">
            <a:spLocks/>
          </p:cNvSpPr>
          <p:nvPr/>
        </p:nvSpPr>
        <p:spPr>
          <a:xfrm>
            <a:off x="1097280" y="1845733"/>
            <a:ext cx="10409910" cy="4614052"/>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lumMod val="50000"/>
                </a:schemeClr>
              </a:buClr>
              <a:buFont typeface="Wingdings" panose="05000000000000000000" pitchFamily="2" charset="2"/>
              <a:buChar char="Ø"/>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600"/>
              </a:spcBef>
              <a:spcAft>
                <a:spcPts val="600"/>
              </a:spcAft>
              <a:buClr>
                <a:schemeClr val="accent1">
                  <a:lumMod val="50000"/>
                </a:schemeClr>
              </a:buClr>
              <a:buFont typeface="Wingdings" panose="05000000000000000000" pitchFamily="2" charset="2"/>
              <a:buChar char="l"/>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Clr>
                <a:schemeClr val="accent1">
                  <a:lumMod val="50000"/>
                </a:schemeClr>
              </a:buClr>
              <a:buFont typeface="Wingdings" panose="05000000000000000000" pitchFamily="2" charset="2"/>
              <a:buChar char="Ø"/>
            </a:pPr>
            <a:r>
              <a:rPr lang="en-US" altLang="zh-TW" dirty="0"/>
              <a:t>Proposed a Multi-Stage Operationally Constrained VRP model for real-world logistics</a:t>
            </a:r>
          </a:p>
          <a:p>
            <a:pPr>
              <a:buClr>
                <a:schemeClr val="accent1">
                  <a:lumMod val="50000"/>
                </a:schemeClr>
              </a:buClr>
              <a:buFont typeface="Wingdings" panose="05000000000000000000" pitchFamily="2" charset="2"/>
              <a:buChar char="Ø"/>
            </a:pPr>
            <a:r>
              <a:rPr lang="zh-TW" altLang="zh-TW" dirty="0"/>
              <a:t>Developed a hybrid solution framework using CCGA, HACO, and MAC</a:t>
            </a:r>
            <a:r>
              <a:rPr lang="en-US" altLang="zh-TW" dirty="0"/>
              <a:t>S</a:t>
            </a:r>
          </a:p>
          <a:p>
            <a:pPr>
              <a:buClr>
                <a:schemeClr val="accent1">
                  <a:lumMod val="50000"/>
                </a:schemeClr>
              </a:buClr>
              <a:buFont typeface="Wingdings" panose="05000000000000000000" pitchFamily="2" charset="2"/>
              <a:buChar char="Ø"/>
            </a:pPr>
            <a:r>
              <a:rPr lang="zh-TW" altLang="zh-TW" dirty="0"/>
              <a:t>Reduced support-route usage and improved delivery efficiency on real-world data</a:t>
            </a:r>
            <a:endParaRPr lang="en-US" altLang="zh-TW" dirty="0"/>
          </a:p>
        </p:txBody>
      </p:sp>
    </p:spTree>
    <p:extLst>
      <p:ext uri="{BB962C8B-B14F-4D97-AF65-F5344CB8AC3E}">
        <p14:creationId xmlns:p14="http://schemas.microsoft.com/office/powerpoint/2010/main" val="383841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C7964C-B3DF-5EEF-9FDE-D40A03CD3B0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698C9BD-D935-0D7C-AD9C-88D417C6F074}"/>
              </a:ext>
            </a:extLst>
          </p:cNvPr>
          <p:cNvSpPr>
            <a:spLocks noGrp="1"/>
          </p:cNvSpPr>
          <p:nvPr>
            <p:ph type="title"/>
          </p:nvPr>
        </p:nvSpPr>
        <p:spPr/>
        <p:txBody>
          <a:bodyPr/>
          <a:lstStyle/>
          <a:p>
            <a:r>
              <a:rPr lang="en-US" altLang="zh-TW" dirty="0"/>
              <a:t>Future</a:t>
            </a:r>
          </a:p>
        </p:txBody>
      </p:sp>
      <p:sp>
        <p:nvSpPr>
          <p:cNvPr id="4" name="投影片編號版面配置區 3">
            <a:extLst>
              <a:ext uri="{FF2B5EF4-FFF2-40B4-BE49-F238E27FC236}">
                <a16:creationId xmlns:a16="http://schemas.microsoft.com/office/drawing/2014/main" id="{EBA62698-DB82-4F1D-CEA7-3696B10769EA}"/>
              </a:ext>
            </a:extLst>
          </p:cNvPr>
          <p:cNvSpPr>
            <a:spLocks noGrp="1"/>
          </p:cNvSpPr>
          <p:nvPr>
            <p:ph type="sldNum" sz="quarter" idx="12"/>
          </p:nvPr>
        </p:nvSpPr>
        <p:spPr/>
        <p:txBody>
          <a:bodyPr/>
          <a:lstStyle/>
          <a:p>
            <a:fld id="{5AC25633-CB68-4D6B-BEE8-144406895708}" type="slidenum">
              <a:rPr lang="zh-TW" altLang="en-US" sz="1600" smtClean="0"/>
              <a:t>25</a:t>
            </a:fld>
            <a:endParaRPr lang="zh-TW" altLang="en-US" dirty="0"/>
          </a:p>
        </p:txBody>
      </p:sp>
      <p:sp>
        <p:nvSpPr>
          <p:cNvPr id="5" name="內容版面配置區 4">
            <a:extLst>
              <a:ext uri="{FF2B5EF4-FFF2-40B4-BE49-F238E27FC236}">
                <a16:creationId xmlns:a16="http://schemas.microsoft.com/office/drawing/2014/main" id="{31F7D6F9-4448-FEAE-78F3-544C06AF70F0}"/>
              </a:ext>
            </a:extLst>
          </p:cNvPr>
          <p:cNvSpPr>
            <a:spLocks noGrp="1"/>
          </p:cNvSpPr>
          <p:nvPr>
            <p:ph idx="1"/>
          </p:nvPr>
        </p:nvSpPr>
        <p:spPr/>
        <p:txBody>
          <a:bodyPr>
            <a:normAutofit/>
          </a:bodyPr>
          <a:lstStyle/>
          <a:p>
            <a:pPr>
              <a:lnSpc>
                <a:spcPct val="150000"/>
              </a:lnSpc>
              <a:buFont typeface="Arial" panose="020B0604020202020204" pitchFamily="34" charset="0"/>
              <a:buChar char="•"/>
            </a:pPr>
            <a:r>
              <a:rPr lang="zh-TW" altLang="zh-TW" dirty="0"/>
              <a:t>Problem-level Extensions</a:t>
            </a:r>
            <a:endParaRPr lang="en-US" altLang="zh-TW" dirty="0"/>
          </a:p>
          <a:p>
            <a:pPr lvl="1">
              <a:lnSpc>
                <a:spcPct val="150000"/>
              </a:lnSpc>
            </a:pPr>
            <a:r>
              <a:rPr lang="en-US" altLang="zh-TW" dirty="0"/>
              <a:t>Multi-type Heterogeneous Fleet Vehicle Routing Problem</a:t>
            </a:r>
          </a:p>
          <a:p>
            <a:pPr lvl="1">
              <a:lnSpc>
                <a:spcPct val="150000"/>
              </a:lnSpc>
            </a:pPr>
            <a:r>
              <a:rPr lang="en-US" altLang="zh-TW" dirty="0"/>
              <a:t>Green Vehicle Routing Problem</a:t>
            </a:r>
          </a:p>
          <a:p>
            <a:pPr lvl="1"/>
            <a:endParaRPr lang="en-US" altLang="zh-TW" dirty="0"/>
          </a:p>
          <a:p>
            <a:pPr>
              <a:lnSpc>
                <a:spcPct val="150000"/>
              </a:lnSpc>
              <a:buFont typeface="Arial" panose="020B0604020202020204" pitchFamily="34" charset="0"/>
              <a:buChar char="•"/>
            </a:pPr>
            <a:r>
              <a:rPr lang="zh-TW" altLang="zh-TW" dirty="0"/>
              <a:t>Advanced Methods</a:t>
            </a:r>
            <a:endParaRPr lang="en-US" altLang="zh-TW" dirty="0"/>
          </a:p>
          <a:p>
            <a:pPr lvl="1">
              <a:lnSpc>
                <a:spcPct val="150000"/>
              </a:lnSpc>
            </a:pPr>
            <a:r>
              <a:rPr lang="en-US" altLang="zh-TW" dirty="0"/>
              <a:t>Integrate advanced artificial intelligence m</a:t>
            </a:r>
            <a:r>
              <a:rPr lang="zh-TW" altLang="zh-TW" dirty="0"/>
              <a:t>ethodologies</a:t>
            </a:r>
            <a:endParaRPr lang="en-US" altLang="zh-TW" dirty="0"/>
          </a:p>
          <a:p>
            <a:pPr lvl="1">
              <a:lnSpc>
                <a:spcPct val="150000"/>
              </a:lnSpc>
            </a:pPr>
            <a:r>
              <a:rPr lang="en-US" altLang="zh-TW" dirty="0"/>
              <a:t>Apply deep learning and reinforcement learning to improve scalability and decision quality</a:t>
            </a:r>
          </a:p>
          <a:p>
            <a:pPr marL="201168" lvl="1" indent="0">
              <a:buNone/>
            </a:pPr>
            <a:endParaRPr lang="en-US" altLang="zh-TW" dirty="0"/>
          </a:p>
        </p:txBody>
      </p:sp>
    </p:spTree>
    <p:extLst>
      <p:ext uri="{BB962C8B-B14F-4D97-AF65-F5344CB8AC3E}">
        <p14:creationId xmlns:p14="http://schemas.microsoft.com/office/powerpoint/2010/main" val="535975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328943-D35C-924C-9AB1-F9406D30C4A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3C323A80-7D69-D9D9-1E96-5B96EAF70927}"/>
              </a:ext>
            </a:extLst>
          </p:cNvPr>
          <p:cNvSpPr>
            <a:spLocks noGrp="1"/>
          </p:cNvSpPr>
          <p:nvPr>
            <p:ph type="title"/>
          </p:nvPr>
        </p:nvSpPr>
        <p:spPr/>
        <p:txBody>
          <a:bodyPr/>
          <a:lstStyle/>
          <a:p>
            <a:r>
              <a:rPr lang="en-US" altLang="zh-TW" cap="none" dirty="0">
                <a:solidFill>
                  <a:schemeClr val="tx1"/>
                </a:solidFill>
                <a:latin typeface="Times New Roman" panose="02020603050405020304" pitchFamily="18" charset="0"/>
                <a:ea typeface="標楷體" panose="03000509000000000000" pitchFamily="65" charset="-120"/>
              </a:rPr>
              <a:t>Q &amp; A</a:t>
            </a:r>
            <a:endParaRPr lang="zh-TW" altLang="en-US" cap="none" dirty="0">
              <a:solidFill>
                <a:schemeClr val="tx1"/>
              </a:solidFill>
              <a:latin typeface="Times New Roman" panose="02020603050405020304" pitchFamily="18" charset="0"/>
              <a:ea typeface="標楷體" panose="03000509000000000000" pitchFamily="65" charset="-120"/>
            </a:endParaRPr>
          </a:p>
        </p:txBody>
      </p:sp>
      <p:sp>
        <p:nvSpPr>
          <p:cNvPr id="4" name="投影片編號版面配置區 3">
            <a:extLst>
              <a:ext uri="{FF2B5EF4-FFF2-40B4-BE49-F238E27FC236}">
                <a16:creationId xmlns:a16="http://schemas.microsoft.com/office/drawing/2014/main" id="{321D5E32-3A22-A75B-E78F-74666301BC0B}"/>
              </a:ext>
            </a:extLst>
          </p:cNvPr>
          <p:cNvSpPr>
            <a:spLocks noGrp="1"/>
          </p:cNvSpPr>
          <p:nvPr>
            <p:ph type="sldNum" sz="quarter" idx="12"/>
          </p:nvPr>
        </p:nvSpPr>
        <p:spPr/>
        <p:txBody>
          <a:bodyPr/>
          <a:lstStyle/>
          <a:p>
            <a:fld id="{525C0657-DFCE-4451-BE98-3FA3D33DFB54}" type="slidenum">
              <a:rPr lang="zh-TW" altLang="en-US" smtClean="0"/>
              <a:t>26</a:t>
            </a:fld>
            <a:endParaRPr lang="zh-TW" altLang="en-US"/>
          </a:p>
        </p:txBody>
      </p:sp>
      <p:sp>
        <p:nvSpPr>
          <p:cNvPr id="5" name="內容版面配置區 2">
            <a:extLst>
              <a:ext uri="{FF2B5EF4-FFF2-40B4-BE49-F238E27FC236}">
                <a16:creationId xmlns:a16="http://schemas.microsoft.com/office/drawing/2014/main" id="{D8038848-D7F8-A128-7D73-7A84B529A1A7}"/>
              </a:ext>
            </a:extLst>
          </p:cNvPr>
          <p:cNvSpPr>
            <a:spLocks noGrp="1"/>
          </p:cNvSpPr>
          <p:nvPr>
            <p:ph idx="1"/>
          </p:nvPr>
        </p:nvSpPr>
        <p:spPr>
          <a:xfrm>
            <a:off x="1235965" y="3064213"/>
            <a:ext cx="9720071" cy="729574"/>
          </a:xfrm>
        </p:spPr>
        <p:txBody>
          <a:bodyPr>
            <a:normAutofit/>
          </a:bodyPr>
          <a:lstStyle/>
          <a:p>
            <a:pPr marL="0" indent="0" algn="ctr">
              <a:buClrTx/>
              <a:buNone/>
            </a:pPr>
            <a:r>
              <a:rPr lang="en-US" altLang="zh-TW" sz="4400" dirty="0">
                <a:latin typeface="Times New Roman" panose="02020603050405020304" pitchFamily="18" charset="0"/>
                <a:ea typeface="標楷體" panose="03000509000000000000" pitchFamily="65" charset="-120"/>
              </a:rPr>
              <a:t>Thank you for listening</a:t>
            </a:r>
            <a:r>
              <a:rPr lang="zh-TW" altLang="en-US" sz="4400" dirty="0">
                <a:latin typeface="Times New Roman" panose="02020603050405020304" pitchFamily="18" charset="0"/>
                <a:ea typeface="標楷體" panose="03000509000000000000" pitchFamily="65" charset="-120"/>
              </a:rPr>
              <a:t>！</a:t>
            </a:r>
            <a:endParaRPr lang="en-US" altLang="zh-TW" sz="4400" dirty="0">
              <a:solidFill>
                <a:srgbClr val="0070C0"/>
              </a:solidFill>
              <a:latin typeface="Times New Roman" panose="02020603050405020304" pitchFamily="18" charset="0"/>
              <a:ea typeface="標楷體" panose="03000509000000000000" pitchFamily="65" charset="-120"/>
            </a:endParaRPr>
          </a:p>
          <a:p>
            <a:pPr>
              <a:buClrTx/>
              <a:buFont typeface="Arial" panose="020B0604020202020204" pitchFamily="34" charset="0"/>
              <a:buChar char="•"/>
            </a:pPr>
            <a:endParaRPr lang="en-US" altLang="zh-TW" sz="3200" dirty="0">
              <a:latin typeface="Times New Roman" panose="02020603050405020304" pitchFamily="18" charset="0"/>
              <a:ea typeface="標楷體" panose="03000509000000000000" pitchFamily="65" charset="-120"/>
            </a:endParaRPr>
          </a:p>
          <a:p>
            <a:endParaRPr lang="zh-TW" altLang="en-US" dirty="0">
              <a:latin typeface="Times New Roman" panose="02020603050405020304" pitchFamily="18" charset="0"/>
              <a:ea typeface="標楷體" panose="03000509000000000000" pitchFamily="65" charset="-120"/>
            </a:endParaRPr>
          </a:p>
        </p:txBody>
      </p:sp>
    </p:spTree>
    <p:extLst>
      <p:ext uri="{BB962C8B-B14F-4D97-AF65-F5344CB8AC3E}">
        <p14:creationId xmlns:p14="http://schemas.microsoft.com/office/powerpoint/2010/main" val="2497367654"/>
      </p:ext>
    </p:extLst>
  </p:cSld>
  <p:clrMapOvr>
    <a:masterClrMapping/>
  </p:clrMapOvr>
</p:sld>
</file>

<file path=ppt/theme/theme1.xml><?xml version="1.0" encoding="utf-8"?>
<a:theme xmlns:a="http://schemas.openxmlformats.org/drawingml/2006/main" name="回顧">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自訂 1">
      <a:majorFont>
        <a:latin typeface="Times New Roman"/>
        <a:ea typeface="標楷體"/>
        <a:cs typeface=""/>
      </a:majorFont>
      <a:minorFont>
        <a:latin typeface="Times New Roman"/>
        <a:ea typeface="標楷體"/>
        <a:cs typeface=""/>
      </a:minorFont>
    </a:fontScheme>
    <a:fmtScheme name="回顧">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243AF7DC-D15B-41C0-AE81-23980D1B9FC4}"/>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28031</TotalTime>
  <Words>3419</Words>
  <Application>Microsoft Office PowerPoint</Application>
  <PresentationFormat>寬螢幕</PresentationFormat>
  <Paragraphs>437</Paragraphs>
  <Slides>26</Slides>
  <Notes>26</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26</vt:i4>
      </vt:variant>
    </vt:vector>
  </HeadingPairs>
  <TitlesOfParts>
    <vt:vector size="34" baseType="lpstr">
      <vt:lpstr>DFKai-SB</vt:lpstr>
      <vt:lpstr>Aptos</vt:lpstr>
      <vt:lpstr>Arial</vt:lpstr>
      <vt:lpstr>Calibri</vt:lpstr>
      <vt:lpstr>Cambria Math</vt:lpstr>
      <vt:lpstr>Times New Roman</vt:lpstr>
      <vt:lpstr>Wingdings</vt:lpstr>
      <vt:lpstr>回顧</vt:lpstr>
      <vt:lpstr>Multi-Stage Optimization for Supporting Lines in Logistics Companies</vt:lpstr>
      <vt:lpstr>Outline</vt:lpstr>
      <vt:lpstr>Outline</vt:lpstr>
      <vt:lpstr>Motivation</vt:lpstr>
      <vt:lpstr>Outline</vt:lpstr>
      <vt:lpstr>VRP</vt:lpstr>
      <vt:lpstr>VRP</vt:lpstr>
      <vt:lpstr>CCGA</vt:lpstr>
      <vt:lpstr>HACO</vt:lpstr>
      <vt:lpstr>MACS</vt:lpstr>
      <vt:lpstr>Outline</vt:lpstr>
      <vt:lpstr>The proposed approach</vt:lpstr>
      <vt:lpstr>The proposed approach</vt:lpstr>
      <vt:lpstr>Constraints</vt:lpstr>
      <vt:lpstr>Objective Function</vt:lpstr>
      <vt:lpstr>Routing Module</vt:lpstr>
      <vt:lpstr>Outline</vt:lpstr>
      <vt:lpstr>Experiment Setting</vt:lpstr>
      <vt:lpstr>Experiment Result</vt:lpstr>
      <vt:lpstr>Experiment Result</vt:lpstr>
      <vt:lpstr>Experiment Result</vt:lpstr>
      <vt:lpstr>Experiment Result</vt:lpstr>
      <vt:lpstr>Outline</vt:lpstr>
      <vt:lpstr>Conclusion</vt:lpstr>
      <vt:lpstr>Future</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少嘉 范</dc:creator>
  <cp:lastModifiedBy>宏傑 楊</cp:lastModifiedBy>
  <cp:revision>792</cp:revision>
  <cp:lastPrinted>2026-06-13T09:27:54Z</cp:lastPrinted>
  <dcterms:created xsi:type="dcterms:W3CDTF">2025-02-12T06:34:32Z</dcterms:created>
  <dcterms:modified xsi:type="dcterms:W3CDTF">2026-07-03T02:54:31Z</dcterms:modified>
</cp:coreProperties>
</file>