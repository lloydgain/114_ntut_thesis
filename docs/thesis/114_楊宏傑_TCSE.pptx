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heme/themeOverride1.xml" ContentType="application/vnd.openxmlformats-officedocument.themeOverr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2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6"/>
  </p:notesMasterIdLst>
  <p:sldIdLst>
    <p:sldId id="260" r:id="rId2"/>
    <p:sldId id="272" r:id="rId3"/>
    <p:sldId id="319" r:id="rId4"/>
    <p:sldId id="264" r:id="rId5"/>
    <p:sldId id="320" r:id="rId6"/>
    <p:sldId id="323" r:id="rId7"/>
    <p:sldId id="322" r:id="rId8"/>
    <p:sldId id="378" r:id="rId9"/>
    <p:sldId id="433" r:id="rId10"/>
    <p:sldId id="380" r:id="rId11"/>
    <p:sldId id="396" r:id="rId12"/>
    <p:sldId id="379" r:id="rId13"/>
    <p:sldId id="386" r:id="rId14"/>
    <p:sldId id="381" r:id="rId15"/>
    <p:sldId id="410" r:id="rId16"/>
    <p:sldId id="401" r:id="rId17"/>
    <p:sldId id="438" r:id="rId18"/>
    <p:sldId id="408" r:id="rId19"/>
    <p:sldId id="387" r:id="rId20"/>
    <p:sldId id="383" r:id="rId21"/>
    <p:sldId id="400" r:id="rId22"/>
    <p:sldId id="402" r:id="rId23"/>
    <p:sldId id="382" r:id="rId24"/>
    <p:sldId id="397" r:id="rId25"/>
    <p:sldId id="390" r:id="rId26"/>
    <p:sldId id="431" r:id="rId27"/>
    <p:sldId id="422" r:id="rId28"/>
    <p:sldId id="414" r:id="rId29"/>
    <p:sldId id="440" r:id="rId30"/>
    <p:sldId id="439" r:id="rId31"/>
    <p:sldId id="395" r:id="rId32"/>
    <p:sldId id="392" r:id="rId33"/>
    <p:sldId id="393" r:id="rId34"/>
    <p:sldId id="394" r:id="rId35"/>
  </p:sldIdLst>
  <p:sldSz cx="12192000" cy="6858000"/>
  <p:notesSz cx="9928225" cy="67976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0B6F5F-84A0-4D5F-8811-8B31624AA5AE}" v="224" dt="2026-07-01T06:23:41.032"/>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77806" autoAdjust="0"/>
  </p:normalViewPr>
  <p:slideViewPr>
    <p:cSldViewPr snapToGrid="0">
      <p:cViewPr varScale="1">
        <p:scale>
          <a:sx n="83" d="100"/>
          <a:sy n="83" d="100"/>
        </p:scale>
        <p:origin x="1614" y="7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114" d="100"/>
          <a:sy n="114" d="100"/>
        </p:scale>
        <p:origin x="5178" y="12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宏傑 楊" userId="ee57404c450d34c3" providerId="LiveId" clId="{C566A467-C6D7-4AF8-8C72-E0B89F2E9DDD}"/>
    <pc:docChg chg="undo redo custSel addSld delSld modSld sldOrd">
      <pc:chgData name="宏傑 楊" userId="ee57404c450d34c3" providerId="LiveId" clId="{C566A467-C6D7-4AF8-8C72-E0B89F2E9DDD}" dt="2026-07-01T06:23:41.032" v="2525"/>
      <pc:docMkLst>
        <pc:docMk/>
      </pc:docMkLst>
      <pc:sldChg chg="modSp mod modNotesTx">
        <pc:chgData name="宏傑 楊" userId="ee57404c450d34c3" providerId="LiveId" clId="{C566A467-C6D7-4AF8-8C72-E0B89F2E9DDD}" dt="2026-07-01T06:23:41.032" v="2525"/>
        <pc:sldMkLst>
          <pc:docMk/>
          <pc:sldMk cId="1114137110" sldId="260"/>
        </pc:sldMkLst>
        <pc:spChg chg="mod">
          <ac:chgData name="宏傑 楊" userId="ee57404c450d34c3" providerId="LiveId" clId="{C566A467-C6D7-4AF8-8C72-E0B89F2E9DDD}" dt="2026-06-30T13:02:16.723" v="2414" actId="20577"/>
          <ac:spMkLst>
            <pc:docMk/>
            <pc:sldMk cId="1114137110" sldId="260"/>
            <ac:spMk id="2" creationId="{5598A351-EA25-436B-B36F-4AF45C795F89}"/>
          </ac:spMkLst>
        </pc:spChg>
        <pc:spChg chg="mod">
          <ac:chgData name="宏傑 楊" userId="ee57404c450d34c3" providerId="LiveId" clId="{C566A467-C6D7-4AF8-8C72-E0B89F2E9DDD}" dt="2026-07-01T06:23:41.032" v="2525"/>
          <ac:spMkLst>
            <pc:docMk/>
            <pc:sldMk cId="1114137110" sldId="260"/>
            <ac:spMk id="9" creationId="{C9626854-F57D-1205-9F35-ADDFB7CE8AA1}"/>
          </ac:spMkLst>
        </pc:spChg>
      </pc:sldChg>
      <pc:sldChg chg="modNotesTx">
        <pc:chgData name="宏傑 楊" userId="ee57404c450d34c3" providerId="LiveId" clId="{C566A467-C6D7-4AF8-8C72-E0B89F2E9DDD}" dt="2026-06-30T06:58:19.808" v="2269" actId="20577"/>
        <pc:sldMkLst>
          <pc:docMk/>
          <pc:sldMk cId="3712867879" sldId="264"/>
        </pc:sldMkLst>
      </pc:sldChg>
      <pc:sldChg chg="modSp mod modNotesTx">
        <pc:chgData name="宏傑 楊" userId="ee57404c450d34c3" providerId="LiveId" clId="{C566A467-C6D7-4AF8-8C72-E0B89F2E9DDD}" dt="2026-06-29T08:01:42.357" v="424" actId="20577"/>
        <pc:sldMkLst>
          <pc:docMk/>
          <pc:sldMk cId="31586212" sldId="272"/>
        </pc:sldMkLst>
        <pc:spChg chg="mod">
          <ac:chgData name="宏傑 楊" userId="ee57404c450d34c3" providerId="LiveId" clId="{C566A467-C6D7-4AF8-8C72-E0B89F2E9DDD}" dt="2026-06-29T07:59:39.292" v="415" actId="6549"/>
          <ac:spMkLst>
            <pc:docMk/>
            <pc:sldMk cId="31586212" sldId="272"/>
            <ac:spMk id="3" creationId="{AA3B7F4D-32A3-41E9-BD73-E34204462DB0}"/>
          </ac:spMkLst>
        </pc:spChg>
      </pc:sldChg>
      <pc:sldChg chg="modSp mod">
        <pc:chgData name="宏傑 楊" userId="ee57404c450d34c3" providerId="LiveId" clId="{C566A467-C6D7-4AF8-8C72-E0B89F2E9DDD}" dt="2026-06-29T07:59:42.984" v="416" actId="6549"/>
        <pc:sldMkLst>
          <pc:docMk/>
          <pc:sldMk cId="1385974283" sldId="319"/>
        </pc:sldMkLst>
        <pc:spChg chg="mod">
          <ac:chgData name="宏傑 楊" userId="ee57404c450d34c3" providerId="LiveId" clId="{C566A467-C6D7-4AF8-8C72-E0B89F2E9DDD}" dt="2026-06-29T07:59:42.984" v="416" actId="6549"/>
          <ac:spMkLst>
            <pc:docMk/>
            <pc:sldMk cId="1385974283" sldId="319"/>
            <ac:spMk id="3" creationId="{AA3B7F4D-32A3-41E9-BD73-E34204462DB0}"/>
          </ac:spMkLst>
        </pc:spChg>
      </pc:sldChg>
      <pc:sldChg chg="modSp mod">
        <pc:chgData name="宏傑 楊" userId="ee57404c450d34c3" providerId="LiveId" clId="{C566A467-C6D7-4AF8-8C72-E0B89F2E9DDD}" dt="2026-06-29T07:59:52.450" v="417" actId="6549"/>
        <pc:sldMkLst>
          <pc:docMk/>
          <pc:sldMk cId="2944705018" sldId="320"/>
        </pc:sldMkLst>
        <pc:spChg chg="mod">
          <ac:chgData name="宏傑 楊" userId="ee57404c450d34c3" providerId="LiveId" clId="{C566A467-C6D7-4AF8-8C72-E0B89F2E9DDD}" dt="2026-06-29T07:59:52.450" v="417" actId="6549"/>
          <ac:spMkLst>
            <pc:docMk/>
            <pc:sldMk cId="2944705018" sldId="320"/>
            <ac:spMk id="3" creationId="{AA3B7F4D-32A3-41E9-BD73-E34204462DB0}"/>
          </ac:spMkLst>
        </pc:spChg>
      </pc:sldChg>
      <pc:sldChg chg="modNotesTx">
        <pc:chgData name="宏傑 楊" userId="ee57404c450d34c3" providerId="LiveId" clId="{C566A467-C6D7-4AF8-8C72-E0B89F2E9DDD}" dt="2026-06-29T07:51:53.369" v="129" actId="20577"/>
        <pc:sldMkLst>
          <pc:docMk/>
          <pc:sldMk cId="345824661" sldId="322"/>
        </pc:sldMkLst>
      </pc:sldChg>
      <pc:sldChg chg="modNotesTx">
        <pc:chgData name="宏傑 楊" userId="ee57404c450d34c3" providerId="LiveId" clId="{C566A467-C6D7-4AF8-8C72-E0B89F2E9DDD}" dt="2026-06-29T08:24:38.326" v="728" actId="20577"/>
        <pc:sldMkLst>
          <pc:docMk/>
          <pc:sldMk cId="1112248558" sldId="323"/>
        </pc:sldMkLst>
      </pc:sldChg>
      <pc:sldChg chg="addSp modSp mod ord modNotesTx">
        <pc:chgData name="宏傑 楊" userId="ee57404c450d34c3" providerId="LiveId" clId="{C566A467-C6D7-4AF8-8C72-E0B89F2E9DDD}" dt="2026-06-30T07:14:43.559" v="2294" actId="20577"/>
        <pc:sldMkLst>
          <pc:docMk/>
          <pc:sldMk cId="3190044667" sldId="387"/>
        </pc:sldMkLst>
        <pc:spChg chg="mod">
          <ac:chgData name="宏傑 楊" userId="ee57404c450d34c3" providerId="LiveId" clId="{C566A467-C6D7-4AF8-8C72-E0B89F2E9DDD}" dt="2026-06-30T07:14:43.559" v="2294" actId="20577"/>
          <ac:spMkLst>
            <pc:docMk/>
            <pc:sldMk cId="3190044667" sldId="387"/>
            <ac:spMk id="3" creationId="{6523EA98-4841-AB80-5022-30741AC4A77C}"/>
          </ac:spMkLst>
        </pc:spChg>
        <pc:spChg chg="add mod">
          <ac:chgData name="宏傑 楊" userId="ee57404c450d34c3" providerId="LiveId" clId="{C566A467-C6D7-4AF8-8C72-E0B89F2E9DDD}" dt="2026-06-29T08:41:21.687" v="749" actId="20577"/>
          <ac:spMkLst>
            <pc:docMk/>
            <pc:sldMk cId="3190044667" sldId="387"/>
            <ac:spMk id="6" creationId="{10A617ED-4BDB-6875-663B-D05819DB7334}"/>
          </ac:spMkLst>
        </pc:spChg>
      </pc:sldChg>
      <pc:sldChg chg="modSp mod">
        <pc:chgData name="宏傑 楊" userId="ee57404c450d34c3" providerId="LiveId" clId="{C566A467-C6D7-4AF8-8C72-E0B89F2E9DDD}" dt="2026-06-29T08:00:08.321" v="418" actId="6549"/>
        <pc:sldMkLst>
          <pc:docMk/>
          <pc:sldMk cId="1136722031" sldId="390"/>
        </pc:sldMkLst>
        <pc:spChg chg="mod">
          <ac:chgData name="宏傑 楊" userId="ee57404c450d34c3" providerId="LiveId" clId="{C566A467-C6D7-4AF8-8C72-E0B89F2E9DDD}" dt="2026-06-29T08:00:08.321" v="418" actId="6549"/>
          <ac:spMkLst>
            <pc:docMk/>
            <pc:sldMk cId="1136722031" sldId="390"/>
            <ac:spMk id="3" creationId="{68F62BB8-5859-7DA0-8954-D1FD69C97740}"/>
          </ac:spMkLst>
        </pc:spChg>
      </pc:sldChg>
      <pc:sldChg chg="modNotesTx">
        <pc:chgData name="宏傑 楊" userId="ee57404c450d34c3" providerId="LiveId" clId="{C566A467-C6D7-4AF8-8C72-E0B89F2E9DDD}" dt="2026-06-30T07:19:33.793" v="2343" actId="20577"/>
        <pc:sldMkLst>
          <pc:docMk/>
          <pc:sldMk cId="535975516" sldId="393"/>
        </pc:sldMkLst>
      </pc:sldChg>
      <pc:sldChg chg="modNotesTx">
        <pc:chgData name="宏傑 楊" userId="ee57404c450d34c3" providerId="LiveId" clId="{C566A467-C6D7-4AF8-8C72-E0B89F2E9DDD}" dt="2026-06-30T13:16:04.504" v="2493" actId="20577"/>
        <pc:sldMkLst>
          <pc:docMk/>
          <pc:sldMk cId="2497367654" sldId="394"/>
        </pc:sldMkLst>
      </pc:sldChg>
      <pc:sldChg chg="modSp mod">
        <pc:chgData name="宏傑 楊" userId="ee57404c450d34c3" providerId="LiveId" clId="{C566A467-C6D7-4AF8-8C72-E0B89F2E9DDD}" dt="2026-06-29T08:00:12.856" v="419" actId="6549"/>
        <pc:sldMkLst>
          <pc:docMk/>
          <pc:sldMk cId="2811805508" sldId="395"/>
        </pc:sldMkLst>
        <pc:spChg chg="mod">
          <ac:chgData name="宏傑 楊" userId="ee57404c450d34c3" providerId="LiveId" clId="{C566A467-C6D7-4AF8-8C72-E0B89F2E9DDD}" dt="2026-06-29T08:00:12.856" v="419" actId="6549"/>
          <ac:spMkLst>
            <pc:docMk/>
            <pc:sldMk cId="2811805508" sldId="395"/>
            <ac:spMk id="3" creationId="{BDE62C09-9F85-6CD6-251F-F4188154ED28}"/>
          </ac:spMkLst>
        </pc:spChg>
      </pc:sldChg>
      <pc:sldChg chg="modNotesTx">
        <pc:chgData name="宏傑 楊" userId="ee57404c450d34c3" providerId="LiveId" clId="{C566A467-C6D7-4AF8-8C72-E0B89F2E9DDD}" dt="2026-06-30T06:35:42.283" v="2193" actId="20577"/>
        <pc:sldMkLst>
          <pc:docMk/>
          <pc:sldMk cId="1094491993" sldId="396"/>
        </pc:sldMkLst>
      </pc:sldChg>
      <pc:sldChg chg="modSp mod modNotesTx">
        <pc:chgData name="宏傑 楊" userId="ee57404c450d34c3" providerId="LiveId" clId="{C566A467-C6D7-4AF8-8C72-E0B89F2E9DDD}" dt="2026-06-30T06:37:43.154" v="2207" actId="20577"/>
        <pc:sldMkLst>
          <pc:docMk/>
          <pc:sldMk cId="2165522226" sldId="401"/>
        </pc:sldMkLst>
        <pc:spChg chg="mod">
          <ac:chgData name="宏傑 楊" userId="ee57404c450d34c3" providerId="LiveId" clId="{C566A467-C6D7-4AF8-8C72-E0B89F2E9DDD}" dt="2026-06-30T06:36:57.109" v="2204" actId="20577"/>
          <ac:spMkLst>
            <pc:docMk/>
            <pc:sldMk cId="2165522226" sldId="401"/>
            <ac:spMk id="3" creationId="{DD3524AB-C7F0-330E-01E5-DC326524A3FC}"/>
          </ac:spMkLst>
        </pc:spChg>
      </pc:sldChg>
      <pc:sldChg chg="modSp mod modNotesTx">
        <pc:chgData name="宏傑 楊" userId="ee57404c450d34c3" providerId="LiveId" clId="{C566A467-C6D7-4AF8-8C72-E0B89F2E9DDD}" dt="2026-06-30T06:42:00.667" v="2256" actId="20577"/>
        <pc:sldMkLst>
          <pc:docMk/>
          <pc:sldMk cId="2422543165" sldId="402"/>
        </pc:sldMkLst>
        <pc:spChg chg="mod">
          <ac:chgData name="宏傑 楊" userId="ee57404c450d34c3" providerId="LiveId" clId="{C566A467-C6D7-4AF8-8C72-E0B89F2E9DDD}" dt="2026-06-30T06:01:28.590" v="1483" actId="20577"/>
          <ac:spMkLst>
            <pc:docMk/>
            <pc:sldMk cId="2422543165" sldId="402"/>
            <ac:spMk id="10" creationId="{338F5130-24B6-BC8D-93DB-13AC61292434}"/>
          </ac:spMkLst>
        </pc:spChg>
      </pc:sldChg>
      <pc:sldChg chg="modSp mod modNotesTx">
        <pc:chgData name="宏傑 楊" userId="ee57404c450d34c3" providerId="LiveId" clId="{C566A467-C6D7-4AF8-8C72-E0B89F2E9DDD}" dt="2026-06-30T06:39:33.678" v="2224" actId="20577"/>
        <pc:sldMkLst>
          <pc:docMk/>
          <pc:sldMk cId="1285402402" sldId="408"/>
        </pc:sldMkLst>
        <pc:spChg chg="mod">
          <ac:chgData name="宏傑 楊" userId="ee57404c450d34c3" providerId="LiveId" clId="{C566A467-C6D7-4AF8-8C72-E0B89F2E9DDD}" dt="2026-06-30T06:39:04.195" v="2221" actId="20577"/>
          <ac:spMkLst>
            <pc:docMk/>
            <pc:sldMk cId="1285402402" sldId="408"/>
            <ac:spMk id="3" creationId="{6E3BE9A6-9026-B190-CFE2-00DB532533B2}"/>
          </ac:spMkLst>
        </pc:spChg>
      </pc:sldChg>
      <pc:sldChg chg="modNotesTx">
        <pc:chgData name="宏傑 楊" userId="ee57404c450d34c3" providerId="LiveId" clId="{C566A467-C6D7-4AF8-8C72-E0B89F2E9DDD}" dt="2026-06-30T06:36:35.357" v="2202" actId="20577"/>
        <pc:sldMkLst>
          <pc:docMk/>
          <pc:sldMk cId="2223490486" sldId="410"/>
        </pc:sldMkLst>
      </pc:sldChg>
      <pc:sldChg chg="addSp delSp modSp mod ord modNotesTx">
        <pc:chgData name="宏傑 楊" userId="ee57404c450d34c3" providerId="LiveId" clId="{C566A467-C6D7-4AF8-8C72-E0B89F2E9DDD}" dt="2026-06-30T06:09:14.394" v="1851" actId="20577"/>
        <pc:sldMkLst>
          <pc:docMk/>
          <pc:sldMk cId="97768092" sldId="414"/>
        </pc:sldMkLst>
        <pc:spChg chg="add del mod">
          <ac:chgData name="宏傑 楊" userId="ee57404c450d34c3" providerId="LiveId" clId="{C566A467-C6D7-4AF8-8C72-E0B89F2E9DDD}" dt="2026-06-30T02:33:55.879" v="1244" actId="21"/>
          <ac:spMkLst>
            <pc:docMk/>
            <pc:sldMk cId="97768092" sldId="414"/>
            <ac:spMk id="5" creationId="{5A492983-827B-EA06-CDDE-1BCDBEA60F04}"/>
          </ac:spMkLst>
        </pc:spChg>
        <pc:spChg chg="add del mod">
          <ac:chgData name="宏傑 楊" userId="ee57404c450d34c3" providerId="LiveId" clId="{C566A467-C6D7-4AF8-8C72-E0B89F2E9DDD}" dt="2026-06-30T02:09:27.092" v="1207"/>
          <ac:spMkLst>
            <pc:docMk/>
            <pc:sldMk cId="97768092" sldId="414"/>
            <ac:spMk id="22" creationId="{E1E8EF46-0D01-E4EA-7D20-4A0C58347F92}"/>
          </ac:spMkLst>
        </pc:spChg>
        <pc:graphicFrameChg chg="add mod">
          <ac:chgData name="宏傑 楊" userId="ee57404c450d34c3" providerId="LiveId" clId="{C566A467-C6D7-4AF8-8C72-E0B89F2E9DDD}" dt="2026-06-30T02:43:53.912" v="1366" actId="14100"/>
          <ac:graphicFrameMkLst>
            <pc:docMk/>
            <pc:sldMk cId="97768092" sldId="414"/>
            <ac:graphicFrameMk id="6" creationId="{01C579D1-CD67-CD90-D8D6-D362152CB4B1}"/>
          </ac:graphicFrameMkLst>
        </pc:graphicFrameChg>
        <pc:graphicFrameChg chg="add mod">
          <ac:chgData name="宏傑 楊" userId="ee57404c450d34c3" providerId="LiveId" clId="{C566A467-C6D7-4AF8-8C72-E0B89F2E9DDD}" dt="2026-06-30T02:09:26.318" v="1205"/>
          <ac:graphicFrameMkLst>
            <pc:docMk/>
            <pc:sldMk cId="97768092" sldId="414"/>
            <ac:graphicFrameMk id="23" creationId="{CD5C253E-C3B4-1721-841A-FDEE1288A32F}"/>
          </ac:graphicFrameMkLst>
        </pc:graphicFrameChg>
        <pc:graphicFrameChg chg="add del mod">
          <ac:chgData name="宏傑 楊" userId="ee57404c450d34c3" providerId="LiveId" clId="{C566A467-C6D7-4AF8-8C72-E0B89F2E9DDD}" dt="2026-06-30T02:43:48.828" v="1364" actId="14100"/>
          <ac:graphicFrameMkLst>
            <pc:docMk/>
            <pc:sldMk cId="97768092" sldId="414"/>
            <ac:graphicFrameMk id="24" creationId="{CD5C253E-C3B4-1721-841A-FDEE1288A32F}"/>
          </ac:graphicFrameMkLst>
        </pc:graphicFrameChg>
      </pc:sldChg>
      <pc:sldChg chg="addSp modSp mod ord modNotesTx">
        <pc:chgData name="宏傑 楊" userId="ee57404c450d34c3" providerId="LiveId" clId="{C566A467-C6D7-4AF8-8C72-E0B89F2E9DDD}" dt="2026-06-30T12:02:20.188" v="2413" actId="20577"/>
        <pc:sldMkLst>
          <pc:docMk/>
          <pc:sldMk cId="212498743" sldId="422"/>
        </pc:sldMkLst>
        <pc:spChg chg="mod">
          <ac:chgData name="宏傑 楊" userId="ee57404c450d34c3" providerId="LiveId" clId="{C566A467-C6D7-4AF8-8C72-E0B89F2E9DDD}" dt="2026-06-29T08:19:16.907" v="649" actId="20577"/>
          <ac:spMkLst>
            <pc:docMk/>
            <pc:sldMk cId="212498743" sldId="422"/>
            <ac:spMk id="2" creationId="{06C5674F-BCCC-ACDC-A9CA-5C092DB71A6E}"/>
          </ac:spMkLst>
        </pc:spChg>
        <pc:spChg chg="add">
          <ac:chgData name="宏傑 楊" userId="ee57404c450d34c3" providerId="LiveId" clId="{C566A467-C6D7-4AF8-8C72-E0B89F2E9DDD}" dt="2026-06-29T08:40:14.775" v="744" actId="22"/>
          <ac:spMkLst>
            <pc:docMk/>
            <pc:sldMk cId="212498743" sldId="422"/>
            <ac:spMk id="5" creationId="{0AA4D981-B215-B946-6566-8A7B0DC93F95}"/>
          </ac:spMkLst>
        </pc:spChg>
        <pc:graphicFrameChg chg="mod modGraphic">
          <ac:chgData name="宏傑 楊" userId="ee57404c450d34c3" providerId="LiveId" clId="{C566A467-C6D7-4AF8-8C72-E0B89F2E9DDD}" dt="2026-06-30T12:02:20.188" v="2413" actId="20577"/>
          <ac:graphicFrameMkLst>
            <pc:docMk/>
            <pc:sldMk cId="212498743" sldId="422"/>
            <ac:graphicFrameMk id="6" creationId="{B7C7E742-0C9E-439C-4301-D10394B9E552}"/>
          </ac:graphicFrameMkLst>
        </pc:graphicFrameChg>
      </pc:sldChg>
      <pc:sldChg chg="modSp modNotesTx">
        <pc:chgData name="宏傑 楊" userId="ee57404c450d34c3" providerId="LiveId" clId="{C566A467-C6D7-4AF8-8C72-E0B89F2E9DDD}" dt="2026-06-29T08:25:36.663" v="736" actId="20577"/>
        <pc:sldMkLst>
          <pc:docMk/>
          <pc:sldMk cId="4137629986" sldId="433"/>
        </pc:sldMkLst>
        <pc:spChg chg="mod">
          <ac:chgData name="宏傑 楊" userId="ee57404c450d34c3" providerId="LiveId" clId="{C566A467-C6D7-4AF8-8C72-E0B89F2E9DDD}" dt="2026-06-29T07:20:26.941" v="52"/>
          <ac:spMkLst>
            <pc:docMk/>
            <pc:sldMk cId="4137629986" sldId="433"/>
            <ac:spMk id="3" creationId="{6F2C743C-ACB4-195D-A212-C3F213F74424}"/>
          </ac:spMkLst>
        </pc:spChg>
      </pc:sldChg>
      <pc:sldChg chg="modSp mod modNotesTx">
        <pc:chgData name="宏傑 楊" userId="ee57404c450d34c3" providerId="LiveId" clId="{C566A467-C6D7-4AF8-8C72-E0B89F2E9DDD}" dt="2026-06-30T06:38:55.257" v="2220" actId="20577"/>
        <pc:sldMkLst>
          <pc:docMk/>
          <pc:sldMk cId="1557681205" sldId="438"/>
        </pc:sldMkLst>
        <pc:spChg chg="mod">
          <ac:chgData name="宏傑 楊" userId="ee57404c450d34c3" providerId="LiveId" clId="{C566A467-C6D7-4AF8-8C72-E0B89F2E9DDD}" dt="2026-06-29T08:36:28.675" v="742" actId="1076"/>
          <ac:spMkLst>
            <pc:docMk/>
            <pc:sldMk cId="1557681205" sldId="438"/>
            <ac:spMk id="3" creationId="{05A92964-F95B-68C8-CF3F-8C885349A082}"/>
          </ac:spMkLst>
        </pc:spChg>
      </pc:sldChg>
      <pc:sldChg chg="addSp modSp add mod modNotesTx">
        <pc:chgData name="宏傑 楊" userId="ee57404c450d34c3" providerId="LiveId" clId="{C566A467-C6D7-4AF8-8C72-E0B89F2E9DDD}" dt="2026-06-30T06:22:25.930" v="2075" actId="20577"/>
        <pc:sldMkLst>
          <pc:docMk/>
          <pc:sldMk cId="3670357817" sldId="439"/>
        </pc:sldMkLst>
        <pc:spChg chg="mod">
          <ac:chgData name="宏傑 楊" userId="ee57404c450d34c3" providerId="LiveId" clId="{C566A467-C6D7-4AF8-8C72-E0B89F2E9DDD}" dt="2026-06-29T08:53:17.792" v="941" actId="21"/>
          <ac:spMkLst>
            <pc:docMk/>
            <pc:sldMk cId="3670357817" sldId="439"/>
            <ac:spMk id="5" creationId="{B7589530-6498-BC9C-D47F-D6B3F53497FC}"/>
          </ac:spMkLst>
        </pc:spChg>
        <pc:graphicFrameChg chg="add mod modGraphic">
          <ac:chgData name="宏傑 楊" userId="ee57404c450d34c3" providerId="LiveId" clId="{C566A467-C6D7-4AF8-8C72-E0B89F2E9DDD}" dt="2026-06-30T05:59:31.555" v="1454" actId="20577"/>
          <ac:graphicFrameMkLst>
            <pc:docMk/>
            <pc:sldMk cId="3670357817" sldId="439"/>
            <ac:graphicFrameMk id="6" creationId="{C5EED8B4-6E83-6F86-5529-650C2F4458DA}"/>
          </ac:graphicFrameMkLst>
        </pc:graphicFrameChg>
      </pc:sldChg>
      <pc:sldChg chg="addSp delSp modSp add mod modNotesTx">
        <pc:chgData name="宏傑 楊" userId="ee57404c450d34c3" providerId="LiveId" clId="{C566A467-C6D7-4AF8-8C72-E0B89F2E9DDD}" dt="2026-06-30T06:21:57.087" v="2074" actId="20577"/>
        <pc:sldMkLst>
          <pc:docMk/>
          <pc:sldMk cId="1096851069" sldId="440"/>
        </pc:sldMkLst>
        <pc:spChg chg="add del mod">
          <ac:chgData name="宏傑 楊" userId="ee57404c450d34c3" providerId="LiveId" clId="{C566A467-C6D7-4AF8-8C72-E0B89F2E9DDD}" dt="2026-06-30T02:41:49.260" v="1340"/>
          <ac:spMkLst>
            <pc:docMk/>
            <pc:sldMk cId="1096851069" sldId="440"/>
            <ac:spMk id="12" creationId="{65FBDE77-85F9-A70E-FC71-87595195E43D}"/>
          </ac:spMkLst>
        </pc:spChg>
        <pc:graphicFrameChg chg="add mod">
          <ac:chgData name="宏傑 楊" userId="ee57404c450d34c3" providerId="LiveId" clId="{C566A467-C6D7-4AF8-8C72-E0B89F2E9DDD}" dt="2026-06-30T02:43:34.297" v="1363" actId="14100"/>
          <ac:graphicFrameMkLst>
            <pc:docMk/>
            <pc:sldMk cId="1096851069" sldId="440"/>
            <ac:graphicFrameMk id="3" creationId="{33F78BCC-C903-3A22-2302-18E46241D6A0}"/>
          </ac:graphicFrameMkLst>
        </pc:graphicFrameChg>
        <pc:graphicFrameChg chg="add mod">
          <ac:chgData name="宏傑 楊" userId="ee57404c450d34c3" providerId="LiveId" clId="{C566A467-C6D7-4AF8-8C72-E0B89F2E9DDD}" dt="2026-06-30T02:43:26.380" v="1361" actId="14100"/>
          <ac:graphicFrameMkLst>
            <pc:docMk/>
            <pc:sldMk cId="1096851069" sldId="440"/>
            <ac:graphicFrameMk id="5" creationId="{87CC64D4-C0B2-7096-12DF-77C844F0BCE0}"/>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Number of Vehicles</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NV!$B$1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NV!$B$2:$B$28</c:f>
              <c:numCache>
                <c:formatCode>General</c:formatCode>
                <c:ptCount val="27"/>
                <c:pt idx="0">
                  <c:v>93.8</c:v>
                </c:pt>
                <c:pt idx="1">
                  <c:v>83.63</c:v>
                </c:pt>
                <c:pt idx="2">
                  <c:v>85.4</c:v>
                </c:pt>
                <c:pt idx="3">
                  <c:v>82</c:v>
                </c:pt>
                <c:pt idx="4">
                  <c:v>84.03</c:v>
                </c:pt>
                <c:pt idx="5">
                  <c:v>85.4</c:v>
                </c:pt>
                <c:pt idx="6">
                  <c:v>83.87</c:v>
                </c:pt>
                <c:pt idx="7">
                  <c:v>98.77</c:v>
                </c:pt>
                <c:pt idx="8">
                  <c:v>82.37</c:v>
                </c:pt>
                <c:pt idx="9">
                  <c:v>81</c:v>
                </c:pt>
                <c:pt idx="10">
                  <c:v>81.099999999999994</c:v>
                </c:pt>
                <c:pt idx="11">
                  <c:v>81</c:v>
                </c:pt>
                <c:pt idx="12">
                  <c:v>81.03</c:v>
                </c:pt>
                <c:pt idx="13">
                  <c:v>92.73</c:v>
                </c:pt>
                <c:pt idx="14">
                  <c:v>85.47</c:v>
                </c:pt>
                <c:pt idx="15">
                  <c:v>81.63</c:v>
                </c:pt>
                <c:pt idx="16">
                  <c:v>121.53</c:v>
                </c:pt>
                <c:pt idx="17">
                  <c:v>123.3</c:v>
                </c:pt>
                <c:pt idx="18">
                  <c:v>101.66</c:v>
                </c:pt>
                <c:pt idx="19">
                  <c:v>104.27</c:v>
                </c:pt>
                <c:pt idx="20">
                  <c:v>103.57</c:v>
                </c:pt>
                <c:pt idx="21">
                  <c:v>99.1</c:v>
                </c:pt>
                <c:pt idx="22">
                  <c:v>83.4</c:v>
                </c:pt>
                <c:pt idx="23">
                  <c:v>99.7</c:v>
                </c:pt>
                <c:pt idx="24">
                  <c:v>128.5</c:v>
                </c:pt>
                <c:pt idx="25">
                  <c:v>88.75</c:v>
                </c:pt>
                <c:pt idx="26">
                  <c:v>92.961923076923071</c:v>
                </c:pt>
              </c:numCache>
            </c:numRef>
          </c:val>
          <c:smooth val="0"/>
          <c:extLst>
            <c:ext xmlns:c16="http://schemas.microsoft.com/office/drawing/2014/chart" uri="{C3380CC4-5D6E-409C-BE32-E72D297353CC}">
              <c16:uniqueId val="{00000000-4709-403B-A914-37B4B3829BAF}"/>
            </c:ext>
          </c:extLst>
        </c:ser>
        <c:ser>
          <c:idx val="1"/>
          <c:order val="1"/>
          <c:tx>
            <c:strRef>
              <c:f>NV!$F$1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NV!$F$2:$F$28</c:f>
              <c:numCache>
                <c:formatCode>General</c:formatCode>
                <c:ptCount val="27"/>
                <c:pt idx="0">
                  <c:v>100</c:v>
                </c:pt>
                <c:pt idx="1">
                  <c:v>87.7</c:v>
                </c:pt>
                <c:pt idx="2">
                  <c:v>87</c:v>
                </c:pt>
                <c:pt idx="3">
                  <c:v>83.3</c:v>
                </c:pt>
                <c:pt idx="4">
                  <c:v>88.7</c:v>
                </c:pt>
                <c:pt idx="5">
                  <c:v>89.8</c:v>
                </c:pt>
                <c:pt idx="6">
                  <c:v>89.4</c:v>
                </c:pt>
                <c:pt idx="7">
                  <c:v>105.7</c:v>
                </c:pt>
                <c:pt idx="8">
                  <c:v>87.1</c:v>
                </c:pt>
                <c:pt idx="9">
                  <c:v>82.1</c:v>
                </c:pt>
                <c:pt idx="10">
                  <c:v>82</c:v>
                </c:pt>
                <c:pt idx="11">
                  <c:v>84.7</c:v>
                </c:pt>
                <c:pt idx="12">
                  <c:v>83.4</c:v>
                </c:pt>
                <c:pt idx="13">
                  <c:v>97.8</c:v>
                </c:pt>
                <c:pt idx="14">
                  <c:v>88.1</c:v>
                </c:pt>
                <c:pt idx="15">
                  <c:v>84.2</c:v>
                </c:pt>
                <c:pt idx="16">
                  <c:v>129.6</c:v>
                </c:pt>
                <c:pt idx="17">
                  <c:v>131.6</c:v>
                </c:pt>
                <c:pt idx="18">
                  <c:v>112.5</c:v>
                </c:pt>
                <c:pt idx="19">
                  <c:v>111.7</c:v>
                </c:pt>
                <c:pt idx="20">
                  <c:v>109.56</c:v>
                </c:pt>
                <c:pt idx="21">
                  <c:v>105.6</c:v>
                </c:pt>
                <c:pt idx="22">
                  <c:v>85.3</c:v>
                </c:pt>
                <c:pt idx="23">
                  <c:v>106.5</c:v>
                </c:pt>
                <c:pt idx="24">
                  <c:v>135.6</c:v>
                </c:pt>
                <c:pt idx="25">
                  <c:v>91.9</c:v>
                </c:pt>
                <c:pt idx="26">
                  <c:v>97.725384615384627</c:v>
                </c:pt>
              </c:numCache>
            </c:numRef>
          </c:val>
          <c:smooth val="0"/>
          <c:extLst>
            <c:ext xmlns:c16="http://schemas.microsoft.com/office/drawing/2014/chart" uri="{C3380CC4-5D6E-409C-BE32-E72D297353CC}">
              <c16:uniqueId val="{00000001-4709-403B-A914-37B4B3829BAF}"/>
            </c:ext>
          </c:extLst>
        </c:ser>
        <c:ser>
          <c:idx val="2"/>
          <c:order val="2"/>
          <c:tx>
            <c:strRef>
              <c:f>NV!$G$1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NV!$G$2:$G$28</c:f>
              <c:numCache>
                <c:formatCode>General</c:formatCode>
                <c:ptCount val="27"/>
                <c:pt idx="0">
                  <c:v>102</c:v>
                </c:pt>
                <c:pt idx="1">
                  <c:v>90</c:v>
                </c:pt>
                <c:pt idx="2">
                  <c:v>89</c:v>
                </c:pt>
                <c:pt idx="3">
                  <c:v>83</c:v>
                </c:pt>
                <c:pt idx="4">
                  <c:v>89</c:v>
                </c:pt>
                <c:pt idx="5">
                  <c:v>94</c:v>
                </c:pt>
                <c:pt idx="6">
                  <c:v>91</c:v>
                </c:pt>
                <c:pt idx="7">
                  <c:v>108</c:v>
                </c:pt>
                <c:pt idx="8">
                  <c:v>85</c:v>
                </c:pt>
                <c:pt idx="9">
                  <c:v>81</c:v>
                </c:pt>
                <c:pt idx="10">
                  <c:v>83</c:v>
                </c:pt>
                <c:pt idx="11">
                  <c:v>83</c:v>
                </c:pt>
                <c:pt idx="12">
                  <c:v>82</c:v>
                </c:pt>
                <c:pt idx="13">
                  <c:v>100</c:v>
                </c:pt>
                <c:pt idx="14">
                  <c:v>90</c:v>
                </c:pt>
                <c:pt idx="15">
                  <c:v>84</c:v>
                </c:pt>
                <c:pt idx="16">
                  <c:v>129</c:v>
                </c:pt>
                <c:pt idx="17">
                  <c:v>134</c:v>
                </c:pt>
                <c:pt idx="18">
                  <c:v>105</c:v>
                </c:pt>
                <c:pt idx="19">
                  <c:v>111</c:v>
                </c:pt>
                <c:pt idx="20">
                  <c:v>110</c:v>
                </c:pt>
                <c:pt idx="21">
                  <c:v>120</c:v>
                </c:pt>
                <c:pt idx="22">
                  <c:v>91</c:v>
                </c:pt>
                <c:pt idx="23">
                  <c:v>136</c:v>
                </c:pt>
                <c:pt idx="24">
                  <c:v>159</c:v>
                </c:pt>
                <c:pt idx="25">
                  <c:v>94</c:v>
                </c:pt>
                <c:pt idx="26">
                  <c:v>100.88461538461539</c:v>
                </c:pt>
              </c:numCache>
            </c:numRef>
          </c:val>
          <c:smooth val="0"/>
          <c:extLst>
            <c:ext xmlns:c16="http://schemas.microsoft.com/office/drawing/2014/chart" uri="{C3380CC4-5D6E-409C-BE32-E72D297353CC}">
              <c16:uniqueId val="{00000002-4709-403B-A914-37B4B3829BAF}"/>
            </c:ext>
          </c:extLst>
        </c:ser>
        <c:dLbls>
          <c:showLegendKey val="0"/>
          <c:showVal val="0"/>
          <c:showCatName val="0"/>
          <c:showSerName val="0"/>
          <c:showPercent val="0"/>
          <c:showBubbleSize val="0"/>
        </c:dLbls>
        <c:marker val="1"/>
        <c:smooth val="0"/>
        <c:axId val="1270520416"/>
        <c:axId val="1270537216"/>
      </c:lineChart>
      <c:catAx>
        <c:axId val="1270520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37216"/>
        <c:crosses val="autoZero"/>
        <c:auto val="1"/>
        <c:lblAlgn val="ctr"/>
        <c:lblOffset val="100"/>
        <c:noMultiLvlLbl val="0"/>
      </c:catAx>
      <c:valAx>
        <c:axId val="1270537216"/>
        <c:scaling>
          <c:orientation val="minMax"/>
          <c:max val="170"/>
          <c:min val="7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204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Total Distance</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TD!$B$1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TD!$B$2:$B$28</c:f>
              <c:numCache>
                <c:formatCode>General</c:formatCode>
                <c:ptCount val="27"/>
                <c:pt idx="0">
                  <c:v>4499.74</c:v>
                </c:pt>
                <c:pt idx="1">
                  <c:v>3962.51</c:v>
                </c:pt>
                <c:pt idx="2">
                  <c:v>4076.76</c:v>
                </c:pt>
                <c:pt idx="3">
                  <c:v>3797.71</c:v>
                </c:pt>
                <c:pt idx="4">
                  <c:v>3959.28</c:v>
                </c:pt>
                <c:pt idx="5">
                  <c:v>4095.1</c:v>
                </c:pt>
                <c:pt idx="6">
                  <c:v>4012.35</c:v>
                </c:pt>
                <c:pt idx="7">
                  <c:v>4674.95</c:v>
                </c:pt>
                <c:pt idx="8">
                  <c:v>3898.37</c:v>
                </c:pt>
                <c:pt idx="9">
                  <c:v>3796.69</c:v>
                </c:pt>
                <c:pt idx="10">
                  <c:v>3806.67</c:v>
                </c:pt>
                <c:pt idx="11">
                  <c:v>3788.96</c:v>
                </c:pt>
                <c:pt idx="12">
                  <c:v>3805.9</c:v>
                </c:pt>
                <c:pt idx="13">
                  <c:v>4399.1000000000004</c:v>
                </c:pt>
                <c:pt idx="14">
                  <c:v>4077.42</c:v>
                </c:pt>
                <c:pt idx="15">
                  <c:v>3835.65</c:v>
                </c:pt>
                <c:pt idx="16">
                  <c:v>5609.47</c:v>
                </c:pt>
                <c:pt idx="17">
                  <c:v>5660.37</c:v>
                </c:pt>
                <c:pt idx="18">
                  <c:v>4790.8599999999997</c:v>
                </c:pt>
                <c:pt idx="19">
                  <c:v>4912.08</c:v>
                </c:pt>
                <c:pt idx="20">
                  <c:v>4929.22</c:v>
                </c:pt>
                <c:pt idx="21">
                  <c:v>4737.63</c:v>
                </c:pt>
                <c:pt idx="22">
                  <c:v>3916.42</c:v>
                </c:pt>
                <c:pt idx="23">
                  <c:v>4621.32</c:v>
                </c:pt>
                <c:pt idx="24">
                  <c:v>6012.56</c:v>
                </c:pt>
                <c:pt idx="25">
                  <c:v>4042.29</c:v>
                </c:pt>
                <c:pt idx="26">
                  <c:v>4373.8223076923077</c:v>
                </c:pt>
              </c:numCache>
            </c:numRef>
          </c:val>
          <c:smooth val="0"/>
          <c:extLst>
            <c:ext xmlns:c16="http://schemas.microsoft.com/office/drawing/2014/chart" uri="{C3380CC4-5D6E-409C-BE32-E72D297353CC}">
              <c16:uniqueId val="{00000000-8EC8-4D3A-9095-A95D60B9F0F4}"/>
            </c:ext>
          </c:extLst>
        </c:ser>
        <c:ser>
          <c:idx val="1"/>
          <c:order val="1"/>
          <c:tx>
            <c:strRef>
              <c:f>TD!$F$1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TD!$F$2:$F$28</c:f>
              <c:numCache>
                <c:formatCode>General</c:formatCode>
                <c:ptCount val="27"/>
                <c:pt idx="0">
                  <c:v>4813.04</c:v>
                </c:pt>
                <c:pt idx="1">
                  <c:v>4072.85</c:v>
                </c:pt>
                <c:pt idx="2">
                  <c:v>4229.1099999999997</c:v>
                </c:pt>
                <c:pt idx="3">
                  <c:v>3842.13</c:v>
                </c:pt>
                <c:pt idx="4">
                  <c:v>4122.58</c:v>
                </c:pt>
                <c:pt idx="5">
                  <c:v>4307.8599999999997</c:v>
                </c:pt>
                <c:pt idx="6">
                  <c:v>4127.0200000000004</c:v>
                </c:pt>
                <c:pt idx="7">
                  <c:v>5043.84</c:v>
                </c:pt>
                <c:pt idx="8">
                  <c:v>4030.25</c:v>
                </c:pt>
                <c:pt idx="9">
                  <c:v>3827.66</c:v>
                </c:pt>
                <c:pt idx="10">
                  <c:v>3854.68</c:v>
                </c:pt>
                <c:pt idx="11">
                  <c:v>3934.38</c:v>
                </c:pt>
                <c:pt idx="12">
                  <c:v>3853.22</c:v>
                </c:pt>
                <c:pt idx="13">
                  <c:v>4654.75</c:v>
                </c:pt>
                <c:pt idx="14">
                  <c:v>4235.88</c:v>
                </c:pt>
                <c:pt idx="15">
                  <c:v>3907.37</c:v>
                </c:pt>
                <c:pt idx="16">
                  <c:v>5931.68</c:v>
                </c:pt>
                <c:pt idx="17">
                  <c:v>5964.14</c:v>
                </c:pt>
                <c:pt idx="18">
                  <c:v>5232.92</c:v>
                </c:pt>
                <c:pt idx="19">
                  <c:v>5317.44</c:v>
                </c:pt>
                <c:pt idx="20">
                  <c:v>5197.8599999999997</c:v>
                </c:pt>
                <c:pt idx="21">
                  <c:v>5113.8</c:v>
                </c:pt>
                <c:pt idx="22">
                  <c:v>4015</c:v>
                </c:pt>
                <c:pt idx="23">
                  <c:v>5020.6899999999996</c:v>
                </c:pt>
                <c:pt idx="24">
                  <c:v>6278.38</c:v>
                </c:pt>
                <c:pt idx="25">
                  <c:v>4233.13</c:v>
                </c:pt>
                <c:pt idx="26">
                  <c:v>4583.1407692307694</c:v>
                </c:pt>
              </c:numCache>
            </c:numRef>
          </c:val>
          <c:smooth val="0"/>
          <c:extLst>
            <c:ext xmlns:c16="http://schemas.microsoft.com/office/drawing/2014/chart" uri="{C3380CC4-5D6E-409C-BE32-E72D297353CC}">
              <c16:uniqueId val="{00000001-8EC8-4D3A-9095-A95D60B9F0F4}"/>
            </c:ext>
          </c:extLst>
        </c:ser>
        <c:ser>
          <c:idx val="2"/>
          <c:order val="2"/>
          <c:tx>
            <c:strRef>
              <c:f>TD!$G$1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TD!$G$2:$G$28</c:f>
              <c:numCache>
                <c:formatCode>General</c:formatCode>
                <c:ptCount val="27"/>
                <c:pt idx="0">
                  <c:v>4623.34</c:v>
                </c:pt>
                <c:pt idx="1">
                  <c:v>4069.95</c:v>
                </c:pt>
                <c:pt idx="2">
                  <c:v>4134.37</c:v>
                </c:pt>
                <c:pt idx="3">
                  <c:v>3826.14</c:v>
                </c:pt>
                <c:pt idx="4">
                  <c:v>4042.17</c:v>
                </c:pt>
                <c:pt idx="5">
                  <c:v>4264.0600000000004</c:v>
                </c:pt>
                <c:pt idx="6">
                  <c:v>4169.74</c:v>
                </c:pt>
                <c:pt idx="7">
                  <c:v>4835.7</c:v>
                </c:pt>
                <c:pt idx="8">
                  <c:v>3915.92</c:v>
                </c:pt>
                <c:pt idx="9">
                  <c:v>3807.76</c:v>
                </c:pt>
                <c:pt idx="10">
                  <c:v>3859.83</c:v>
                </c:pt>
                <c:pt idx="11">
                  <c:v>3855.24</c:v>
                </c:pt>
                <c:pt idx="12">
                  <c:v>3812.78</c:v>
                </c:pt>
                <c:pt idx="13">
                  <c:v>4542.96</c:v>
                </c:pt>
                <c:pt idx="14">
                  <c:v>4172.2299999999996</c:v>
                </c:pt>
                <c:pt idx="15">
                  <c:v>3882.31</c:v>
                </c:pt>
                <c:pt idx="16">
                  <c:v>5567.91</c:v>
                </c:pt>
                <c:pt idx="17">
                  <c:v>5726.8</c:v>
                </c:pt>
                <c:pt idx="18">
                  <c:v>4701.75</c:v>
                </c:pt>
                <c:pt idx="19">
                  <c:v>4946.66</c:v>
                </c:pt>
                <c:pt idx="20">
                  <c:v>4883.74</c:v>
                </c:pt>
                <c:pt idx="21">
                  <c:v>5373.11</c:v>
                </c:pt>
                <c:pt idx="22">
                  <c:v>4168</c:v>
                </c:pt>
                <c:pt idx="23">
                  <c:v>5553.82</c:v>
                </c:pt>
                <c:pt idx="24">
                  <c:v>6891.41</c:v>
                </c:pt>
                <c:pt idx="25">
                  <c:v>4191.59</c:v>
                </c:pt>
                <c:pt idx="26">
                  <c:v>4531.5111538461542</c:v>
                </c:pt>
              </c:numCache>
            </c:numRef>
          </c:val>
          <c:smooth val="0"/>
          <c:extLst>
            <c:ext xmlns:c16="http://schemas.microsoft.com/office/drawing/2014/chart" uri="{C3380CC4-5D6E-409C-BE32-E72D297353CC}">
              <c16:uniqueId val="{00000002-8EC8-4D3A-9095-A95D60B9F0F4}"/>
            </c:ext>
          </c:extLst>
        </c:ser>
        <c:dLbls>
          <c:showLegendKey val="0"/>
          <c:showVal val="0"/>
          <c:showCatName val="0"/>
          <c:showSerName val="0"/>
          <c:showPercent val="0"/>
          <c:showBubbleSize val="0"/>
        </c:dLbls>
        <c:marker val="1"/>
        <c:smooth val="0"/>
        <c:axId val="1270532416"/>
        <c:axId val="1270519936"/>
      </c:lineChart>
      <c:catAx>
        <c:axId val="1270532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19936"/>
        <c:crosses val="autoZero"/>
        <c:auto val="1"/>
        <c:lblAlgn val="ctr"/>
        <c:lblOffset val="100"/>
        <c:noMultiLvlLbl val="0"/>
      </c:catAx>
      <c:valAx>
        <c:axId val="1270519936"/>
        <c:scaling>
          <c:orientation val="minMax"/>
          <c:max val="7000"/>
          <c:min val="3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324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Utilization Rate (%)</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U!$B$1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U!$B$2:$B$27</c:f>
              <c:numCache>
                <c:formatCode>General</c:formatCode>
                <c:ptCount val="26"/>
                <c:pt idx="0">
                  <c:v>92.3</c:v>
                </c:pt>
                <c:pt idx="1">
                  <c:v>89.99</c:v>
                </c:pt>
                <c:pt idx="2">
                  <c:v>90.65</c:v>
                </c:pt>
                <c:pt idx="3">
                  <c:v>79.72</c:v>
                </c:pt>
                <c:pt idx="4">
                  <c:v>88.34</c:v>
                </c:pt>
                <c:pt idx="5">
                  <c:v>93.01</c:v>
                </c:pt>
                <c:pt idx="6">
                  <c:v>91.44</c:v>
                </c:pt>
                <c:pt idx="7">
                  <c:v>93.13</c:v>
                </c:pt>
                <c:pt idx="8">
                  <c:v>86.86</c:v>
                </c:pt>
                <c:pt idx="9">
                  <c:v>79.66</c:v>
                </c:pt>
                <c:pt idx="10">
                  <c:v>82.13</c:v>
                </c:pt>
                <c:pt idx="11">
                  <c:v>85.66</c:v>
                </c:pt>
                <c:pt idx="12">
                  <c:v>84.94</c:v>
                </c:pt>
                <c:pt idx="13">
                  <c:v>93.94</c:v>
                </c:pt>
                <c:pt idx="14">
                  <c:v>90.82</c:v>
                </c:pt>
                <c:pt idx="15">
                  <c:v>86.8</c:v>
                </c:pt>
                <c:pt idx="16">
                  <c:v>92.66</c:v>
                </c:pt>
                <c:pt idx="17">
                  <c:v>92.53</c:v>
                </c:pt>
                <c:pt idx="18">
                  <c:v>92.53</c:v>
                </c:pt>
                <c:pt idx="19">
                  <c:v>92.27</c:v>
                </c:pt>
                <c:pt idx="20">
                  <c:v>92.51</c:v>
                </c:pt>
                <c:pt idx="21">
                  <c:v>93.13</c:v>
                </c:pt>
                <c:pt idx="22">
                  <c:v>88.24</c:v>
                </c:pt>
                <c:pt idx="23">
                  <c:v>91.9</c:v>
                </c:pt>
                <c:pt idx="24">
                  <c:v>92.3</c:v>
                </c:pt>
                <c:pt idx="25">
                  <c:v>83.74</c:v>
                </c:pt>
              </c:numCache>
            </c:numRef>
          </c:val>
          <c:smooth val="0"/>
          <c:extLst>
            <c:ext xmlns:c16="http://schemas.microsoft.com/office/drawing/2014/chart" uri="{C3380CC4-5D6E-409C-BE32-E72D297353CC}">
              <c16:uniqueId val="{00000000-154C-4932-BA62-B329E1811D4E}"/>
            </c:ext>
          </c:extLst>
        </c:ser>
        <c:ser>
          <c:idx val="1"/>
          <c:order val="1"/>
          <c:tx>
            <c:strRef>
              <c:f>U!$F$1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U!$F$2:$F$27</c:f>
              <c:numCache>
                <c:formatCode>General</c:formatCode>
                <c:ptCount val="26"/>
                <c:pt idx="0">
                  <c:v>86.38</c:v>
                </c:pt>
                <c:pt idx="1">
                  <c:v>85.74</c:v>
                </c:pt>
                <c:pt idx="2">
                  <c:v>88.96</c:v>
                </c:pt>
                <c:pt idx="3">
                  <c:v>78.48</c:v>
                </c:pt>
                <c:pt idx="4">
                  <c:v>83.65</c:v>
                </c:pt>
                <c:pt idx="5">
                  <c:v>88.35</c:v>
                </c:pt>
                <c:pt idx="6">
                  <c:v>85.72</c:v>
                </c:pt>
                <c:pt idx="7">
                  <c:v>86.96</c:v>
                </c:pt>
                <c:pt idx="8">
                  <c:v>82.18</c:v>
                </c:pt>
                <c:pt idx="9">
                  <c:v>78.59</c:v>
                </c:pt>
                <c:pt idx="10">
                  <c:v>81.209999999999994</c:v>
                </c:pt>
                <c:pt idx="11">
                  <c:v>81.88</c:v>
                </c:pt>
                <c:pt idx="12">
                  <c:v>82.52</c:v>
                </c:pt>
                <c:pt idx="13">
                  <c:v>89.04</c:v>
                </c:pt>
                <c:pt idx="14">
                  <c:v>88.15</c:v>
                </c:pt>
                <c:pt idx="15">
                  <c:v>84.18</c:v>
                </c:pt>
                <c:pt idx="16">
                  <c:v>86.85</c:v>
                </c:pt>
                <c:pt idx="17">
                  <c:v>86.7</c:v>
                </c:pt>
                <c:pt idx="18">
                  <c:v>83.5</c:v>
                </c:pt>
                <c:pt idx="19">
                  <c:v>85.93</c:v>
                </c:pt>
                <c:pt idx="20">
                  <c:v>87.44</c:v>
                </c:pt>
                <c:pt idx="21">
                  <c:v>87.23</c:v>
                </c:pt>
                <c:pt idx="22">
                  <c:v>85.94</c:v>
                </c:pt>
                <c:pt idx="23">
                  <c:v>85.86</c:v>
                </c:pt>
                <c:pt idx="24">
                  <c:v>87.31</c:v>
                </c:pt>
                <c:pt idx="25">
                  <c:v>80.819999999999993</c:v>
                </c:pt>
              </c:numCache>
            </c:numRef>
          </c:val>
          <c:smooth val="0"/>
          <c:extLst>
            <c:ext xmlns:c16="http://schemas.microsoft.com/office/drawing/2014/chart" uri="{C3380CC4-5D6E-409C-BE32-E72D297353CC}">
              <c16:uniqueId val="{00000001-154C-4932-BA62-B329E1811D4E}"/>
            </c:ext>
          </c:extLst>
        </c:ser>
        <c:ser>
          <c:idx val="2"/>
          <c:order val="2"/>
          <c:tx>
            <c:strRef>
              <c:f>U!$G$1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U!$G$2:$G$27</c:f>
              <c:numCache>
                <c:formatCode>General</c:formatCode>
                <c:ptCount val="26"/>
                <c:pt idx="0">
                  <c:v>84.85</c:v>
                </c:pt>
                <c:pt idx="1">
                  <c:v>83.62</c:v>
                </c:pt>
                <c:pt idx="2">
                  <c:v>86.95</c:v>
                </c:pt>
                <c:pt idx="3">
                  <c:v>78.760000000000005</c:v>
                </c:pt>
                <c:pt idx="4">
                  <c:v>83.4</c:v>
                </c:pt>
                <c:pt idx="5">
                  <c:v>85.26</c:v>
                </c:pt>
                <c:pt idx="6">
                  <c:v>85.74</c:v>
                </c:pt>
                <c:pt idx="7">
                  <c:v>85.15</c:v>
                </c:pt>
                <c:pt idx="8">
                  <c:v>84.22</c:v>
                </c:pt>
                <c:pt idx="9">
                  <c:v>79.599999999999994</c:v>
                </c:pt>
                <c:pt idx="10">
                  <c:v>80.19</c:v>
                </c:pt>
                <c:pt idx="11">
                  <c:v>83.59</c:v>
                </c:pt>
                <c:pt idx="12">
                  <c:v>83.93</c:v>
                </c:pt>
                <c:pt idx="13">
                  <c:v>87.09</c:v>
                </c:pt>
                <c:pt idx="14">
                  <c:v>86.29</c:v>
                </c:pt>
                <c:pt idx="15">
                  <c:v>84.31</c:v>
                </c:pt>
                <c:pt idx="16">
                  <c:v>87.21</c:v>
                </c:pt>
                <c:pt idx="17">
                  <c:v>85.12</c:v>
                </c:pt>
                <c:pt idx="18">
                  <c:v>89.56</c:v>
                </c:pt>
                <c:pt idx="19">
                  <c:v>86.76</c:v>
                </c:pt>
                <c:pt idx="20">
                  <c:v>87.05</c:v>
                </c:pt>
                <c:pt idx="21">
                  <c:v>76.900000000000006</c:v>
                </c:pt>
                <c:pt idx="22">
                  <c:v>80.88</c:v>
                </c:pt>
                <c:pt idx="23">
                  <c:v>67.91</c:v>
                </c:pt>
                <c:pt idx="24">
                  <c:v>74.62</c:v>
                </c:pt>
                <c:pt idx="25">
                  <c:v>79.06</c:v>
                </c:pt>
              </c:numCache>
            </c:numRef>
          </c:val>
          <c:smooth val="0"/>
          <c:extLst>
            <c:ext xmlns:c16="http://schemas.microsoft.com/office/drawing/2014/chart" uri="{C3380CC4-5D6E-409C-BE32-E72D297353CC}">
              <c16:uniqueId val="{00000002-154C-4932-BA62-B329E1811D4E}"/>
            </c:ext>
          </c:extLst>
        </c:ser>
        <c:dLbls>
          <c:showLegendKey val="0"/>
          <c:showVal val="0"/>
          <c:showCatName val="0"/>
          <c:showSerName val="0"/>
          <c:showPercent val="0"/>
          <c:showBubbleSize val="0"/>
        </c:dLbls>
        <c:marker val="1"/>
        <c:smooth val="0"/>
        <c:axId val="1626402015"/>
        <c:axId val="1626404415"/>
      </c:lineChart>
      <c:catAx>
        <c:axId val="16264020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04415"/>
        <c:crosses val="autoZero"/>
        <c:auto val="1"/>
        <c:lblAlgn val="ctr"/>
        <c:lblOffset val="100"/>
        <c:noMultiLvlLbl val="0"/>
      </c:catAx>
      <c:valAx>
        <c:axId val="1626404415"/>
        <c:scaling>
          <c:orientation val="minMax"/>
          <c:min val="6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020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On Time Rate (%)</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O!$B$1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O!$B$2:$B$27</c:f>
              <c:numCache>
                <c:formatCode>General</c:formatCode>
                <c:ptCount val="26"/>
                <c:pt idx="0">
                  <c:v>99.86</c:v>
                </c:pt>
                <c:pt idx="1">
                  <c:v>98.62</c:v>
                </c:pt>
                <c:pt idx="2">
                  <c:v>99.56</c:v>
                </c:pt>
                <c:pt idx="3">
                  <c:v>98.61</c:v>
                </c:pt>
                <c:pt idx="4">
                  <c:v>99.69</c:v>
                </c:pt>
                <c:pt idx="5">
                  <c:v>99.79</c:v>
                </c:pt>
                <c:pt idx="6">
                  <c:v>99.94</c:v>
                </c:pt>
                <c:pt idx="7">
                  <c:v>99.75</c:v>
                </c:pt>
                <c:pt idx="8">
                  <c:v>99.29</c:v>
                </c:pt>
                <c:pt idx="9">
                  <c:v>98.06</c:v>
                </c:pt>
                <c:pt idx="10">
                  <c:v>97.49</c:v>
                </c:pt>
                <c:pt idx="11">
                  <c:v>98.67</c:v>
                </c:pt>
                <c:pt idx="12">
                  <c:v>97.34</c:v>
                </c:pt>
                <c:pt idx="13">
                  <c:v>99.67</c:v>
                </c:pt>
                <c:pt idx="14">
                  <c:v>98.71</c:v>
                </c:pt>
                <c:pt idx="15">
                  <c:v>98.6</c:v>
                </c:pt>
                <c:pt idx="16">
                  <c:v>99.77</c:v>
                </c:pt>
                <c:pt idx="17">
                  <c:v>99.78</c:v>
                </c:pt>
                <c:pt idx="18">
                  <c:v>99.83</c:v>
                </c:pt>
                <c:pt idx="19">
                  <c:v>99.95</c:v>
                </c:pt>
                <c:pt idx="20">
                  <c:v>99.73</c:v>
                </c:pt>
                <c:pt idx="21">
                  <c:v>99.82</c:v>
                </c:pt>
                <c:pt idx="22">
                  <c:v>98.44</c:v>
                </c:pt>
                <c:pt idx="23">
                  <c:v>98.17</c:v>
                </c:pt>
                <c:pt idx="24">
                  <c:v>99.74</c:v>
                </c:pt>
                <c:pt idx="25">
                  <c:v>95.82</c:v>
                </c:pt>
              </c:numCache>
            </c:numRef>
          </c:val>
          <c:smooth val="0"/>
          <c:extLst>
            <c:ext xmlns:c16="http://schemas.microsoft.com/office/drawing/2014/chart" uri="{C3380CC4-5D6E-409C-BE32-E72D297353CC}">
              <c16:uniqueId val="{00000000-77AD-41A9-B145-8F95DE10B6B6}"/>
            </c:ext>
          </c:extLst>
        </c:ser>
        <c:ser>
          <c:idx val="1"/>
          <c:order val="1"/>
          <c:tx>
            <c:strRef>
              <c:f>O!$F$1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O!$F$2:$F$27</c:f>
              <c:numCache>
                <c:formatCode>General</c:formatCode>
                <c:ptCount val="26"/>
                <c:pt idx="0">
                  <c:v>99.26</c:v>
                </c:pt>
                <c:pt idx="1">
                  <c:v>98.17</c:v>
                </c:pt>
                <c:pt idx="2">
                  <c:v>98.2</c:v>
                </c:pt>
                <c:pt idx="3">
                  <c:v>97.37</c:v>
                </c:pt>
                <c:pt idx="4">
                  <c:v>98.14</c:v>
                </c:pt>
                <c:pt idx="5">
                  <c:v>98.77</c:v>
                </c:pt>
                <c:pt idx="6">
                  <c:v>97.89</c:v>
                </c:pt>
                <c:pt idx="7">
                  <c:v>98.79</c:v>
                </c:pt>
                <c:pt idx="8">
                  <c:v>97.65</c:v>
                </c:pt>
                <c:pt idx="9">
                  <c:v>97.23</c:v>
                </c:pt>
                <c:pt idx="10">
                  <c:v>97.22</c:v>
                </c:pt>
                <c:pt idx="11">
                  <c:v>98.24</c:v>
                </c:pt>
                <c:pt idx="12">
                  <c:v>97</c:v>
                </c:pt>
                <c:pt idx="13">
                  <c:v>98.77</c:v>
                </c:pt>
                <c:pt idx="14">
                  <c:v>97.81</c:v>
                </c:pt>
                <c:pt idx="15">
                  <c:v>97.49</c:v>
                </c:pt>
                <c:pt idx="16">
                  <c:v>99.18</c:v>
                </c:pt>
                <c:pt idx="17">
                  <c:v>99.7</c:v>
                </c:pt>
                <c:pt idx="18">
                  <c:v>98.52</c:v>
                </c:pt>
                <c:pt idx="19">
                  <c:v>99.01</c:v>
                </c:pt>
                <c:pt idx="20">
                  <c:v>99.27</c:v>
                </c:pt>
                <c:pt idx="21">
                  <c:v>98.39</c:v>
                </c:pt>
                <c:pt idx="22">
                  <c:v>98.3</c:v>
                </c:pt>
                <c:pt idx="23">
                  <c:v>97.86</c:v>
                </c:pt>
                <c:pt idx="24">
                  <c:v>99.09</c:v>
                </c:pt>
                <c:pt idx="25">
                  <c:v>96.21</c:v>
                </c:pt>
              </c:numCache>
            </c:numRef>
          </c:val>
          <c:smooth val="0"/>
          <c:extLst>
            <c:ext xmlns:c16="http://schemas.microsoft.com/office/drawing/2014/chart" uri="{C3380CC4-5D6E-409C-BE32-E72D297353CC}">
              <c16:uniqueId val="{00000001-77AD-41A9-B145-8F95DE10B6B6}"/>
            </c:ext>
          </c:extLst>
        </c:ser>
        <c:ser>
          <c:idx val="2"/>
          <c:order val="2"/>
          <c:tx>
            <c:strRef>
              <c:f>O!$G$1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O!$G$2:$G$27</c:f>
              <c:numCache>
                <c:formatCode>General</c:formatCode>
                <c:ptCount val="26"/>
                <c:pt idx="0">
                  <c:v>94.7</c:v>
                </c:pt>
                <c:pt idx="1">
                  <c:v>94.04</c:v>
                </c:pt>
                <c:pt idx="2">
                  <c:v>90.38</c:v>
                </c:pt>
                <c:pt idx="3">
                  <c:v>89.89</c:v>
                </c:pt>
                <c:pt idx="4">
                  <c:v>89.46</c:v>
                </c:pt>
                <c:pt idx="5">
                  <c:v>91.47</c:v>
                </c:pt>
                <c:pt idx="6">
                  <c:v>92.93</c:v>
                </c:pt>
                <c:pt idx="7">
                  <c:v>96.26</c:v>
                </c:pt>
                <c:pt idx="8">
                  <c:v>92.4</c:v>
                </c:pt>
                <c:pt idx="9">
                  <c:v>90.04</c:v>
                </c:pt>
                <c:pt idx="10">
                  <c:v>87.36</c:v>
                </c:pt>
                <c:pt idx="11">
                  <c:v>90.18</c:v>
                </c:pt>
                <c:pt idx="12">
                  <c:v>88</c:v>
                </c:pt>
                <c:pt idx="13">
                  <c:v>93.78</c:v>
                </c:pt>
                <c:pt idx="14">
                  <c:v>91.5</c:v>
                </c:pt>
                <c:pt idx="15">
                  <c:v>88.86</c:v>
                </c:pt>
                <c:pt idx="16">
                  <c:v>95.2</c:v>
                </c:pt>
                <c:pt idx="17">
                  <c:v>95.75</c:v>
                </c:pt>
                <c:pt idx="18">
                  <c:v>94.95</c:v>
                </c:pt>
                <c:pt idx="19">
                  <c:v>94.13</c:v>
                </c:pt>
                <c:pt idx="20">
                  <c:v>96.52</c:v>
                </c:pt>
                <c:pt idx="21">
                  <c:v>91.75</c:v>
                </c:pt>
                <c:pt idx="22">
                  <c:v>91.96</c:v>
                </c:pt>
                <c:pt idx="23">
                  <c:v>94.15</c:v>
                </c:pt>
                <c:pt idx="24">
                  <c:v>93.11</c:v>
                </c:pt>
                <c:pt idx="25">
                  <c:v>94.27</c:v>
                </c:pt>
              </c:numCache>
            </c:numRef>
          </c:val>
          <c:smooth val="0"/>
          <c:extLst>
            <c:ext xmlns:c16="http://schemas.microsoft.com/office/drawing/2014/chart" uri="{C3380CC4-5D6E-409C-BE32-E72D297353CC}">
              <c16:uniqueId val="{00000002-77AD-41A9-B145-8F95DE10B6B6}"/>
            </c:ext>
          </c:extLst>
        </c:ser>
        <c:dLbls>
          <c:showLegendKey val="0"/>
          <c:showVal val="0"/>
          <c:showCatName val="0"/>
          <c:showSerName val="0"/>
          <c:showPercent val="0"/>
          <c:showBubbleSize val="0"/>
        </c:dLbls>
        <c:marker val="1"/>
        <c:smooth val="0"/>
        <c:axId val="1626460575"/>
        <c:axId val="1626467775"/>
      </c:lineChart>
      <c:catAx>
        <c:axId val="16264605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67775"/>
        <c:crosses val="autoZero"/>
        <c:auto val="1"/>
        <c:lblAlgn val="ctr"/>
        <c:lblOffset val="100"/>
        <c:noMultiLvlLbl val="0"/>
      </c:catAx>
      <c:valAx>
        <c:axId val="1626467775"/>
        <c:scaling>
          <c:orientation val="minMax"/>
          <c:max val="100"/>
          <c:min val="8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605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302231"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623697" y="1"/>
            <a:ext cx="4302231" cy="341064"/>
          </a:xfrm>
          <a:prstGeom prst="rect">
            <a:avLst/>
          </a:prstGeom>
        </p:spPr>
        <p:txBody>
          <a:bodyPr vert="horz" lIns="91440" tIns="45720" rIns="91440" bIns="45720" rtlCol="0"/>
          <a:lstStyle>
            <a:lvl1pPr algn="r">
              <a:defRPr sz="1200"/>
            </a:lvl1pPr>
          </a:lstStyle>
          <a:p>
            <a:fld id="{2385926D-8BBA-4C74-8368-2D9ACE9667B6}" type="datetimeFigureOut">
              <a:rPr lang="zh-TW" altLang="en-US" smtClean="0"/>
              <a:t>2026/6/30</a:t>
            </a:fld>
            <a:endParaRPr lang="zh-TW" altLang="en-US"/>
          </a:p>
        </p:txBody>
      </p:sp>
      <p:sp>
        <p:nvSpPr>
          <p:cNvPr id="4" name="投影片影像版面配置區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6456612"/>
            <a:ext cx="4302231"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623697" y="6456612"/>
            <a:ext cx="4302231" cy="341063"/>
          </a:xfrm>
          <a:prstGeom prst="rect">
            <a:avLst/>
          </a:prstGeom>
        </p:spPr>
        <p:txBody>
          <a:bodyPr vert="horz" lIns="91440" tIns="45720" rIns="91440" bIns="45720" rtlCol="0" anchor="b"/>
          <a:lstStyle>
            <a:lvl1pPr algn="r">
              <a:defRPr sz="1200"/>
            </a:lvl1pPr>
          </a:lstStyle>
          <a:p>
            <a:fld id="{C1134DBE-7CC5-4F23-841F-273EC3D50B7F}" type="slidenum">
              <a:rPr lang="zh-TW" altLang="en-US" smtClean="0"/>
              <a:t>‹#›</a:t>
            </a:fld>
            <a:endParaRPr lang="zh-TW" altLang="en-US"/>
          </a:p>
        </p:txBody>
      </p:sp>
    </p:spTree>
    <p:extLst>
      <p:ext uri="{BB962C8B-B14F-4D97-AF65-F5344CB8AC3E}">
        <p14:creationId xmlns:p14="http://schemas.microsoft.com/office/powerpoint/2010/main" val="2306001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主持人好 大家好 我是演講者楊宏傑 </a:t>
            </a: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我的題目為 </a:t>
            </a:r>
            <a:r>
              <a:rPr lang="en-US" altLang="zh-TW" sz="1200" b="0" dirty="0">
                <a:latin typeface="DFKai-SB"/>
                <a:ea typeface="DFKai-SB"/>
                <a:cs typeface="DFKai-SB"/>
                <a:sym typeface="DFKai-SB"/>
              </a:rPr>
              <a:t>”</a:t>
            </a:r>
            <a:r>
              <a:rPr lang="zh-TW" altLang="zh-TW" sz="1200" b="0" i="0" kern="1200" dirty="0">
                <a:solidFill>
                  <a:schemeClr val="tx1"/>
                </a:solidFill>
                <a:effectLst/>
                <a:latin typeface="+mn-lt"/>
                <a:ea typeface="+mn-ea"/>
                <a:cs typeface="+mn-cs"/>
              </a:rPr>
              <a:t>物流公司支援線規劃之多階段最佳化方法</a:t>
            </a:r>
            <a:r>
              <a:rPr lang="en-US" altLang="zh-TW" sz="1200" b="0" dirty="0">
                <a:latin typeface="DFKai-SB"/>
                <a:ea typeface="DFKai-SB"/>
                <a:cs typeface="DFKai-SB"/>
                <a:sym typeface="DFKai-SB"/>
              </a:rPr>
              <a:t>”</a:t>
            </a:r>
          </a:p>
          <a:p>
            <a:pPr marL="0" lvl="0" indent="0" algn="l" rtl="0">
              <a:spcBef>
                <a:spcPts val="0"/>
              </a:spcBef>
              <a:spcAft>
                <a:spcPts val="0"/>
              </a:spcAft>
              <a:buNone/>
            </a:pP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本研究主要是希望</a:t>
            </a:r>
            <a:r>
              <a:rPr lang="zh-TW" altLang="zh-TW" dirty="0"/>
              <a:t>協助物流公司透過自動化路線編排</a:t>
            </a:r>
            <a:r>
              <a:rPr lang="zh-TW" altLang="en-US" dirty="0"/>
              <a:t>方法，</a:t>
            </a:r>
            <a:r>
              <a:rPr lang="zh-TW" altLang="zh-TW" dirty="0"/>
              <a:t>提升配送規劃效率，並有效降低整體配送成本</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a:t>
            </a:fld>
            <a:endParaRPr lang="zh-TW" altLang="en-US"/>
          </a:p>
        </p:txBody>
      </p:sp>
    </p:spTree>
    <p:extLst>
      <p:ext uri="{BB962C8B-B14F-4D97-AF65-F5344CB8AC3E}">
        <p14:creationId xmlns:p14="http://schemas.microsoft.com/office/powerpoint/2010/main" val="1716081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這是本研究的報告大綱，分為四個章節</a:t>
            </a:r>
            <a:endParaRPr lang="en-US" altLang="zh-TW" dirty="0"/>
          </a:p>
          <a:p>
            <a:r>
              <a:rPr lang="zh-TW" altLang="en-US" dirty="0"/>
              <a:t>將依序介紹研究動機、研究方法、實驗結果、結論與未來研究方向</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2</a:t>
            </a:fld>
            <a:endParaRPr lang="zh-TW" altLang="en-US"/>
          </a:p>
        </p:txBody>
      </p:sp>
    </p:spTree>
    <p:extLst>
      <p:ext uri="{BB962C8B-B14F-4D97-AF65-F5344CB8AC3E}">
        <p14:creationId xmlns:p14="http://schemas.microsoft.com/office/powerpoint/2010/main" val="380162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首先介紹本研究的研究動機</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3</a:t>
            </a:fld>
            <a:endParaRPr lang="zh-TW" altLang="en-US"/>
          </a:p>
        </p:txBody>
      </p:sp>
    </p:spTree>
    <p:extLst>
      <p:ext uri="{BB962C8B-B14F-4D97-AF65-F5344CB8AC3E}">
        <p14:creationId xmlns:p14="http://schemas.microsoft.com/office/powerpoint/2010/main" val="420581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dirty="0"/>
              <a:t>隨著電子商務與物流產業的快速發展，物流配送需求持續增加。因此，如何透過有效的路線規劃來降低配送成本並提升配送效率，已成為物流</a:t>
            </a:r>
            <a:r>
              <a:rPr lang="zh-TW" altLang="en-US" dirty="0"/>
              <a:t>產業</a:t>
            </a:r>
            <a:r>
              <a:rPr lang="zh-TW" altLang="zh-TW" dirty="0"/>
              <a:t>的重要課題。</a:t>
            </a:r>
          </a:p>
          <a:p>
            <a:r>
              <a:rPr lang="zh-TW" altLang="zh-TW" dirty="0"/>
              <a:t>雖然車輛路</a:t>
            </a:r>
            <a:r>
              <a:rPr lang="zh-TW" altLang="en-US" dirty="0"/>
              <a:t>徑</a:t>
            </a:r>
            <a:r>
              <a:rPr lang="zh-TW" altLang="zh-TW" dirty="0"/>
              <a:t>問題（Vehicle Routing Problem, VRP）已被廣泛研究，但實際物流配送問題往往包含更多現實限制，無法完全由</a:t>
            </a:r>
            <a:r>
              <a:rPr lang="zh-TW" altLang="en-US" dirty="0"/>
              <a:t>一般</a:t>
            </a:r>
            <a:r>
              <a:rPr lang="zh-TW" altLang="zh-TW" dirty="0"/>
              <a:t>VRP模型描述。</a:t>
            </a:r>
            <a:endParaRPr lang="en-US" altLang="zh-TW" dirty="0"/>
          </a:p>
          <a:p>
            <a:r>
              <a:rPr lang="zh-TW" altLang="zh-TW" dirty="0"/>
              <a:t>例如，物流公司採用固定路線架構進行配送，並受到各種作業限制與服務規範的影響，而這些實務因素在許多VRP研究中較少被考量。</a:t>
            </a:r>
          </a:p>
          <a:p>
            <a:r>
              <a:rPr lang="zh-TW" altLang="zh-TW" dirty="0"/>
              <a:t>此外，目前物流公司的路線規劃仍以人工編排為主。整體規劃不僅需要投入大量時間</a:t>
            </a:r>
            <a:r>
              <a:rPr lang="zh-TW" altLang="en-US" dirty="0"/>
              <a:t>，</a:t>
            </a:r>
            <a:r>
              <a:rPr lang="zh-TW" altLang="zh-TW" dirty="0"/>
              <a:t>過程高度依賴調度人員的經驗與專業判斷。</a:t>
            </a:r>
            <a:endParaRPr lang="en-US" altLang="zh-TW" dirty="0"/>
          </a:p>
          <a:p>
            <a:endParaRPr lang="en-US" altLang="zh-TW" dirty="0"/>
          </a:p>
          <a:p>
            <a:r>
              <a:rPr lang="zh-TW" altLang="zh-TW" dirty="0"/>
              <a:t>因此，本研究提出一套多階段</a:t>
            </a:r>
            <a:r>
              <a:rPr lang="zh-TW" altLang="en-US" dirty="0"/>
              <a:t>符合營運限制的</a:t>
            </a:r>
            <a:r>
              <a:rPr lang="zh-TW" altLang="zh-TW" dirty="0"/>
              <a:t>最佳化方法，在既有路線架構下有效處理超載路線問題，並兼顧配送效率與服務品質。</a:t>
            </a:r>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4</a:t>
            </a:fld>
            <a:endParaRPr lang="zh-TW" altLang="en-US"/>
          </a:p>
        </p:txBody>
      </p:sp>
    </p:spTree>
    <p:extLst>
      <p:ext uri="{BB962C8B-B14F-4D97-AF65-F5344CB8AC3E}">
        <p14:creationId xmlns:p14="http://schemas.microsoft.com/office/powerpoint/2010/main" val="1291591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接下來介紹本研究的研究方法</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5</a:t>
            </a:fld>
            <a:endParaRPr lang="zh-TW" altLang="en-US"/>
          </a:p>
        </p:txBody>
      </p:sp>
    </p:spTree>
    <p:extLst>
      <p:ext uri="{BB962C8B-B14F-4D97-AF65-F5344CB8AC3E}">
        <p14:creationId xmlns:p14="http://schemas.microsoft.com/office/powerpoint/2010/main" val="8009962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本研究所提出多階段符合</a:t>
            </a:r>
            <a:r>
              <a:rPr lang="zh-TW" altLang="zh-TW" dirty="0"/>
              <a:t>實務作業</a:t>
            </a:r>
            <a:r>
              <a:rPr lang="zh-TW" altLang="en-US" dirty="0"/>
              <a:t>的</a:t>
            </a:r>
            <a:r>
              <a:rPr lang="zh-TW" altLang="zh-TW" dirty="0"/>
              <a:t>車輛路</a:t>
            </a:r>
            <a:r>
              <a:rPr lang="zh-TW" altLang="en-US" dirty="0"/>
              <a:t>徑</a:t>
            </a:r>
            <a:r>
              <a:rPr lang="zh-TW" altLang="zh-TW" dirty="0"/>
              <a:t>問題</a:t>
            </a:r>
            <a:r>
              <a:rPr lang="zh-TW" altLang="en-US" dirty="0"/>
              <a:t>架構主要由下列四個模組組成</a:t>
            </a:r>
            <a:endParaRPr lang="en-US" altLang="zh-TW"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altLang="zh-TW" dirty="0"/>
              <a:t>API</a:t>
            </a:r>
            <a:r>
              <a:rPr lang="zh-TW" altLang="en-US" dirty="0"/>
              <a:t>模組：</a:t>
            </a:r>
            <a:r>
              <a:rPr lang="zh-TW" altLang="zh-TW" dirty="0"/>
              <a:t>透過 </a:t>
            </a:r>
            <a:r>
              <a:rPr lang="en-US" altLang="zh-TW" dirty="0"/>
              <a:t>API</a:t>
            </a:r>
            <a:r>
              <a:rPr lang="zh-TW" altLang="en-US" dirty="0"/>
              <a:t>模組取得相關</a:t>
            </a:r>
            <a:r>
              <a:rPr lang="zh-TW" altLang="zh-TW" dirty="0"/>
              <a:t>距離</a:t>
            </a:r>
            <a:r>
              <a:rPr lang="zh-TW" altLang="en-US" dirty="0"/>
              <a:t>及</a:t>
            </a:r>
            <a:r>
              <a:rPr lang="zh-TW" altLang="zh-TW" dirty="0"/>
              <a:t>行車時間資訊</a:t>
            </a:r>
            <a:endParaRPr lang="en-US" altLang="zh-TW" dirty="0"/>
          </a:p>
          <a:p>
            <a:pPr marL="228600" indent="-228600">
              <a:buAutoNum type="arabicPeriod"/>
            </a:pPr>
            <a:r>
              <a:rPr lang="zh-TW" altLang="en-US" dirty="0"/>
              <a:t>資料模組：</a:t>
            </a:r>
            <a:r>
              <a:rPr lang="zh-TW" altLang="zh-TW" dirty="0"/>
              <a:t>負責對</a:t>
            </a:r>
            <a:r>
              <a:rPr lang="zh-TW" altLang="en-US" dirty="0"/>
              <a:t>物流公司所提供</a:t>
            </a:r>
            <a:r>
              <a:rPr lang="zh-TW" altLang="zh-TW" dirty="0"/>
              <a:t>路線資料進行前處理</a:t>
            </a:r>
            <a:endParaRPr lang="en-US" altLang="zh-TW" dirty="0"/>
          </a:p>
          <a:p>
            <a:pPr marL="228600" indent="-228600">
              <a:buAutoNum type="arabicPeriod"/>
            </a:pPr>
            <a:r>
              <a:rPr lang="zh-TW" altLang="en-US" dirty="0"/>
              <a:t>路由模組：</a:t>
            </a:r>
            <a:r>
              <a:rPr lang="zh-TW" altLang="zh-TW" dirty="0"/>
              <a:t>負責執行</a:t>
            </a:r>
            <a:r>
              <a:rPr lang="zh-TW" altLang="en-US" dirty="0"/>
              <a:t>路線</a:t>
            </a:r>
            <a:r>
              <a:rPr lang="zh-TW" altLang="zh-TW" dirty="0"/>
              <a:t>最佳化</a:t>
            </a:r>
            <a:r>
              <a:rPr lang="zh-TW" altLang="en-US" dirty="0"/>
              <a:t>方法</a:t>
            </a:r>
            <a:r>
              <a:rPr lang="zh-TW" altLang="zh-TW" dirty="0"/>
              <a:t>產生符合實務作業限制</a:t>
            </a:r>
            <a:r>
              <a:rPr lang="zh-TW" altLang="en-US" dirty="0"/>
              <a:t>的</a:t>
            </a:r>
            <a:r>
              <a:rPr lang="zh-TW" altLang="zh-TW" dirty="0"/>
              <a:t>配送路線</a:t>
            </a:r>
            <a:endParaRPr lang="en-US" altLang="zh-TW" dirty="0"/>
          </a:p>
          <a:p>
            <a:pPr marL="228600" indent="-228600">
              <a:buAutoNum type="arabicPeriod"/>
            </a:pPr>
            <a:r>
              <a:rPr lang="zh-TW" altLang="en-US" dirty="0"/>
              <a:t>評估模組：提供路線可視化並根據各項指標對編排結果進行評估</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6</a:t>
            </a:fld>
            <a:endParaRPr lang="zh-TW" altLang="en-US"/>
          </a:p>
        </p:txBody>
      </p:sp>
    </p:spTree>
    <p:extLst>
      <p:ext uri="{BB962C8B-B14F-4D97-AF65-F5344CB8AC3E}">
        <p14:creationId xmlns:p14="http://schemas.microsoft.com/office/powerpoint/2010/main" val="4127310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a:t>
            </a:r>
            <a:r>
              <a:rPr lang="zh-TW" altLang="zh-TW" dirty="0"/>
              <a:t>所提出之整體架構</a:t>
            </a:r>
            <a:r>
              <a:rPr lang="zh-TW" altLang="en-US" dirty="0"/>
              <a:t>，</a:t>
            </a:r>
            <a:r>
              <a:rPr lang="zh-TW" altLang="zh-TW" dirty="0"/>
              <a:t>將依序說明各模組之功能與流程</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7</a:t>
            </a:fld>
            <a:endParaRPr lang="zh-TW" altLang="en-US"/>
          </a:p>
        </p:txBody>
      </p:sp>
    </p:spTree>
    <p:extLst>
      <p:ext uri="{BB962C8B-B14F-4D97-AF65-F5344CB8AC3E}">
        <p14:creationId xmlns:p14="http://schemas.microsoft.com/office/powerpoint/2010/main" val="1518272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759E-EEAE-B3B6-8E75-CC57FC87DF2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33F969-AECC-C4D8-856A-99647858612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004E002-CB1A-C026-FEF8-332CF42ACF1C}"/>
              </a:ext>
            </a:extLst>
          </p:cNvPr>
          <p:cNvSpPr>
            <a:spLocks noGrp="1"/>
          </p:cNvSpPr>
          <p:nvPr>
            <p:ph type="body" idx="1"/>
          </p:nvPr>
        </p:nvSpPr>
        <p:spPr/>
        <p:txBody>
          <a:bodyPr/>
          <a:lstStyle/>
          <a:p>
            <a:r>
              <a:rPr lang="zh-TW" altLang="en-US" dirty="0"/>
              <a:t>首先介紹</a:t>
            </a:r>
            <a:r>
              <a:rPr lang="zh-TW" altLang="zh-TW" dirty="0"/>
              <a:t>物流公司提供之</a:t>
            </a:r>
            <a:r>
              <a:rPr lang="zh-TW" altLang="en-US" dirty="0"/>
              <a:t>原始</a:t>
            </a:r>
            <a:r>
              <a:rPr lang="zh-TW" altLang="zh-TW" dirty="0"/>
              <a:t>路線資料</a:t>
            </a:r>
            <a:endParaRPr lang="zh-TW" altLang="en-US" dirty="0"/>
          </a:p>
        </p:txBody>
      </p:sp>
      <p:sp>
        <p:nvSpPr>
          <p:cNvPr id="4" name="投影片編號版面配置區 3">
            <a:extLst>
              <a:ext uri="{FF2B5EF4-FFF2-40B4-BE49-F238E27FC236}">
                <a16:creationId xmlns:a16="http://schemas.microsoft.com/office/drawing/2014/main" id="{10CEDCF3-8BF2-E47C-617B-94B948836F22}"/>
              </a:ext>
            </a:extLst>
          </p:cNvPr>
          <p:cNvSpPr>
            <a:spLocks noGrp="1"/>
          </p:cNvSpPr>
          <p:nvPr>
            <p:ph type="sldNum" sz="quarter" idx="5"/>
          </p:nvPr>
        </p:nvSpPr>
        <p:spPr/>
        <p:txBody>
          <a:bodyPr/>
          <a:lstStyle/>
          <a:p>
            <a:fld id="{C1134DBE-7CC5-4F23-841F-273EC3D50B7F}" type="slidenum">
              <a:rPr lang="zh-TW" altLang="en-US" smtClean="0"/>
              <a:t>8</a:t>
            </a:fld>
            <a:endParaRPr lang="zh-TW" altLang="en-US"/>
          </a:p>
        </p:txBody>
      </p:sp>
    </p:spTree>
    <p:extLst>
      <p:ext uri="{BB962C8B-B14F-4D97-AF65-F5344CB8AC3E}">
        <p14:creationId xmlns:p14="http://schemas.microsoft.com/office/powerpoint/2010/main" val="2630222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9B545-093A-F744-13E1-A29C33EE2F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F65CA8-D85F-18A4-6DC5-FB56EEB4563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7CD69FE-9F36-380F-1430-49A70F285081}"/>
              </a:ext>
            </a:extLst>
          </p:cNvPr>
          <p:cNvSpPr>
            <a:spLocks noGrp="1"/>
          </p:cNvSpPr>
          <p:nvPr>
            <p:ph type="body" idx="1"/>
          </p:nvPr>
        </p:nvSpPr>
        <p:spPr/>
        <p:txBody>
          <a:bodyPr/>
          <a:lstStyle/>
          <a:p>
            <a:r>
              <a:rPr lang="zh-TW" altLang="zh-TW" dirty="0"/>
              <a:t>本研究資料由物流公司提供，共涵蓋 26 個工作天之</a:t>
            </a:r>
            <a:r>
              <a:rPr lang="zh-TW" altLang="en-US" dirty="0"/>
              <a:t>原始</a:t>
            </a:r>
            <a:r>
              <a:rPr lang="zh-TW" altLang="zh-TW" dirty="0"/>
              <a:t>配送資料</a:t>
            </a:r>
            <a:endParaRPr lang="en-US" altLang="zh-TW" dirty="0"/>
          </a:p>
          <a:p>
            <a:r>
              <a:rPr lang="zh-TW" altLang="en-US" dirty="0"/>
              <a:t>紅色方框為物流公司主線架構中的路線</a:t>
            </a:r>
            <a:r>
              <a:rPr lang="en-US" altLang="zh-TW" dirty="0"/>
              <a:t>3D</a:t>
            </a:r>
            <a:r>
              <a:rPr lang="zh-TW" altLang="en-US" dirty="0"/>
              <a:t>的原始規劃結果</a:t>
            </a:r>
            <a:endParaRPr lang="en-US" altLang="zh-TW" dirty="0"/>
          </a:p>
          <a:p>
            <a:r>
              <a:rPr lang="zh-TW" altLang="en-US" dirty="0"/>
              <a:t>內容涵蓋</a:t>
            </a:r>
            <a:r>
              <a:rPr lang="zh-TW" altLang="zh-TW" dirty="0"/>
              <a:t>配送路線、店舖順序、配送</a:t>
            </a:r>
            <a:r>
              <a:rPr lang="zh-TW" altLang="en-US" dirty="0"/>
              <a:t>貨</a:t>
            </a:r>
            <a:r>
              <a:rPr lang="zh-TW" altLang="zh-TW" dirty="0"/>
              <a:t>量</a:t>
            </a:r>
            <a:r>
              <a:rPr lang="zh-TW" altLang="en-US" dirty="0"/>
              <a:t>及裝載率</a:t>
            </a:r>
            <a:r>
              <a:rPr lang="zh-TW" altLang="zh-TW" dirty="0"/>
              <a:t>等資訊</a:t>
            </a:r>
            <a:endParaRPr lang="en-US" altLang="zh-TW" dirty="0"/>
          </a:p>
          <a:p>
            <a:endParaRPr lang="en-US" altLang="zh-TW" dirty="0"/>
          </a:p>
          <a:p>
            <a:r>
              <a:rPr lang="zh-TW" altLang="zh-TW" dirty="0"/>
              <a:t>由於每日店舖需求量具有變動性，</a:t>
            </a:r>
            <a:endParaRPr lang="en-US" altLang="zh-TW" dirty="0"/>
          </a:p>
          <a:p>
            <a:r>
              <a:rPr lang="zh-TW" altLang="zh-TW" dirty="0"/>
              <a:t>當路線總配送需求超過車輛容量時，代表該路線已超出可</a:t>
            </a:r>
            <a:r>
              <a:rPr lang="zh-TW" altLang="en-US" dirty="0"/>
              <a:t>行</a:t>
            </a:r>
            <a:r>
              <a:rPr lang="zh-TW" altLang="zh-TW" dirty="0"/>
              <a:t>載運範圍</a:t>
            </a:r>
            <a:endParaRPr lang="en-US" altLang="zh-TW" dirty="0"/>
          </a:p>
          <a:p>
            <a:r>
              <a:rPr lang="zh-TW" altLang="zh-TW" dirty="0"/>
              <a:t>因此，需要透過後續的路線調整機制對超載路線進行處理，以確保配送</a:t>
            </a:r>
            <a:r>
              <a:rPr lang="zh-TW" altLang="en-US" dirty="0"/>
              <a:t>結果</a:t>
            </a:r>
            <a:r>
              <a:rPr lang="zh-TW" altLang="zh-TW" dirty="0"/>
              <a:t>符合</a:t>
            </a:r>
            <a:r>
              <a:rPr lang="zh-TW" altLang="en-US" dirty="0"/>
              <a:t>限制</a:t>
            </a:r>
            <a:endParaRPr lang="en-US" altLang="zh-TW" dirty="0"/>
          </a:p>
        </p:txBody>
      </p:sp>
      <p:sp>
        <p:nvSpPr>
          <p:cNvPr id="4" name="投影片編號版面配置區 3">
            <a:extLst>
              <a:ext uri="{FF2B5EF4-FFF2-40B4-BE49-F238E27FC236}">
                <a16:creationId xmlns:a16="http://schemas.microsoft.com/office/drawing/2014/main" id="{2C3D147B-FC1F-D8AA-1479-61B1CF415A7E}"/>
              </a:ext>
            </a:extLst>
          </p:cNvPr>
          <p:cNvSpPr>
            <a:spLocks noGrp="1"/>
          </p:cNvSpPr>
          <p:nvPr>
            <p:ph type="sldNum" sz="quarter" idx="5"/>
          </p:nvPr>
        </p:nvSpPr>
        <p:spPr/>
        <p:txBody>
          <a:bodyPr/>
          <a:lstStyle/>
          <a:p>
            <a:fld id="{C1134DBE-7CC5-4F23-841F-273EC3D50B7F}" type="slidenum">
              <a:rPr lang="zh-TW" altLang="en-US" smtClean="0"/>
              <a:t>9</a:t>
            </a:fld>
            <a:endParaRPr lang="zh-TW" altLang="en-US"/>
          </a:p>
        </p:txBody>
      </p:sp>
    </p:spTree>
    <p:extLst>
      <p:ext uri="{BB962C8B-B14F-4D97-AF65-F5344CB8AC3E}">
        <p14:creationId xmlns:p14="http://schemas.microsoft.com/office/powerpoint/2010/main" val="1632350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E1F94-BD66-B03A-67B4-38CF7A02967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18A1D5A-9992-3D93-56FB-410ADFDA4D6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15C9F95-652E-051D-A97D-F9B1EFA748C7}"/>
              </a:ext>
            </a:extLst>
          </p:cNvPr>
          <p:cNvSpPr>
            <a:spLocks noGrp="1"/>
          </p:cNvSpPr>
          <p:nvPr>
            <p:ph type="body" idx="1"/>
          </p:nvPr>
        </p:nvSpPr>
        <p:spPr/>
        <p:txBody>
          <a:bodyPr/>
          <a:lstStyle/>
          <a:p>
            <a:r>
              <a:rPr lang="zh-TW" altLang="en-US" dirty="0"/>
              <a:t>接著介紹本研究</a:t>
            </a:r>
            <a:r>
              <a:rPr lang="en-US" altLang="zh-TW" dirty="0"/>
              <a:t>API</a:t>
            </a:r>
            <a:r>
              <a:rPr lang="zh-TW" altLang="en-US" dirty="0"/>
              <a:t>模組</a:t>
            </a:r>
          </a:p>
        </p:txBody>
      </p:sp>
      <p:sp>
        <p:nvSpPr>
          <p:cNvPr id="4" name="投影片編號版面配置區 3">
            <a:extLst>
              <a:ext uri="{FF2B5EF4-FFF2-40B4-BE49-F238E27FC236}">
                <a16:creationId xmlns:a16="http://schemas.microsoft.com/office/drawing/2014/main" id="{AB5D102B-B7E9-7E4F-BBB7-23141611402C}"/>
              </a:ext>
            </a:extLst>
          </p:cNvPr>
          <p:cNvSpPr>
            <a:spLocks noGrp="1"/>
          </p:cNvSpPr>
          <p:nvPr>
            <p:ph type="sldNum" sz="quarter" idx="5"/>
          </p:nvPr>
        </p:nvSpPr>
        <p:spPr/>
        <p:txBody>
          <a:bodyPr/>
          <a:lstStyle/>
          <a:p>
            <a:fld id="{C1134DBE-7CC5-4F23-841F-273EC3D50B7F}" type="slidenum">
              <a:rPr lang="zh-TW" altLang="en-US" smtClean="0"/>
              <a:t>10</a:t>
            </a:fld>
            <a:endParaRPr lang="zh-TW" altLang="en-US"/>
          </a:p>
        </p:txBody>
      </p:sp>
    </p:spTree>
    <p:extLst>
      <p:ext uri="{BB962C8B-B14F-4D97-AF65-F5344CB8AC3E}">
        <p14:creationId xmlns:p14="http://schemas.microsoft.com/office/powerpoint/2010/main" val="10078581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73F1-A16B-FA43-739A-1E3B9B9B06A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DE20796-1616-6940-239A-6B0A8B36B0B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C3A4B5D-D08E-C717-A48D-2821D96368D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kern="1200" dirty="0">
                <a:solidFill>
                  <a:schemeClr val="tx1"/>
                </a:solidFill>
                <a:effectLst/>
                <a:latin typeface="+mn-lt"/>
                <a:ea typeface="+mn-ea"/>
                <a:cs typeface="+mn-cs"/>
              </a:rPr>
              <a:t>API</a:t>
            </a:r>
            <a:r>
              <a:rPr lang="zh-TW" altLang="en-US" sz="1200" kern="1200" dirty="0">
                <a:solidFill>
                  <a:schemeClr val="tx1"/>
                </a:solidFill>
                <a:effectLst/>
                <a:latin typeface="+mn-lt"/>
                <a:ea typeface="+mn-ea"/>
                <a:cs typeface="+mn-cs"/>
              </a:rPr>
              <a:t>模組</a:t>
            </a:r>
            <a:r>
              <a:rPr lang="zh-TW" altLang="zh-TW" sz="1200" kern="1200" dirty="0">
                <a:solidFill>
                  <a:schemeClr val="tx1"/>
                </a:solidFill>
                <a:effectLst/>
                <a:latin typeface="+mn-lt"/>
                <a:ea typeface="+mn-ea"/>
                <a:cs typeface="+mn-cs"/>
              </a:rPr>
              <a:t>負責與外部服務進行串接</a:t>
            </a: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在路線規劃階段，採用 Open Source Routing Machine</a:t>
            </a:r>
            <a:r>
              <a:rPr lang="zh-TW" altLang="en-US" dirty="0"/>
              <a:t> </a:t>
            </a:r>
            <a:r>
              <a:rPr lang="zh-TW" altLang="zh-TW" dirty="0"/>
              <a:t>來取得店舖間的距離與行駛時間</a:t>
            </a:r>
            <a:r>
              <a:rPr lang="zh-TW" altLang="en-US" dirty="0"/>
              <a:t>資訊</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effectLst/>
                <a:latin typeface="+mn-lt"/>
                <a:ea typeface="+mn-ea"/>
                <a:cs typeface="+mn-cs"/>
              </a:rPr>
              <a:t>在驗證及評估階段，</a:t>
            </a:r>
            <a:r>
              <a:rPr lang="zh-TW" altLang="zh-TW" dirty="0"/>
              <a:t>使用 Google Maps Routes API 取得實際道路網路資訊</a:t>
            </a:r>
            <a:r>
              <a:rPr lang="zh-TW" altLang="en-US" dirty="0"/>
              <a:t>進行驗證及評估</a:t>
            </a:r>
            <a:endParaRPr lang="en-US" altLang="zh-TW" sz="1200"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CE20DF7-79BA-D7A1-E1D8-95335EA7060D}"/>
              </a:ext>
            </a:extLst>
          </p:cNvPr>
          <p:cNvSpPr>
            <a:spLocks noGrp="1"/>
          </p:cNvSpPr>
          <p:nvPr>
            <p:ph type="sldNum" sz="quarter" idx="5"/>
          </p:nvPr>
        </p:nvSpPr>
        <p:spPr/>
        <p:txBody>
          <a:bodyPr/>
          <a:lstStyle/>
          <a:p>
            <a:fld id="{C1134DBE-7CC5-4F23-841F-273EC3D50B7F}" type="slidenum">
              <a:rPr lang="zh-TW" altLang="en-US" smtClean="0"/>
              <a:t>11</a:t>
            </a:fld>
            <a:endParaRPr lang="zh-TW" altLang="en-US"/>
          </a:p>
        </p:txBody>
      </p:sp>
    </p:spTree>
    <p:extLst>
      <p:ext uri="{BB962C8B-B14F-4D97-AF65-F5344CB8AC3E}">
        <p14:creationId xmlns:p14="http://schemas.microsoft.com/office/powerpoint/2010/main" val="16691268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BC1BE-993D-B181-E1EF-CCABB26AF7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2D5A7ED-26C9-C8DD-B348-01849E71914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EB72154-4A0A-8AB4-C3BF-10EBC175E275}"/>
              </a:ext>
            </a:extLst>
          </p:cNvPr>
          <p:cNvSpPr>
            <a:spLocks noGrp="1"/>
          </p:cNvSpPr>
          <p:nvPr>
            <p:ph type="body" idx="1"/>
          </p:nvPr>
        </p:nvSpPr>
        <p:spPr/>
        <p:txBody>
          <a:bodyPr/>
          <a:lstStyle/>
          <a:p>
            <a:r>
              <a:rPr lang="zh-TW" altLang="en-US" dirty="0"/>
              <a:t>接著介紹本研究資料模組部分</a:t>
            </a:r>
          </a:p>
        </p:txBody>
      </p:sp>
      <p:sp>
        <p:nvSpPr>
          <p:cNvPr id="4" name="投影片編號版面配置區 3">
            <a:extLst>
              <a:ext uri="{FF2B5EF4-FFF2-40B4-BE49-F238E27FC236}">
                <a16:creationId xmlns:a16="http://schemas.microsoft.com/office/drawing/2014/main" id="{A02100C7-912D-9101-27F4-1883BE9BA690}"/>
              </a:ext>
            </a:extLst>
          </p:cNvPr>
          <p:cNvSpPr>
            <a:spLocks noGrp="1"/>
          </p:cNvSpPr>
          <p:nvPr>
            <p:ph type="sldNum" sz="quarter" idx="5"/>
          </p:nvPr>
        </p:nvSpPr>
        <p:spPr/>
        <p:txBody>
          <a:bodyPr/>
          <a:lstStyle/>
          <a:p>
            <a:fld id="{C1134DBE-7CC5-4F23-841F-273EC3D50B7F}" type="slidenum">
              <a:rPr lang="zh-TW" altLang="en-US" smtClean="0"/>
              <a:t>12</a:t>
            </a:fld>
            <a:endParaRPr lang="zh-TW" altLang="en-US"/>
          </a:p>
        </p:txBody>
      </p:sp>
    </p:spTree>
    <p:extLst>
      <p:ext uri="{BB962C8B-B14F-4D97-AF65-F5344CB8AC3E}">
        <p14:creationId xmlns:p14="http://schemas.microsoft.com/office/powerpoint/2010/main" val="12304918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E6F0F-F143-4905-B305-B45348B18E8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4ECDCF3-9001-EC2F-4521-1BD21D36482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719A4C9-AE3D-10A5-5A61-6B8E097584FD}"/>
              </a:ext>
            </a:extLst>
          </p:cNvPr>
          <p:cNvSpPr>
            <a:spLocks noGrp="1"/>
          </p:cNvSpPr>
          <p:nvPr>
            <p:ph type="body" idx="1"/>
          </p:nvPr>
        </p:nvSpPr>
        <p:spPr/>
        <p:txBody>
          <a:bodyPr/>
          <a:lstStyle/>
          <a:p>
            <a:r>
              <a:rPr lang="zh-TW" altLang="en-US" dirty="0"/>
              <a:t>本研究的資料模組負責對物流公司提供之資料進行前處理</a:t>
            </a:r>
            <a:endParaRPr lang="en-US" altLang="zh-TW" dirty="0"/>
          </a:p>
          <a:p>
            <a:r>
              <a:rPr lang="zh-TW" altLang="en-US" dirty="0"/>
              <a:t>主要分成兩個部分</a:t>
            </a:r>
            <a:endParaRPr lang="en-US" altLang="zh-TW" dirty="0"/>
          </a:p>
          <a:p>
            <a:r>
              <a:rPr lang="zh-TW" altLang="en-US" dirty="0"/>
              <a:t>分別是資料清理及資料轉換</a:t>
            </a:r>
            <a:endParaRPr lang="en-US" altLang="zh-TW" dirty="0"/>
          </a:p>
          <a:p>
            <a:endParaRPr lang="en-US" altLang="zh-TW" dirty="0"/>
          </a:p>
          <a:p>
            <a:r>
              <a:rPr lang="zh-TW" altLang="en-US" dirty="0"/>
              <a:t>首先</a:t>
            </a:r>
            <a:r>
              <a:rPr lang="zh-TW" altLang="zh-TW" dirty="0"/>
              <a:t>針對缺失或不完整之店鋪資訊進行補齊與修正</a:t>
            </a:r>
            <a:endParaRPr lang="en-US" altLang="zh-TW" dirty="0"/>
          </a:p>
          <a:p>
            <a:r>
              <a:rPr lang="zh-TW" altLang="zh-TW" dirty="0"/>
              <a:t>將資料進行結構化整理與統一，轉換</a:t>
            </a:r>
            <a:r>
              <a:rPr lang="zh-TW" altLang="en-US" dirty="0"/>
              <a:t>為後續</a:t>
            </a:r>
            <a:r>
              <a:rPr lang="zh-TW" altLang="zh-TW" dirty="0"/>
              <a:t>路線規劃</a:t>
            </a:r>
            <a:r>
              <a:rPr lang="zh-TW" altLang="en-US" dirty="0"/>
              <a:t>所需</a:t>
            </a:r>
            <a:r>
              <a:rPr lang="zh-TW" altLang="zh-TW" dirty="0"/>
              <a:t>格式</a:t>
            </a:r>
            <a:endParaRPr lang="en-US" altLang="zh-TW" dirty="0"/>
          </a:p>
        </p:txBody>
      </p:sp>
      <p:sp>
        <p:nvSpPr>
          <p:cNvPr id="4" name="投影片編號版面配置區 3">
            <a:extLst>
              <a:ext uri="{FF2B5EF4-FFF2-40B4-BE49-F238E27FC236}">
                <a16:creationId xmlns:a16="http://schemas.microsoft.com/office/drawing/2014/main" id="{AEB7897C-731B-9BF1-DA00-92097FA9C23F}"/>
              </a:ext>
            </a:extLst>
          </p:cNvPr>
          <p:cNvSpPr>
            <a:spLocks noGrp="1"/>
          </p:cNvSpPr>
          <p:nvPr>
            <p:ph type="sldNum" sz="quarter" idx="5"/>
          </p:nvPr>
        </p:nvSpPr>
        <p:spPr/>
        <p:txBody>
          <a:bodyPr/>
          <a:lstStyle/>
          <a:p>
            <a:fld id="{C1134DBE-7CC5-4F23-841F-273EC3D50B7F}" type="slidenum">
              <a:rPr lang="zh-TW" altLang="en-US" smtClean="0"/>
              <a:t>13</a:t>
            </a:fld>
            <a:endParaRPr lang="zh-TW" altLang="en-US"/>
          </a:p>
        </p:txBody>
      </p:sp>
    </p:spTree>
    <p:extLst>
      <p:ext uri="{BB962C8B-B14F-4D97-AF65-F5344CB8AC3E}">
        <p14:creationId xmlns:p14="http://schemas.microsoft.com/office/powerpoint/2010/main" val="4160302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CA88B-C458-0683-BE99-F86DE574DA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76D5C62-DE35-0F68-D9F3-7A51EC618B7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6B133E7-A145-43B5-9C16-5737C19BF621}"/>
              </a:ext>
            </a:extLst>
          </p:cNvPr>
          <p:cNvSpPr>
            <a:spLocks noGrp="1"/>
          </p:cNvSpPr>
          <p:nvPr>
            <p:ph type="body" idx="1"/>
          </p:nvPr>
        </p:nvSpPr>
        <p:spPr/>
        <p:txBody>
          <a:bodyPr/>
          <a:lstStyle/>
          <a:p>
            <a:r>
              <a:rPr lang="zh-TW" altLang="en-US" dirty="0"/>
              <a:t>接下來介紹本研究的路由模組</a:t>
            </a:r>
            <a:endParaRPr lang="en-US" altLang="zh-TW" dirty="0"/>
          </a:p>
        </p:txBody>
      </p:sp>
      <p:sp>
        <p:nvSpPr>
          <p:cNvPr id="4" name="投影片編號版面配置區 3">
            <a:extLst>
              <a:ext uri="{FF2B5EF4-FFF2-40B4-BE49-F238E27FC236}">
                <a16:creationId xmlns:a16="http://schemas.microsoft.com/office/drawing/2014/main" id="{2A268668-ED82-A85C-113F-9C6ED9F2798A}"/>
              </a:ext>
            </a:extLst>
          </p:cNvPr>
          <p:cNvSpPr>
            <a:spLocks noGrp="1"/>
          </p:cNvSpPr>
          <p:nvPr>
            <p:ph type="sldNum" sz="quarter" idx="5"/>
          </p:nvPr>
        </p:nvSpPr>
        <p:spPr/>
        <p:txBody>
          <a:bodyPr/>
          <a:lstStyle/>
          <a:p>
            <a:fld id="{C1134DBE-7CC5-4F23-841F-273EC3D50B7F}" type="slidenum">
              <a:rPr lang="zh-TW" altLang="en-US" smtClean="0"/>
              <a:t>14</a:t>
            </a:fld>
            <a:endParaRPr lang="zh-TW" altLang="en-US"/>
          </a:p>
        </p:txBody>
      </p:sp>
    </p:spTree>
    <p:extLst>
      <p:ext uri="{BB962C8B-B14F-4D97-AF65-F5344CB8AC3E}">
        <p14:creationId xmlns:p14="http://schemas.microsoft.com/office/powerpoint/2010/main" val="718778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72A19-E296-2490-FB38-65E631B105E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C288A4-4ED1-2C4F-BB6F-96E923880D5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8E23A75-A286-79E6-8C88-7B58897763C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因為本研究的配送問題本質上可以視為車輛路徑問題的延伸變體</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在介紹</a:t>
            </a:r>
            <a:r>
              <a:rPr lang="zh-TW" altLang="en-US" dirty="0"/>
              <a:t>路由模組各階段</a:t>
            </a:r>
            <a:r>
              <a:rPr lang="zh-TW" altLang="zh-TW" dirty="0"/>
              <a:t>之前，接下來</a:t>
            </a:r>
            <a:r>
              <a:rPr lang="zh-TW" altLang="en-US" dirty="0"/>
              <a:t>先</a:t>
            </a:r>
            <a:r>
              <a:rPr lang="zh-TW" altLang="zh-TW" dirty="0"/>
              <a:t>說明</a:t>
            </a:r>
            <a:r>
              <a:rPr lang="zh-TW" altLang="en-US" dirty="0"/>
              <a:t>車輛路徑問題</a:t>
            </a:r>
            <a:r>
              <a:rPr lang="zh-TW" altLang="zh-TW" dirty="0"/>
              <a:t>以及相關限制條</a:t>
            </a:r>
            <a:r>
              <a:rPr lang="zh-TW" altLang="en-US" dirty="0"/>
              <a:t>件</a:t>
            </a:r>
            <a:endParaRPr lang="en-US" altLang="zh-TW" dirty="0"/>
          </a:p>
          <a:p>
            <a:endParaRPr lang="en-US" altLang="zh-TW" dirty="0"/>
          </a:p>
          <a:p>
            <a:r>
              <a:rPr lang="en-US" altLang="zh-TW" dirty="0"/>
              <a:t>VRP </a:t>
            </a:r>
            <a:r>
              <a:rPr lang="zh-TW" altLang="en-US" dirty="0"/>
              <a:t>是組合最佳化與整數規劃領域中的 </a:t>
            </a:r>
            <a:r>
              <a:rPr lang="en-US" altLang="zh-TW" dirty="0"/>
              <a:t>NP-hard </a:t>
            </a:r>
            <a:r>
              <a:rPr lang="zh-TW" altLang="en-US" dirty="0"/>
              <a:t>問題。</a:t>
            </a:r>
            <a:endParaRPr lang="en-US" altLang="zh-TW" dirty="0"/>
          </a:p>
          <a:p>
            <a:r>
              <a:rPr lang="zh-TW" altLang="en-US" dirty="0"/>
              <a:t>其目標是在滿足各項配送限制的前提下，滿足所有顧客的配送需求，同時最小化配送成本。</a:t>
            </a:r>
          </a:p>
          <a:p>
            <a:endParaRPr lang="en-US" altLang="zh-TW" dirty="0"/>
          </a:p>
          <a:p>
            <a:r>
              <a:rPr lang="zh-TW" altLang="zh-TW" dirty="0"/>
              <a:t>標準 VRP 中，需要滿足以下幾項基本限制條件</a:t>
            </a:r>
            <a:endParaRPr lang="en-US" altLang="zh-TW" dirty="0"/>
          </a:p>
          <a:p>
            <a:pPr lvl="0"/>
            <a:r>
              <a:rPr lang="zh-TW" altLang="zh-TW" sz="1200" kern="1200" dirty="0">
                <a:solidFill>
                  <a:schemeClr val="tx1"/>
                </a:solidFill>
                <a:effectLst/>
                <a:latin typeface="+mn-lt"/>
                <a:ea typeface="+mn-ea"/>
                <a:cs typeface="+mn-cs"/>
              </a:rPr>
              <a:t>每輛車必須從配送中心出發並返回配送中心。</a:t>
            </a:r>
          </a:p>
          <a:p>
            <a:pPr lvl="0"/>
            <a:r>
              <a:rPr lang="zh-TW" altLang="zh-TW" sz="1200" kern="1200" dirty="0">
                <a:solidFill>
                  <a:schemeClr val="tx1"/>
                </a:solidFill>
                <a:effectLst/>
                <a:latin typeface="+mn-lt"/>
                <a:ea typeface="+mn-ea"/>
                <a:cs typeface="+mn-cs"/>
              </a:rPr>
              <a:t>每個顧客僅允許被拜訪一次且僅能由一輛車負責配送。</a:t>
            </a:r>
          </a:p>
          <a:p>
            <a:pPr lvl="0"/>
            <a:r>
              <a:rPr lang="zh-TW" altLang="zh-TW" sz="1200" kern="1200" dirty="0">
                <a:solidFill>
                  <a:schemeClr val="tx1"/>
                </a:solidFill>
                <a:effectLst/>
                <a:latin typeface="+mn-lt"/>
                <a:ea typeface="+mn-ea"/>
                <a:cs typeface="+mn-cs"/>
              </a:rPr>
              <a:t>每個顧客</a:t>
            </a:r>
            <a:r>
              <a:rPr lang="zh-TW" altLang="en-US" sz="1200" kern="1200" dirty="0">
                <a:solidFill>
                  <a:schemeClr val="tx1"/>
                </a:solidFill>
                <a:effectLst/>
                <a:latin typeface="+mn-lt"/>
                <a:ea typeface="+mn-ea"/>
                <a:cs typeface="+mn-cs"/>
              </a:rPr>
              <a:t>的需求</a:t>
            </a:r>
            <a:r>
              <a:rPr lang="zh-TW" altLang="zh-TW" sz="1200" kern="1200" dirty="0">
                <a:solidFill>
                  <a:schemeClr val="tx1"/>
                </a:solidFill>
                <a:effectLst/>
                <a:latin typeface="+mn-lt"/>
                <a:ea typeface="+mn-ea"/>
                <a:cs typeface="+mn-cs"/>
              </a:rPr>
              <a:t>都必須</a:t>
            </a:r>
            <a:r>
              <a:rPr lang="zh-TW" altLang="en-US" sz="1200" kern="1200" dirty="0">
                <a:solidFill>
                  <a:schemeClr val="tx1"/>
                </a:solidFill>
                <a:effectLst/>
                <a:latin typeface="+mn-lt"/>
                <a:ea typeface="+mn-ea"/>
                <a:cs typeface="+mn-cs"/>
              </a:rPr>
              <a:t>被滿足</a:t>
            </a:r>
            <a:r>
              <a:rPr lang="zh-TW" altLang="zh-TW" sz="1200" kern="1200" dirty="0">
                <a:solidFill>
                  <a:schemeClr val="tx1"/>
                </a:solidFill>
                <a:effectLst/>
                <a:latin typeface="+mn-lt"/>
                <a:ea typeface="+mn-ea"/>
                <a:cs typeface="+mn-cs"/>
              </a:rPr>
              <a:t>。</a:t>
            </a:r>
            <a:endParaRPr lang="en-US" altLang="zh-TW" sz="1200" kern="1200" dirty="0">
              <a:solidFill>
                <a:schemeClr val="tx1"/>
              </a:solidFill>
              <a:effectLst/>
              <a:latin typeface="+mn-lt"/>
              <a:ea typeface="+mn-ea"/>
              <a:cs typeface="+mn-cs"/>
            </a:endParaRPr>
          </a:p>
          <a:p>
            <a:pPr lvl="0"/>
            <a:endParaRPr lang="en-US" altLang="zh-TW" sz="1200" kern="1200" dirty="0">
              <a:solidFill>
                <a:schemeClr val="tx1"/>
              </a:solidFill>
              <a:effectLst/>
              <a:latin typeface="+mn-lt"/>
              <a:ea typeface="+mn-ea"/>
              <a:cs typeface="+mn-cs"/>
            </a:endParaRPr>
          </a:p>
          <a:p>
            <a:pPr lvl="0"/>
            <a:r>
              <a:rPr lang="en-US" altLang="zh-TW" sz="1200" kern="1200" dirty="0">
                <a:solidFill>
                  <a:schemeClr val="tx1"/>
                </a:solidFill>
                <a:effectLst/>
                <a:latin typeface="+mn-lt"/>
                <a:ea typeface="+mn-ea"/>
                <a:cs typeface="+mn-cs"/>
              </a:rPr>
              <a:t>Q&amp;A</a:t>
            </a:r>
          </a:p>
          <a:p>
            <a:pPr lvl="0"/>
            <a:r>
              <a:rPr lang="en-US" altLang="zh-TW" dirty="0"/>
              <a:t>1.</a:t>
            </a:r>
            <a:r>
              <a:rPr lang="zh-TW" altLang="en-US" dirty="0"/>
              <a:t> </a:t>
            </a:r>
            <a:r>
              <a:rPr lang="zh-TW" altLang="zh-TW" dirty="0"/>
              <a:t>VRP是NP-hard問題，這對你選擇用metaheuristic而不是exact method</a:t>
            </a:r>
            <a:r>
              <a:rPr lang="zh-TW" altLang="en-US" dirty="0"/>
              <a:t> </a:t>
            </a:r>
            <a:r>
              <a:rPr lang="en-US" altLang="zh-TW" dirty="0"/>
              <a:t>(ILP)</a:t>
            </a:r>
            <a:r>
              <a:rPr lang="zh-TW" altLang="en-US" dirty="0"/>
              <a:t> </a:t>
            </a:r>
            <a:r>
              <a:rPr lang="zh-TW" altLang="zh-TW" dirty="0"/>
              <a:t>來解決有什麼直接關係</a:t>
            </a:r>
            <a:endParaRPr lang="en-US" altLang="zh-TW" dirty="0"/>
          </a:p>
          <a:p>
            <a:pPr lvl="0"/>
            <a:r>
              <a:rPr lang="zh-TW" altLang="zh-TW" dirty="0"/>
              <a:t>因為VRP是NP-hard問題，當問題規模變大時，exact method要花非常多時間才能找到最優解，不符合實務上需要快速規劃的需求。所以選擇metaheuristic</a:t>
            </a:r>
            <a:endParaRPr lang="en-US" altLang="zh-TW" dirty="0"/>
          </a:p>
        </p:txBody>
      </p:sp>
      <p:sp>
        <p:nvSpPr>
          <p:cNvPr id="4" name="投影片編號版面配置區 3">
            <a:extLst>
              <a:ext uri="{FF2B5EF4-FFF2-40B4-BE49-F238E27FC236}">
                <a16:creationId xmlns:a16="http://schemas.microsoft.com/office/drawing/2014/main" id="{9CD009CE-2EDE-722C-BF90-B33BC5FA8CD3}"/>
              </a:ext>
            </a:extLst>
          </p:cNvPr>
          <p:cNvSpPr>
            <a:spLocks noGrp="1"/>
          </p:cNvSpPr>
          <p:nvPr>
            <p:ph type="sldNum" sz="quarter" idx="5"/>
          </p:nvPr>
        </p:nvSpPr>
        <p:spPr/>
        <p:txBody>
          <a:bodyPr/>
          <a:lstStyle/>
          <a:p>
            <a:fld id="{C1134DBE-7CC5-4F23-841F-273EC3D50B7F}" type="slidenum">
              <a:rPr lang="zh-TW" altLang="en-US" smtClean="0"/>
              <a:t>15</a:t>
            </a:fld>
            <a:endParaRPr lang="zh-TW" altLang="en-US"/>
          </a:p>
        </p:txBody>
      </p:sp>
    </p:spTree>
    <p:extLst>
      <p:ext uri="{BB962C8B-B14F-4D97-AF65-F5344CB8AC3E}">
        <p14:creationId xmlns:p14="http://schemas.microsoft.com/office/powerpoint/2010/main" val="7830555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BE992-4D24-B6CF-5B08-26DE7FBFB26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789354B-3A90-2123-A1DF-CA3465D19A1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359DD81-AADA-2CA5-6E73-4B4E645766FA}"/>
              </a:ext>
            </a:extLst>
          </p:cNvPr>
          <p:cNvSpPr>
            <a:spLocks noGrp="1"/>
          </p:cNvSpPr>
          <p:nvPr>
            <p:ph type="body" idx="1"/>
          </p:nvPr>
        </p:nvSpPr>
        <p:spPr/>
        <p:txBody>
          <a:bodyPr/>
          <a:lstStyle/>
          <a:p>
            <a:r>
              <a:rPr lang="zh-TW" altLang="zh-TW" dirty="0"/>
              <a:t>由於實際物流環境相當複雜，因此 VRP 衍生出許多不同的變體。</a:t>
            </a:r>
            <a:endParaRPr lang="en-US" altLang="zh-TW" dirty="0"/>
          </a:p>
          <a:p>
            <a:r>
              <a:rPr lang="en-US" altLang="zh-TW" dirty="0"/>
              <a:t>CVRP</a:t>
            </a:r>
            <a:r>
              <a:rPr lang="zh-TW" altLang="en-US" dirty="0"/>
              <a:t>容量限制車輛途程問題，</a:t>
            </a:r>
            <a:r>
              <a:rPr lang="zh-TW" altLang="zh-TW" dirty="0"/>
              <a:t>除了基本 VRP 條件外，還必須考慮車輛容量限制</a:t>
            </a:r>
            <a:endParaRPr lang="en-US" altLang="zh-TW" dirty="0"/>
          </a:p>
          <a:p>
            <a:r>
              <a:rPr lang="zh-TW" altLang="zh-TW" dirty="0"/>
              <a:t>VRPTW具時間窗限制的車輛途程問題</a:t>
            </a:r>
            <a:r>
              <a:rPr lang="zh-TW" altLang="en-US" dirty="0"/>
              <a:t>，除了容量限制以外，還</a:t>
            </a:r>
            <a:r>
              <a:rPr lang="zh-TW" altLang="zh-TW" dirty="0"/>
              <a:t>要求車輛必須在顧客指定的時間區間內完成配送服務</a:t>
            </a:r>
            <a:endParaRPr lang="en-US" altLang="zh-TW" dirty="0"/>
          </a:p>
          <a:p>
            <a:endParaRPr lang="en-US" altLang="zh-TW" dirty="0"/>
          </a:p>
          <a:p>
            <a:r>
              <a:rPr lang="zh-TW" altLang="zh-TW" dirty="0"/>
              <a:t>本研究所探討的配送問題同時具有車輛容量限制、配送時間窗限制等特性，因此可視為結合 </a:t>
            </a:r>
            <a:r>
              <a:rPr lang="zh-TW" altLang="en-US" dirty="0"/>
              <a:t>物流公司主線架構 符合營運限制的</a:t>
            </a:r>
            <a:r>
              <a:rPr lang="zh-TW" altLang="zh-TW" dirty="0"/>
              <a:t>車輛</a:t>
            </a:r>
            <a:r>
              <a:rPr lang="zh-TW" altLang="en-US" dirty="0"/>
              <a:t>路徑</a:t>
            </a:r>
            <a:r>
              <a:rPr lang="zh-TW" altLang="zh-TW" dirty="0"/>
              <a:t>問題。</a:t>
            </a:r>
            <a:endParaRPr lang="en-US" altLang="zh-TW" dirty="0"/>
          </a:p>
          <a:p>
            <a:endParaRPr lang="en-US" altLang="zh-TW" dirty="0"/>
          </a:p>
          <a:p>
            <a:r>
              <a:rPr lang="en-US" altLang="zh-TW" dirty="0"/>
              <a:t>Q&amp;A</a:t>
            </a:r>
          </a:p>
          <a:p>
            <a:r>
              <a:rPr lang="en-US" altLang="zh-TW" dirty="0"/>
              <a:t>1.</a:t>
            </a:r>
            <a:r>
              <a:rPr lang="zh-TW" altLang="en-US" dirty="0"/>
              <a:t> </a:t>
            </a:r>
            <a:r>
              <a:rPr lang="zh-TW" altLang="zh-TW" dirty="0"/>
              <a:t>VRPPC</a:t>
            </a:r>
            <a:r>
              <a:rPr lang="zh-TW" altLang="en-US" dirty="0"/>
              <a:t>與你的研究的差異</a:t>
            </a:r>
            <a:endParaRPr lang="en-US" altLang="zh-TW" dirty="0"/>
          </a:p>
          <a:p>
            <a:r>
              <a:rPr lang="zh-TW" altLang="zh-TW" dirty="0"/>
              <a:t>VRPPC是一次性的全域分配問題，而我的研究建立在</a:t>
            </a:r>
            <a:r>
              <a:rPr lang="zh-TW" altLang="en-US" dirty="0"/>
              <a:t>主線架構</a:t>
            </a:r>
            <a:r>
              <a:rPr lang="zh-TW" altLang="zh-TW" dirty="0"/>
              <a:t>的前提下，針對超載部分做局部的資源再分配</a:t>
            </a:r>
            <a:endParaRPr lang="en-US" altLang="zh-TW" dirty="0"/>
          </a:p>
          <a:p>
            <a:r>
              <a:rPr lang="zh-TW" altLang="zh-TW" dirty="0"/>
              <a:t>VRPPC只決定哪些需求要委外，路線規劃由承運商自行處理；而</a:t>
            </a:r>
            <a:r>
              <a:rPr lang="zh-TW" altLang="en-US" dirty="0"/>
              <a:t>本</a:t>
            </a:r>
            <a:r>
              <a:rPr lang="zh-TW" altLang="zh-TW" dirty="0"/>
              <a:t>研究還需要由物流公司先規劃好支援路線，再交給外部承運商執行</a:t>
            </a:r>
            <a:endParaRPr lang="en-US" altLang="zh-TW" dirty="0"/>
          </a:p>
        </p:txBody>
      </p:sp>
      <p:sp>
        <p:nvSpPr>
          <p:cNvPr id="4" name="投影片編號版面配置區 3">
            <a:extLst>
              <a:ext uri="{FF2B5EF4-FFF2-40B4-BE49-F238E27FC236}">
                <a16:creationId xmlns:a16="http://schemas.microsoft.com/office/drawing/2014/main" id="{F9D36EC1-C688-738E-A346-0D2246E88493}"/>
              </a:ext>
            </a:extLst>
          </p:cNvPr>
          <p:cNvSpPr>
            <a:spLocks noGrp="1"/>
          </p:cNvSpPr>
          <p:nvPr>
            <p:ph type="sldNum" sz="quarter" idx="5"/>
          </p:nvPr>
        </p:nvSpPr>
        <p:spPr/>
        <p:txBody>
          <a:bodyPr/>
          <a:lstStyle/>
          <a:p>
            <a:fld id="{C1134DBE-7CC5-4F23-841F-273EC3D50B7F}" type="slidenum">
              <a:rPr lang="zh-TW" altLang="en-US" smtClean="0"/>
              <a:t>16</a:t>
            </a:fld>
            <a:endParaRPr lang="zh-TW" altLang="en-US"/>
          </a:p>
        </p:txBody>
      </p:sp>
    </p:spTree>
    <p:extLst>
      <p:ext uri="{BB962C8B-B14F-4D97-AF65-F5344CB8AC3E}">
        <p14:creationId xmlns:p14="http://schemas.microsoft.com/office/powerpoint/2010/main" val="15171552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4589F-4A7A-560F-A2C3-76772C716B4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55F40A1-9A12-4036-0ACA-A8F56AF434D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EF75648-E149-2F2F-9521-7BDD065D3366}"/>
              </a:ext>
            </a:extLst>
          </p:cNvPr>
          <p:cNvSpPr>
            <a:spLocks noGrp="1"/>
          </p:cNvSpPr>
          <p:nvPr>
            <p:ph type="body" idx="1"/>
          </p:nvPr>
        </p:nvSpPr>
        <p:spPr/>
        <p:txBody>
          <a:bodyPr/>
          <a:lstStyle/>
          <a:p>
            <a:r>
              <a:rPr lang="zh-TW" altLang="en-US" dirty="0"/>
              <a:t>根據物流公司的營運限制，</a:t>
            </a:r>
            <a:r>
              <a:rPr lang="zh-TW" altLang="zh-TW" dirty="0"/>
              <a:t>本研究所考量之限制如下。</a:t>
            </a:r>
          </a:p>
          <a:p>
            <a:r>
              <a:rPr lang="en-US" altLang="zh-TW" dirty="0"/>
              <a:t>1.</a:t>
            </a:r>
            <a:r>
              <a:rPr lang="zh-TW" altLang="en-US" dirty="0"/>
              <a:t> </a:t>
            </a:r>
            <a:r>
              <a:rPr lang="zh-TW" altLang="zh-TW" dirty="0"/>
              <a:t>原有主線的</a:t>
            </a:r>
            <a:r>
              <a:rPr lang="zh-TW" altLang="en-US" dirty="0"/>
              <a:t>店鋪</a:t>
            </a:r>
            <a:r>
              <a:rPr lang="zh-TW" altLang="zh-TW" dirty="0"/>
              <a:t>服務順序不得變更，以維持既有路線結構。</a:t>
            </a:r>
            <a:endParaRPr lang="en-US" altLang="zh-TW" dirty="0"/>
          </a:p>
          <a:p>
            <a:r>
              <a:rPr lang="en-US" altLang="zh-TW" dirty="0"/>
              <a:t>2.</a:t>
            </a:r>
            <a:r>
              <a:rPr lang="zh-TW" altLang="en-US" dirty="0"/>
              <a:t> </a:t>
            </a:r>
            <a:r>
              <a:rPr lang="zh-TW" altLang="zh-TW" dirty="0"/>
              <a:t>路線調整幅度最小化，以維持原有主線架構的完整性。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en-US" dirty="0"/>
              <a:t> </a:t>
            </a:r>
            <a:r>
              <a:rPr lang="zh-TW" altLang="zh-TW" dirty="0"/>
              <a:t>車輛載重不得超過其容量限制。</a:t>
            </a:r>
          </a:p>
          <a:p>
            <a:r>
              <a:rPr lang="en-US" altLang="zh-TW" dirty="0"/>
              <a:t>4.</a:t>
            </a:r>
            <a:r>
              <a:rPr lang="zh-TW" altLang="en-US" dirty="0"/>
              <a:t> </a:t>
            </a:r>
            <a:r>
              <a:rPr lang="zh-TW" altLang="zh-TW" dirty="0"/>
              <a:t>配送時間窗設定為預定時間前一小時至後三十分鐘之內。</a:t>
            </a:r>
          </a:p>
          <a:p>
            <a:r>
              <a:rPr lang="en-US" altLang="zh-TW" dirty="0"/>
              <a:t>5.</a:t>
            </a:r>
            <a:r>
              <a:rPr lang="zh-TW" altLang="en-US" dirty="0"/>
              <a:t> 路線</a:t>
            </a:r>
            <a:r>
              <a:rPr lang="zh-TW" altLang="zh-TW" dirty="0"/>
              <a:t>整體配送時間不得超過五小時。</a:t>
            </a:r>
            <a:endParaRPr lang="en-US" altLang="zh-TW" dirty="0"/>
          </a:p>
          <a:p>
            <a:endParaRPr lang="en-US" altLang="zh-TW" dirty="0"/>
          </a:p>
          <a:p>
            <a:r>
              <a:rPr lang="en-US" altLang="zh-TW" dirty="0"/>
              <a:t>Q&amp;A</a:t>
            </a:r>
          </a:p>
          <a:p>
            <a:r>
              <a:rPr lang="zh-TW" altLang="en-US" sz="1200" b="0" i="0" kern="1200" dirty="0">
                <a:solidFill>
                  <a:schemeClr val="tx1"/>
                </a:solidFill>
                <a:effectLst/>
                <a:latin typeface="+mn-lt"/>
                <a:ea typeface="+mn-ea"/>
                <a:cs typeface="+mn-cs"/>
              </a:rPr>
              <a:t>本頁</a:t>
            </a:r>
            <a:r>
              <a:rPr lang="zh-TW" altLang="zh-TW" sz="1200" b="0" i="0" kern="1200" dirty="0">
                <a:solidFill>
                  <a:schemeClr val="tx1"/>
                </a:solidFill>
                <a:effectLst/>
                <a:latin typeface="+mn-lt"/>
                <a:ea typeface="+mn-ea"/>
                <a:cs typeface="+mn-cs"/>
              </a:rPr>
              <a:t>多了「主路線固定順序不可更動」、「路線修改幅度最小化」這兩條，這兩條算是哪一類限制</a:t>
            </a:r>
            <a:endParaRPr lang="en-US" altLang="zh-TW" dirty="0"/>
          </a:p>
          <a:p>
            <a:r>
              <a:rPr lang="zh-TW" altLang="en-US" dirty="0"/>
              <a:t>前述公式限制為</a:t>
            </a:r>
            <a:r>
              <a:rPr lang="zh-TW" altLang="zh-TW" dirty="0"/>
              <a:t>VRP問題中常見的標準限制</a:t>
            </a:r>
            <a:endParaRPr lang="en-US" altLang="zh-TW" dirty="0"/>
          </a:p>
          <a:p>
            <a:r>
              <a:rPr lang="zh-TW" altLang="zh-TW" dirty="0"/>
              <a:t>所以單獨列一頁先說明其定義</a:t>
            </a:r>
            <a:endParaRPr lang="en-US" altLang="zh-TW" dirty="0"/>
          </a:p>
          <a:p>
            <a:r>
              <a:rPr lang="zh-TW" altLang="en-US" dirty="0"/>
              <a:t>本</a:t>
            </a:r>
            <a:r>
              <a:rPr lang="zh-TW" altLang="zh-TW" dirty="0"/>
              <a:t>頁多出的「主路線順序固定不可更動」與「路線修改幅度最小化」</a:t>
            </a:r>
            <a:endParaRPr lang="en-US" altLang="zh-TW" dirty="0"/>
          </a:p>
          <a:p>
            <a:r>
              <a:rPr lang="zh-TW" altLang="zh-TW" dirty="0"/>
              <a:t>是本研究因為</a:t>
            </a:r>
            <a:r>
              <a:rPr lang="zh-TW" altLang="en-US" dirty="0"/>
              <a:t>物流公司主線架構</a:t>
            </a:r>
            <a:r>
              <a:rPr lang="zh-TW" altLang="zh-TW" dirty="0"/>
              <a:t>這個前提，所衍生出來的限制條件，屬於本研究情境特有的限制</a:t>
            </a:r>
            <a:endParaRPr lang="zh-TW" altLang="en-US" dirty="0"/>
          </a:p>
          <a:p>
            <a:endParaRPr lang="zh-TW" altLang="zh-TW" dirty="0"/>
          </a:p>
        </p:txBody>
      </p:sp>
      <p:sp>
        <p:nvSpPr>
          <p:cNvPr id="4" name="投影片編號版面配置區 3">
            <a:extLst>
              <a:ext uri="{FF2B5EF4-FFF2-40B4-BE49-F238E27FC236}">
                <a16:creationId xmlns:a16="http://schemas.microsoft.com/office/drawing/2014/main" id="{C55BFEF2-242E-33AC-7FE6-D9C056259784}"/>
              </a:ext>
            </a:extLst>
          </p:cNvPr>
          <p:cNvSpPr>
            <a:spLocks noGrp="1"/>
          </p:cNvSpPr>
          <p:nvPr>
            <p:ph type="sldNum" sz="quarter" idx="5"/>
          </p:nvPr>
        </p:nvSpPr>
        <p:spPr/>
        <p:txBody>
          <a:bodyPr/>
          <a:lstStyle/>
          <a:p>
            <a:fld id="{C1134DBE-7CC5-4F23-841F-273EC3D50B7F}" type="slidenum">
              <a:rPr lang="zh-TW" altLang="en-US" smtClean="0"/>
              <a:t>17</a:t>
            </a:fld>
            <a:endParaRPr lang="zh-TW" altLang="en-US"/>
          </a:p>
        </p:txBody>
      </p:sp>
    </p:spTree>
    <p:extLst>
      <p:ext uri="{BB962C8B-B14F-4D97-AF65-F5344CB8AC3E}">
        <p14:creationId xmlns:p14="http://schemas.microsoft.com/office/powerpoint/2010/main" val="37979600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A796-99BE-69F8-0FF1-8E8AE04333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060558-5D27-679F-0281-7FA424DA0A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513C1DB-3122-C002-21CD-F2D6A5A88573}"/>
              </a:ext>
            </a:extLst>
          </p:cNvPr>
          <p:cNvSpPr>
            <a:spLocks noGrp="1"/>
          </p:cNvSpPr>
          <p:nvPr>
            <p:ph type="body" idx="1"/>
          </p:nvPr>
        </p:nvSpPr>
        <p:spPr/>
        <p:txBody>
          <a:bodyPr/>
          <a:lstStyle/>
          <a:p>
            <a:r>
              <a:rPr lang="zh-TW" altLang="en-US" dirty="0"/>
              <a:t>本研究的目標函數採用階層式目標的設計</a:t>
            </a:r>
          </a:p>
          <a:p>
            <a:r>
              <a:rPr lang="zh-TW" altLang="en-US" dirty="0"/>
              <a:t>主要目標是最小化路線數量</a:t>
            </a:r>
          </a:p>
          <a:p>
            <a:r>
              <a:rPr lang="zh-TW" altLang="en-US" dirty="0"/>
              <a:t>次要目標是最小化總行駛距離</a:t>
            </a:r>
          </a:p>
          <a:p>
            <a:endParaRPr lang="zh-TW" altLang="zh-TW" dirty="0"/>
          </a:p>
        </p:txBody>
      </p:sp>
      <p:sp>
        <p:nvSpPr>
          <p:cNvPr id="4" name="投影片編號版面配置區 3">
            <a:extLst>
              <a:ext uri="{FF2B5EF4-FFF2-40B4-BE49-F238E27FC236}">
                <a16:creationId xmlns:a16="http://schemas.microsoft.com/office/drawing/2014/main" id="{0734FEB2-2F62-275A-11D6-84B65C6A1FFA}"/>
              </a:ext>
            </a:extLst>
          </p:cNvPr>
          <p:cNvSpPr>
            <a:spLocks noGrp="1"/>
          </p:cNvSpPr>
          <p:nvPr>
            <p:ph type="sldNum" sz="quarter" idx="5"/>
          </p:nvPr>
        </p:nvSpPr>
        <p:spPr/>
        <p:txBody>
          <a:bodyPr/>
          <a:lstStyle/>
          <a:p>
            <a:fld id="{C1134DBE-7CC5-4F23-841F-273EC3D50B7F}" type="slidenum">
              <a:rPr lang="zh-TW" altLang="en-US" smtClean="0"/>
              <a:t>18</a:t>
            </a:fld>
            <a:endParaRPr lang="zh-TW" altLang="en-US"/>
          </a:p>
        </p:txBody>
      </p:sp>
    </p:spTree>
    <p:extLst>
      <p:ext uri="{BB962C8B-B14F-4D97-AF65-F5344CB8AC3E}">
        <p14:creationId xmlns:p14="http://schemas.microsoft.com/office/powerpoint/2010/main" val="6041576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1A5D-EA24-6D3F-0F5D-0BA8A1BC58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915156-FBD8-ECE3-2B85-A652598EF25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4812ED-F62A-1E83-17EF-324A825A445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本研究提出之架構主要分為三個階段，分別為店鋪抽取、店鋪分配、支援線規劃</a:t>
            </a:r>
            <a:br>
              <a:rPr lang="en-US" altLang="zh-TW" dirty="0"/>
            </a:b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店鋪抽取階段，從超載主線中選取適當店鋪進行移除</a:t>
            </a:r>
            <a:br>
              <a:rPr lang="en-US" altLang="zh-TW" dirty="0"/>
            </a:br>
            <a:r>
              <a:rPr lang="zh-TW" altLang="zh-TW" dirty="0"/>
              <a:t>店鋪分配階段，決定被抽取店鋪應分配至哪條</a:t>
            </a:r>
            <a:r>
              <a:rPr lang="zh-TW" altLang="en-US" dirty="0"/>
              <a:t>主線以最大化主線配送效率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支援線規劃階段</a:t>
            </a:r>
            <a:r>
              <a:rPr lang="zh-TW" altLang="en-US" dirty="0"/>
              <a:t>，針對無法被安排進主線的店鋪，</a:t>
            </a:r>
            <a:r>
              <a:rPr lang="zh-TW" altLang="zh-TW" dirty="0"/>
              <a:t>建構支援線，以完成整體配送規劃</a:t>
            </a:r>
            <a:br>
              <a:rPr lang="en-US" altLang="zh-TW" dirty="0"/>
            </a:br>
            <a:r>
              <a:rPr lang="zh-TW" altLang="zh-TW" dirty="0"/>
              <a:t>上述三個階段</a:t>
            </a:r>
            <a:r>
              <a:rPr lang="zh-TW" altLang="en-US" dirty="0"/>
              <a:t>分別採用合作式共同演化基因演算法、混合蟻群演算法、多蟻群系統來逐</a:t>
            </a:r>
            <a:r>
              <a:rPr lang="zh-TW" altLang="zh-TW" dirty="0"/>
              <a:t>步完成整體配送規劃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i="0" kern="1200" dirty="0">
                <a:solidFill>
                  <a:schemeClr val="tx1"/>
                </a:solidFill>
                <a:effectLst/>
                <a:latin typeface="+mn-lt"/>
                <a:ea typeface="+mn-ea"/>
                <a:cs typeface="+mn-cs"/>
              </a:rPr>
              <a:t>整個路徑規劃流程被formulate成VRP，那跟VRP相比，你的</a:t>
            </a:r>
            <a:r>
              <a:rPr lang="zh-TW" altLang="en-US" sz="1200" b="0" i="0" kern="1200" dirty="0">
                <a:solidFill>
                  <a:schemeClr val="tx1"/>
                </a:solidFill>
                <a:effectLst/>
                <a:latin typeface="+mn-lt"/>
                <a:ea typeface="+mn-ea"/>
                <a:cs typeface="+mn-cs"/>
              </a:rPr>
              <a:t>問題</a:t>
            </a:r>
            <a:r>
              <a:rPr lang="zh-TW" altLang="zh-TW" sz="1200" b="0" i="0" kern="1200" dirty="0">
                <a:solidFill>
                  <a:schemeClr val="tx1"/>
                </a:solidFill>
                <a:effectLst/>
                <a:latin typeface="+mn-lt"/>
                <a:ea typeface="+mn-ea"/>
                <a:cs typeface="+mn-cs"/>
              </a:rPr>
              <a:t>多了哪些限制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物流公司</a:t>
            </a:r>
            <a:r>
              <a:rPr lang="zh-TW" altLang="zh-TW" dirty="0"/>
              <a:t>固定</a:t>
            </a:r>
            <a:r>
              <a:rPr lang="zh-TW" altLang="en-US" dirty="0"/>
              <a:t>主</a:t>
            </a:r>
            <a:r>
              <a:rPr lang="zh-TW" altLang="zh-TW" dirty="0"/>
              <a:t>線結構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服務限制</a:t>
            </a:r>
            <a:r>
              <a:rPr lang="zh-TW" altLang="en-US" dirty="0"/>
              <a:t> </a:t>
            </a:r>
            <a:r>
              <a:rPr lang="en-US" altLang="zh-TW" dirty="0"/>
              <a:t>(</a:t>
            </a:r>
            <a:r>
              <a:rPr lang="zh-TW" altLang="en-US" dirty="0"/>
              <a:t>容量 </a:t>
            </a:r>
            <a:r>
              <a:rPr lang="en-US" altLang="zh-TW" dirty="0"/>
              <a:t>&amp;</a:t>
            </a:r>
            <a:r>
              <a:rPr lang="zh-TW" altLang="en-US" dirty="0"/>
              <a:t> </a:t>
            </a:r>
            <a:r>
              <a:rPr lang="zh-TW" altLang="zh-TW" dirty="0"/>
              <a:t>時間窗限制</a:t>
            </a:r>
            <a:r>
              <a:rPr lang="en-US" altLang="zh-TW" dirty="0"/>
              <a:t>)</a:t>
            </a:r>
          </a:p>
        </p:txBody>
      </p:sp>
      <p:sp>
        <p:nvSpPr>
          <p:cNvPr id="4" name="投影片編號版面配置區 3">
            <a:extLst>
              <a:ext uri="{FF2B5EF4-FFF2-40B4-BE49-F238E27FC236}">
                <a16:creationId xmlns:a16="http://schemas.microsoft.com/office/drawing/2014/main" id="{A879A534-DF38-D149-4D84-71384B761C6D}"/>
              </a:ext>
            </a:extLst>
          </p:cNvPr>
          <p:cNvSpPr>
            <a:spLocks noGrp="1"/>
          </p:cNvSpPr>
          <p:nvPr>
            <p:ph type="sldNum" sz="quarter" idx="5"/>
          </p:nvPr>
        </p:nvSpPr>
        <p:spPr/>
        <p:txBody>
          <a:bodyPr/>
          <a:lstStyle/>
          <a:p>
            <a:fld id="{C1134DBE-7CC5-4F23-841F-273EC3D50B7F}" type="slidenum">
              <a:rPr lang="zh-TW" altLang="en-US" smtClean="0"/>
              <a:t>19</a:t>
            </a:fld>
            <a:endParaRPr lang="zh-TW" altLang="en-US"/>
          </a:p>
        </p:txBody>
      </p:sp>
    </p:spTree>
    <p:extLst>
      <p:ext uri="{BB962C8B-B14F-4D97-AF65-F5344CB8AC3E}">
        <p14:creationId xmlns:p14="http://schemas.microsoft.com/office/powerpoint/2010/main" val="25019160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8D303-9C7D-E4CC-2300-2935CFB5568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A0ABB58-D1DB-6C1C-EB82-E6F75950463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8A538F9-0058-51E6-0A05-959F6B2B9D86}"/>
              </a:ext>
            </a:extLst>
          </p:cNvPr>
          <p:cNvSpPr>
            <a:spLocks noGrp="1"/>
          </p:cNvSpPr>
          <p:nvPr>
            <p:ph type="body" idx="1"/>
          </p:nvPr>
        </p:nvSpPr>
        <p:spPr/>
        <p:txBody>
          <a:bodyPr/>
          <a:lstStyle/>
          <a:p>
            <a:r>
              <a:rPr lang="zh-TW" altLang="en-US" dirty="0"/>
              <a:t>接下來介紹本研究評估模組</a:t>
            </a:r>
          </a:p>
        </p:txBody>
      </p:sp>
      <p:sp>
        <p:nvSpPr>
          <p:cNvPr id="4" name="投影片編號版面配置區 3">
            <a:extLst>
              <a:ext uri="{FF2B5EF4-FFF2-40B4-BE49-F238E27FC236}">
                <a16:creationId xmlns:a16="http://schemas.microsoft.com/office/drawing/2014/main" id="{ECDF5527-E784-CDC6-BEAC-B85F416EB538}"/>
              </a:ext>
            </a:extLst>
          </p:cNvPr>
          <p:cNvSpPr>
            <a:spLocks noGrp="1"/>
          </p:cNvSpPr>
          <p:nvPr>
            <p:ph type="sldNum" sz="quarter" idx="5"/>
          </p:nvPr>
        </p:nvSpPr>
        <p:spPr/>
        <p:txBody>
          <a:bodyPr/>
          <a:lstStyle/>
          <a:p>
            <a:fld id="{C1134DBE-7CC5-4F23-841F-273EC3D50B7F}" type="slidenum">
              <a:rPr lang="zh-TW" altLang="en-US" smtClean="0"/>
              <a:t>20</a:t>
            </a:fld>
            <a:endParaRPr lang="zh-TW" altLang="en-US"/>
          </a:p>
        </p:txBody>
      </p:sp>
    </p:spTree>
    <p:extLst>
      <p:ext uri="{BB962C8B-B14F-4D97-AF65-F5344CB8AC3E}">
        <p14:creationId xmlns:p14="http://schemas.microsoft.com/office/powerpoint/2010/main" val="671474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5F1D4-8E75-BE13-974C-8C81B1EE0F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71FA09C-E826-F1EB-1EC3-EB4F903129A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067EDF0-CE2D-4823-DAE5-EB7307269F32}"/>
              </a:ext>
            </a:extLst>
          </p:cNvPr>
          <p:cNvSpPr>
            <a:spLocks noGrp="1"/>
          </p:cNvSpPr>
          <p:nvPr>
            <p:ph type="body" idx="1"/>
          </p:nvPr>
        </p:nvSpPr>
        <p:spPr/>
        <p:txBody>
          <a:bodyPr/>
          <a:lstStyle/>
          <a:p>
            <a:r>
              <a:rPr lang="zh-TW" altLang="en-US" sz="1200" kern="1200" dirty="0">
                <a:solidFill>
                  <a:schemeClr val="tx1"/>
                </a:solidFill>
                <a:effectLst/>
                <a:latin typeface="+mn-lt"/>
                <a:ea typeface="+mn-ea"/>
                <a:cs typeface="+mn-cs"/>
              </a:rPr>
              <a:t>在評估模組中，本研究將編排結果以</a:t>
            </a:r>
            <a:r>
              <a:rPr lang="zh-TW" altLang="zh-TW" dirty="0"/>
              <a:t>地圖式視覺化平台進行呈現</a:t>
            </a:r>
            <a:endParaRPr lang="zh-TW" altLang="en-US" dirty="0"/>
          </a:p>
        </p:txBody>
      </p:sp>
      <p:sp>
        <p:nvSpPr>
          <p:cNvPr id="4" name="投影片編號版面配置區 3">
            <a:extLst>
              <a:ext uri="{FF2B5EF4-FFF2-40B4-BE49-F238E27FC236}">
                <a16:creationId xmlns:a16="http://schemas.microsoft.com/office/drawing/2014/main" id="{53367C6C-EC52-43CE-3C96-B3A9D4EBD2BC}"/>
              </a:ext>
            </a:extLst>
          </p:cNvPr>
          <p:cNvSpPr>
            <a:spLocks noGrp="1"/>
          </p:cNvSpPr>
          <p:nvPr>
            <p:ph type="sldNum" sz="quarter" idx="5"/>
          </p:nvPr>
        </p:nvSpPr>
        <p:spPr/>
        <p:txBody>
          <a:bodyPr/>
          <a:lstStyle/>
          <a:p>
            <a:fld id="{C1134DBE-7CC5-4F23-841F-273EC3D50B7F}" type="slidenum">
              <a:rPr lang="zh-TW" altLang="en-US" smtClean="0"/>
              <a:t>21</a:t>
            </a:fld>
            <a:endParaRPr lang="zh-TW" altLang="en-US"/>
          </a:p>
        </p:txBody>
      </p:sp>
    </p:spTree>
    <p:extLst>
      <p:ext uri="{BB962C8B-B14F-4D97-AF65-F5344CB8AC3E}">
        <p14:creationId xmlns:p14="http://schemas.microsoft.com/office/powerpoint/2010/main" val="39593068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6D289-45F1-018B-283C-D5B8EC3ADA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5AB63DB-BBBC-1A58-C1E0-788E9944D67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5750D86-9304-18C2-A772-0DB512DDF7C9}"/>
              </a:ext>
            </a:extLst>
          </p:cNvPr>
          <p:cNvSpPr>
            <a:spLocks noGrp="1"/>
          </p:cNvSpPr>
          <p:nvPr>
            <p:ph type="body" idx="1"/>
          </p:nvPr>
        </p:nvSpPr>
        <p:spPr/>
        <p:txBody>
          <a:bodyPr/>
          <a:lstStyle/>
          <a:p>
            <a:pPr rtl="0" eaLnBrk="1" latinLnBrk="0" hangingPunct="1"/>
            <a:r>
              <a:rPr lang="zh-TW" altLang="zh-TW" sz="1200" kern="1200" dirty="0">
                <a:solidFill>
                  <a:schemeClr val="tx1"/>
                </a:solidFill>
                <a:effectLst/>
                <a:latin typeface="+mn-lt"/>
                <a:ea typeface="+mn-ea"/>
                <a:cs typeface="+mn-cs"/>
              </a:rPr>
              <a:t>使用以下指標對所提出</a:t>
            </a:r>
            <a:r>
              <a:rPr lang="en-US" altLang="zh-TW" sz="1200" kern="1200" dirty="0">
                <a:solidFill>
                  <a:schemeClr val="tx1"/>
                </a:solidFill>
                <a:effectLst/>
                <a:latin typeface="+mn-lt"/>
                <a:ea typeface="+mn-ea"/>
                <a:cs typeface="+mn-cs"/>
              </a:rPr>
              <a:t>VRP</a:t>
            </a:r>
            <a:r>
              <a:rPr lang="zh-TW" altLang="zh-TW" sz="1200" kern="1200" dirty="0">
                <a:solidFill>
                  <a:schemeClr val="tx1"/>
                </a:solidFill>
                <a:effectLst/>
                <a:latin typeface="+mn-lt"/>
                <a:ea typeface="+mn-ea"/>
                <a:cs typeface="+mn-cs"/>
              </a:rPr>
              <a:t>架構進行評估：</a:t>
            </a:r>
            <a:endParaRPr lang="zh-TW" altLang="zh-TW" dirty="0">
              <a:effectLst/>
            </a:endParaRPr>
          </a:p>
          <a:p>
            <a:pPr marL="228600" indent="-228600" rtl="0" eaLnBrk="1" latinLnBrk="0" hangingPunct="1">
              <a:buAutoNum type="arabicPeriod"/>
            </a:pPr>
            <a:r>
              <a:rPr lang="zh-TW" altLang="zh-TW" sz="1200" kern="1200" dirty="0">
                <a:solidFill>
                  <a:schemeClr val="tx1"/>
                </a:solidFill>
                <a:effectLst/>
                <a:latin typeface="+mn-lt"/>
                <a:ea typeface="+mn-ea"/>
                <a:cs typeface="+mn-cs"/>
              </a:rPr>
              <a:t>車輛數量（NV）</a:t>
            </a:r>
            <a:endParaRPr lang="en-US" altLang="zh-TW" sz="1200" kern="1200" dirty="0">
              <a:solidFill>
                <a:schemeClr val="tx1"/>
              </a:solidFill>
              <a:effectLst/>
              <a:latin typeface="+mn-lt"/>
              <a:ea typeface="+mn-ea"/>
              <a:cs typeface="+mn-cs"/>
            </a:endParaRPr>
          </a:p>
          <a:p>
            <a:pPr marL="228600" indent="-228600" rtl="0" eaLnBrk="1" latinLnBrk="0" hangingPunct="1">
              <a:buAutoNum type="arabicPeriod"/>
            </a:pPr>
            <a:r>
              <a:rPr lang="zh-TW" altLang="zh-TW" sz="1200" kern="1200" dirty="0">
                <a:solidFill>
                  <a:schemeClr val="tx1"/>
                </a:solidFill>
                <a:effectLst/>
                <a:latin typeface="+mn-lt"/>
                <a:ea typeface="+mn-ea"/>
                <a:cs typeface="+mn-cs"/>
              </a:rPr>
              <a:t>總行駛距離（TD）</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平均裝載率（U）</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準點率（O）</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執行時間（RT）</a:t>
            </a:r>
            <a:endParaRPr lang="en-US" altLang="zh-TW" sz="1200"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1A73CA3-7609-A313-1F6B-F9C694F70563}"/>
              </a:ext>
            </a:extLst>
          </p:cNvPr>
          <p:cNvSpPr>
            <a:spLocks noGrp="1"/>
          </p:cNvSpPr>
          <p:nvPr>
            <p:ph type="sldNum" sz="quarter" idx="5"/>
          </p:nvPr>
        </p:nvSpPr>
        <p:spPr/>
        <p:txBody>
          <a:bodyPr/>
          <a:lstStyle/>
          <a:p>
            <a:fld id="{C1134DBE-7CC5-4F23-841F-273EC3D50B7F}" type="slidenum">
              <a:rPr lang="zh-TW" altLang="en-US" smtClean="0"/>
              <a:t>22</a:t>
            </a:fld>
            <a:endParaRPr lang="zh-TW" altLang="en-US"/>
          </a:p>
        </p:txBody>
      </p:sp>
    </p:spTree>
    <p:extLst>
      <p:ext uri="{BB962C8B-B14F-4D97-AF65-F5344CB8AC3E}">
        <p14:creationId xmlns:p14="http://schemas.microsoft.com/office/powerpoint/2010/main" val="6562076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F5C00-B6A4-3ACF-D778-22BAF88366B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A303197-E67C-AA29-9C78-62D5CAE0E38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7322D6F-37F0-98AA-238C-CB97B1B9CFB0}"/>
              </a:ext>
            </a:extLst>
          </p:cNvPr>
          <p:cNvSpPr>
            <a:spLocks noGrp="1"/>
          </p:cNvSpPr>
          <p:nvPr>
            <p:ph type="body" idx="1"/>
          </p:nvPr>
        </p:nvSpPr>
        <p:spPr/>
        <p:txBody>
          <a:bodyPr/>
          <a:lstStyle/>
          <a:p>
            <a:r>
              <a:rPr lang="zh-TW" altLang="en-US" dirty="0"/>
              <a:t>接著介紹最佳化路線資料</a:t>
            </a:r>
          </a:p>
        </p:txBody>
      </p:sp>
      <p:sp>
        <p:nvSpPr>
          <p:cNvPr id="4" name="投影片編號版面配置區 3">
            <a:extLst>
              <a:ext uri="{FF2B5EF4-FFF2-40B4-BE49-F238E27FC236}">
                <a16:creationId xmlns:a16="http://schemas.microsoft.com/office/drawing/2014/main" id="{ED1D59EE-5777-7733-D61F-D47CC11433BD}"/>
              </a:ext>
            </a:extLst>
          </p:cNvPr>
          <p:cNvSpPr>
            <a:spLocks noGrp="1"/>
          </p:cNvSpPr>
          <p:nvPr>
            <p:ph type="sldNum" sz="quarter" idx="5"/>
          </p:nvPr>
        </p:nvSpPr>
        <p:spPr/>
        <p:txBody>
          <a:bodyPr/>
          <a:lstStyle/>
          <a:p>
            <a:fld id="{C1134DBE-7CC5-4F23-841F-273EC3D50B7F}" type="slidenum">
              <a:rPr lang="zh-TW" altLang="en-US" smtClean="0"/>
              <a:t>23</a:t>
            </a:fld>
            <a:endParaRPr lang="zh-TW" altLang="en-US"/>
          </a:p>
        </p:txBody>
      </p:sp>
    </p:spTree>
    <p:extLst>
      <p:ext uri="{BB962C8B-B14F-4D97-AF65-F5344CB8AC3E}">
        <p14:creationId xmlns:p14="http://schemas.microsoft.com/office/powerpoint/2010/main" val="33811750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54A8C-4E48-6074-44BC-CDE40B3EEC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D4B3B4B-2854-C5A6-1419-86DBB3F54A9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23F1BCE-C6D8-F8CD-1BF9-9C22E086A943}"/>
              </a:ext>
            </a:extLst>
          </p:cNvPr>
          <p:cNvSpPr>
            <a:spLocks noGrp="1"/>
          </p:cNvSpPr>
          <p:nvPr>
            <p:ph type="body" idx="1"/>
          </p:nvPr>
        </p:nvSpPr>
        <p:spPr/>
        <p:txBody>
          <a:bodyPr/>
          <a:lstStyle/>
          <a:p>
            <a:r>
              <a:rPr lang="zh-TW" altLang="zh-TW" dirty="0"/>
              <a:t>本階段將最佳化結果轉換為實際配送路線，作為後續評估分析與實務應用的依據</a:t>
            </a:r>
            <a:endParaRPr lang="en-US" altLang="zh-TW" dirty="0"/>
          </a:p>
        </p:txBody>
      </p:sp>
      <p:sp>
        <p:nvSpPr>
          <p:cNvPr id="4" name="投影片編號版面配置區 3">
            <a:extLst>
              <a:ext uri="{FF2B5EF4-FFF2-40B4-BE49-F238E27FC236}">
                <a16:creationId xmlns:a16="http://schemas.microsoft.com/office/drawing/2014/main" id="{74953761-9BAB-12E7-97CC-16AC0D973C54}"/>
              </a:ext>
            </a:extLst>
          </p:cNvPr>
          <p:cNvSpPr>
            <a:spLocks noGrp="1"/>
          </p:cNvSpPr>
          <p:nvPr>
            <p:ph type="sldNum" sz="quarter" idx="5"/>
          </p:nvPr>
        </p:nvSpPr>
        <p:spPr/>
        <p:txBody>
          <a:bodyPr/>
          <a:lstStyle/>
          <a:p>
            <a:fld id="{C1134DBE-7CC5-4F23-841F-273EC3D50B7F}" type="slidenum">
              <a:rPr lang="zh-TW" altLang="en-US" smtClean="0"/>
              <a:t>24</a:t>
            </a:fld>
            <a:endParaRPr lang="zh-TW" altLang="en-US"/>
          </a:p>
        </p:txBody>
      </p:sp>
    </p:spTree>
    <p:extLst>
      <p:ext uri="{BB962C8B-B14F-4D97-AF65-F5344CB8AC3E}">
        <p14:creationId xmlns:p14="http://schemas.microsoft.com/office/powerpoint/2010/main" val="2953724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2D2E9-0823-2C28-81AD-7C33B032511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5F8B80-CC89-77C0-40E3-867BA3C9AD0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D7A9057-972D-1966-1710-938AADF1DBD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接下來說明本研究的實驗結果</a:t>
            </a:r>
            <a:endParaRPr lang="en-US" altLang="zh-TW" dirty="0"/>
          </a:p>
        </p:txBody>
      </p:sp>
      <p:sp>
        <p:nvSpPr>
          <p:cNvPr id="4" name="投影片編號版面配置區 3">
            <a:extLst>
              <a:ext uri="{FF2B5EF4-FFF2-40B4-BE49-F238E27FC236}">
                <a16:creationId xmlns:a16="http://schemas.microsoft.com/office/drawing/2014/main" id="{608366BC-CEA1-A381-07DD-CE987B2A2D11}"/>
              </a:ext>
            </a:extLst>
          </p:cNvPr>
          <p:cNvSpPr>
            <a:spLocks noGrp="1"/>
          </p:cNvSpPr>
          <p:nvPr>
            <p:ph type="sldNum" sz="quarter" idx="5"/>
          </p:nvPr>
        </p:nvSpPr>
        <p:spPr/>
        <p:txBody>
          <a:bodyPr/>
          <a:lstStyle/>
          <a:p>
            <a:fld id="{C1134DBE-7CC5-4F23-841F-273EC3D50B7F}" type="slidenum">
              <a:rPr lang="zh-TW" altLang="en-US" smtClean="0"/>
              <a:t>25</a:t>
            </a:fld>
            <a:endParaRPr lang="zh-TW" altLang="en-US"/>
          </a:p>
        </p:txBody>
      </p:sp>
    </p:spTree>
    <p:extLst>
      <p:ext uri="{BB962C8B-B14F-4D97-AF65-F5344CB8AC3E}">
        <p14:creationId xmlns:p14="http://schemas.microsoft.com/office/powerpoint/2010/main" val="6315496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76FC9-A265-857D-204E-768945FF09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407EDDE-E189-D5F5-7C8D-6DD9952392E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2C22BE0-3B00-73C0-847E-7CA7298421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首先介紹本研究各階段演算法之設定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en-US" dirty="0"/>
              <a:t> 超參數是如何調整的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由於 VRP 運算本身非常耗時，無法窮舉所有參數組合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a:t>
            </a:r>
            <a:r>
              <a:rPr lang="zh-TW" altLang="en-US" dirty="0"/>
              <a:t>使用</a:t>
            </a:r>
            <a:r>
              <a:rPr lang="zh-TW" altLang="zh-TW" dirty="0"/>
              <a:t>田口方法，首先依據相關文獻與初步實驗結果設定參數範圍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透過建立直交表來減少實驗次數，並計算各參數組合的訊雜比（S/N ratio）</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藉此在合理的時間內找出這組最具穩健性（Robustness）的最佳超參數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HACO 與 MACS 的參數差異</a:t>
            </a:r>
            <a:endParaRPr lang="en-US" altLang="zh-TW" dirty="0"/>
          </a:p>
          <a:p>
            <a:r>
              <a:rPr lang="zh-TW" altLang="zh-TW" dirty="0"/>
              <a:t>HACO 是</a:t>
            </a:r>
            <a:r>
              <a:rPr lang="zh-TW" altLang="en-US" dirty="0"/>
              <a:t>針對</a:t>
            </a:r>
            <a:r>
              <a:rPr lang="zh-TW" altLang="zh-TW" dirty="0"/>
              <a:t>主線結構設計，因此下一個店鋪的選擇會受到主線</a:t>
            </a:r>
            <a:r>
              <a:rPr lang="zh-TW" altLang="en-US" dirty="0"/>
              <a:t>以及可行解</a:t>
            </a:r>
            <a:r>
              <a:rPr lang="zh-TW" altLang="zh-TW" dirty="0"/>
              <a:t>的限制</a:t>
            </a:r>
          </a:p>
          <a:p>
            <a:r>
              <a:rPr lang="zh-TW" altLang="zh-TW" dirty="0"/>
              <a:t>MACS 是直接將問題視為</a:t>
            </a:r>
            <a:r>
              <a:rPr lang="zh-TW" altLang="en-US" dirty="0"/>
              <a:t>嚴格時間窗的</a:t>
            </a:r>
            <a:r>
              <a:rPr lang="zh-TW" altLang="zh-TW" dirty="0"/>
              <a:t>VRPTW 進行求解，雖然同樣有可行性限制，但沒有主線結構的額外約束，因此解空間相對更自由</a:t>
            </a:r>
          </a:p>
        </p:txBody>
      </p:sp>
      <p:sp>
        <p:nvSpPr>
          <p:cNvPr id="4" name="投影片編號版面配置區 3">
            <a:extLst>
              <a:ext uri="{FF2B5EF4-FFF2-40B4-BE49-F238E27FC236}">
                <a16:creationId xmlns:a16="http://schemas.microsoft.com/office/drawing/2014/main" id="{9BDB44C1-48CE-2BC0-28CF-AABF7FCACFBB}"/>
              </a:ext>
            </a:extLst>
          </p:cNvPr>
          <p:cNvSpPr>
            <a:spLocks noGrp="1"/>
          </p:cNvSpPr>
          <p:nvPr>
            <p:ph type="sldNum" sz="quarter" idx="5"/>
          </p:nvPr>
        </p:nvSpPr>
        <p:spPr/>
        <p:txBody>
          <a:bodyPr/>
          <a:lstStyle/>
          <a:p>
            <a:fld id="{C1134DBE-7CC5-4F23-841F-273EC3D50B7F}" type="slidenum">
              <a:rPr lang="zh-TW" altLang="en-US" smtClean="0"/>
              <a:t>26</a:t>
            </a:fld>
            <a:endParaRPr lang="zh-TW" altLang="en-US"/>
          </a:p>
        </p:txBody>
      </p:sp>
    </p:spTree>
    <p:extLst>
      <p:ext uri="{BB962C8B-B14F-4D97-AF65-F5344CB8AC3E}">
        <p14:creationId xmlns:p14="http://schemas.microsoft.com/office/powerpoint/2010/main" val="19860539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F04B-F934-9ED9-D2F8-8F497722A2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31C448-BC01-3F12-A3ED-4C0C537F18C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900D42-D3F4-22F5-A185-D8F6BD7217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本研究比較所提出</a:t>
            </a:r>
            <a:r>
              <a:rPr lang="zh-TW" altLang="zh-TW" dirty="0"/>
              <a:t>方法</a:t>
            </a:r>
            <a:r>
              <a:rPr lang="zh-TW" altLang="en-US" b="1" dirty="0"/>
              <a:t>、物流公司</a:t>
            </a:r>
            <a:r>
              <a:rPr lang="zh-TW" altLang="zh-TW" dirty="0"/>
              <a:t>人工規劃</a:t>
            </a:r>
            <a:r>
              <a:rPr lang="zh-TW" altLang="en-US" dirty="0"/>
              <a:t>與基準方法</a:t>
            </a:r>
            <a:r>
              <a:rPr lang="zh-TW" altLang="zh-TW" dirty="0"/>
              <a:t>的整體配送</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表中可以觀察到本研究所提出之完整方法除了編排時間外，於各指標皆取得最佳結果</a:t>
            </a:r>
            <a:br>
              <a:rPr lang="en-US" altLang="zh-TW" dirty="0"/>
            </a:br>
            <a:endParaRPr lang="en-US" altLang="zh-TW" dirty="0"/>
          </a:p>
        </p:txBody>
      </p:sp>
      <p:sp>
        <p:nvSpPr>
          <p:cNvPr id="4" name="投影片編號版面配置區 3">
            <a:extLst>
              <a:ext uri="{FF2B5EF4-FFF2-40B4-BE49-F238E27FC236}">
                <a16:creationId xmlns:a16="http://schemas.microsoft.com/office/drawing/2014/main" id="{964562B9-EB86-04A8-8F70-C8C5ED0F44EC}"/>
              </a:ext>
            </a:extLst>
          </p:cNvPr>
          <p:cNvSpPr>
            <a:spLocks noGrp="1"/>
          </p:cNvSpPr>
          <p:nvPr>
            <p:ph type="sldNum" sz="quarter" idx="5"/>
          </p:nvPr>
        </p:nvSpPr>
        <p:spPr/>
        <p:txBody>
          <a:bodyPr/>
          <a:lstStyle/>
          <a:p>
            <a:fld id="{C1134DBE-7CC5-4F23-841F-273EC3D50B7F}" type="slidenum">
              <a:rPr lang="zh-TW" altLang="en-US" smtClean="0"/>
              <a:t>27</a:t>
            </a:fld>
            <a:endParaRPr lang="zh-TW" altLang="en-US"/>
          </a:p>
        </p:txBody>
      </p:sp>
    </p:spTree>
    <p:extLst>
      <p:ext uri="{BB962C8B-B14F-4D97-AF65-F5344CB8AC3E}">
        <p14:creationId xmlns:p14="http://schemas.microsoft.com/office/powerpoint/2010/main" val="3271605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40C61-25BD-91A1-A17B-76B2E2BCD36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24834C2-B3EC-E9A2-6CF5-6E1CFE21F0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23D18E-C9A0-561F-8732-B5D197A05C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本頁為各案例</a:t>
            </a:r>
            <a:r>
              <a:rPr lang="zh-TW" altLang="en-US" dirty="0"/>
              <a:t>中車輛數量及總行駛距離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從圖中可知本研究方法在車輛數量方面於所有案例皆能夠降低車輛數量需求</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而在總行駛距離方面，於大部分案例</a:t>
            </a:r>
            <a:r>
              <a:rPr lang="zh-TW" altLang="en-US" dirty="0"/>
              <a:t>取得</a:t>
            </a:r>
            <a:r>
              <a:rPr lang="zh-TW" altLang="zh-TW" dirty="0"/>
              <a:t>較佳表現，能有效縮短總行駛距離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en-US" dirty="0"/>
              <a:t>少部分路線總行駛距離比人工規劃還長</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其原因為本研究之目標優先考量車輛數量，其次為總行駛距離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部分案例會以增加少量行駛距離作為代價，換取減少車輛數量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進而達到更佳的整體配送</a:t>
            </a:r>
            <a:r>
              <a:rPr lang="zh-TW" altLang="en-US" dirty="0"/>
              <a:t>效果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距離縮減了這幾百公里，對物流公司來說具體的意義是什麼</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第一是油資與車輛耗損的直接降低</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第二是司機整體工時的縮短</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第三是減少了碳排放量</a:t>
            </a:r>
            <a:endParaRPr lang="zh-TW" altLang="en-US" dirty="0"/>
          </a:p>
        </p:txBody>
      </p:sp>
      <p:sp>
        <p:nvSpPr>
          <p:cNvPr id="4" name="投影片編號版面配置區 3">
            <a:extLst>
              <a:ext uri="{FF2B5EF4-FFF2-40B4-BE49-F238E27FC236}">
                <a16:creationId xmlns:a16="http://schemas.microsoft.com/office/drawing/2014/main" id="{FEF3B2CD-D8D6-E8C9-2730-57AF5FCAFEEF}"/>
              </a:ext>
            </a:extLst>
          </p:cNvPr>
          <p:cNvSpPr>
            <a:spLocks noGrp="1"/>
          </p:cNvSpPr>
          <p:nvPr>
            <p:ph type="sldNum" sz="quarter" idx="5"/>
          </p:nvPr>
        </p:nvSpPr>
        <p:spPr/>
        <p:txBody>
          <a:bodyPr/>
          <a:lstStyle/>
          <a:p>
            <a:fld id="{C1134DBE-7CC5-4F23-841F-273EC3D50B7F}" type="slidenum">
              <a:rPr lang="zh-TW" altLang="en-US" smtClean="0"/>
              <a:t>28</a:t>
            </a:fld>
            <a:endParaRPr lang="zh-TW" altLang="en-US"/>
          </a:p>
        </p:txBody>
      </p:sp>
    </p:spTree>
    <p:extLst>
      <p:ext uri="{BB962C8B-B14F-4D97-AF65-F5344CB8AC3E}">
        <p14:creationId xmlns:p14="http://schemas.microsoft.com/office/powerpoint/2010/main" val="30144726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84EAE-8913-10C8-01B0-E0DFA6206F4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0D712DF-A6FA-247B-7918-D8BD9829F13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4706AE8-BA57-5568-01DB-20C890F7C8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a:t>
            </a:r>
            <a:r>
              <a:rPr lang="zh-TW" altLang="en-US" dirty="0"/>
              <a:t>案</a:t>
            </a:r>
            <a:r>
              <a:rPr lang="zh-TW" altLang="zh-TW" dirty="0"/>
              <a:t>例</a:t>
            </a:r>
            <a:r>
              <a:rPr lang="zh-TW" altLang="en-US" dirty="0"/>
              <a:t>中平均裝載率及準點率</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從圖中可知本研究方法於所有案例皆能夠有效提升車輛平均裝載率及店鋪準點率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為驗證各項評估指標的改善是否具有顯著性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本研究進一步針對各項指標進行統計分析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以確認其是否具有顯著差異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a:extLst>
              <a:ext uri="{FF2B5EF4-FFF2-40B4-BE49-F238E27FC236}">
                <a16:creationId xmlns:a16="http://schemas.microsoft.com/office/drawing/2014/main" id="{DE7C5E36-979D-C0B6-45D1-A83324D998D7}"/>
              </a:ext>
            </a:extLst>
          </p:cNvPr>
          <p:cNvSpPr>
            <a:spLocks noGrp="1"/>
          </p:cNvSpPr>
          <p:nvPr>
            <p:ph type="sldNum" sz="quarter" idx="5"/>
          </p:nvPr>
        </p:nvSpPr>
        <p:spPr/>
        <p:txBody>
          <a:bodyPr/>
          <a:lstStyle/>
          <a:p>
            <a:fld id="{C1134DBE-7CC5-4F23-841F-273EC3D50B7F}" type="slidenum">
              <a:rPr lang="zh-TW" altLang="en-US" smtClean="0"/>
              <a:t>29</a:t>
            </a:fld>
            <a:endParaRPr lang="zh-TW" altLang="en-US"/>
          </a:p>
        </p:txBody>
      </p:sp>
    </p:spTree>
    <p:extLst>
      <p:ext uri="{BB962C8B-B14F-4D97-AF65-F5344CB8AC3E}">
        <p14:creationId xmlns:p14="http://schemas.microsoft.com/office/powerpoint/2010/main" val="733710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5108F-0559-FCA4-845A-D67C0AED919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31B1F06-BC12-6E3A-2A2F-E6733288010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6AC9F90-270F-4B3D-6792-12EFD3DD2DA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比較本研究所提出之方法與基準方法及物流公司人工規劃的結果得到的指標確認其是否顯著差異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a:t>
            </a:r>
            <a:r>
              <a:rPr lang="zh-TW" altLang="en-US" dirty="0"/>
              <a:t>本研究所提出的方法相比於兩種方法的結果</a:t>
            </a:r>
            <a:r>
              <a:rPr lang="zh-TW" altLang="zh-TW" dirty="0"/>
              <a:t>在各項評估指標皆具有顯著改善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顯示本研究方法皆能有效提升整體的配送規劃結果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Wilcoxon </a:t>
            </a:r>
            <a:r>
              <a:rPr lang="zh-TW" altLang="en-US" dirty="0"/>
              <a:t>為</a:t>
            </a:r>
            <a:r>
              <a:rPr lang="zh-TW" altLang="zh-TW" dirty="0"/>
              <a:t>無母數檢定</a:t>
            </a:r>
            <a:r>
              <a:rPr lang="zh-TW" altLang="en-US" dirty="0"/>
              <a:t>，本研究</a:t>
            </a:r>
            <a:r>
              <a:rPr lang="zh-TW" altLang="zh-TW" dirty="0"/>
              <a:t>數據分佈並不符合常態分配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72EBC585-8D64-FBFC-48E9-224E588023DC}"/>
              </a:ext>
            </a:extLst>
          </p:cNvPr>
          <p:cNvSpPr>
            <a:spLocks noGrp="1"/>
          </p:cNvSpPr>
          <p:nvPr>
            <p:ph type="sldNum" sz="quarter" idx="5"/>
          </p:nvPr>
        </p:nvSpPr>
        <p:spPr/>
        <p:txBody>
          <a:bodyPr/>
          <a:lstStyle/>
          <a:p>
            <a:fld id="{C1134DBE-7CC5-4F23-841F-273EC3D50B7F}" type="slidenum">
              <a:rPr lang="zh-TW" altLang="en-US" smtClean="0"/>
              <a:t>30</a:t>
            </a:fld>
            <a:endParaRPr lang="zh-TW" altLang="en-US"/>
          </a:p>
        </p:txBody>
      </p:sp>
    </p:spTree>
    <p:extLst>
      <p:ext uri="{BB962C8B-B14F-4D97-AF65-F5344CB8AC3E}">
        <p14:creationId xmlns:p14="http://schemas.microsoft.com/office/powerpoint/2010/main" val="39673882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9396-5C3E-F4E3-6678-7B93124F51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A4F90EA-0F91-B118-DA16-EA258DB836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40C814E-D669-9013-6F7C-7B018634F5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接下來介紹本研究的結論與未來研究方向</a:t>
            </a:r>
            <a:endParaRPr lang="en-US" altLang="zh-TW" dirty="0"/>
          </a:p>
        </p:txBody>
      </p:sp>
      <p:sp>
        <p:nvSpPr>
          <p:cNvPr id="4" name="投影片編號版面配置區 3">
            <a:extLst>
              <a:ext uri="{FF2B5EF4-FFF2-40B4-BE49-F238E27FC236}">
                <a16:creationId xmlns:a16="http://schemas.microsoft.com/office/drawing/2014/main" id="{181F462A-71CD-8010-063E-BCB927B4CCA4}"/>
              </a:ext>
            </a:extLst>
          </p:cNvPr>
          <p:cNvSpPr>
            <a:spLocks noGrp="1"/>
          </p:cNvSpPr>
          <p:nvPr>
            <p:ph type="sldNum" sz="quarter" idx="5"/>
          </p:nvPr>
        </p:nvSpPr>
        <p:spPr/>
        <p:txBody>
          <a:bodyPr/>
          <a:lstStyle/>
          <a:p>
            <a:fld id="{C1134DBE-7CC5-4F23-841F-273EC3D50B7F}" type="slidenum">
              <a:rPr lang="zh-TW" altLang="en-US" smtClean="0"/>
              <a:t>31</a:t>
            </a:fld>
            <a:endParaRPr lang="zh-TW" altLang="en-US"/>
          </a:p>
        </p:txBody>
      </p:sp>
    </p:spTree>
    <p:extLst>
      <p:ext uri="{BB962C8B-B14F-4D97-AF65-F5344CB8AC3E}">
        <p14:creationId xmlns:p14="http://schemas.microsoft.com/office/powerpoint/2010/main" val="11143158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063B5-5867-FB24-7F0E-5B6A24E2F7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2DE6DFE-3FCA-9F2D-A6A1-2DF55B99CB8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C0A78D7-20DF-63F4-8990-24B0E97781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本研究針對</a:t>
            </a:r>
            <a:r>
              <a:rPr lang="zh-TW" altLang="en-US" dirty="0"/>
              <a:t>物流公司</a:t>
            </a:r>
            <a:r>
              <a:rPr lang="zh-TW" altLang="zh-TW" dirty="0"/>
              <a:t>固定主線架構下之物流配送問題，提出一個多階段</a:t>
            </a:r>
            <a:r>
              <a:rPr lang="zh-TW" altLang="en-US" dirty="0"/>
              <a:t>符合營運</a:t>
            </a:r>
            <a:r>
              <a:rPr lang="zh-TW" altLang="zh-TW" dirty="0"/>
              <a:t>限制</a:t>
            </a:r>
            <a:r>
              <a:rPr lang="zh-TW" altLang="en-US" dirty="0"/>
              <a:t>的車輛路徑問題</a:t>
            </a:r>
            <a:r>
              <a:rPr lang="zh-TW" altLang="zh-TW" dirty="0"/>
              <a:t>模型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將問題分解成三個子問題，並</a:t>
            </a:r>
            <a:r>
              <a:rPr lang="zh-TW" altLang="zh-TW" dirty="0"/>
              <a:t>結合 CCGA、HACO 與 MACS 的混合式最佳化架構</a:t>
            </a:r>
            <a:r>
              <a:rPr lang="zh-TW" altLang="en-US" dirty="0"/>
              <a:t>解決此問題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實驗結果顯示，本研究方法</a:t>
            </a:r>
            <a:r>
              <a:rPr lang="zh-TW" altLang="en-US" dirty="0"/>
              <a:t>於</a:t>
            </a:r>
            <a:r>
              <a:rPr lang="zh-TW" altLang="zh-TW" dirty="0"/>
              <a:t>實務資料中，能有效提升配送效率，並降低</a:t>
            </a:r>
            <a:r>
              <a:rPr lang="zh-TW" altLang="en-US" dirty="0"/>
              <a:t>整體配送成本</a:t>
            </a:r>
            <a:endParaRPr lang="en-US" altLang="zh-TW" dirty="0"/>
          </a:p>
        </p:txBody>
      </p:sp>
      <p:sp>
        <p:nvSpPr>
          <p:cNvPr id="4" name="投影片編號版面配置區 3">
            <a:extLst>
              <a:ext uri="{FF2B5EF4-FFF2-40B4-BE49-F238E27FC236}">
                <a16:creationId xmlns:a16="http://schemas.microsoft.com/office/drawing/2014/main" id="{F7A58BFF-24F9-DE08-B11D-23A1DD6AD70E}"/>
              </a:ext>
            </a:extLst>
          </p:cNvPr>
          <p:cNvSpPr>
            <a:spLocks noGrp="1"/>
          </p:cNvSpPr>
          <p:nvPr>
            <p:ph type="sldNum" sz="quarter" idx="5"/>
          </p:nvPr>
        </p:nvSpPr>
        <p:spPr/>
        <p:txBody>
          <a:bodyPr/>
          <a:lstStyle/>
          <a:p>
            <a:fld id="{C1134DBE-7CC5-4F23-841F-273EC3D50B7F}" type="slidenum">
              <a:rPr lang="zh-TW" altLang="en-US" smtClean="0"/>
              <a:t>32</a:t>
            </a:fld>
            <a:endParaRPr lang="zh-TW" altLang="en-US"/>
          </a:p>
        </p:txBody>
      </p:sp>
    </p:spTree>
    <p:extLst>
      <p:ext uri="{BB962C8B-B14F-4D97-AF65-F5344CB8AC3E}">
        <p14:creationId xmlns:p14="http://schemas.microsoft.com/office/powerpoint/2010/main" val="435959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FA125-3886-DA4B-61C9-E97A040C711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FA92B6-1FEC-1ADF-4F8C-AF74F845E89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BEB330C-C401-B4D8-5414-832C144C1E80}"/>
              </a:ext>
            </a:extLst>
          </p:cNvPr>
          <p:cNvSpPr>
            <a:spLocks noGrp="1"/>
          </p:cNvSpPr>
          <p:nvPr>
            <p:ph type="body" idx="1"/>
          </p:nvPr>
        </p:nvSpPr>
        <p:spPr/>
        <p:txBody>
          <a:bodyPr/>
          <a:lstStyle/>
          <a:p>
            <a:r>
              <a:rPr lang="zh-TW" altLang="en-US" dirty="0"/>
              <a:t>接下來介紹本研究的未來研究方向</a:t>
            </a:r>
            <a:endParaRPr lang="en-US" altLang="zh-TW" dirty="0"/>
          </a:p>
          <a:p>
            <a:r>
              <a:rPr lang="zh-TW" altLang="zh-TW" dirty="0"/>
              <a:t>在問題擴展方面</a:t>
            </a:r>
            <a:endParaRPr lang="en-US" altLang="zh-TW" dirty="0"/>
          </a:p>
          <a:p>
            <a:r>
              <a:rPr lang="zh-TW" altLang="zh-TW" dirty="0"/>
              <a:t>未來可進一步將所提出的方法延伸至更多不同類型的車輛途程問題。例如，多類型異質車隊車輛路徑問題。</a:t>
            </a:r>
          </a:p>
          <a:p>
            <a:r>
              <a:rPr lang="zh-TW" altLang="zh-TW" dirty="0"/>
              <a:t>亦可將綠色物流相關考量納入模型之中，</a:t>
            </a:r>
            <a:r>
              <a:rPr lang="zh-TW" altLang="en-US" dirty="0"/>
              <a:t>同時考量</a:t>
            </a:r>
            <a:r>
              <a:rPr lang="zh-TW" altLang="zh-TW" dirty="0"/>
              <a:t>例如碳排放量、能源消耗等因素</a:t>
            </a:r>
          </a:p>
          <a:p>
            <a:endParaRPr lang="zh-TW" altLang="zh-TW" dirty="0"/>
          </a:p>
          <a:p>
            <a:r>
              <a:rPr lang="zh-TW" altLang="zh-TW" dirty="0"/>
              <a:t>在方法方面</a:t>
            </a:r>
            <a:endParaRPr lang="en-US" altLang="zh-TW" dirty="0"/>
          </a:p>
          <a:p>
            <a:r>
              <a:rPr lang="zh-TW" altLang="zh-TW" dirty="0"/>
              <a:t>未來可進一步整合的人工智慧技術</a:t>
            </a:r>
            <a:endParaRPr lang="en-US" altLang="zh-TW" dirty="0"/>
          </a:p>
          <a:p>
            <a:r>
              <a:rPr lang="zh-TW" altLang="zh-TW" dirty="0"/>
              <a:t>例如結合深度學習與強化學習方法，學習</a:t>
            </a:r>
            <a:r>
              <a:rPr lang="zh-TW" altLang="en-US" dirty="0"/>
              <a:t>物流公司的</a:t>
            </a:r>
            <a:r>
              <a:rPr lang="zh-TW" altLang="zh-TW" dirty="0"/>
              <a:t>配送決策，進一步提升大規模物流問題的擴展能力、決策品質</a:t>
            </a:r>
          </a:p>
        </p:txBody>
      </p:sp>
      <p:sp>
        <p:nvSpPr>
          <p:cNvPr id="4" name="投影片編號版面配置區 3">
            <a:extLst>
              <a:ext uri="{FF2B5EF4-FFF2-40B4-BE49-F238E27FC236}">
                <a16:creationId xmlns:a16="http://schemas.microsoft.com/office/drawing/2014/main" id="{7308416B-DF2A-C7A8-918B-801F135F9073}"/>
              </a:ext>
            </a:extLst>
          </p:cNvPr>
          <p:cNvSpPr>
            <a:spLocks noGrp="1"/>
          </p:cNvSpPr>
          <p:nvPr>
            <p:ph type="sldNum" sz="quarter" idx="5"/>
          </p:nvPr>
        </p:nvSpPr>
        <p:spPr/>
        <p:txBody>
          <a:bodyPr/>
          <a:lstStyle/>
          <a:p>
            <a:fld id="{C1134DBE-7CC5-4F23-841F-273EC3D50B7F}" type="slidenum">
              <a:rPr lang="zh-TW" altLang="en-US" smtClean="0"/>
              <a:t>33</a:t>
            </a:fld>
            <a:endParaRPr lang="zh-TW" altLang="en-US"/>
          </a:p>
        </p:txBody>
      </p:sp>
    </p:spTree>
    <p:extLst>
      <p:ext uri="{BB962C8B-B14F-4D97-AF65-F5344CB8AC3E}">
        <p14:creationId xmlns:p14="http://schemas.microsoft.com/office/powerpoint/2010/main" val="21334381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1FF8-A54F-35B6-2FCF-978AFDC5EA5B}"/>
            </a:ext>
          </a:extLst>
        </p:cNvPr>
        <p:cNvGrpSpPr/>
        <p:nvPr/>
      </p:nvGrpSpPr>
      <p:grpSpPr>
        <a:xfrm>
          <a:off x="0" y="0"/>
          <a:ext cx="0" cy="0"/>
          <a:chOff x="0" y="0"/>
          <a:chExt cx="0" cy="0"/>
        </a:xfrm>
      </p:grpSpPr>
      <p:sp>
        <p:nvSpPr>
          <p:cNvPr id="2" name="投影片圖像版面配置區 1">
            <a:extLst>
              <a:ext uri="{FF2B5EF4-FFF2-40B4-BE49-F238E27FC236}">
                <a16:creationId xmlns:a16="http://schemas.microsoft.com/office/drawing/2014/main" id="{74FEC18D-32CB-B808-7156-9130E163D0C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87E7F8D-11EB-5DE8-7669-9C2E9606BCC3}"/>
              </a:ext>
            </a:extLst>
          </p:cNvPr>
          <p:cNvSpPr>
            <a:spLocks noGrp="1"/>
          </p:cNvSpPr>
          <p:nvPr>
            <p:ph type="body" idx="1"/>
          </p:nvPr>
        </p:nvSpPr>
        <p:spPr/>
        <p:txBody>
          <a:bodyPr/>
          <a:lstStyle/>
          <a:p>
            <a:r>
              <a:rPr lang="zh-TW" altLang="en-US" dirty="0"/>
              <a:t>我的報告到此結束，謝謝各位大家的聆聽。</a:t>
            </a:r>
            <a:endParaRPr lang="en-US" altLang="zh-TW" dirty="0"/>
          </a:p>
          <a:p>
            <a:endParaRPr lang="en-US" altLang="zh-TW" dirty="0"/>
          </a:p>
          <a:p>
            <a:r>
              <a:rPr lang="en-US" altLang="zh-TW" dirty="0"/>
              <a:t>Q&amp;A</a:t>
            </a:r>
          </a:p>
          <a:p>
            <a:r>
              <a:rPr lang="en-US" altLang="zh-TW" dirty="0"/>
              <a:t>1.</a:t>
            </a:r>
            <a:r>
              <a:rPr lang="zh-TW" altLang="zh-TW" dirty="0"/>
              <a:t>大多現在都是做 LLM 或者深度學習相關的問題 那你為什麼還在做演算法</a:t>
            </a:r>
            <a:r>
              <a:rPr lang="en-US" altLang="zh-TW" dirty="0"/>
              <a:t>?</a:t>
            </a:r>
          </a:p>
          <a:p>
            <a:r>
              <a:rPr lang="zh-TW" altLang="en-US" dirty="0"/>
              <a:t>目前確實有許多研究聚焦於 </a:t>
            </a:r>
            <a:r>
              <a:rPr lang="en-US" altLang="zh-TW" dirty="0"/>
              <a:t>LLM </a:t>
            </a:r>
            <a:r>
              <a:rPr lang="zh-TW" altLang="en-US" dirty="0"/>
              <a:t>或深度學習，但我所研究的是車輛途程規劃，本質上屬於組合最佳化問題。</a:t>
            </a:r>
            <a:endParaRPr lang="en-US" altLang="zh-TW" dirty="0"/>
          </a:p>
          <a:p>
            <a:r>
              <a:rPr lang="zh-TW" altLang="en-US" dirty="0"/>
              <a:t>這類問題的目標是在解空間中尋找滿足多項限制條件的最佳解，例如車輛容量、配送時間窗及路線限制等，因此仍然需要最佳化演算法來求解。</a:t>
            </a:r>
          </a:p>
          <a:p>
            <a:endParaRPr lang="en-US" altLang="zh-TW" dirty="0"/>
          </a:p>
          <a:p>
            <a:r>
              <a:rPr lang="en-US" altLang="zh-TW" dirty="0"/>
              <a:t>2.</a:t>
            </a:r>
            <a:r>
              <a:rPr lang="zh-TW" altLang="en-US" dirty="0"/>
              <a:t> 這些沒辦法用</a:t>
            </a:r>
            <a:r>
              <a:rPr lang="en-US" altLang="zh-TW" dirty="0"/>
              <a:t>LLM</a:t>
            </a:r>
            <a:r>
              <a:rPr lang="zh-TW" altLang="en-US" dirty="0"/>
              <a:t>做嗎</a:t>
            </a:r>
            <a:endParaRPr lang="en-US" altLang="zh-TW" dirty="0"/>
          </a:p>
          <a:p>
            <a:r>
              <a:rPr lang="zh-TW" altLang="zh-TW" dirty="0"/>
              <a:t>我認為 LLM 可以協助這個流程，但目前還不能直接取代最佳化演算法。</a:t>
            </a:r>
            <a:endParaRPr lang="en-US" altLang="zh-TW" dirty="0"/>
          </a:p>
          <a:p>
            <a:r>
              <a:rPr lang="zh-TW" altLang="zh-TW" dirty="0"/>
              <a:t>如果把物流資料直接丟給 LLM，請它輸出一份 Excel 路線，它確實有可能產生一個結果，但有幾個問題。</a:t>
            </a:r>
            <a:endParaRPr lang="en-US" altLang="zh-TW" dirty="0"/>
          </a:p>
          <a:p>
            <a:pPr marL="228600" indent="-228600">
              <a:buAutoNum type="arabicPeriod"/>
            </a:pPr>
            <a:r>
              <a:rPr lang="zh-TW" altLang="zh-TW" dirty="0"/>
              <a:t>LLM 不保證滿足所有限制條件</a:t>
            </a:r>
            <a:endParaRPr lang="en-US" altLang="zh-TW" dirty="0"/>
          </a:p>
          <a:p>
            <a:pPr marL="228600" indent="-228600">
              <a:buAutoNum type="arabicPeriod"/>
            </a:pPr>
            <a:r>
              <a:rPr lang="zh-TW" altLang="zh-TW" dirty="0"/>
              <a:t>結果的穩定性與可驗證性</a:t>
            </a:r>
            <a:endParaRPr lang="en-US" altLang="zh-TW" dirty="0"/>
          </a:p>
          <a:p>
            <a:pPr marL="228600" indent="-228600">
              <a:buAutoNum type="arabicPeriod"/>
            </a:pPr>
            <a:endParaRPr lang="en-US" altLang="zh-TW" dirty="0"/>
          </a:p>
          <a:p>
            <a:pPr marL="0" indent="0">
              <a:buNone/>
            </a:pPr>
            <a:r>
              <a:rPr lang="en-US" altLang="zh-TW" dirty="0"/>
              <a:t>3.</a:t>
            </a:r>
            <a:r>
              <a:rPr lang="zh-TW" altLang="en-US" dirty="0"/>
              <a:t> </a:t>
            </a:r>
            <a:endParaRPr lang="en-US" altLang="zh-TW" dirty="0"/>
          </a:p>
        </p:txBody>
      </p:sp>
      <p:sp>
        <p:nvSpPr>
          <p:cNvPr id="4" name="投影片編號版面配置區 3">
            <a:extLst>
              <a:ext uri="{FF2B5EF4-FFF2-40B4-BE49-F238E27FC236}">
                <a16:creationId xmlns:a16="http://schemas.microsoft.com/office/drawing/2014/main" id="{37935761-A00F-80CE-B28F-172EAB01429B}"/>
              </a:ext>
            </a:extLst>
          </p:cNvPr>
          <p:cNvSpPr>
            <a:spLocks noGrp="1"/>
          </p:cNvSpPr>
          <p:nvPr>
            <p:ph type="sldNum" sz="quarter" idx="10"/>
          </p:nvPr>
        </p:nvSpPr>
        <p:spPr/>
        <p:txBody>
          <a:bodyPr/>
          <a:lstStyle/>
          <a:p>
            <a:fld id="{504706DC-D834-4F28-8B12-F5017493D9BA}" type="slidenum">
              <a:rPr lang="zh-TW" altLang="en-US" smtClean="0"/>
              <a:t>34</a:t>
            </a:fld>
            <a:endParaRPr lang="zh-TW" altLang="en-US"/>
          </a:p>
        </p:txBody>
      </p:sp>
    </p:spTree>
    <p:extLst>
      <p:ext uri="{BB962C8B-B14F-4D97-AF65-F5344CB8AC3E}">
        <p14:creationId xmlns:p14="http://schemas.microsoft.com/office/powerpoint/2010/main" val="411032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TW" altLang="en-US"/>
              <a:t>按一下以編輯母片標題樣式</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4615597C-F572-4A2F-8DB3-4E70DD865481}" type="datetime1">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40417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lvl3pPr>
              <a:spcBef>
                <a:spcPts val="600"/>
              </a:spcBef>
              <a:spcAft>
                <a:spcPts val="600"/>
              </a:spcAft>
              <a:buClr>
                <a:schemeClr val="accent1">
                  <a:lumMod val="50000"/>
                </a:schemeClr>
              </a:buClr>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p>
            <a:fld id="{37A0302E-DE4D-4787-9FB6-0B2A2A238E02}" type="datetime1">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727954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TW" altLang="en-US"/>
              <a:t>按一下以編輯母片標題樣式</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編輯母片文字樣式</a:t>
            </a:r>
          </a:p>
        </p:txBody>
      </p:sp>
      <p:sp>
        <p:nvSpPr>
          <p:cNvPr id="4" name="Date Placeholder 3"/>
          <p:cNvSpPr>
            <a:spLocks noGrp="1"/>
          </p:cNvSpPr>
          <p:nvPr>
            <p:ph type="dt" sz="half" idx="10"/>
          </p:nvPr>
        </p:nvSpPr>
        <p:spPr/>
        <p:txBody>
          <a:bodyPr/>
          <a:lstStyle/>
          <a:p>
            <a:fld id="{305B98BF-7504-47B1-8CFB-9D9962CBFE76}" type="datetime1">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6271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097278" y="1845734"/>
            <a:ext cx="4937760" cy="4023360"/>
          </a:xfrm>
        </p:spPr>
        <p:txBody>
          <a:bodyPr/>
          <a:lstStyle>
            <a:lvl1pPr>
              <a:defRPr sz="2400"/>
            </a:lvl1pPr>
            <a:lvl2pPr marL="384048" indent="-182880">
              <a:buFont typeface="Wingdings" panose="05000000000000000000" pitchFamily="2" charset="2"/>
              <a:buChar char="Ø"/>
              <a:defRPr/>
            </a:lvl2pPr>
            <a:lvl3pPr marL="566928" indent="-182880">
              <a:buFont typeface="Wingdings" panose="05000000000000000000" pitchFamily="2" charset="2"/>
              <a:buChar char="l"/>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Content Placeholder 3"/>
          <p:cNvSpPr>
            <a:spLocks noGrp="1"/>
          </p:cNvSpPr>
          <p:nvPr>
            <p:ph sz="half" idx="2"/>
          </p:nvPr>
        </p:nvSpPr>
        <p:spPr>
          <a:xfrm>
            <a:off x="6217920" y="1845735"/>
            <a:ext cx="4937760" cy="4023360"/>
          </a:xfrm>
        </p:spPr>
        <p:txBody>
          <a:bodyPr/>
          <a:lstStyle>
            <a:lvl1pPr>
              <a:defRPr sz="2400"/>
            </a:lvl1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5" name="Date Placeholder 4"/>
          <p:cNvSpPr>
            <a:spLocks noGrp="1"/>
          </p:cNvSpPr>
          <p:nvPr>
            <p:ph type="dt" sz="half" idx="10"/>
          </p:nvPr>
        </p:nvSpPr>
        <p:spPr/>
        <p:txBody>
          <a:bodyPr/>
          <a:lstStyle/>
          <a:p>
            <a:fld id="{3294B217-F04C-499F-B3C3-2495ADA884A1}" type="datetime1">
              <a:rPr lang="zh-TW" altLang="en-US" smtClean="0"/>
              <a:t>2026/6/30</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947762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Content Placeholder 3"/>
          <p:cNvSpPr>
            <a:spLocks noGrp="1"/>
          </p:cNvSpPr>
          <p:nvPr>
            <p:ph sz="half" idx="2"/>
          </p:nvPr>
        </p:nvSpPr>
        <p:spPr>
          <a:xfrm>
            <a:off x="109728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Content Placeholder 5"/>
          <p:cNvSpPr>
            <a:spLocks noGrp="1"/>
          </p:cNvSpPr>
          <p:nvPr>
            <p:ph sz="quarter" idx="4"/>
          </p:nvPr>
        </p:nvSpPr>
        <p:spPr>
          <a:xfrm>
            <a:off x="621792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69589430-20CC-4CB6-8099-6D6F8AD9126B}" type="datetime1">
              <a:rPr lang="zh-TW" altLang="en-US" smtClean="0"/>
              <a:t>2026/6/30</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685966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0B64F23A-ADA9-4B81-BA25-B90A125A7E29}" type="datetime1">
              <a:rPr lang="zh-TW" altLang="en-US" smtClean="0"/>
              <a:t>2026/6/30</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953415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873358DE-BAB7-43C6-B230-87048C96B64C}" type="datetime1">
              <a:rPr lang="zh-TW" altLang="en-US" smtClean="0"/>
              <a:t>2026/6/30</a:t>
            </a:fld>
            <a:endParaRPr lang="zh-TW" alt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893399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TW" altLang="en-US"/>
              <a:t>按一下以編輯母片標題樣式</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B69258C-861B-4A67-93B0-E5B8B2157AFE}" type="datetime1">
              <a:rPr lang="zh-TW" altLang="en-US" smtClean="0"/>
              <a:t>2026/6/30</a:t>
            </a:fld>
            <a:endParaRPr lang="zh-TW" alt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zh-TW" alt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99355627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p:txBody>
          <a:bodyPr/>
          <a:lstStyle/>
          <a:p>
            <a:fld id="{6B69258C-861B-4A67-93B0-E5B8B2157AFE}" type="datetime1">
              <a:rPr lang="zh-TW" altLang="en-US" smtClean="0"/>
              <a:t>2026/6/30</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89003229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511B4937-A29C-4193-9DD1-4AB39B0FC9A5}" type="datetime1">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1698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4ABB3EA8-8FA6-47FB-B4CB-5B3095828625}" type="datetime1">
              <a:rPr lang="zh-TW" altLang="en-US" smtClean="0"/>
              <a:t>2026/6/30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383738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B69258C-861B-4A67-93B0-E5B8B2157AFE}" type="datetime1">
              <a:rPr lang="zh-TW" altLang="en-US" smtClean="0"/>
              <a:t>2026/6/30</a:t>
            </a:fld>
            <a:endParaRPr lang="zh-TW" alt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zh-TW" alt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5AC25633-CB68-4D6B-BEE8-144406895708}" type="slidenum">
              <a:rPr lang="zh-TW" altLang="en-US" smtClean="0"/>
              <a:t>‹#›</a:t>
            </a:fld>
            <a:endParaRPr lang="zh-TW" alt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30925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2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598A351-EA25-436B-B36F-4AF45C795F89}"/>
              </a:ext>
            </a:extLst>
          </p:cNvPr>
          <p:cNvSpPr>
            <a:spLocks noGrp="1"/>
          </p:cNvSpPr>
          <p:nvPr>
            <p:ph type="title"/>
          </p:nvPr>
        </p:nvSpPr>
        <p:spPr>
          <a:xfrm>
            <a:off x="515793" y="2008972"/>
            <a:ext cx="11221374" cy="1750588"/>
          </a:xfrm>
        </p:spPr>
        <p:txBody>
          <a:bodyPr>
            <a:noAutofit/>
          </a:bodyPr>
          <a:lstStyle/>
          <a:p>
            <a:pPr algn="ctr"/>
            <a:r>
              <a:rPr lang="en-US" altLang="zh-TW" sz="4800" b="1" dirty="0"/>
              <a:t>Multi-Stage Optimization for Supporting Lines in Logistics Companies</a:t>
            </a:r>
            <a:endParaRPr lang="zh-TW" altLang="en-US" sz="4800" b="1" dirty="0"/>
          </a:p>
        </p:txBody>
      </p:sp>
      <p:sp>
        <p:nvSpPr>
          <p:cNvPr id="4" name="投影片編號版面配置區 3">
            <a:extLst>
              <a:ext uri="{FF2B5EF4-FFF2-40B4-BE49-F238E27FC236}">
                <a16:creationId xmlns:a16="http://schemas.microsoft.com/office/drawing/2014/main" id="{3F9DE4A7-02C9-437F-8E5D-A0C80B45D07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a:t>
            </a:fld>
            <a:endParaRPr lang="zh-TW" altLang="en-US" sz="1600" dirty="0"/>
          </a:p>
        </p:txBody>
      </p:sp>
      <p:sp>
        <p:nvSpPr>
          <p:cNvPr id="9" name="文字版面配置區 8">
            <a:extLst>
              <a:ext uri="{FF2B5EF4-FFF2-40B4-BE49-F238E27FC236}">
                <a16:creationId xmlns:a16="http://schemas.microsoft.com/office/drawing/2014/main" id="{C9626854-F57D-1205-9F35-ADDFB7CE8AA1}"/>
              </a:ext>
            </a:extLst>
          </p:cNvPr>
          <p:cNvSpPr txBox="1">
            <a:spLocks noGrp="1"/>
          </p:cNvSpPr>
          <p:nvPr>
            <p:ph type="body" idx="1"/>
          </p:nvPr>
        </p:nvSpPr>
        <p:spPr>
          <a:xfrm>
            <a:off x="3459182" y="4452938"/>
            <a:ext cx="5333961" cy="1200329"/>
          </a:xfrm>
          <a:prstGeom prst="rect">
            <a:avLst/>
          </a:prstGeom>
          <a:noFill/>
        </p:spPr>
        <p:txBody>
          <a:bodyPr wrap="none" rtlCol="0">
            <a:spAutoFit/>
          </a:bodyPr>
          <a:lstStyle/>
          <a:p>
            <a:pPr lvl="0" algn="ctr">
              <a:lnSpc>
                <a:spcPct val="100000"/>
              </a:lnSpc>
              <a:spcBef>
                <a:spcPts val="0"/>
              </a:spcBef>
              <a:spcAft>
                <a:spcPts val="0"/>
              </a:spcAft>
              <a:buSzPts val="2200"/>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Jong-Yih Kuo, Hong-Jie Yang, Ti-Feng Hsieh</a:t>
            </a: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Computer Science and Information Engineering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National Taipei University of Technology</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Email: {</a:t>
            </a:r>
            <a:r>
              <a:rPr lang="en-US" altLang="zh-TW" sz="1800" cap="none" spc="0" dirty="0" err="1">
                <a:solidFill>
                  <a:schemeClr val="dk1"/>
                </a:solidFill>
                <a:latin typeface="Times New Roman" panose="02020603050405020304" pitchFamily="18" charset="0"/>
                <a:ea typeface="Times New Roman"/>
                <a:cs typeface="Times New Roman" panose="02020603050405020304" pitchFamily="18" charset="0"/>
                <a:sym typeface="Times New Roman"/>
              </a:rPr>
              <a:t>jykuo</a:t>
            </a: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 t113598012, t112599002} @ntut.edu.tw</a:t>
            </a:r>
            <a:endParaRPr lang="zh-TW" altLang="en-US" dirty="0"/>
          </a:p>
        </p:txBody>
      </p:sp>
    </p:spTree>
    <p:extLst>
      <p:ext uri="{BB962C8B-B14F-4D97-AF65-F5344CB8AC3E}">
        <p14:creationId xmlns:p14="http://schemas.microsoft.com/office/powerpoint/2010/main" val="1114137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a:t>
            </a:fld>
            <a:endParaRPr lang="zh-TW" altLang="en-US" sz="1600"/>
          </a:p>
        </p:txBody>
      </p:sp>
    </p:spTree>
    <p:extLst>
      <p:ext uri="{BB962C8B-B14F-4D97-AF65-F5344CB8AC3E}">
        <p14:creationId xmlns:p14="http://schemas.microsoft.com/office/powerpoint/2010/main" val="31586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a:t>
            </a:fld>
            <a:endParaRPr lang="zh-TW" altLang="en-US" sz="1600"/>
          </a:p>
        </p:txBody>
      </p:sp>
    </p:spTree>
    <p:extLst>
      <p:ext uri="{BB962C8B-B14F-4D97-AF65-F5344CB8AC3E}">
        <p14:creationId xmlns:p14="http://schemas.microsoft.com/office/powerpoint/2010/main" val="138597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Motivation</a:t>
            </a:r>
            <a:endParaRPr lang="zh-TW" altLang="en-US" dirty="0"/>
          </a:p>
        </p:txBody>
      </p:sp>
      <p:sp>
        <p:nvSpPr>
          <p:cNvPr id="3" name="內容版面配置區 2">
            <a:extLst>
              <a:ext uri="{FF2B5EF4-FFF2-40B4-BE49-F238E27FC236}">
                <a16:creationId xmlns:a16="http://schemas.microsoft.com/office/drawing/2014/main" id="{A3F0BA10-9BD8-44CF-8049-9A706AE1DDF4}"/>
              </a:ext>
            </a:extLst>
          </p:cNvPr>
          <p:cNvSpPr>
            <a:spLocks noGrp="1"/>
          </p:cNvSpPr>
          <p:nvPr>
            <p:ph idx="1"/>
          </p:nvPr>
        </p:nvSpPr>
        <p:spPr>
          <a:xfrm>
            <a:off x="1097280" y="1845734"/>
            <a:ext cx="10058400" cy="4492922"/>
          </a:xfrm>
        </p:spPr>
        <p:txBody>
          <a:bodyPr>
            <a:normAutofit/>
          </a:bodyPr>
          <a:lstStyle/>
          <a:p>
            <a:pPr>
              <a:buFont typeface="Wingdings" panose="05000000000000000000" pitchFamily="2" charset="2"/>
              <a:buChar char="Ø"/>
            </a:pPr>
            <a:r>
              <a:rPr lang="en-US" altLang="zh-TW" dirty="0"/>
              <a:t>Logistics distribution demand is continuously increasing</a:t>
            </a:r>
          </a:p>
          <a:p>
            <a:pPr marL="395478" lvl="1" indent="-285750">
              <a:buFont typeface="Arial" panose="020B0604020202020204" pitchFamily="34" charset="0"/>
              <a:buChar char="•"/>
            </a:pPr>
            <a:r>
              <a:rPr lang="zh-TW" altLang="zh-TW" dirty="0"/>
              <a:t>Growth of logistics and e-commerce increases delivery complexit</a:t>
            </a:r>
            <a:r>
              <a:rPr lang="en-US" altLang="zh-TW" dirty="0"/>
              <a:t>y</a:t>
            </a:r>
          </a:p>
          <a:p>
            <a:pPr marL="395478" lvl="1" indent="-285750">
              <a:buFont typeface="Arial" panose="020B0604020202020204" pitchFamily="34" charset="0"/>
              <a:buChar char="•"/>
            </a:pPr>
            <a:r>
              <a:rPr lang="zh-TW" altLang="zh-TW" dirty="0"/>
              <a:t>Efficient route planning is </a:t>
            </a:r>
            <a:r>
              <a:rPr lang="en-US" altLang="zh-TW" dirty="0"/>
              <a:t>critical</a:t>
            </a:r>
            <a:r>
              <a:rPr lang="zh-TW" altLang="zh-TW" dirty="0"/>
              <a:t> for reducing operational cost</a:t>
            </a:r>
            <a:r>
              <a:rPr lang="en-US" altLang="zh-TW" dirty="0"/>
              <a:t>s</a:t>
            </a:r>
          </a:p>
          <a:p>
            <a:pPr marL="109728" lvl="1" indent="0">
              <a:buNone/>
            </a:pPr>
            <a:endParaRPr lang="en-US" altLang="zh-TW" dirty="0"/>
          </a:p>
          <a:p>
            <a:pPr>
              <a:buFont typeface="Wingdings" panose="05000000000000000000" pitchFamily="2" charset="2"/>
              <a:buChar char="Ø"/>
            </a:pPr>
            <a:r>
              <a:rPr lang="zh-TW" altLang="zh-TW" dirty="0"/>
              <a:t>Real-world logistics operations differ from </a:t>
            </a:r>
            <a:r>
              <a:rPr lang="en-US" altLang="zh-TW" dirty="0"/>
              <a:t>Vehicle Routing Problem (</a:t>
            </a:r>
            <a:r>
              <a:rPr lang="zh-TW" altLang="zh-TW" dirty="0"/>
              <a:t>VRP</a:t>
            </a:r>
            <a:r>
              <a:rPr lang="en-US" altLang="zh-TW" dirty="0"/>
              <a:t>) models</a:t>
            </a:r>
          </a:p>
          <a:p>
            <a:pPr lvl="1">
              <a:buFont typeface="Arial" panose="020B0604020202020204" pitchFamily="34" charset="0"/>
              <a:buChar char="•"/>
            </a:pPr>
            <a:r>
              <a:rPr lang="zh-TW" altLang="zh-TW" dirty="0"/>
              <a:t>Fixed-route structures and service restrictions are rarely considered</a:t>
            </a:r>
            <a:r>
              <a:rPr lang="en-US" altLang="zh-TW" dirty="0"/>
              <a:t> in VRP studies</a:t>
            </a:r>
          </a:p>
          <a:p>
            <a:pPr marL="201168" lvl="1" indent="0">
              <a:buNone/>
            </a:pPr>
            <a:endParaRPr lang="en-US" altLang="zh-TW" dirty="0"/>
          </a:p>
          <a:p>
            <a:pPr>
              <a:buFont typeface="Wingdings" panose="05000000000000000000" pitchFamily="2" charset="2"/>
              <a:buChar char="Ø"/>
            </a:pPr>
            <a:r>
              <a:rPr lang="en-US" altLang="zh-TW" dirty="0"/>
              <a:t>Route planning is performed manually</a:t>
            </a:r>
          </a:p>
          <a:p>
            <a:pPr lvl="1">
              <a:buFont typeface="Arial" panose="020B0604020202020204" pitchFamily="34" charset="0"/>
              <a:buChar char="•"/>
            </a:pPr>
            <a:r>
              <a:rPr lang="zh-TW" altLang="zh-TW" dirty="0"/>
              <a:t>Route planning is a time-consuming</a:t>
            </a:r>
            <a:endParaRPr lang="en-US" altLang="zh-TW" dirty="0"/>
          </a:p>
          <a:p>
            <a:pPr lvl="1">
              <a:buFont typeface="Arial" panose="020B0604020202020204" pitchFamily="34" charset="0"/>
              <a:buChar char="•"/>
            </a:pPr>
            <a:r>
              <a:rPr lang="en-US" altLang="zh-TW" dirty="0"/>
              <a:t>Route planning is highly dependent on human experience</a:t>
            </a:r>
          </a:p>
        </p:txBody>
      </p:sp>
      <p:sp>
        <p:nvSpPr>
          <p:cNvPr id="4" name="投影片編號版面配置區 3">
            <a:extLst>
              <a:ext uri="{FF2B5EF4-FFF2-40B4-BE49-F238E27FC236}">
                <a16:creationId xmlns:a16="http://schemas.microsoft.com/office/drawing/2014/main" id="{CBCC8382-3E42-4175-A9E0-F9F79B8357E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a:t>
            </a:fld>
            <a:endParaRPr lang="zh-TW" altLang="en-US" sz="1600" dirty="0"/>
          </a:p>
        </p:txBody>
      </p:sp>
    </p:spTree>
    <p:extLst>
      <p:ext uri="{BB962C8B-B14F-4D97-AF65-F5344CB8AC3E}">
        <p14:creationId xmlns:p14="http://schemas.microsoft.com/office/powerpoint/2010/main" val="3712867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5</a:t>
            </a:fld>
            <a:endParaRPr lang="zh-TW" altLang="en-US" sz="1600"/>
          </a:p>
        </p:txBody>
      </p:sp>
    </p:spTree>
    <p:extLst>
      <p:ext uri="{BB962C8B-B14F-4D97-AF65-F5344CB8AC3E}">
        <p14:creationId xmlns:p14="http://schemas.microsoft.com/office/powerpoint/2010/main" val="2944705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F25F604-5187-444F-BBAA-92953D6FC196}"/>
              </a:ext>
            </a:extLst>
          </p:cNvPr>
          <p:cNvSpPr>
            <a:spLocks noGrp="1"/>
          </p:cNvSpPr>
          <p:nvPr>
            <p:ph type="title"/>
          </p:nvPr>
        </p:nvSpPr>
        <p:spPr/>
        <p:txBody>
          <a:bodyPr/>
          <a:lstStyle/>
          <a:p>
            <a:r>
              <a:rPr lang="en-US" altLang="zh-TW" dirty="0"/>
              <a:t>The proposed approach</a:t>
            </a:r>
            <a:endParaRPr lang="zh-TW" altLang="en-US" dirty="0"/>
          </a:p>
        </p:txBody>
      </p:sp>
      <p:sp>
        <p:nvSpPr>
          <p:cNvPr id="3" name="內容版面配置區 2">
            <a:extLst>
              <a:ext uri="{FF2B5EF4-FFF2-40B4-BE49-F238E27FC236}">
                <a16:creationId xmlns:a16="http://schemas.microsoft.com/office/drawing/2014/main" id="{F3F3023D-8FAB-45FA-9088-07342E8DDB88}"/>
              </a:ext>
            </a:extLst>
          </p:cNvPr>
          <p:cNvSpPr>
            <a:spLocks noGrp="1"/>
          </p:cNvSpPr>
          <p:nvPr>
            <p:ph idx="1"/>
          </p:nvPr>
        </p:nvSpPr>
        <p:spPr>
          <a:xfrm>
            <a:off x="1097279" y="1845734"/>
            <a:ext cx="10350533" cy="4023360"/>
          </a:xfrm>
        </p:spPr>
        <p:txBody>
          <a:bodyPr>
            <a:normAutofit/>
          </a:bodyPr>
          <a:lstStyle/>
          <a:p>
            <a:pPr marL="0" indent="0">
              <a:buNone/>
            </a:pPr>
            <a:r>
              <a:rPr lang="en-US" altLang="zh-TW" dirty="0"/>
              <a:t>Multi-stage Operationally Constrained VRP Framework composed of four main modules</a:t>
            </a:r>
          </a:p>
          <a:p>
            <a:pPr marL="457200" indent="-457200">
              <a:buClr>
                <a:schemeClr val="accent1">
                  <a:lumMod val="50000"/>
                </a:schemeClr>
              </a:buClr>
              <a:buFont typeface="+mj-lt"/>
              <a:buAutoNum type="arabicPeriod"/>
            </a:pPr>
            <a:r>
              <a:rPr lang="en-US" altLang="zh-TW" dirty="0"/>
              <a:t>API Module</a:t>
            </a:r>
          </a:p>
          <a:p>
            <a:pPr marL="749808" lvl="1" indent="-457200"/>
            <a:r>
              <a:rPr lang="zh-TW" altLang="zh-TW" dirty="0"/>
              <a:t>Provide distance and travel-time data through </a:t>
            </a:r>
            <a:r>
              <a:rPr lang="en-US" altLang="zh-TW" dirty="0"/>
              <a:t>Open Source Routing Machine (OSRM)</a:t>
            </a:r>
            <a:r>
              <a:rPr lang="zh-TW" altLang="zh-TW" dirty="0"/>
              <a:t> and Routes API</a:t>
            </a:r>
            <a:endParaRPr lang="en-US" altLang="zh-TW" dirty="0"/>
          </a:p>
          <a:p>
            <a:pPr marL="457200" indent="-457200">
              <a:buClr>
                <a:schemeClr val="accent1">
                  <a:lumMod val="50000"/>
                </a:schemeClr>
              </a:buClr>
              <a:buFont typeface="+mj-lt"/>
              <a:buAutoNum type="arabicPeriod"/>
            </a:pPr>
            <a:r>
              <a:rPr lang="en-US" altLang="zh-TW" dirty="0"/>
              <a:t>Data Module</a:t>
            </a:r>
          </a:p>
          <a:p>
            <a:pPr marL="749808" lvl="1" indent="-457200"/>
            <a:r>
              <a:rPr lang="zh-TW" altLang="zh-TW" dirty="0"/>
              <a:t>Preprocess raw routing data for route planning</a:t>
            </a:r>
            <a:endParaRPr lang="en-US" altLang="zh-TW" dirty="0"/>
          </a:p>
          <a:p>
            <a:pPr marL="457200" indent="-457200">
              <a:buClr>
                <a:schemeClr val="accent1">
                  <a:lumMod val="50000"/>
                </a:schemeClr>
              </a:buClr>
              <a:buFont typeface="+mj-lt"/>
              <a:buAutoNum type="arabicPeriod"/>
            </a:pPr>
            <a:r>
              <a:rPr lang="en-US" altLang="zh-TW" dirty="0"/>
              <a:t>Routing Module</a:t>
            </a:r>
          </a:p>
          <a:p>
            <a:pPr marL="749808" lvl="1" indent="-457200"/>
            <a:r>
              <a:rPr lang="en-US" altLang="zh-TW" dirty="0"/>
              <a:t>Perform store extraction, assignment, and support route planning under operational constraints</a:t>
            </a:r>
          </a:p>
          <a:p>
            <a:pPr marL="457200" indent="-457200">
              <a:buClr>
                <a:schemeClr val="accent1">
                  <a:lumMod val="50000"/>
                </a:schemeClr>
              </a:buClr>
              <a:buFont typeface="+mj-lt"/>
              <a:buAutoNum type="arabicPeriod"/>
            </a:pPr>
            <a:r>
              <a:rPr lang="en-US" altLang="zh-TW" dirty="0"/>
              <a:t>Evaluation Module</a:t>
            </a:r>
          </a:p>
          <a:p>
            <a:pPr marL="749808" lvl="1" indent="-457200"/>
            <a:r>
              <a:rPr lang="en-US" altLang="zh-TW" dirty="0"/>
              <a:t>Provide route visualization and performance evaluation using multiple routing metrics</a:t>
            </a:r>
          </a:p>
        </p:txBody>
      </p:sp>
      <p:sp>
        <p:nvSpPr>
          <p:cNvPr id="4" name="投影片編號版面配置區 3">
            <a:extLst>
              <a:ext uri="{FF2B5EF4-FFF2-40B4-BE49-F238E27FC236}">
                <a16:creationId xmlns:a16="http://schemas.microsoft.com/office/drawing/2014/main" id="{890DAC88-58ED-4794-BEB6-6B1FAFD1C7D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6</a:t>
            </a:fld>
            <a:endParaRPr lang="zh-TW" altLang="en-US" sz="1600"/>
          </a:p>
        </p:txBody>
      </p:sp>
    </p:spTree>
    <p:extLst>
      <p:ext uri="{BB962C8B-B14F-4D97-AF65-F5344CB8AC3E}">
        <p14:creationId xmlns:p14="http://schemas.microsoft.com/office/powerpoint/2010/main" val="1112248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A4BCDA3-19D4-4822-9389-695E95BCED0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7</a:t>
            </a:fld>
            <a:endParaRPr lang="zh-TW" altLang="en-US" sz="1600"/>
          </a:p>
        </p:txBody>
      </p:sp>
      <p:sp>
        <p:nvSpPr>
          <p:cNvPr id="172" name="矩形 171">
            <a:extLst>
              <a:ext uri="{FF2B5EF4-FFF2-40B4-BE49-F238E27FC236}">
                <a16:creationId xmlns:a16="http://schemas.microsoft.com/office/drawing/2014/main" id="{9D69D38C-44A0-14DE-E1EA-D315DBF6C776}"/>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3" name="矩形 172">
            <a:extLst>
              <a:ext uri="{FF2B5EF4-FFF2-40B4-BE49-F238E27FC236}">
                <a16:creationId xmlns:a16="http://schemas.microsoft.com/office/drawing/2014/main" id="{8E71A7A6-572D-3CDA-988F-CE3694C9990E}"/>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174" name="矩形 173">
            <a:extLst>
              <a:ext uri="{FF2B5EF4-FFF2-40B4-BE49-F238E27FC236}">
                <a16:creationId xmlns:a16="http://schemas.microsoft.com/office/drawing/2014/main" id="{D69977D4-7D5B-75F1-0F12-CCDAB92D70C6}"/>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75" name="矩形 174">
            <a:extLst>
              <a:ext uri="{FF2B5EF4-FFF2-40B4-BE49-F238E27FC236}">
                <a16:creationId xmlns:a16="http://schemas.microsoft.com/office/drawing/2014/main" id="{EAFC525D-25CD-B081-3B05-E329107B02BF}"/>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76" name="矩形 175">
            <a:extLst>
              <a:ext uri="{FF2B5EF4-FFF2-40B4-BE49-F238E27FC236}">
                <a16:creationId xmlns:a16="http://schemas.microsoft.com/office/drawing/2014/main" id="{66F1F7C1-F5D7-5FA0-113A-7E32F3B92E4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77" name="矩形 176">
            <a:extLst>
              <a:ext uri="{FF2B5EF4-FFF2-40B4-BE49-F238E27FC236}">
                <a16:creationId xmlns:a16="http://schemas.microsoft.com/office/drawing/2014/main" id="{6CA444DA-B87E-929F-C983-8D83E00EA694}"/>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78" name="矩形 177">
            <a:extLst>
              <a:ext uri="{FF2B5EF4-FFF2-40B4-BE49-F238E27FC236}">
                <a16:creationId xmlns:a16="http://schemas.microsoft.com/office/drawing/2014/main" id="{BF6D9718-6BF4-F6A9-C9FA-C51CD2C5BC6E}"/>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179" name="直線單箭頭接點 178">
            <a:extLst>
              <a:ext uri="{FF2B5EF4-FFF2-40B4-BE49-F238E27FC236}">
                <a16:creationId xmlns:a16="http://schemas.microsoft.com/office/drawing/2014/main" id="{CA3C18F4-EFB4-1E80-265A-CF190E40F26C}"/>
              </a:ext>
            </a:extLst>
          </p:cNvPr>
          <p:cNvCxnSpPr>
            <a:cxnSpLocks/>
            <a:endCxn id="173"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直線單箭頭接點 179">
            <a:extLst>
              <a:ext uri="{FF2B5EF4-FFF2-40B4-BE49-F238E27FC236}">
                <a16:creationId xmlns:a16="http://schemas.microsoft.com/office/drawing/2014/main" id="{8251C3D4-530D-E3B1-48F1-1C959DC59BFB}"/>
              </a:ext>
            </a:extLst>
          </p:cNvPr>
          <p:cNvCxnSpPr>
            <a:cxnSpLocks/>
            <a:stCxn id="17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文字方塊 180">
            <a:extLst>
              <a:ext uri="{FF2B5EF4-FFF2-40B4-BE49-F238E27FC236}">
                <a16:creationId xmlns:a16="http://schemas.microsoft.com/office/drawing/2014/main" id="{E8F55DD7-6C66-2FD7-7AF1-FC92EE6CB5D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182" name="直線單箭頭接點 181">
            <a:extLst>
              <a:ext uri="{FF2B5EF4-FFF2-40B4-BE49-F238E27FC236}">
                <a16:creationId xmlns:a16="http://schemas.microsoft.com/office/drawing/2014/main" id="{10930DB9-9129-F325-4DD2-092A349452E6}"/>
              </a:ext>
            </a:extLst>
          </p:cNvPr>
          <p:cNvCxnSpPr>
            <a:cxnSpLocks/>
            <a:stCxn id="173" idx="3"/>
            <a:endCxn id="174"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3" name="直線單箭頭接點 182">
            <a:extLst>
              <a:ext uri="{FF2B5EF4-FFF2-40B4-BE49-F238E27FC236}">
                <a16:creationId xmlns:a16="http://schemas.microsoft.com/office/drawing/2014/main" id="{06538F09-9AB6-7CE9-55AA-07842A0BF988}"/>
              </a:ext>
            </a:extLst>
          </p:cNvPr>
          <p:cNvCxnSpPr>
            <a:cxnSpLocks/>
            <a:stCxn id="174" idx="3"/>
            <a:endCxn id="175"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4" name="矩形 183">
            <a:extLst>
              <a:ext uri="{FF2B5EF4-FFF2-40B4-BE49-F238E27FC236}">
                <a16:creationId xmlns:a16="http://schemas.microsoft.com/office/drawing/2014/main" id="{6AA396CE-99DA-E3D5-0565-85AA2A15ACAF}"/>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5" name="矩形 184">
            <a:extLst>
              <a:ext uri="{FF2B5EF4-FFF2-40B4-BE49-F238E27FC236}">
                <a16:creationId xmlns:a16="http://schemas.microsoft.com/office/drawing/2014/main" id="{673AC6C1-9D38-9289-76F6-86C70A399375}"/>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6" name="文字方塊 185">
            <a:extLst>
              <a:ext uri="{FF2B5EF4-FFF2-40B4-BE49-F238E27FC236}">
                <a16:creationId xmlns:a16="http://schemas.microsoft.com/office/drawing/2014/main" id="{5BCC180E-59BB-ED92-DDCB-599EDA1DE7C6}"/>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187" name="矩形 186">
            <a:extLst>
              <a:ext uri="{FF2B5EF4-FFF2-40B4-BE49-F238E27FC236}">
                <a16:creationId xmlns:a16="http://schemas.microsoft.com/office/drawing/2014/main" id="{3786ECA4-8B90-411B-6160-C70F7FBED422}"/>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188" name="直線單箭頭接點 187">
            <a:extLst>
              <a:ext uri="{FF2B5EF4-FFF2-40B4-BE49-F238E27FC236}">
                <a16:creationId xmlns:a16="http://schemas.microsoft.com/office/drawing/2014/main" id="{33691792-869A-FD61-6A37-8C1D38401A2B}"/>
              </a:ext>
            </a:extLst>
          </p:cNvPr>
          <p:cNvCxnSpPr>
            <a:cxnSpLocks/>
            <a:stCxn id="175" idx="3"/>
            <a:endCxn id="18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文字方塊 188">
            <a:extLst>
              <a:ext uri="{FF2B5EF4-FFF2-40B4-BE49-F238E27FC236}">
                <a16:creationId xmlns:a16="http://schemas.microsoft.com/office/drawing/2014/main" id="{528B902F-5983-DAB6-8CD4-D16446BBB166}"/>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90" name="矩形 189">
            <a:extLst>
              <a:ext uri="{FF2B5EF4-FFF2-40B4-BE49-F238E27FC236}">
                <a16:creationId xmlns:a16="http://schemas.microsoft.com/office/drawing/2014/main" id="{48571EB6-1E29-0A1A-C34D-143A761FA26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1" name="文字方塊 190">
            <a:extLst>
              <a:ext uri="{FF2B5EF4-FFF2-40B4-BE49-F238E27FC236}">
                <a16:creationId xmlns:a16="http://schemas.microsoft.com/office/drawing/2014/main" id="{DECD945B-ECFB-58B7-6987-95518587A91A}"/>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92" name="接點: 肘形 191">
            <a:extLst>
              <a:ext uri="{FF2B5EF4-FFF2-40B4-BE49-F238E27FC236}">
                <a16:creationId xmlns:a16="http://schemas.microsoft.com/office/drawing/2014/main" id="{671B1BB2-48FF-E726-9979-A55001841824}"/>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3" name="接點: 肘形 192">
            <a:extLst>
              <a:ext uri="{FF2B5EF4-FFF2-40B4-BE49-F238E27FC236}">
                <a16:creationId xmlns:a16="http://schemas.microsoft.com/office/drawing/2014/main" id="{88F97789-B714-CFA8-DF3E-556F2A297133}"/>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95" name="流程圖: 磁碟 194">
            <a:extLst>
              <a:ext uri="{FF2B5EF4-FFF2-40B4-BE49-F238E27FC236}">
                <a16:creationId xmlns:a16="http://schemas.microsoft.com/office/drawing/2014/main" id="{D0B2F0AB-6326-F82A-A214-76CCC7BADA54}"/>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7" name="流程圖: 磁碟 196">
            <a:extLst>
              <a:ext uri="{FF2B5EF4-FFF2-40B4-BE49-F238E27FC236}">
                <a16:creationId xmlns:a16="http://schemas.microsoft.com/office/drawing/2014/main" id="{C19FFD95-30B9-BF1D-8B12-7F1F0F0859D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201" name="文字方塊 8">
            <a:extLst>
              <a:ext uri="{FF2B5EF4-FFF2-40B4-BE49-F238E27FC236}">
                <a16:creationId xmlns:a16="http://schemas.microsoft.com/office/drawing/2014/main" id="{D38F179D-C93A-F49D-80D3-D90579D0558E}"/>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2" name="文字方塊 8">
            <a:extLst>
              <a:ext uri="{FF2B5EF4-FFF2-40B4-BE49-F238E27FC236}">
                <a16:creationId xmlns:a16="http://schemas.microsoft.com/office/drawing/2014/main" id="{A0444FB2-FEBE-7883-C0AA-74EA17B7BD8A}"/>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03" name="直線單箭頭接點 202">
            <a:extLst>
              <a:ext uri="{FF2B5EF4-FFF2-40B4-BE49-F238E27FC236}">
                <a16:creationId xmlns:a16="http://schemas.microsoft.com/office/drawing/2014/main" id="{FDA3CF09-A957-D659-C7C4-AFBA9CE987E6}"/>
              </a:ext>
            </a:extLst>
          </p:cNvPr>
          <p:cNvCxnSpPr>
            <a:cxnSpLocks/>
            <a:stCxn id="187" idx="3"/>
            <a:endCxn id="17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5" name="接點: 肘形 204">
            <a:extLst>
              <a:ext uri="{FF2B5EF4-FFF2-40B4-BE49-F238E27FC236}">
                <a16:creationId xmlns:a16="http://schemas.microsoft.com/office/drawing/2014/main" id="{C56053C4-9DFD-1BB4-540D-3EFB513B48A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6" name="接點: 肘形 205">
            <a:extLst>
              <a:ext uri="{FF2B5EF4-FFF2-40B4-BE49-F238E27FC236}">
                <a16:creationId xmlns:a16="http://schemas.microsoft.com/office/drawing/2014/main" id="{BE174483-93A4-CC5D-C1D4-EEFFA8641E2A}"/>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BB972648-97FF-E8C8-9E25-A7DE60B97E90}"/>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A3A2E296-B4C0-37A0-ABF4-81088E069F5F}"/>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文字方塊 8">
            <a:extLst>
              <a:ext uri="{FF2B5EF4-FFF2-40B4-BE49-F238E27FC236}">
                <a16:creationId xmlns:a16="http://schemas.microsoft.com/office/drawing/2014/main" id="{13F30499-215B-519E-0386-4105B16A9AE7}"/>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0" name="文字方塊 8">
            <a:extLst>
              <a:ext uri="{FF2B5EF4-FFF2-40B4-BE49-F238E27FC236}">
                <a16:creationId xmlns:a16="http://schemas.microsoft.com/office/drawing/2014/main" id="{A861499A-696B-5518-FE9F-FF42C47E7ABF}"/>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45824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7427FF-3E2F-DAB7-3290-3BE6F49EE00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AA07354-3D22-65E1-3B22-54C1F4E9B16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2379682-85ED-E6EB-B13D-083A40FA97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8</a:t>
            </a:fld>
            <a:endParaRPr lang="zh-TW" altLang="en-US" sz="1600" dirty="0"/>
          </a:p>
        </p:txBody>
      </p:sp>
      <p:sp>
        <p:nvSpPr>
          <p:cNvPr id="19" name="矩形 18">
            <a:extLst>
              <a:ext uri="{FF2B5EF4-FFF2-40B4-BE49-F238E27FC236}">
                <a16:creationId xmlns:a16="http://schemas.microsoft.com/office/drawing/2014/main" id="{33D42A98-0C85-DC6E-94F4-9C6AAC792EFF}"/>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D8C786D5-9660-B05B-EFEF-FF46CC5AE08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1" name="矩形 20">
            <a:extLst>
              <a:ext uri="{FF2B5EF4-FFF2-40B4-BE49-F238E27FC236}">
                <a16:creationId xmlns:a16="http://schemas.microsoft.com/office/drawing/2014/main" id="{FECF1497-4CD5-4C49-AB03-BB5A595AF5CE}"/>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2" name="矩形 21">
            <a:extLst>
              <a:ext uri="{FF2B5EF4-FFF2-40B4-BE49-F238E27FC236}">
                <a16:creationId xmlns:a16="http://schemas.microsoft.com/office/drawing/2014/main" id="{7D4AF265-282B-8470-39B9-97223F186D80}"/>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3" name="矩形 22">
            <a:extLst>
              <a:ext uri="{FF2B5EF4-FFF2-40B4-BE49-F238E27FC236}">
                <a16:creationId xmlns:a16="http://schemas.microsoft.com/office/drawing/2014/main" id="{50F108C5-496A-A1A7-482F-9539BBDF08FF}"/>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146D040A-9EC4-A35D-AF37-19AC795BAE9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5" name="矩形 24">
            <a:extLst>
              <a:ext uri="{FF2B5EF4-FFF2-40B4-BE49-F238E27FC236}">
                <a16:creationId xmlns:a16="http://schemas.microsoft.com/office/drawing/2014/main" id="{7A6C219F-AD48-2F4E-32E4-03B708DD2347}"/>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6" name="直線單箭頭接點 25">
            <a:extLst>
              <a:ext uri="{FF2B5EF4-FFF2-40B4-BE49-F238E27FC236}">
                <a16:creationId xmlns:a16="http://schemas.microsoft.com/office/drawing/2014/main" id="{80D2F1E9-7642-A5F0-AD45-9E5854068823}"/>
              </a:ext>
            </a:extLst>
          </p:cNvPr>
          <p:cNvCxnSpPr>
            <a:cxnSpLocks/>
            <a:endCxn id="2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26">
            <a:extLst>
              <a:ext uri="{FF2B5EF4-FFF2-40B4-BE49-F238E27FC236}">
                <a16:creationId xmlns:a16="http://schemas.microsoft.com/office/drawing/2014/main" id="{723CD18D-D78D-6F08-EC70-8E4A8F794510}"/>
              </a:ext>
            </a:extLst>
          </p:cNvPr>
          <p:cNvCxnSpPr>
            <a:cxnSpLocks/>
            <a:stCxn id="2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B315D609-7A8E-6735-733C-98E020DCC39F}"/>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9" name="直線單箭頭接點 28">
            <a:extLst>
              <a:ext uri="{FF2B5EF4-FFF2-40B4-BE49-F238E27FC236}">
                <a16:creationId xmlns:a16="http://schemas.microsoft.com/office/drawing/2014/main" id="{55411CC5-7666-9BAB-5111-0DFA48D8D9F4}"/>
              </a:ext>
            </a:extLst>
          </p:cNvPr>
          <p:cNvCxnSpPr>
            <a:cxnSpLocks/>
            <a:stCxn id="20" idx="3"/>
            <a:endCxn id="2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單箭頭接點 30">
            <a:extLst>
              <a:ext uri="{FF2B5EF4-FFF2-40B4-BE49-F238E27FC236}">
                <a16:creationId xmlns:a16="http://schemas.microsoft.com/office/drawing/2014/main" id="{A3C861E2-3EFC-BCB6-FF54-92DE7F9A40FB}"/>
              </a:ext>
            </a:extLst>
          </p:cNvPr>
          <p:cNvCxnSpPr>
            <a:cxnSpLocks/>
            <a:stCxn id="21" idx="3"/>
            <a:endCxn id="2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35C36FAD-75AE-CD7F-73D5-57CB5AAA1AA2}"/>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2F7E82B5-9F85-2BF4-455B-45BE584C00FD}"/>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文字方塊 35">
            <a:extLst>
              <a:ext uri="{FF2B5EF4-FFF2-40B4-BE49-F238E27FC236}">
                <a16:creationId xmlns:a16="http://schemas.microsoft.com/office/drawing/2014/main" id="{A1E88D47-09B5-18B1-068A-89BDBE36DF85}"/>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7" name="矩形 36">
            <a:extLst>
              <a:ext uri="{FF2B5EF4-FFF2-40B4-BE49-F238E27FC236}">
                <a16:creationId xmlns:a16="http://schemas.microsoft.com/office/drawing/2014/main" id="{9F5B8023-8903-2FFB-B168-2838E7A2A3F6}"/>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38" name="直線單箭頭接點 37">
            <a:extLst>
              <a:ext uri="{FF2B5EF4-FFF2-40B4-BE49-F238E27FC236}">
                <a16:creationId xmlns:a16="http://schemas.microsoft.com/office/drawing/2014/main" id="{1FC2BD2B-53FB-4366-674C-B05A77DDCAFB}"/>
              </a:ext>
            </a:extLst>
          </p:cNvPr>
          <p:cNvCxnSpPr>
            <a:cxnSpLocks/>
            <a:stCxn id="22" idx="3"/>
            <a:endCxn id="3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文字方塊 38">
            <a:extLst>
              <a:ext uri="{FF2B5EF4-FFF2-40B4-BE49-F238E27FC236}">
                <a16:creationId xmlns:a16="http://schemas.microsoft.com/office/drawing/2014/main" id="{224C6FC8-ED8B-9591-77CB-65F6E7F02FB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0" name="矩形 39">
            <a:extLst>
              <a:ext uri="{FF2B5EF4-FFF2-40B4-BE49-F238E27FC236}">
                <a16:creationId xmlns:a16="http://schemas.microsoft.com/office/drawing/2014/main" id="{4394D476-2795-6B86-44E7-3A9F73729294}"/>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1" name="文字方塊 40">
            <a:extLst>
              <a:ext uri="{FF2B5EF4-FFF2-40B4-BE49-F238E27FC236}">
                <a16:creationId xmlns:a16="http://schemas.microsoft.com/office/drawing/2014/main" id="{E1CBF46A-09C4-23ED-0985-16515DB29220}"/>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2" name="接點: 肘形 41">
            <a:extLst>
              <a:ext uri="{FF2B5EF4-FFF2-40B4-BE49-F238E27FC236}">
                <a16:creationId xmlns:a16="http://schemas.microsoft.com/office/drawing/2014/main" id="{78B63CF8-5164-598C-95BA-768B17D0D8C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接點: 肘形 42">
            <a:extLst>
              <a:ext uri="{FF2B5EF4-FFF2-40B4-BE49-F238E27FC236}">
                <a16:creationId xmlns:a16="http://schemas.microsoft.com/office/drawing/2014/main" id="{42CE0211-A15F-80E9-AC4A-113BE18DEE5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流程圖: 磁碟 45">
            <a:extLst>
              <a:ext uri="{FF2B5EF4-FFF2-40B4-BE49-F238E27FC236}">
                <a16:creationId xmlns:a16="http://schemas.microsoft.com/office/drawing/2014/main" id="{7B17E985-88B2-883B-926E-E933C5B3859F}"/>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3" name="文字方塊 8">
            <a:extLst>
              <a:ext uri="{FF2B5EF4-FFF2-40B4-BE49-F238E27FC236}">
                <a16:creationId xmlns:a16="http://schemas.microsoft.com/office/drawing/2014/main" id="{5A44E232-1303-A330-D292-D8B7284DCFBD}"/>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4" name="文字方塊 8">
            <a:extLst>
              <a:ext uri="{FF2B5EF4-FFF2-40B4-BE49-F238E27FC236}">
                <a16:creationId xmlns:a16="http://schemas.microsoft.com/office/drawing/2014/main" id="{E6E17B25-2B07-47FF-A8BE-65FE08AFFEE7}"/>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5" name="直線單箭頭接點 54">
            <a:extLst>
              <a:ext uri="{FF2B5EF4-FFF2-40B4-BE49-F238E27FC236}">
                <a16:creationId xmlns:a16="http://schemas.microsoft.com/office/drawing/2014/main" id="{FE9F2901-AD61-4228-AA95-ADEE0BDDD15D}"/>
              </a:ext>
            </a:extLst>
          </p:cNvPr>
          <p:cNvCxnSpPr>
            <a:cxnSpLocks/>
            <a:stCxn id="37" idx="3"/>
            <a:endCxn id="2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接點: 肘形 56">
            <a:extLst>
              <a:ext uri="{FF2B5EF4-FFF2-40B4-BE49-F238E27FC236}">
                <a16:creationId xmlns:a16="http://schemas.microsoft.com/office/drawing/2014/main" id="{A6CC9D86-3C6B-3D74-D06B-62CDF4D31141}"/>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接點: 肘形 57">
            <a:extLst>
              <a:ext uri="{FF2B5EF4-FFF2-40B4-BE49-F238E27FC236}">
                <a16:creationId xmlns:a16="http://schemas.microsoft.com/office/drawing/2014/main" id="{0EFC66F2-D0A9-CAB3-E81F-CC241CE16470}"/>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F03662E9-DF26-C719-6563-EA396AD07BC3}"/>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7088894B-6511-3F1B-ABEE-5C00AA1AEBA2}"/>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0AF766AF-1CCD-05C9-46A3-56B1998B596F}"/>
              </a:ext>
            </a:extLst>
          </p:cNvPr>
          <p:cNvSpPr/>
          <p:nvPr/>
        </p:nvSpPr>
        <p:spPr>
          <a:xfrm>
            <a:off x="901102"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A9EF1F1F-160C-5583-2199-686A4D8DD536}"/>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140109E7-D67B-49AC-F5EC-70B8E8BDAA70}"/>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9744622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234D71-680D-7102-8267-196D576CDF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FC1126F-91EF-8CEA-79E6-B498203844C9}"/>
              </a:ext>
            </a:extLst>
          </p:cNvPr>
          <p:cNvSpPr>
            <a:spLocks noGrp="1"/>
          </p:cNvSpPr>
          <p:nvPr>
            <p:ph type="title"/>
          </p:nvPr>
        </p:nvSpPr>
        <p:spPr/>
        <p:txBody>
          <a:bodyPr/>
          <a:lstStyle/>
          <a:p>
            <a:r>
              <a:rPr lang="en-US" altLang="zh-TW" dirty="0"/>
              <a:t>Original Route Data</a:t>
            </a:r>
            <a:endParaRPr lang="zh-TW" altLang="en-US" dirty="0"/>
          </a:p>
        </p:txBody>
      </p:sp>
      <p:sp>
        <p:nvSpPr>
          <p:cNvPr id="3" name="內容版面配置區 2">
            <a:extLst>
              <a:ext uri="{FF2B5EF4-FFF2-40B4-BE49-F238E27FC236}">
                <a16:creationId xmlns:a16="http://schemas.microsoft.com/office/drawing/2014/main" id="{6F2C743C-ACB4-195D-A212-C3F213F74424}"/>
              </a:ext>
            </a:extLst>
          </p:cNvPr>
          <p:cNvSpPr>
            <a:spLocks noGrp="1"/>
          </p:cNvSpPr>
          <p:nvPr>
            <p:ph idx="1"/>
          </p:nvPr>
        </p:nvSpPr>
        <p:spPr>
          <a:xfrm>
            <a:off x="1154083" y="1922354"/>
            <a:ext cx="10058400" cy="4023360"/>
          </a:xfrm>
        </p:spPr>
        <p:txBody>
          <a:bodyPr>
            <a:normAutofit/>
          </a:bodyPr>
          <a:lstStyle/>
          <a:p>
            <a:pPr marL="0" indent="0">
              <a:buNone/>
            </a:pPr>
            <a:r>
              <a:rPr lang="en-US" altLang="zh-TW" dirty="0"/>
              <a:t>The experimental dataset consists of 26 working days of original route data</a:t>
            </a:r>
          </a:p>
        </p:txBody>
      </p:sp>
      <p:sp>
        <p:nvSpPr>
          <p:cNvPr id="4" name="投影片編號版面配置區 3">
            <a:extLst>
              <a:ext uri="{FF2B5EF4-FFF2-40B4-BE49-F238E27FC236}">
                <a16:creationId xmlns:a16="http://schemas.microsoft.com/office/drawing/2014/main" id="{8E696E3A-5893-B515-A010-0DF3C68B66D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9</a:t>
            </a:fld>
            <a:endParaRPr lang="zh-TW" altLang="en-US" sz="1600" dirty="0"/>
          </a:p>
        </p:txBody>
      </p:sp>
      <p:pic>
        <p:nvPicPr>
          <p:cNvPr id="16" name="圖片 15">
            <a:extLst>
              <a:ext uri="{FF2B5EF4-FFF2-40B4-BE49-F238E27FC236}">
                <a16:creationId xmlns:a16="http://schemas.microsoft.com/office/drawing/2014/main" id="{70F3D5FE-CF93-D3C1-1A6E-1F826222C291}"/>
              </a:ext>
            </a:extLst>
          </p:cNvPr>
          <p:cNvPicPr>
            <a:picLocks noChangeAspect="1"/>
          </p:cNvPicPr>
          <p:nvPr/>
        </p:nvPicPr>
        <p:blipFill>
          <a:blip r:embed="rId3"/>
          <a:stretch>
            <a:fillRect/>
          </a:stretch>
        </p:blipFill>
        <p:spPr>
          <a:xfrm>
            <a:off x="1078230" y="2321622"/>
            <a:ext cx="9555133" cy="3624092"/>
          </a:xfrm>
          <a:prstGeom prst="rect">
            <a:avLst/>
          </a:prstGeom>
        </p:spPr>
      </p:pic>
      <p:sp>
        <p:nvSpPr>
          <p:cNvPr id="18" name="矩形 17">
            <a:extLst>
              <a:ext uri="{FF2B5EF4-FFF2-40B4-BE49-F238E27FC236}">
                <a16:creationId xmlns:a16="http://schemas.microsoft.com/office/drawing/2014/main" id="{56EB8A5E-94D7-430B-D9D4-E8AE69991221}"/>
              </a:ext>
            </a:extLst>
          </p:cNvPr>
          <p:cNvSpPr/>
          <p:nvPr/>
        </p:nvSpPr>
        <p:spPr>
          <a:xfrm>
            <a:off x="2465069" y="2524125"/>
            <a:ext cx="8168294" cy="18192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137629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6E9F67-42A0-1946-C7D5-885B588B16CC}"/>
            </a:ext>
          </a:extLst>
        </p:cNvPr>
        <p:cNvGrpSpPr/>
        <p:nvPr/>
      </p:nvGrpSpPr>
      <p:grpSpPr>
        <a:xfrm>
          <a:off x="0" y="0"/>
          <a:ext cx="0" cy="0"/>
          <a:chOff x="0" y="0"/>
          <a:chExt cx="0" cy="0"/>
        </a:xfrm>
      </p:grpSpPr>
      <p:sp>
        <p:nvSpPr>
          <p:cNvPr id="42" name="矩形 41">
            <a:extLst>
              <a:ext uri="{FF2B5EF4-FFF2-40B4-BE49-F238E27FC236}">
                <a16:creationId xmlns:a16="http://schemas.microsoft.com/office/drawing/2014/main" id="{4DE34C45-7884-2B19-53A3-257DEDBE0F39}"/>
              </a:ext>
            </a:extLst>
          </p:cNvPr>
          <p:cNvSpPr/>
          <p:nvPr/>
        </p:nvSpPr>
        <p:spPr>
          <a:xfrm>
            <a:off x="3814907" y="2221202"/>
            <a:ext cx="2757055"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D4A3E128-97F4-B35E-7800-22BCB28C9E4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B29CA8E0-62EE-A2B5-2A39-404CD35F746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10</a:t>
            </a:fld>
            <a:endParaRPr lang="zh-TW" altLang="en-US" sz="1600" dirty="0"/>
          </a:p>
        </p:txBody>
      </p:sp>
      <p:sp>
        <p:nvSpPr>
          <p:cNvPr id="21" name="矩形 20">
            <a:extLst>
              <a:ext uri="{FF2B5EF4-FFF2-40B4-BE49-F238E27FC236}">
                <a16:creationId xmlns:a16="http://schemas.microsoft.com/office/drawing/2014/main" id="{8B1E76D2-6668-B33E-B93C-CF4187003DD9}"/>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50A2DE06-6A4E-5621-1488-5714FF043EFB}"/>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7632BD4B-B5AC-8302-1B37-CD92DA6DB1F2}"/>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27C3B73A-096E-B7FA-1999-1CF1326456A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6E132534-0D1D-9BA4-C526-75FF6FAC93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8FEE3DCA-5C48-EF32-9F91-A0800284B16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984110D7-298C-3AEC-2A1B-58F928E58C3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A10F9F39-CA95-44FE-01F1-B0FE1CD124FA}"/>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2E86EE81-8515-3E13-1410-F2F508132810}"/>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35D09B4E-2498-F289-0636-536DD9E45D65}"/>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70775EB4-8F87-8B95-FF86-5C8E8CB06D55}"/>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F34BCE55-C565-43A9-EFFA-33DCF9A6AD2D}"/>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43FE14F3-E099-6C67-DE05-F06AF91D3530}"/>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E6796C75-D59C-A16C-CF45-513289E6673E}"/>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8A47E66-A424-0ACB-ED09-FBC960B82122}"/>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E65DE6C4-78BE-FAD0-034B-6BD6B1EE2AD3}"/>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B422E84B-BB3C-1E6B-2CF7-FAEB820E71A3}"/>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30F9379F-72D6-A3E9-4B91-CCD9B3C4355B}"/>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3" name="文字方塊 42">
            <a:extLst>
              <a:ext uri="{FF2B5EF4-FFF2-40B4-BE49-F238E27FC236}">
                <a16:creationId xmlns:a16="http://schemas.microsoft.com/office/drawing/2014/main" id="{B36E7CF0-26B0-3F07-D95E-13FAA005737C}"/>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9BBF8663-AF33-9A4F-47A0-71AD7582C4CD}"/>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B100FBD4-A1F6-84E9-A97E-772D765F66E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F409F682-A017-F5A7-9DAD-207C87FF5009}"/>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24A99D8B-E4E8-85F0-A4D2-1C39D269BDD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D335CC4-2351-F11E-C85B-A4DC04E3B78E}"/>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B0F3BBD8-FCCF-BB99-CDD4-630934B61F3B}"/>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E6AC299C-BE1F-5B68-B4C8-0F3250E8C57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92B4A75-4552-BA7B-9245-DC83F82BCB2C}"/>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C92114A5-D451-F032-9DAF-9C0E0C09B72E}"/>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2CCB469C-566E-E2CE-A772-F2A197EA9FB3}"/>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1C0CD1E2-CD28-636E-60EF-DE53E59F768B}"/>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3424B553-62E2-6CA3-8214-28E89F40352E}"/>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1809D396-1F58-1E48-4044-A9B39B35782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372795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CBF164-222A-550A-F947-B6A2F595800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DBF1CB7-E22F-AC32-65B0-9C45B05EEDD5}"/>
              </a:ext>
            </a:extLst>
          </p:cNvPr>
          <p:cNvSpPr>
            <a:spLocks noGrp="1"/>
          </p:cNvSpPr>
          <p:nvPr>
            <p:ph type="title"/>
          </p:nvPr>
        </p:nvSpPr>
        <p:spPr/>
        <p:txBody>
          <a:bodyPr/>
          <a:lstStyle/>
          <a:p>
            <a:r>
              <a:rPr lang="en-US" altLang="zh-TW" dirty="0"/>
              <a:t>API Module</a:t>
            </a:r>
          </a:p>
        </p:txBody>
      </p:sp>
      <p:sp>
        <p:nvSpPr>
          <p:cNvPr id="4" name="投影片編號版面配置區 3">
            <a:extLst>
              <a:ext uri="{FF2B5EF4-FFF2-40B4-BE49-F238E27FC236}">
                <a16:creationId xmlns:a16="http://schemas.microsoft.com/office/drawing/2014/main" id="{2878BCB0-E8D5-7FCA-0A39-23E9DF9EEA1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11</a:t>
            </a:fld>
            <a:endParaRPr lang="zh-TW" altLang="en-US" sz="1600" dirty="0"/>
          </a:p>
        </p:txBody>
      </p:sp>
      <p:sp>
        <p:nvSpPr>
          <p:cNvPr id="3" name="內容版面配置區 2">
            <a:extLst>
              <a:ext uri="{FF2B5EF4-FFF2-40B4-BE49-F238E27FC236}">
                <a16:creationId xmlns:a16="http://schemas.microsoft.com/office/drawing/2014/main" id="{9BBF2121-AB3E-BBB2-F2CF-950FCA41383C}"/>
              </a:ext>
            </a:extLst>
          </p:cNvPr>
          <p:cNvSpPr>
            <a:spLocks noGrp="1"/>
          </p:cNvSpPr>
          <p:nvPr>
            <p:ph idx="1"/>
          </p:nvPr>
        </p:nvSpPr>
        <p:spPr>
          <a:xfrm>
            <a:off x="1097280" y="1845734"/>
            <a:ext cx="10058400" cy="4023360"/>
          </a:xfrm>
        </p:spPr>
        <p:txBody>
          <a:bodyPr>
            <a:normAutofit/>
          </a:bodyPr>
          <a:lstStyle/>
          <a:p>
            <a:pPr marL="457200" indent="-457200">
              <a:buClr>
                <a:schemeClr val="accent1">
                  <a:lumMod val="50000"/>
                </a:schemeClr>
              </a:buClr>
              <a:buFont typeface="+mj-lt"/>
              <a:buAutoNum type="arabicPeriod"/>
            </a:pPr>
            <a:r>
              <a:rPr lang="en-US" altLang="zh-TW" dirty="0">
                <a:solidFill>
                  <a:schemeClr val="tx1"/>
                </a:solidFill>
              </a:rPr>
              <a:t>Open Source Routing Machine (OSRM)</a:t>
            </a:r>
          </a:p>
          <a:p>
            <a:pPr marL="749808" lvl="1" indent="-457200">
              <a:lnSpc>
                <a:spcPct val="150000"/>
              </a:lnSpc>
            </a:pPr>
            <a:r>
              <a:rPr lang="en-US" altLang="zh-TW" dirty="0"/>
              <a:t>Provides distance and travel time matrices for efficient route planning and optimization</a:t>
            </a:r>
            <a:endParaRPr lang="en-US" altLang="zh-TW" dirty="0">
              <a:solidFill>
                <a:schemeClr val="tx1"/>
              </a:solidFill>
            </a:endParaRPr>
          </a:p>
          <a:p>
            <a:pPr marL="457200" indent="-457200">
              <a:buClr>
                <a:schemeClr val="accent1">
                  <a:lumMod val="50000"/>
                </a:schemeClr>
              </a:buClr>
              <a:buFont typeface="+mj-lt"/>
              <a:buAutoNum type="arabicPeriod"/>
            </a:pPr>
            <a:r>
              <a:rPr lang="en-US" altLang="zh-TW" dirty="0">
                <a:solidFill>
                  <a:schemeClr val="tx1"/>
                </a:solidFill>
              </a:rPr>
              <a:t>Google Maps Routes API</a:t>
            </a:r>
          </a:p>
          <a:p>
            <a:pPr marL="749808" lvl="1" indent="-457200">
              <a:lnSpc>
                <a:spcPct val="150000"/>
              </a:lnSpc>
            </a:pPr>
            <a:r>
              <a:rPr lang="en-US" altLang="zh-TW" dirty="0"/>
              <a:t>Validate and evaluate routing results using real-world road network data</a:t>
            </a:r>
            <a:endParaRPr lang="en-US" altLang="zh-TW" dirty="0">
              <a:solidFill>
                <a:schemeClr val="tx1"/>
              </a:solidFill>
            </a:endParaRPr>
          </a:p>
        </p:txBody>
      </p:sp>
    </p:spTree>
    <p:extLst>
      <p:ext uri="{BB962C8B-B14F-4D97-AF65-F5344CB8AC3E}">
        <p14:creationId xmlns:p14="http://schemas.microsoft.com/office/powerpoint/2010/main" val="1094491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39C1CA-DD24-4A12-5D5F-3A82C96C9BC6}"/>
            </a:ext>
          </a:extLst>
        </p:cNvPr>
        <p:cNvGrpSpPr/>
        <p:nvPr/>
      </p:nvGrpSpPr>
      <p:grpSpPr>
        <a:xfrm>
          <a:off x="0" y="0"/>
          <a:ext cx="0" cy="0"/>
          <a:chOff x="0" y="0"/>
          <a:chExt cx="0" cy="0"/>
        </a:xfrm>
      </p:grpSpPr>
      <p:sp>
        <p:nvSpPr>
          <p:cNvPr id="34" name="矩形 33">
            <a:extLst>
              <a:ext uri="{FF2B5EF4-FFF2-40B4-BE49-F238E27FC236}">
                <a16:creationId xmlns:a16="http://schemas.microsoft.com/office/drawing/2014/main" id="{29A02197-68A9-A4FD-D546-DE3598D28A89}"/>
              </a:ext>
            </a:extLst>
          </p:cNvPr>
          <p:cNvSpPr/>
          <p:nvPr/>
        </p:nvSpPr>
        <p:spPr>
          <a:xfrm>
            <a:off x="2207260" y="3713020"/>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F9EB62B6-C05B-B826-3AD0-8E789DB586F6}"/>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55DF2276-5FE8-2AF5-E14A-71839C0B500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12</a:t>
            </a:fld>
            <a:endParaRPr lang="zh-TW" altLang="en-US" sz="1600" dirty="0"/>
          </a:p>
        </p:txBody>
      </p:sp>
      <p:sp>
        <p:nvSpPr>
          <p:cNvPr id="70" name="矩形 69">
            <a:extLst>
              <a:ext uri="{FF2B5EF4-FFF2-40B4-BE49-F238E27FC236}">
                <a16:creationId xmlns:a16="http://schemas.microsoft.com/office/drawing/2014/main" id="{6D433C4F-C116-D753-F10C-2ACE65D08501}"/>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71" name="矩形 70">
            <a:extLst>
              <a:ext uri="{FF2B5EF4-FFF2-40B4-BE49-F238E27FC236}">
                <a16:creationId xmlns:a16="http://schemas.microsoft.com/office/drawing/2014/main" id="{7C9FC527-0D13-C3D0-98DB-092E8E243681}"/>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72" name="矩形 71">
            <a:extLst>
              <a:ext uri="{FF2B5EF4-FFF2-40B4-BE49-F238E27FC236}">
                <a16:creationId xmlns:a16="http://schemas.microsoft.com/office/drawing/2014/main" id="{2256E83E-13B4-D1C5-00C6-7E924A8F8126}"/>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74" name="矩形 73">
            <a:extLst>
              <a:ext uri="{FF2B5EF4-FFF2-40B4-BE49-F238E27FC236}">
                <a16:creationId xmlns:a16="http://schemas.microsoft.com/office/drawing/2014/main" id="{44403AE3-C179-8837-098B-1CB13A2841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75" name="矩形 74">
            <a:extLst>
              <a:ext uri="{FF2B5EF4-FFF2-40B4-BE49-F238E27FC236}">
                <a16:creationId xmlns:a16="http://schemas.microsoft.com/office/drawing/2014/main" id="{05C9C2D2-4C78-41ED-22C4-1362FD0A5173}"/>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76" name="矩形 75">
            <a:extLst>
              <a:ext uri="{FF2B5EF4-FFF2-40B4-BE49-F238E27FC236}">
                <a16:creationId xmlns:a16="http://schemas.microsoft.com/office/drawing/2014/main" id="{CD586774-D59E-E108-CC7A-DF11509C22C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8" name="直線單箭頭接點 7">
            <a:extLst>
              <a:ext uri="{FF2B5EF4-FFF2-40B4-BE49-F238E27FC236}">
                <a16:creationId xmlns:a16="http://schemas.microsoft.com/office/drawing/2014/main" id="{EADE8EE8-4BCC-DA45-8205-9238E3425C84}"/>
              </a:ext>
            </a:extLst>
          </p:cNvPr>
          <p:cNvCxnSpPr>
            <a:cxnSpLocks/>
            <a:endCxn id="7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a:extLst>
              <a:ext uri="{FF2B5EF4-FFF2-40B4-BE49-F238E27FC236}">
                <a16:creationId xmlns:a16="http://schemas.microsoft.com/office/drawing/2014/main" id="{8C21C82C-A38A-CF8A-22A3-3954A785B804}"/>
              </a:ext>
            </a:extLst>
          </p:cNvPr>
          <p:cNvCxnSpPr>
            <a:cxnSpLocks/>
            <a:stCxn id="74"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D6689092-10C8-3F9A-9985-F5B8D94A3FB9}"/>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44" name="直線單箭頭接點 43">
            <a:extLst>
              <a:ext uri="{FF2B5EF4-FFF2-40B4-BE49-F238E27FC236}">
                <a16:creationId xmlns:a16="http://schemas.microsoft.com/office/drawing/2014/main" id="{0D406E31-B4FC-DF48-55B3-5841648A58FC}"/>
              </a:ext>
            </a:extLst>
          </p:cNvPr>
          <p:cNvCxnSpPr>
            <a:cxnSpLocks/>
            <a:stCxn id="70" idx="3"/>
            <a:endCxn id="7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線單箭頭接點 46">
            <a:extLst>
              <a:ext uri="{FF2B5EF4-FFF2-40B4-BE49-F238E27FC236}">
                <a16:creationId xmlns:a16="http://schemas.microsoft.com/office/drawing/2014/main" id="{57F2F843-4E20-1BD7-F2FE-95BBDEE32CAC}"/>
              </a:ext>
            </a:extLst>
          </p:cNvPr>
          <p:cNvCxnSpPr>
            <a:cxnSpLocks/>
            <a:stCxn id="71" idx="3"/>
            <a:endCxn id="7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138ECD51-95EE-D28D-86FC-F8D2807A2A35}"/>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a:extLst>
              <a:ext uri="{FF2B5EF4-FFF2-40B4-BE49-F238E27FC236}">
                <a16:creationId xmlns:a16="http://schemas.microsoft.com/office/drawing/2014/main" id="{0CDEF641-C9F3-0D29-D3E0-45BEC5CCA826}"/>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文字方塊 80">
            <a:extLst>
              <a:ext uri="{FF2B5EF4-FFF2-40B4-BE49-F238E27FC236}">
                <a16:creationId xmlns:a16="http://schemas.microsoft.com/office/drawing/2014/main" id="{290E37EA-476E-3318-71F6-66515E756E90}"/>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90" name="矩形 89">
            <a:extLst>
              <a:ext uri="{FF2B5EF4-FFF2-40B4-BE49-F238E27FC236}">
                <a16:creationId xmlns:a16="http://schemas.microsoft.com/office/drawing/2014/main" id="{CD84B0AC-7937-98FF-B926-0BEEB31009B9}"/>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91" name="直線單箭頭接點 90">
            <a:extLst>
              <a:ext uri="{FF2B5EF4-FFF2-40B4-BE49-F238E27FC236}">
                <a16:creationId xmlns:a16="http://schemas.microsoft.com/office/drawing/2014/main" id="{F7003A2E-AF3B-57D3-4FD7-A007BB7CC2AF}"/>
              </a:ext>
            </a:extLst>
          </p:cNvPr>
          <p:cNvCxnSpPr>
            <a:cxnSpLocks/>
            <a:stCxn id="72" idx="3"/>
            <a:endCxn id="90"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4" name="文字方塊 93">
            <a:extLst>
              <a:ext uri="{FF2B5EF4-FFF2-40B4-BE49-F238E27FC236}">
                <a16:creationId xmlns:a16="http://schemas.microsoft.com/office/drawing/2014/main" id="{10E7B7B2-90FC-5EBE-E056-386470EF927C}"/>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04" name="矩形 103">
            <a:extLst>
              <a:ext uri="{FF2B5EF4-FFF2-40B4-BE49-F238E27FC236}">
                <a16:creationId xmlns:a16="http://schemas.microsoft.com/office/drawing/2014/main" id="{99F50C1B-B115-4887-6882-5B6836AE2C95}"/>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7" name="文字方塊 106">
            <a:extLst>
              <a:ext uri="{FF2B5EF4-FFF2-40B4-BE49-F238E27FC236}">
                <a16:creationId xmlns:a16="http://schemas.microsoft.com/office/drawing/2014/main" id="{03140A68-8EED-9682-60AC-861D8A5A46A3}"/>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40" name="接點: 肘形 139">
            <a:extLst>
              <a:ext uri="{FF2B5EF4-FFF2-40B4-BE49-F238E27FC236}">
                <a16:creationId xmlns:a16="http://schemas.microsoft.com/office/drawing/2014/main" id="{C3F899A0-D982-68B2-8632-F2417DCAEC8A}"/>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接點: 肘形 144">
            <a:extLst>
              <a:ext uri="{FF2B5EF4-FFF2-40B4-BE49-F238E27FC236}">
                <a16:creationId xmlns:a16="http://schemas.microsoft.com/office/drawing/2014/main" id="{A425C25F-D584-4BB8-82FA-89DA25A9213B}"/>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流程圖: 磁碟 12">
            <a:extLst>
              <a:ext uri="{FF2B5EF4-FFF2-40B4-BE49-F238E27FC236}">
                <a16:creationId xmlns:a16="http://schemas.microsoft.com/office/drawing/2014/main" id="{EC19F867-725C-021C-7FE6-5E45B3AAE183}"/>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 name="文字方塊 8">
            <a:extLst>
              <a:ext uri="{FF2B5EF4-FFF2-40B4-BE49-F238E27FC236}">
                <a16:creationId xmlns:a16="http://schemas.microsoft.com/office/drawing/2014/main" id="{D4930C9A-8C8F-9189-046B-C7D99C931A9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 name="文字方塊 8">
            <a:extLst>
              <a:ext uri="{FF2B5EF4-FFF2-40B4-BE49-F238E27FC236}">
                <a16:creationId xmlns:a16="http://schemas.microsoft.com/office/drawing/2014/main" id="{FEFD8DD3-0ABA-3EC3-61FD-44F2CE86ED6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1" name="直線單箭頭接點 20">
            <a:extLst>
              <a:ext uri="{FF2B5EF4-FFF2-40B4-BE49-F238E27FC236}">
                <a16:creationId xmlns:a16="http://schemas.microsoft.com/office/drawing/2014/main" id="{97BC4CD7-1BAA-FDE9-601E-B8CCD6327E39}"/>
              </a:ext>
            </a:extLst>
          </p:cNvPr>
          <p:cNvCxnSpPr>
            <a:cxnSpLocks/>
            <a:stCxn id="90" idx="3"/>
            <a:endCxn id="74"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接點: 肘形 39">
            <a:extLst>
              <a:ext uri="{FF2B5EF4-FFF2-40B4-BE49-F238E27FC236}">
                <a16:creationId xmlns:a16="http://schemas.microsoft.com/office/drawing/2014/main" id="{6D8C7326-BD4D-73DE-B003-F516F5FE7A4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接點: 肘形 47">
            <a:extLst>
              <a:ext uri="{FF2B5EF4-FFF2-40B4-BE49-F238E27FC236}">
                <a16:creationId xmlns:a16="http://schemas.microsoft.com/office/drawing/2014/main" id="{792AFDE7-7349-695C-D56A-02AC8AFB9835}"/>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377B2C2-A331-04B8-AEB4-ED04D4ED7B27}"/>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CF8ED433-9397-66EF-FE12-AC70FFA589A7}"/>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5E2181D1-8613-B60F-5F0F-B4223DABACDA}"/>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27D31FDA-518F-4DEE-A9AD-DB2FFC2F32B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EC415E7D-136C-E691-2683-3353E7658532}"/>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422927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D5740-47DF-0445-B214-A9CA7FC9B27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D586047-D1EB-B261-6175-FC49FBE48FE7}"/>
              </a:ext>
            </a:extLst>
          </p:cNvPr>
          <p:cNvSpPr>
            <a:spLocks noGrp="1"/>
          </p:cNvSpPr>
          <p:nvPr>
            <p:ph type="title"/>
          </p:nvPr>
        </p:nvSpPr>
        <p:spPr/>
        <p:txBody>
          <a:bodyPr/>
          <a:lstStyle/>
          <a:p>
            <a:r>
              <a:rPr lang="en-US" altLang="zh-TW" dirty="0"/>
              <a:t>Data Preprocessing</a:t>
            </a:r>
            <a:endParaRPr lang="zh-TW" altLang="en-US" dirty="0"/>
          </a:p>
        </p:txBody>
      </p:sp>
      <p:sp>
        <p:nvSpPr>
          <p:cNvPr id="3" name="內容版面配置區 2">
            <a:extLst>
              <a:ext uri="{FF2B5EF4-FFF2-40B4-BE49-F238E27FC236}">
                <a16:creationId xmlns:a16="http://schemas.microsoft.com/office/drawing/2014/main" id="{BAA90961-2B7B-ABEF-C5B4-6C4099DD6FEB}"/>
              </a:ext>
            </a:extLst>
          </p:cNvPr>
          <p:cNvSpPr>
            <a:spLocks noGrp="1"/>
          </p:cNvSpPr>
          <p:nvPr>
            <p:ph idx="1"/>
          </p:nvPr>
        </p:nvSpPr>
        <p:spPr>
          <a:xfrm>
            <a:off x="1154083" y="1922354"/>
            <a:ext cx="10058400" cy="4023360"/>
          </a:xfrm>
        </p:spPr>
        <p:txBody>
          <a:bodyPr>
            <a:normAutofit/>
          </a:bodyPr>
          <a:lstStyle/>
          <a:p>
            <a:pPr marL="0" indent="0">
              <a:buNone/>
            </a:pPr>
            <a:r>
              <a:rPr lang="zh-TW" altLang="zh-TW" dirty="0"/>
              <a:t>Data preprocessing consists of data cleaning and data transformation processes</a:t>
            </a:r>
            <a:endParaRPr lang="en-US" altLang="zh-TW" dirty="0"/>
          </a:p>
          <a:p>
            <a:pPr marL="457200" indent="-457200">
              <a:buClr>
                <a:schemeClr val="accent1">
                  <a:lumMod val="50000"/>
                </a:schemeClr>
              </a:buClr>
              <a:buFont typeface="+mj-lt"/>
              <a:buAutoNum type="arabicPeriod"/>
            </a:pPr>
            <a:r>
              <a:rPr lang="en-US" altLang="zh-TW" dirty="0"/>
              <a:t>Data Cleaning</a:t>
            </a:r>
          </a:p>
          <a:p>
            <a:pPr marL="749808" lvl="1" indent="-457200">
              <a:lnSpc>
                <a:spcPct val="150000"/>
              </a:lnSpc>
            </a:pPr>
            <a:r>
              <a:rPr lang="en-US" altLang="zh-TW" dirty="0"/>
              <a:t>Handle missing or incomplete store attributes</a:t>
            </a:r>
          </a:p>
          <a:p>
            <a:pPr marL="457200" indent="-457200">
              <a:buClr>
                <a:schemeClr val="accent1">
                  <a:lumMod val="50000"/>
                </a:schemeClr>
              </a:buClr>
              <a:buFont typeface="+mj-lt"/>
              <a:buAutoNum type="arabicPeriod"/>
            </a:pPr>
            <a:r>
              <a:rPr lang="en-US" altLang="zh-TW" dirty="0"/>
              <a:t>Data Transformation</a:t>
            </a:r>
          </a:p>
          <a:p>
            <a:pPr marL="749808" lvl="1" indent="-457200">
              <a:lnSpc>
                <a:spcPct val="150000"/>
              </a:lnSpc>
            </a:pPr>
            <a:r>
              <a:rPr lang="en-US" altLang="zh-TW" dirty="0"/>
              <a:t>Convert the </a:t>
            </a:r>
            <a:r>
              <a:rPr lang="zh-TW" altLang="zh-TW" dirty="0"/>
              <a:t>data</a:t>
            </a:r>
            <a:r>
              <a:rPr lang="en-US" altLang="zh-TW" dirty="0"/>
              <a:t> into a structured format for routing optimization</a:t>
            </a:r>
          </a:p>
        </p:txBody>
      </p:sp>
      <p:sp>
        <p:nvSpPr>
          <p:cNvPr id="4" name="投影片編號版面配置區 3">
            <a:extLst>
              <a:ext uri="{FF2B5EF4-FFF2-40B4-BE49-F238E27FC236}">
                <a16:creationId xmlns:a16="http://schemas.microsoft.com/office/drawing/2014/main" id="{A3F0DF4D-A988-76A4-1C40-A2604F798E5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13</a:t>
            </a:fld>
            <a:endParaRPr lang="zh-TW" altLang="en-US" sz="1600" dirty="0"/>
          </a:p>
        </p:txBody>
      </p:sp>
    </p:spTree>
    <p:extLst>
      <p:ext uri="{BB962C8B-B14F-4D97-AF65-F5344CB8AC3E}">
        <p14:creationId xmlns:p14="http://schemas.microsoft.com/office/powerpoint/2010/main" val="1137932624"/>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917184-93EA-DDB1-3A13-4F2AB2A1AEFA}"/>
            </a:ext>
          </a:extLst>
        </p:cNvPr>
        <p:cNvGrpSpPr/>
        <p:nvPr/>
      </p:nvGrpSpPr>
      <p:grpSpPr>
        <a:xfrm>
          <a:off x="0" y="0"/>
          <a:ext cx="0" cy="0"/>
          <a:chOff x="0" y="0"/>
          <a:chExt cx="0" cy="0"/>
        </a:xfrm>
      </p:grpSpPr>
      <p:sp>
        <p:nvSpPr>
          <p:cNvPr id="37" name="矩形 36">
            <a:extLst>
              <a:ext uri="{FF2B5EF4-FFF2-40B4-BE49-F238E27FC236}">
                <a16:creationId xmlns:a16="http://schemas.microsoft.com/office/drawing/2014/main" id="{09159969-96DE-2414-7C04-685AFF1892A0}"/>
              </a:ext>
            </a:extLst>
          </p:cNvPr>
          <p:cNvSpPr/>
          <p:nvPr/>
        </p:nvSpPr>
        <p:spPr>
          <a:xfrm>
            <a:off x="3814907" y="3713020"/>
            <a:ext cx="414453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A833890-DA4C-BD15-26ED-DE6D81557D4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695D1273-A037-C083-AC5B-6DF320A10F9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14</a:t>
            </a:fld>
            <a:endParaRPr lang="zh-TW" altLang="en-US" sz="1600" dirty="0"/>
          </a:p>
        </p:txBody>
      </p:sp>
      <p:sp>
        <p:nvSpPr>
          <p:cNvPr id="21" name="矩形 20">
            <a:extLst>
              <a:ext uri="{FF2B5EF4-FFF2-40B4-BE49-F238E27FC236}">
                <a16:creationId xmlns:a16="http://schemas.microsoft.com/office/drawing/2014/main" id="{7DF78278-D091-96ED-BCFD-F9A62F2A0CFA}"/>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2AB1863C-77FF-8B05-CFF3-0E5CA7E884F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D18E3EF6-E867-FA00-D24A-648C48355F4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703E00C2-917A-CC9E-EBAB-96F38F1DBED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9DF65256-92EB-FFF4-9CEB-4F1F110CD6A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57994DE3-112C-F927-64F6-6C69F57BFFF0}"/>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BB094508-D559-AD4C-03D5-AA2703CE8849}"/>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18C7852B-220E-3E57-EEB6-82C5580F9183}"/>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38194188-B3B9-5B6F-ECE7-9F8E4BAC6F08}"/>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85A96671-9275-D83F-667E-E61F65070E7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3FFEEE69-A0E6-EBB2-8D18-1572135C6486}"/>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4C733326-DFE0-7B1A-B48B-21D5497D74F0}"/>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856AA079-8038-06AE-55B2-420632127194}"/>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120709D5-CB70-82AB-BFF1-0C038C5AF01A}"/>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5308B44A-D481-D1FC-B7C2-5D1A21D6E9EC}"/>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9431D27C-BCC4-0ECB-00F2-4C046AE2287A}"/>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D79E2643-3509-6294-7390-46434BDE960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2" name="矩形 41">
            <a:extLst>
              <a:ext uri="{FF2B5EF4-FFF2-40B4-BE49-F238E27FC236}">
                <a16:creationId xmlns:a16="http://schemas.microsoft.com/office/drawing/2014/main" id="{ADDCF806-5380-C025-4D3C-8996566C9E2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3" name="文字方塊 42">
            <a:extLst>
              <a:ext uri="{FF2B5EF4-FFF2-40B4-BE49-F238E27FC236}">
                <a16:creationId xmlns:a16="http://schemas.microsoft.com/office/drawing/2014/main" id="{6ECD02AE-D2E1-4E5D-B8B1-3C23650DB426}"/>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D2457337-DE23-9B59-AD66-44054787D36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7EED67C6-2581-78E9-6165-6EE01856A70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67A26891-6175-B0FA-5C0A-69E45EE57F7B}"/>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430873D7-7A2C-E997-42EC-3A8EDD5EC264}"/>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68C66C5-6F5B-B0E7-2154-CCE6C7842AA0}"/>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CD2563A3-EA51-3B31-EDA6-F41B16878C6F}"/>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2F814A8B-385D-9DB5-3A8D-15FB79689CC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4D4A820-31C8-11C6-E819-AAB5B95DA631}"/>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420C91C-11B3-D738-7A14-D9F4E84E320F}"/>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E291AE6E-D216-1184-4257-1244FC086C38}"/>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9F9D287D-DE48-AB50-B06B-C320B6A023D5}"/>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6F02E731-8806-0F3F-45E5-B684542DB21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E90EDB7E-B456-2E43-1C4D-62A11B6C91B7}"/>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868231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E61BFB-70A7-6BB9-36E2-8F0073A3B00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1D6FF3-8321-6BA7-AE4C-8A998842A8EA}"/>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B8C8CF03-1754-8007-99D3-9DA64B4A4C36}"/>
              </a:ext>
            </a:extLst>
          </p:cNvPr>
          <p:cNvSpPr>
            <a:spLocks noGrp="1"/>
          </p:cNvSpPr>
          <p:nvPr>
            <p:ph idx="1"/>
          </p:nvPr>
        </p:nvSpPr>
        <p:spPr/>
        <p:txBody>
          <a:bodyPr>
            <a:normAutofit/>
          </a:bodyPr>
          <a:lstStyle/>
          <a:p>
            <a:pPr marL="0" indent="0">
              <a:buClr>
                <a:schemeClr val="accent1">
                  <a:lumMod val="50000"/>
                </a:schemeClr>
              </a:buClr>
              <a:buNone/>
            </a:pPr>
            <a:r>
              <a:rPr lang="en-US" altLang="zh-TW" dirty="0"/>
              <a:t>Vehicle Routing Problem</a:t>
            </a:r>
            <a:r>
              <a:rPr lang="zh-TW" altLang="en-US" dirty="0"/>
              <a:t> </a:t>
            </a:r>
            <a:r>
              <a:rPr lang="en-US" altLang="zh-TW" dirty="0"/>
              <a:t>(VRP)[1]</a:t>
            </a:r>
          </a:p>
          <a:p>
            <a:pPr>
              <a:buClr>
                <a:schemeClr val="accent1">
                  <a:lumMod val="50000"/>
                </a:schemeClr>
              </a:buClr>
              <a:buFont typeface="Wingdings" panose="05000000000000000000" pitchFamily="2" charset="2"/>
              <a:buChar char="Ø"/>
            </a:pPr>
            <a:r>
              <a:rPr lang="en-US" altLang="zh-TW" dirty="0"/>
              <a:t>NP-hard problem in combinatorial optimization and integer programming</a:t>
            </a:r>
          </a:p>
          <a:p>
            <a:pPr>
              <a:buClr>
                <a:schemeClr val="accent1">
                  <a:lumMod val="50000"/>
                </a:schemeClr>
              </a:buClr>
              <a:buFont typeface="Wingdings" panose="05000000000000000000" pitchFamily="2" charset="2"/>
              <a:buChar char="Ø"/>
            </a:pPr>
            <a:r>
              <a:rPr lang="en-US" altLang="zh-TW" dirty="0"/>
              <a:t>The objective is to ensure that all customer demands are satisfied while complying with operational constraints and minimizing the overall cost</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Constraints</a:t>
            </a:r>
          </a:p>
          <a:p>
            <a:pPr lvl="1">
              <a:buFont typeface="Arial" panose="020B0604020202020204" pitchFamily="34" charset="0"/>
              <a:buChar char="•"/>
            </a:pPr>
            <a:r>
              <a:rPr lang="en-US" altLang="zh-TW" sz="2000" dirty="0"/>
              <a:t>Each vehicle starts and ends its route at the depot</a:t>
            </a:r>
          </a:p>
          <a:p>
            <a:pPr lvl="1">
              <a:buFont typeface="Arial" panose="020B0604020202020204" pitchFamily="34" charset="0"/>
              <a:buChar char="•"/>
            </a:pPr>
            <a:r>
              <a:rPr lang="en-US" altLang="zh-TW" sz="2000" dirty="0"/>
              <a:t>Each customer is visited exactly once and served by exactly one vehicle</a:t>
            </a:r>
          </a:p>
          <a:p>
            <a:pPr lvl="1">
              <a:buFont typeface="Arial" panose="020B0604020202020204" pitchFamily="34" charset="0"/>
              <a:buChar char="•"/>
            </a:pPr>
            <a:r>
              <a:rPr lang="en-US" altLang="zh-TW" sz="2000" dirty="0"/>
              <a:t>The demand of every customer must be satisfied</a:t>
            </a:r>
          </a:p>
        </p:txBody>
      </p:sp>
      <p:sp>
        <p:nvSpPr>
          <p:cNvPr id="4" name="投影片編號版面配置區 3">
            <a:extLst>
              <a:ext uri="{FF2B5EF4-FFF2-40B4-BE49-F238E27FC236}">
                <a16:creationId xmlns:a16="http://schemas.microsoft.com/office/drawing/2014/main" id="{02E53523-D08A-59D4-99E5-9EFFBBF165E4}"/>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15</a:t>
            </a:fld>
            <a:endParaRPr lang="zh-TW" altLang="en-US" sz="1600" dirty="0"/>
          </a:p>
        </p:txBody>
      </p:sp>
      <p:sp>
        <p:nvSpPr>
          <p:cNvPr id="6" name="文字方塊 5">
            <a:extLst>
              <a:ext uri="{FF2B5EF4-FFF2-40B4-BE49-F238E27FC236}">
                <a16:creationId xmlns:a16="http://schemas.microsoft.com/office/drawing/2014/main" id="{066D4813-1FB8-4F04-92C2-DBEDECC35DA1}"/>
              </a:ext>
            </a:extLst>
          </p:cNvPr>
          <p:cNvSpPr txBox="1"/>
          <p:nvPr/>
        </p:nvSpPr>
        <p:spPr>
          <a:xfrm>
            <a:off x="979517" y="6365348"/>
            <a:ext cx="60960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[1]</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P. Toth and D. Vigo, </a:t>
            </a:r>
            <a:r>
              <a:rPr lang="en-US" altLang="zh-TW" sz="1200" i="1" kern="100" dirty="0">
                <a:solidFill>
                  <a:schemeClr val="bg1"/>
                </a:solidFill>
                <a:effectLst/>
                <a:latin typeface="Times New Roman" panose="02020603050405020304" pitchFamily="18" charset="0"/>
                <a:ea typeface="新細明體" panose="02020500000000000000" pitchFamily="18" charset="-120"/>
              </a:rPr>
              <a:t>The vehicle routing problem</a:t>
            </a:r>
            <a:r>
              <a:rPr lang="en-US" altLang="zh-TW" sz="1200" kern="100" dirty="0">
                <a:solidFill>
                  <a:schemeClr val="bg1"/>
                </a:solidFill>
                <a:effectLst/>
                <a:latin typeface="Times New Roman" panose="02020603050405020304" pitchFamily="18" charset="0"/>
                <a:ea typeface="新細明體" panose="02020500000000000000" pitchFamily="18" charset="-120"/>
              </a:rPr>
              <a:t>. SIAM, 2002.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2234904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8104D2-0CE3-C978-B9C9-0773B24D5B3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D79EAB-D062-209B-78B8-12963C7A691B}"/>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DD3524AB-C7F0-330E-01E5-DC326524A3FC}"/>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Variants</a:t>
            </a:r>
          </a:p>
          <a:p>
            <a:pPr lvl="1">
              <a:lnSpc>
                <a:spcPct val="150000"/>
              </a:lnSpc>
              <a:buFont typeface="Arial" panose="020B0604020202020204" pitchFamily="34" charset="0"/>
              <a:buChar char="•"/>
            </a:pPr>
            <a:r>
              <a:rPr lang="en-US" altLang="zh-TW" sz="2000" dirty="0"/>
              <a:t>Capacitated Vehicle Routing Problem</a:t>
            </a:r>
            <a:r>
              <a:rPr lang="zh-TW" altLang="en-US" sz="2000" dirty="0"/>
              <a:t> </a:t>
            </a:r>
            <a:r>
              <a:rPr lang="en-US" altLang="zh-TW" sz="2000" dirty="0"/>
              <a:t>(CVRP)</a:t>
            </a:r>
          </a:p>
          <a:p>
            <a:pPr lvl="1">
              <a:lnSpc>
                <a:spcPct val="150000"/>
              </a:lnSpc>
              <a:buFont typeface="Arial" panose="020B0604020202020204" pitchFamily="34" charset="0"/>
              <a:buChar char="•"/>
            </a:pPr>
            <a:r>
              <a:rPr lang="en-US" altLang="zh-TW" sz="2000" dirty="0"/>
              <a:t>Vehicle Routing Problem with Time Windows</a:t>
            </a:r>
            <a:r>
              <a:rPr lang="zh-TW" altLang="en-US" sz="2000" dirty="0"/>
              <a:t> </a:t>
            </a:r>
            <a:r>
              <a:rPr lang="en-US" altLang="zh-TW" sz="2000" dirty="0"/>
              <a:t>(VRPTW)</a:t>
            </a:r>
          </a:p>
          <a:p>
            <a:pPr lvl="1">
              <a:lnSpc>
                <a:spcPct val="150000"/>
              </a:lnSpc>
              <a:buFont typeface="Arial" panose="020B0604020202020204" pitchFamily="34" charset="0"/>
              <a:buChar char="•"/>
            </a:pPr>
            <a:r>
              <a:rPr lang="en-US" altLang="zh-TW" sz="2000" dirty="0"/>
              <a:t>etc.</a:t>
            </a:r>
          </a:p>
          <a:p>
            <a:pPr lvl="1">
              <a:buFont typeface="Arial" panose="020B0604020202020204" pitchFamily="34" charset="0"/>
              <a:buChar char="•"/>
            </a:pPr>
            <a:endParaRPr lang="en-US" altLang="zh-TW" sz="2000" dirty="0"/>
          </a:p>
          <a:p>
            <a:pPr lvl="1">
              <a:buFont typeface="Arial" panose="020B0604020202020204" pitchFamily="34" charset="0"/>
              <a:buChar char="•"/>
            </a:pPr>
            <a:endParaRPr lang="en-US" altLang="zh-TW" sz="2200" dirty="0"/>
          </a:p>
          <a:p>
            <a:pPr>
              <a:buFont typeface="Arial" panose="020B0604020202020204" pitchFamily="34" charset="0"/>
              <a:buChar char="•"/>
            </a:pPr>
            <a:endParaRPr lang="en-US" altLang="zh-TW" sz="2200" dirty="0"/>
          </a:p>
        </p:txBody>
      </p:sp>
      <p:sp>
        <p:nvSpPr>
          <p:cNvPr id="4" name="投影片編號版面配置區 3">
            <a:extLst>
              <a:ext uri="{FF2B5EF4-FFF2-40B4-BE49-F238E27FC236}">
                <a16:creationId xmlns:a16="http://schemas.microsoft.com/office/drawing/2014/main" id="{5A70888C-E0D4-917B-D15D-FCA24FDBA5E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16</a:t>
            </a:fld>
            <a:endParaRPr lang="zh-TW" altLang="en-US" sz="1600"/>
          </a:p>
        </p:txBody>
      </p:sp>
    </p:spTree>
    <p:extLst>
      <p:ext uri="{BB962C8B-B14F-4D97-AF65-F5344CB8AC3E}">
        <p14:creationId xmlns:p14="http://schemas.microsoft.com/office/powerpoint/2010/main" val="2165522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9F6C5-5171-E6A8-FD20-1EF3761BF85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0C26BB0-BF47-53A8-7DA2-5364CFDD8AE8}"/>
              </a:ext>
            </a:extLst>
          </p:cNvPr>
          <p:cNvSpPr>
            <a:spLocks noGrp="1"/>
          </p:cNvSpPr>
          <p:nvPr>
            <p:ph type="title"/>
          </p:nvPr>
        </p:nvSpPr>
        <p:spPr/>
        <p:txBody>
          <a:bodyPr/>
          <a:lstStyle/>
          <a:p>
            <a:r>
              <a:rPr lang="en-US" altLang="zh-TW" dirty="0"/>
              <a:t>Constraints</a:t>
            </a:r>
            <a:endParaRPr lang="zh-TW" altLang="en-US" dirty="0"/>
          </a:p>
        </p:txBody>
      </p:sp>
      <p:sp>
        <p:nvSpPr>
          <p:cNvPr id="3" name="內容版面配置區 2">
            <a:extLst>
              <a:ext uri="{FF2B5EF4-FFF2-40B4-BE49-F238E27FC236}">
                <a16:creationId xmlns:a16="http://schemas.microsoft.com/office/drawing/2014/main" id="{05A92964-F95B-68C8-CF3F-8C885349A082}"/>
              </a:ext>
            </a:extLst>
          </p:cNvPr>
          <p:cNvSpPr>
            <a:spLocks noGrp="1"/>
          </p:cNvSpPr>
          <p:nvPr>
            <p:ph idx="1"/>
          </p:nvPr>
        </p:nvSpPr>
        <p:spPr>
          <a:xfrm>
            <a:off x="1086431" y="1857610"/>
            <a:ext cx="10058400" cy="4023360"/>
          </a:xfrm>
        </p:spPr>
        <p:txBody>
          <a:bodyPr>
            <a:normAutofit/>
          </a:bodyPr>
          <a:lstStyle/>
          <a:p>
            <a:pPr marL="0" indent="0">
              <a:buClr>
                <a:schemeClr val="accent1">
                  <a:lumMod val="50000"/>
                </a:schemeClr>
              </a:buClr>
              <a:buNone/>
            </a:pPr>
            <a:r>
              <a:rPr lang="en-US" altLang="zh-TW" dirty="0"/>
              <a:t>The constraints considered in this study</a:t>
            </a:r>
            <a:r>
              <a:rPr lang="zh-TW" altLang="en-US" dirty="0"/>
              <a:t> </a:t>
            </a:r>
            <a:r>
              <a:rPr lang="en-US" altLang="zh-TW" dirty="0"/>
              <a:t>are defined as follows</a:t>
            </a:r>
          </a:p>
          <a:p>
            <a:pPr marL="457200" indent="-457200">
              <a:buClr>
                <a:schemeClr val="accent1">
                  <a:lumMod val="50000"/>
                </a:schemeClr>
              </a:buClr>
              <a:buFont typeface="+mj-lt"/>
              <a:buAutoNum type="arabicPeriod"/>
            </a:pPr>
            <a:r>
              <a:rPr lang="en-US" altLang="zh-TW" dirty="0"/>
              <a:t>The main routes are defined with a fixed sequence of stores, and the ordering cannot be modified</a:t>
            </a:r>
          </a:p>
          <a:p>
            <a:pPr marL="457200" indent="-457200">
              <a:buClr>
                <a:schemeClr val="accent1">
                  <a:lumMod val="50000"/>
                </a:schemeClr>
              </a:buClr>
              <a:buFont typeface="+mj-lt"/>
              <a:buAutoNum type="arabicPeriod"/>
            </a:pPr>
            <a:r>
              <a:rPr lang="zh-TW" altLang="zh-TW" dirty="0"/>
              <a:t>The extent of route modification is minimized while preserving the main</a:t>
            </a:r>
            <a:r>
              <a:rPr lang="zh-TW" altLang="en-US" dirty="0"/>
              <a:t> </a:t>
            </a:r>
            <a:r>
              <a:rPr lang="zh-TW" altLang="zh-TW" dirty="0"/>
              <a:t>route structure</a:t>
            </a:r>
            <a:endParaRPr lang="en-US" altLang="zh-TW" dirty="0"/>
          </a:p>
          <a:p>
            <a:pPr marL="457200" indent="-457200">
              <a:buClr>
                <a:schemeClr val="accent1">
                  <a:lumMod val="50000"/>
                </a:schemeClr>
              </a:buClr>
              <a:buFont typeface="+mj-lt"/>
              <a:buAutoNum type="arabicPeriod"/>
            </a:pPr>
            <a:r>
              <a:rPr lang="zh-TW" altLang="zh-TW" dirty="0"/>
              <a:t>The vehicle capacity must not be exceeded</a:t>
            </a:r>
            <a:endParaRPr lang="en-US" altLang="zh-TW" dirty="0"/>
          </a:p>
          <a:p>
            <a:pPr marL="457200" indent="-457200">
              <a:buClr>
                <a:schemeClr val="accent1">
                  <a:lumMod val="50000"/>
                </a:schemeClr>
              </a:buClr>
              <a:buFont typeface="+mj-lt"/>
              <a:buAutoNum type="arabicPeriod"/>
            </a:pPr>
            <a:r>
              <a:rPr lang="en-US" altLang="zh-TW" dirty="0"/>
              <a:t>The time window is defined as 1 hour before and 30 minutes after the scheduled time</a:t>
            </a:r>
          </a:p>
          <a:p>
            <a:pPr marL="457200" indent="-457200">
              <a:buClr>
                <a:schemeClr val="accent1">
                  <a:lumMod val="50000"/>
                </a:schemeClr>
              </a:buClr>
              <a:buFont typeface="+mj-lt"/>
              <a:buAutoNum type="arabicPeriod"/>
            </a:pPr>
            <a:r>
              <a:rPr lang="zh-TW" altLang="zh-TW" dirty="0"/>
              <a:t>The total route duration must not exceed 5 hours</a:t>
            </a:r>
            <a:endParaRPr lang="en-US" altLang="zh-TW" dirty="0"/>
          </a:p>
          <a:p>
            <a:pPr marL="457200" indent="-457200">
              <a:buClr>
                <a:schemeClr val="accent1">
                  <a:lumMod val="50000"/>
                </a:schemeClr>
              </a:buClr>
              <a:buFont typeface="+mj-lt"/>
              <a:buAutoNum type="arabicPeriod"/>
            </a:pPr>
            <a:endParaRPr lang="en-US" altLang="zh-TW" dirty="0"/>
          </a:p>
        </p:txBody>
      </p:sp>
      <p:sp>
        <p:nvSpPr>
          <p:cNvPr id="4" name="投影片編號版面配置區 3">
            <a:extLst>
              <a:ext uri="{FF2B5EF4-FFF2-40B4-BE49-F238E27FC236}">
                <a16:creationId xmlns:a16="http://schemas.microsoft.com/office/drawing/2014/main" id="{145AF1E6-4B73-3F2B-E889-C720196F0E4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17</a:t>
            </a:fld>
            <a:endParaRPr lang="zh-TW" altLang="en-US" sz="1600" dirty="0"/>
          </a:p>
        </p:txBody>
      </p:sp>
    </p:spTree>
    <p:extLst>
      <p:ext uri="{BB962C8B-B14F-4D97-AF65-F5344CB8AC3E}">
        <p14:creationId xmlns:p14="http://schemas.microsoft.com/office/powerpoint/2010/main" val="155768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3C3B2-2A84-30FC-3E24-FCD661D51B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9766BD8-6B89-AC9C-68DB-C51037D518A2}"/>
              </a:ext>
            </a:extLst>
          </p:cNvPr>
          <p:cNvSpPr>
            <a:spLocks noGrp="1"/>
          </p:cNvSpPr>
          <p:nvPr>
            <p:ph type="title"/>
          </p:nvPr>
        </p:nvSpPr>
        <p:spPr/>
        <p:txBody>
          <a:bodyPr/>
          <a:lstStyle/>
          <a:p>
            <a:r>
              <a:rPr lang="zh-TW" altLang="zh-TW" dirty="0"/>
              <a:t>Objective Function</a:t>
            </a:r>
            <a:endParaRPr lang="zh-TW" altLang="en-US" dirty="0"/>
          </a:p>
        </p:txBody>
      </p:sp>
      <mc:AlternateContent xmlns:mc="http://schemas.openxmlformats.org/markup-compatibility/2006">
        <mc:Choice xmlns:a14="http://schemas.microsoft.com/office/drawing/2010/main" Requires="a14">
          <p:sp>
            <p:nvSpPr>
              <p:cNvPr id="3" name="內容版面配置區 2">
                <a:extLst>
                  <a:ext uri="{FF2B5EF4-FFF2-40B4-BE49-F238E27FC236}">
                    <a16:creationId xmlns:a16="http://schemas.microsoft.com/office/drawing/2014/main" id="{6E3BE9A6-9026-B190-CFE2-00DB532533B2}"/>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The objective function is formulated as a hierarchical objective</a:t>
                </a:r>
              </a:p>
              <a:p>
                <a:pPr lvl="1">
                  <a:lnSpc>
                    <a:spcPct val="150000"/>
                  </a:lnSpc>
                  <a:buFont typeface="Arial" panose="020B0604020202020204" pitchFamily="34" charset="0"/>
                  <a:buChar char="•"/>
                </a:pPr>
                <a:r>
                  <a:rPr lang="zh-TW" altLang="zh-TW" dirty="0"/>
                  <a:t>Minimize Number of Routes</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𝑣𝑒</m:t>
                          </m:r>
                          <m:r>
                            <a:rPr lang="en-US" altLang="zh-TW" i="1">
                              <a:latin typeface="Cambria Math" panose="02040503050406030204" pitchFamily="18" charset="0"/>
                            </a:rPr>
                            <m:t>h</m:t>
                          </m:r>
                          <m:r>
                            <a:rPr lang="zh-TW" altLang="en-US" i="1">
                              <a:latin typeface="Cambria Math" panose="02040503050406030204" pitchFamily="18" charset="0"/>
                            </a:rPr>
                            <m:t>𝑖𝑐𝑙𝑒</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en-US" altLang="zh-TW" i="1">
                              <a:latin typeface="Cambria Math" panose="02040503050406030204" pitchFamily="18" charset="0"/>
                            </a:rPr>
                            <m:t>h</m:t>
                          </m:r>
                          <m:r>
                            <a:rPr lang="en-US" altLang="zh-TW" i="1">
                              <a:latin typeface="Cambria Math" panose="02040503050406030204" pitchFamily="18" charset="0"/>
                            </a:rPr>
                            <m:t>∈</m:t>
                          </m:r>
                          <m:r>
                            <a:rPr lang="zh-TW" altLang="en-US" i="1">
                              <a:latin typeface="Cambria Math" panose="02040503050406030204" pitchFamily="18" charset="0"/>
                            </a:rPr>
                            <m:t>𝐻</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≠0)</m:t>
                                  </m:r>
                                </m:e>
                              </m:eqArr>
                            </m:sub>
                            <m:sup/>
                            <m:e>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en-US" altLang="zh-TW" i="1">
                                      <a:latin typeface="Cambria Math" panose="02040503050406030204" pitchFamily="18" charset="0"/>
                                    </a:rPr>
                                    <m:t>0,</m:t>
                                  </m:r>
                                  <m:r>
                                    <a:rPr lang="zh-TW" altLang="en-US" i="1">
                                      <a:latin typeface="Cambria Math" panose="02040503050406030204" pitchFamily="18" charset="0"/>
                                    </a:rPr>
                                    <m:t>𝑗</m:t>
                                  </m:r>
                                </m:sub>
                                <m:sup>
                                  <m:r>
                                    <a:rPr lang="en-US" altLang="zh-TW" i="1">
                                      <a:latin typeface="Cambria Math" panose="02040503050406030204" pitchFamily="18" charset="0"/>
                                    </a:rPr>
                                    <m:t>h</m:t>
                                  </m:r>
                                </m:sup>
                              </m:sSubSup>
                            </m:e>
                          </m:nary>
                        </m:e>
                      </m:nary>
                    </m:oMath>
                  </m:oMathPara>
                </a14:m>
                <a:endParaRPr lang="en-US" altLang="zh-TW" dirty="0"/>
              </a:p>
              <a:p>
                <a:pPr lvl="1">
                  <a:buFont typeface="Arial" panose="020B0604020202020204" pitchFamily="34" charset="0"/>
                  <a:buChar char="•"/>
                </a:pPr>
                <a:r>
                  <a:rPr lang="zh-TW" altLang="zh-TW" dirty="0"/>
                  <a:t>Minimize Total Distance</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𝑡𝑟𝑎𝑣𝑒𝑙</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zh-TW" altLang="en-US" i="1">
                              <a:latin typeface="Cambria Math" panose="02040503050406030204" pitchFamily="18" charset="0"/>
                            </a:rPr>
                            <m:t>𝑘</m:t>
                          </m:r>
                          <m:r>
                            <a:rPr lang="zh-TW" altLang="en-US" i="1">
                              <a:latin typeface="Cambria Math" panose="02040503050406030204" pitchFamily="18" charset="0"/>
                            </a:rPr>
                            <m:t>∈</m:t>
                          </m:r>
                          <m:r>
                            <a:rPr lang="zh-TW" altLang="en-US" i="1">
                              <a:latin typeface="Cambria Math" panose="02040503050406030204" pitchFamily="18" charset="0"/>
                            </a:rPr>
                            <m:t>𝐾</m:t>
                          </m:r>
                        </m:sub>
                        <m:sup/>
                        <m:e>
                          <m:nary>
                            <m:naryPr>
                              <m:chr m:val="∑"/>
                              <m:supHide m:val="on"/>
                              <m:ctrlPr>
                                <a:rPr lang="zh-TW" altLang="en-US" i="1">
                                  <a:latin typeface="Cambria Math" panose="02040503050406030204" pitchFamily="18" charset="0"/>
                                </a:rPr>
                              </m:ctrlPr>
                            </m:naryPr>
                            <m:sub>
                              <m:r>
                                <a:rPr lang="zh-TW" altLang="en-US" i="1">
                                  <a:latin typeface="Cambria Math" panose="02040503050406030204" pitchFamily="18" charset="0"/>
                                </a:rPr>
                                <m:t>𝑖</m:t>
                              </m:r>
                              <m:r>
                                <a:rPr lang="zh-TW" altLang="en-US" i="1">
                                  <a:latin typeface="Cambria Math" panose="02040503050406030204" pitchFamily="18" charset="0"/>
                                </a:rPr>
                                <m:t>∈</m:t>
                              </m:r>
                              <m:r>
                                <a:rPr lang="zh-TW" altLang="en-US" i="1">
                                  <a:latin typeface="Cambria Math" panose="02040503050406030204" pitchFamily="18" charset="0"/>
                                </a:rPr>
                                <m:t>𝑁</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𝑖</m:t>
                                      </m:r>
                                      <m:r>
                                        <a:rPr lang="en-US" altLang="zh-TW" i="1">
                                          <a:latin typeface="Cambria Math" panose="02040503050406030204" pitchFamily="18" charset="0"/>
                                        </a:rPr>
                                        <m:t>)</m:t>
                                      </m:r>
                                    </m:e>
                                  </m:eqArr>
                                </m:sub>
                                <m:sup/>
                                <m:e>
                                  <m:sSub>
                                    <m:sSubPr>
                                      <m:ctrlPr>
                                        <a:rPr lang="zh-TW" altLang="en-US" i="1">
                                          <a:latin typeface="Cambria Math" panose="02040503050406030204" pitchFamily="18" charset="0"/>
                                        </a:rPr>
                                      </m:ctrlPr>
                                    </m:sSubPr>
                                    <m:e>
                                      <m:r>
                                        <a:rPr lang="zh-TW" altLang="en-US" i="1">
                                          <a:latin typeface="Cambria Math" panose="02040503050406030204" pitchFamily="18" charset="0"/>
                                        </a:rPr>
                                        <m:t>𝑑</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Sub>
                                  <m:r>
                                    <a:rPr lang="zh-TW" altLang="en-US" i="1">
                                      <a:latin typeface="Cambria Math" panose="02040503050406030204" pitchFamily="18" charset="0"/>
                                    </a:rPr>
                                    <m:t>⋅</m:t>
                                  </m:r>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up>
                                      <m:r>
                                        <a:rPr lang="zh-TW" altLang="en-US" i="1">
                                          <a:latin typeface="Cambria Math" panose="02040503050406030204" pitchFamily="18" charset="0"/>
                                        </a:rPr>
                                        <m:t>𝑘</m:t>
                                      </m:r>
                                    </m:sup>
                                  </m:sSubSup>
                                </m:e>
                              </m:nary>
                            </m:e>
                          </m:nary>
                        </m:e>
                      </m:nary>
                    </m:oMath>
                  </m:oMathPara>
                </a14:m>
                <a:endParaRPr lang="en-US" altLang="zh-TW" dirty="0">
                  <a:solidFill>
                    <a:schemeClr val="tx1"/>
                  </a:solidFill>
                </a:endParaRPr>
              </a:p>
            </p:txBody>
          </p:sp>
        </mc:Choice>
        <mc:Fallback>
          <p:sp>
            <p:nvSpPr>
              <p:cNvPr id="3" name="內容版面配置區 2">
                <a:extLst>
                  <a:ext uri="{FF2B5EF4-FFF2-40B4-BE49-F238E27FC236}">
                    <a16:creationId xmlns:a16="http://schemas.microsoft.com/office/drawing/2014/main" id="{6E3BE9A6-9026-B190-CFE2-00DB532533B2}"/>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E861939F-C541-3267-E13A-7960BD01B0F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18</a:t>
            </a:fld>
            <a:endParaRPr lang="zh-TW" altLang="en-US" sz="1600" dirty="0"/>
          </a:p>
        </p:txBody>
      </p:sp>
    </p:spTree>
    <p:extLst>
      <p:ext uri="{BB962C8B-B14F-4D97-AF65-F5344CB8AC3E}">
        <p14:creationId xmlns:p14="http://schemas.microsoft.com/office/powerpoint/2010/main" val="12854024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0607BA-65E0-9671-82C1-A3D835CD0A1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E4DB061-6C80-17AF-4B5E-84CB8C1F8A56}"/>
              </a:ext>
            </a:extLst>
          </p:cNvPr>
          <p:cNvSpPr>
            <a:spLocks noGrp="1"/>
          </p:cNvSpPr>
          <p:nvPr>
            <p:ph type="title"/>
          </p:nvPr>
        </p:nvSpPr>
        <p:spPr/>
        <p:txBody>
          <a:bodyPr/>
          <a:lstStyle/>
          <a:p>
            <a:r>
              <a:rPr lang="en-US" altLang="zh-TW" dirty="0"/>
              <a:t>Routing Module</a:t>
            </a:r>
            <a:endParaRPr lang="zh-TW" altLang="en-US" dirty="0"/>
          </a:p>
        </p:txBody>
      </p:sp>
      <p:sp>
        <p:nvSpPr>
          <p:cNvPr id="3" name="內容版面配置區 2">
            <a:extLst>
              <a:ext uri="{FF2B5EF4-FFF2-40B4-BE49-F238E27FC236}">
                <a16:creationId xmlns:a16="http://schemas.microsoft.com/office/drawing/2014/main" id="{6523EA98-4841-AB80-5022-30741AC4A77C}"/>
              </a:ext>
            </a:extLst>
          </p:cNvPr>
          <p:cNvSpPr>
            <a:spLocks noGrp="1"/>
          </p:cNvSpPr>
          <p:nvPr>
            <p:ph idx="1"/>
          </p:nvPr>
        </p:nvSpPr>
        <p:spPr>
          <a:xfrm>
            <a:off x="1097280" y="1845734"/>
            <a:ext cx="10718668" cy="4023360"/>
          </a:xfrm>
        </p:spPr>
        <p:txBody>
          <a:bodyPr>
            <a:normAutofit/>
          </a:bodyPr>
          <a:lstStyle/>
          <a:p>
            <a:pPr marL="0" indent="0">
              <a:buNone/>
            </a:pPr>
            <a:r>
              <a:rPr lang="zh-TW" altLang="zh-TW" dirty="0"/>
              <a:t>The proposed framework is developed by considering the constraints of the logistics company, and mainly consists of three stage</a:t>
            </a:r>
            <a:r>
              <a:rPr lang="en-US" altLang="zh-TW" dirty="0"/>
              <a:t>s</a:t>
            </a:r>
          </a:p>
          <a:p>
            <a:pPr marL="457200" indent="-457200">
              <a:buClr>
                <a:schemeClr val="accent1">
                  <a:lumMod val="50000"/>
                </a:schemeClr>
              </a:buClr>
              <a:buFont typeface="+mj-lt"/>
              <a:buAutoNum type="arabicPeriod"/>
            </a:pPr>
            <a:r>
              <a:rPr lang="en-US" altLang="zh-TW" dirty="0"/>
              <a:t>Store Extraction</a:t>
            </a:r>
            <a:r>
              <a:rPr lang="zh-TW" altLang="en-US" dirty="0"/>
              <a:t> </a:t>
            </a:r>
            <a:r>
              <a:rPr lang="en-US" altLang="zh-TW" dirty="0"/>
              <a:t>:</a:t>
            </a:r>
            <a:r>
              <a:rPr lang="zh-TW" altLang="en-US" dirty="0"/>
              <a:t> </a:t>
            </a:r>
            <a:r>
              <a:rPr lang="en-US" altLang="zh-TW" dirty="0"/>
              <a:t>Co-evolutionary Genetic Algorithm</a:t>
            </a:r>
            <a:r>
              <a:rPr lang="zh-TW" altLang="en-US" dirty="0"/>
              <a:t> </a:t>
            </a:r>
            <a:r>
              <a:rPr lang="en-US" altLang="zh-TW" dirty="0"/>
              <a:t>(CCGA)[2]</a:t>
            </a:r>
          </a:p>
          <a:p>
            <a:pPr marL="457200" indent="-457200">
              <a:buClr>
                <a:schemeClr val="accent1">
                  <a:lumMod val="50000"/>
                </a:schemeClr>
              </a:buClr>
              <a:buFont typeface="+mj-lt"/>
              <a:buAutoNum type="arabicPeriod"/>
            </a:pPr>
            <a:r>
              <a:rPr lang="en-US" altLang="zh-TW" dirty="0"/>
              <a:t>Store Assignment</a:t>
            </a:r>
            <a:r>
              <a:rPr lang="zh-TW" altLang="en-US" dirty="0"/>
              <a:t> </a:t>
            </a:r>
            <a:r>
              <a:rPr lang="en-US" altLang="zh-TW" dirty="0"/>
              <a:t>:</a:t>
            </a:r>
            <a:r>
              <a:rPr lang="zh-TW" altLang="en-US" dirty="0"/>
              <a:t> </a:t>
            </a:r>
            <a:r>
              <a:rPr lang="en-US" altLang="zh-TW" dirty="0"/>
              <a:t>Hybrid Ant Colony Optimization (HACO)[3]</a:t>
            </a:r>
          </a:p>
          <a:p>
            <a:pPr marL="457200" indent="-457200">
              <a:buClr>
                <a:schemeClr val="accent1">
                  <a:lumMod val="50000"/>
                </a:schemeClr>
              </a:buClr>
              <a:buFont typeface="+mj-lt"/>
              <a:buAutoNum type="arabicPeriod"/>
            </a:pPr>
            <a:r>
              <a:rPr lang="en-US" altLang="zh-TW" dirty="0"/>
              <a:t>Support Route Planning</a:t>
            </a:r>
            <a:r>
              <a:rPr lang="zh-TW" altLang="en-US" dirty="0"/>
              <a:t> </a:t>
            </a:r>
            <a:r>
              <a:rPr lang="en-US" altLang="zh-TW" dirty="0"/>
              <a:t>:</a:t>
            </a:r>
            <a:r>
              <a:rPr lang="zh-TW" altLang="en-US" dirty="0"/>
              <a:t> </a:t>
            </a:r>
            <a:r>
              <a:rPr lang="en-US" altLang="zh-TW" dirty="0"/>
              <a:t>Multiple Ant Colony System</a:t>
            </a:r>
            <a:r>
              <a:rPr lang="zh-TW" altLang="en-US" dirty="0"/>
              <a:t> </a:t>
            </a:r>
            <a:r>
              <a:rPr lang="en-US" altLang="zh-TW" dirty="0"/>
              <a:t>(MACS)[4]</a:t>
            </a:r>
          </a:p>
          <a:p>
            <a:pPr>
              <a:buClr>
                <a:schemeClr val="accent1">
                  <a:lumMod val="50000"/>
                </a:schemeClr>
              </a:buClr>
              <a:buFont typeface="Wingdings" panose="05000000000000000000" pitchFamily="2" charset="2"/>
              <a:buChar char="Ø"/>
            </a:pPr>
            <a:endParaRPr lang="en-US" altLang="zh-TW" dirty="0"/>
          </a:p>
        </p:txBody>
      </p:sp>
      <p:sp>
        <p:nvSpPr>
          <p:cNvPr id="4" name="投影片編號版面配置區 3">
            <a:extLst>
              <a:ext uri="{FF2B5EF4-FFF2-40B4-BE49-F238E27FC236}">
                <a16:creationId xmlns:a16="http://schemas.microsoft.com/office/drawing/2014/main" id="{FC74B726-3822-BF3C-0167-C409891BECC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19</a:t>
            </a:fld>
            <a:endParaRPr lang="zh-TW" altLang="en-US" sz="1600" dirty="0"/>
          </a:p>
        </p:txBody>
      </p:sp>
      <p:sp>
        <p:nvSpPr>
          <p:cNvPr id="6" name="文字方塊 5">
            <a:extLst>
              <a:ext uri="{FF2B5EF4-FFF2-40B4-BE49-F238E27FC236}">
                <a16:creationId xmlns:a16="http://schemas.microsoft.com/office/drawing/2014/main" id="{10A617ED-4BDB-6875-663B-D05819DB7334}"/>
              </a:ext>
            </a:extLst>
          </p:cNvPr>
          <p:cNvSpPr txBox="1"/>
          <p:nvPr/>
        </p:nvSpPr>
        <p:spPr>
          <a:xfrm>
            <a:off x="687523" y="5520674"/>
            <a:ext cx="11330305" cy="1287532"/>
          </a:xfrm>
          <a:prstGeom prst="rect">
            <a:avLst/>
          </a:prstGeom>
          <a:noFill/>
        </p:spPr>
        <p:txBody>
          <a:bodyPr wrap="square">
            <a:spAutoFit/>
          </a:bodyPr>
          <a:lstStyle/>
          <a:p>
            <a:pPr marL="457200" indent="-457200">
              <a:spcAft>
                <a:spcPts val="800"/>
              </a:spcAft>
              <a:buNone/>
            </a:pPr>
            <a:r>
              <a:rPr lang="en-US" altLang="zh-TW" sz="1000" kern="100" dirty="0">
                <a:solidFill>
                  <a:schemeClr val="tx1">
                    <a:lumMod val="75000"/>
                    <a:lumOff val="25000"/>
                  </a:schemeClr>
                </a:solidFill>
                <a:effectLst/>
                <a:latin typeface="+mj-lt"/>
                <a:ea typeface="新細明體" panose="02020500000000000000" pitchFamily="18" charset="-120"/>
              </a:rPr>
              <a:t>[2]</a:t>
            </a:r>
            <a:r>
              <a:rPr lang="en-US" altLang="zh-TW" sz="1000" kern="100" dirty="0">
                <a:solidFill>
                  <a:schemeClr val="tx1">
                    <a:lumMod val="75000"/>
                    <a:lumOff val="25000"/>
                  </a:schemeClr>
                </a:solidFill>
                <a:latin typeface="+mj-lt"/>
                <a:ea typeface="新細明體" panose="02020500000000000000" pitchFamily="18" charset="-120"/>
              </a:rPr>
              <a:t>  </a:t>
            </a:r>
            <a:r>
              <a:rPr lang="en-US" altLang="zh-TW" sz="1000" kern="100" dirty="0">
                <a:solidFill>
                  <a:schemeClr val="tx1">
                    <a:lumMod val="75000"/>
                    <a:lumOff val="25000"/>
                  </a:schemeClr>
                </a:solidFill>
                <a:effectLst/>
                <a:latin typeface="+mj-lt"/>
                <a:ea typeface="新細明體" panose="02020500000000000000" pitchFamily="18" charset="-120"/>
              </a:rPr>
              <a:t>X. Ma</a:t>
            </a:r>
            <a:r>
              <a:rPr lang="en-US" altLang="zh-TW" sz="1000" i="1" kern="100" dirty="0">
                <a:solidFill>
                  <a:schemeClr val="tx1">
                    <a:lumMod val="75000"/>
                    <a:lumOff val="25000"/>
                  </a:schemeClr>
                </a:solidFill>
                <a:effectLst/>
                <a:latin typeface="+mj-lt"/>
                <a:ea typeface="新細明體" panose="02020500000000000000" pitchFamily="18" charset="-120"/>
              </a:rPr>
              <a:t> et al.</a:t>
            </a:r>
            <a:r>
              <a:rPr lang="en-US" altLang="zh-TW" sz="1000" kern="100" dirty="0">
                <a:solidFill>
                  <a:schemeClr val="tx1">
                    <a:lumMod val="75000"/>
                    <a:lumOff val="25000"/>
                  </a:schemeClr>
                </a:solidFill>
                <a:effectLst/>
                <a:latin typeface="+mj-lt"/>
                <a:ea typeface="新細明體" panose="02020500000000000000" pitchFamily="18" charset="-120"/>
              </a:rPr>
              <a:t>, "A survey on cooperative co-evolutionary algorithms," </a:t>
            </a:r>
            <a:r>
              <a:rPr lang="en-US" altLang="zh-TW" sz="1000" i="1" kern="100" dirty="0">
                <a:solidFill>
                  <a:schemeClr val="tx1">
                    <a:lumMod val="75000"/>
                    <a:lumOff val="25000"/>
                  </a:schemeClr>
                </a:solidFill>
                <a:effectLst/>
                <a:latin typeface="+mj-lt"/>
                <a:ea typeface="新細明體" panose="02020500000000000000" pitchFamily="18" charset="-120"/>
              </a:rPr>
              <a:t>IEEE Transactions on Evolutionary Computation, </a:t>
            </a:r>
            <a:r>
              <a:rPr lang="en-US" altLang="zh-TW" sz="1000" kern="100" dirty="0">
                <a:solidFill>
                  <a:schemeClr val="tx1">
                    <a:lumMod val="75000"/>
                    <a:lumOff val="25000"/>
                  </a:schemeClr>
                </a:solidFill>
                <a:effectLst/>
                <a:latin typeface="+mj-lt"/>
                <a:ea typeface="新細明體" panose="02020500000000000000" pitchFamily="18" charset="-120"/>
              </a:rPr>
              <a:t>vol. 23, no. 3, pp. 421–441, 2018.</a:t>
            </a:r>
          </a:p>
          <a:p>
            <a:pPr marL="457200" indent="-457200">
              <a:spcAft>
                <a:spcPts val="800"/>
              </a:spcAft>
            </a:pPr>
            <a:r>
              <a:rPr lang="en-US" altLang="zh-TW" sz="1000" kern="100" dirty="0">
                <a:solidFill>
                  <a:schemeClr val="tx1">
                    <a:lumMod val="75000"/>
                    <a:lumOff val="25000"/>
                  </a:schemeClr>
                </a:solidFill>
                <a:latin typeface="+mj-lt"/>
                <a:ea typeface="新細明體" panose="02020500000000000000" pitchFamily="18" charset="-120"/>
              </a:rPr>
              <a:t>[3]</a:t>
            </a:r>
            <a:r>
              <a:rPr lang="zh-TW" altLang="en-US" sz="1000" kern="100" dirty="0">
                <a:solidFill>
                  <a:schemeClr val="tx1">
                    <a:lumMod val="75000"/>
                    <a:lumOff val="25000"/>
                  </a:schemeClr>
                </a:solidFill>
                <a:latin typeface="+mj-lt"/>
                <a:ea typeface="新細明體" panose="02020500000000000000" pitchFamily="18" charset="-120"/>
              </a:rPr>
              <a:t>  </a:t>
            </a:r>
            <a:r>
              <a:rPr lang="en-US" altLang="zh-TW" sz="1000" kern="100" dirty="0">
                <a:solidFill>
                  <a:schemeClr val="tx1">
                    <a:lumMod val="75000"/>
                    <a:lumOff val="25000"/>
                  </a:schemeClr>
                </a:solidFill>
                <a:latin typeface="+mj-lt"/>
                <a:ea typeface="新細明體" panose="02020500000000000000" pitchFamily="18" charset="-120"/>
              </a:rPr>
              <a:t>Q. Ding, X. Hu, L. Sun, and Y. Wang, "An improved ant colony optimization and its application to vehicle routing problem with time windows," </a:t>
            </a:r>
            <a:r>
              <a:rPr lang="en-US" altLang="zh-TW" sz="1000" i="1" kern="100" dirty="0">
                <a:solidFill>
                  <a:schemeClr val="tx1">
                    <a:lumMod val="75000"/>
                    <a:lumOff val="25000"/>
                  </a:schemeClr>
                </a:solidFill>
                <a:latin typeface="+mj-lt"/>
                <a:ea typeface="新細明體" panose="02020500000000000000" pitchFamily="18" charset="-120"/>
              </a:rPr>
              <a:t>Neurocomputing, </a:t>
            </a:r>
            <a:r>
              <a:rPr lang="en-US" altLang="zh-TW" sz="1000" kern="100" dirty="0">
                <a:solidFill>
                  <a:schemeClr val="tx1">
                    <a:lumMod val="75000"/>
                    <a:lumOff val="25000"/>
                  </a:schemeClr>
                </a:solidFill>
                <a:latin typeface="+mj-lt"/>
                <a:ea typeface="新細明體" panose="02020500000000000000" pitchFamily="18" charset="-120"/>
              </a:rPr>
              <a:t>vol. 98, pp. 101–107, 2012.</a:t>
            </a:r>
          </a:p>
          <a:p>
            <a:pPr marL="457200" indent="-457200">
              <a:spcAft>
                <a:spcPts val="800"/>
              </a:spcAft>
            </a:pPr>
            <a:r>
              <a:rPr lang="en-US" altLang="zh-TW" sz="1000" dirty="0">
                <a:solidFill>
                  <a:schemeClr val="tx1">
                    <a:lumMod val="75000"/>
                    <a:lumOff val="25000"/>
                  </a:schemeClr>
                </a:solidFill>
              </a:rPr>
              <a:t>[4]  L. M. Gambardella, É. </a:t>
            </a:r>
            <a:r>
              <a:rPr lang="en-US" altLang="zh-TW" sz="1000" dirty="0" err="1">
                <a:solidFill>
                  <a:schemeClr val="tx1">
                    <a:lumMod val="75000"/>
                    <a:lumOff val="25000"/>
                  </a:schemeClr>
                </a:solidFill>
              </a:rPr>
              <a:t>Taillard</a:t>
            </a:r>
            <a:r>
              <a:rPr lang="en-US" altLang="zh-TW" sz="1000" dirty="0">
                <a:solidFill>
                  <a:schemeClr val="tx1">
                    <a:lumMod val="75000"/>
                    <a:lumOff val="25000"/>
                  </a:schemeClr>
                </a:solidFill>
              </a:rPr>
              <a:t>, and G. Agazzi, "MACS-VRPTW: A multiple ant colony system for vehicle routing problems with time windows," ed: Istituto Dalle Molle Di Studi Sull </a:t>
            </a:r>
            <a:r>
              <a:rPr lang="en-US" altLang="zh-TW" sz="1000" dirty="0" err="1">
                <a:solidFill>
                  <a:schemeClr val="tx1">
                    <a:lumMod val="75000"/>
                    <a:lumOff val="25000"/>
                  </a:schemeClr>
                </a:solidFill>
              </a:rPr>
              <a:t>Intelligenza</a:t>
            </a:r>
            <a:r>
              <a:rPr lang="en-US" altLang="zh-TW" sz="1000" dirty="0">
                <a:solidFill>
                  <a:schemeClr val="tx1">
                    <a:lumMod val="75000"/>
                    <a:lumOff val="25000"/>
                  </a:schemeClr>
                </a:solidFill>
              </a:rPr>
              <a:t> </a:t>
            </a:r>
            <a:r>
              <a:rPr lang="en-US" altLang="zh-TW" sz="1000" dirty="0" err="1">
                <a:solidFill>
                  <a:schemeClr val="tx1">
                    <a:lumMod val="75000"/>
                    <a:lumOff val="25000"/>
                  </a:schemeClr>
                </a:solidFill>
              </a:rPr>
              <a:t>Artificiale</a:t>
            </a:r>
            <a:r>
              <a:rPr lang="en-US" altLang="zh-TW" sz="1000" dirty="0">
                <a:solidFill>
                  <a:schemeClr val="tx1">
                    <a:lumMod val="75000"/>
                    <a:lumOff val="25000"/>
                  </a:schemeClr>
                </a:solidFill>
              </a:rPr>
              <a:t>, 1999</a:t>
            </a:r>
            <a:endParaRPr lang="zh-TW" altLang="en-US" sz="1000" dirty="0">
              <a:solidFill>
                <a:schemeClr val="tx1">
                  <a:lumMod val="75000"/>
                  <a:lumOff val="25000"/>
                </a:schemeClr>
              </a:solidFill>
            </a:endParaRPr>
          </a:p>
          <a:p>
            <a:pPr marL="457200" indent="-457200">
              <a:spcAft>
                <a:spcPts val="800"/>
              </a:spcAft>
            </a:pPr>
            <a:endParaRPr lang="zh-TW" altLang="zh-TW" sz="1050" kern="100" dirty="0">
              <a:solidFill>
                <a:schemeClr val="tx1">
                  <a:lumMod val="75000"/>
                  <a:lumOff val="25000"/>
                </a:schemeClr>
              </a:solidFill>
              <a:latin typeface="+mj-lt"/>
              <a:ea typeface="新細明體" panose="02020500000000000000" pitchFamily="18" charset="-120"/>
            </a:endParaRPr>
          </a:p>
          <a:p>
            <a:pPr marL="457200" indent="-457200">
              <a:spcAft>
                <a:spcPts val="800"/>
              </a:spcAft>
              <a:buNone/>
            </a:pPr>
            <a:endParaRPr lang="zh-TW" altLang="zh-TW" sz="1050" kern="100" dirty="0">
              <a:solidFill>
                <a:schemeClr val="tx1">
                  <a:lumMod val="75000"/>
                  <a:lumOff val="25000"/>
                </a:schemeClr>
              </a:solidFill>
              <a:effectLst/>
              <a:latin typeface="+mj-lt"/>
              <a:ea typeface="新細明體" panose="02020500000000000000" pitchFamily="18" charset="-120"/>
            </a:endParaRPr>
          </a:p>
        </p:txBody>
      </p:sp>
    </p:spTree>
    <p:extLst>
      <p:ext uri="{BB962C8B-B14F-4D97-AF65-F5344CB8AC3E}">
        <p14:creationId xmlns:p14="http://schemas.microsoft.com/office/powerpoint/2010/main" val="3190044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271F19-E799-790E-1B38-E8CFBA1299E9}"/>
            </a:ext>
          </a:extLst>
        </p:cNvPr>
        <p:cNvGrpSpPr/>
        <p:nvPr/>
      </p:nvGrpSpPr>
      <p:grpSpPr>
        <a:xfrm>
          <a:off x="0" y="0"/>
          <a:ext cx="0" cy="0"/>
          <a:chOff x="0" y="0"/>
          <a:chExt cx="0" cy="0"/>
        </a:xfrm>
      </p:grpSpPr>
      <p:sp>
        <p:nvSpPr>
          <p:cNvPr id="25" name="矩形 24">
            <a:extLst>
              <a:ext uri="{FF2B5EF4-FFF2-40B4-BE49-F238E27FC236}">
                <a16:creationId xmlns:a16="http://schemas.microsoft.com/office/drawing/2014/main" id="{8D550C14-D2E6-BA6A-6139-FC2DE4996821}"/>
              </a:ext>
            </a:extLst>
          </p:cNvPr>
          <p:cNvSpPr/>
          <p:nvPr/>
        </p:nvSpPr>
        <p:spPr>
          <a:xfrm>
            <a:off x="8350917" y="3727824"/>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CE1D91A-C9BE-C08C-ACDE-0C413EA2BC1D}"/>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97E64EF5-D0ED-7A56-6228-DDFC5CB9A35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20</a:t>
            </a:fld>
            <a:endParaRPr lang="zh-TW" altLang="en-US" sz="1600" dirty="0"/>
          </a:p>
        </p:txBody>
      </p:sp>
      <p:sp>
        <p:nvSpPr>
          <p:cNvPr id="3" name="矩形 2">
            <a:extLst>
              <a:ext uri="{FF2B5EF4-FFF2-40B4-BE49-F238E27FC236}">
                <a16:creationId xmlns:a16="http://schemas.microsoft.com/office/drawing/2014/main" id="{6069B3B0-57F6-1C92-F5D0-2964B57F70C8}"/>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D5040F68-8DD0-1B11-6EA2-61F5AEF93125}"/>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6" name="矩形 5">
            <a:extLst>
              <a:ext uri="{FF2B5EF4-FFF2-40B4-BE49-F238E27FC236}">
                <a16:creationId xmlns:a16="http://schemas.microsoft.com/office/drawing/2014/main" id="{DA536A47-CA00-3476-6E60-EA4AFD930770}"/>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3" name="矩形 12">
            <a:extLst>
              <a:ext uri="{FF2B5EF4-FFF2-40B4-BE49-F238E27FC236}">
                <a16:creationId xmlns:a16="http://schemas.microsoft.com/office/drawing/2014/main" id="{971E753C-CAD7-BBB5-BF4C-34072D5700C7}"/>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6" name="矩形 15">
            <a:extLst>
              <a:ext uri="{FF2B5EF4-FFF2-40B4-BE49-F238E27FC236}">
                <a16:creationId xmlns:a16="http://schemas.microsoft.com/office/drawing/2014/main" id="{CB5DBFE4-3DAC-DF95-8981-2310B5EDB60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8" name="矩形 17">
            <a:extLst>
              <a:ext uri="{FF2B5EF4-FFF2-40B4-BE49-F238E27FC236}">
                <a16:creationId xmlns:a16="http://schemas.microsoft.com/office/drawing/2014/main" id="{4EEA4DE1-B8DC-1042-8228-C6FB549C1B0B}"/>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9" name="矩形 18">
            <a:extLst>
              <a:ext uri="{FF2B5EF4-FFF2-40B4-BE49-F238E27FC236}">
                <a16:creationId xmlns:a16="http://schemas.microsoft.com/office/drawing/2014/main" id="{1431D335-5AB8-684C-D394-E438AED28EE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0" name="直線單箭頭接點 19">
            <a:extLst>
              <a:ext uri="{FF2B5EF4-FFF2-40B4-BE49-F238E27FC236}">
                <a16:creationId xmlns:a16="http://schemas.microsoft.com/office/drawing/2014/main" id="{A33FB917-6A29-1899-95DF-F148C075EB60}"/>
              </a:ext>
            </a:extLst>
          </p:cNvPr>
          <p:cNvCxnSpPr>
            <a:cxnSpLocks/>
            <a:endCxn id="5"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0E8D8C11-D80E-06FB-CB33-343364DBE0E3}"/>
              </a:ext>
            </a:extLst>
          </p:cNvPr>
          <p:cNvCxnSpPr>
            <a:cxnSpLocks/>
            <a:stCxn id="1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字方塊 21">
            <a:extLst>
              <a:ext uri="{FF2B5EF4-FFF2-40B4-BE49-F238E27FC236}">
                <a16:creationId xmlns:a16="http://schemas.microsoft.com/office/drawing/2014/main" id="{94B67E79-4CF3-4650-6E3B-85701FBAB47B}"/>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3" name="直線單箭頭接點 22">
            <a:extLst>
              <a:ext uri="{FF2B5EF4-FFF2-40B4-BE49-F238E27FC236}">
                <a16:creationId xmlns:a16="http://schemas.microsoft.com/office/drawing/2014/main" id="{38918806-091C-F341-9E9D-DA87788324B3}"/>
              </a:ext>
            </a:extLst>
          </p:cNvPr>
          <p:cNvCxnSpPr>
            <a:cxnSpLocks/>
            <a:stCxn id="5" idx="3"/>
            <a:endCxn id="6"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6B5D236E-FF19-A58C-919A-18192EEA1B63}"/>
              </a:ext>
            </a:extLst>
          </p:cNvPr>
          <p:cNvCxnSpPr>
            <a:cxnSpLocks/>
            <a:stCxn id="6" idx="3"/>
            <a:endCxn id="13"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DCF4C5FA-D9A7-6E19-F3EB-6D195C093684}"/>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DB5A96C0-B90D-25FF-5E91-F11B4E7F101B}"/>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28" name="矩形 27">
            <a:extLst>
              <a:ext uri="{FF2B5EF4-FFF2-40B4-BE49-F238E27FC236}">
                <a16:creationId xmlns:a16="http://schemas.microsoft.com/office/drawing/2014/main" id="{F558FA42-C770-EAB5-C5F8-6B9B3E6D4291}"/>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29" name="直線單箭頭接點 28">
            <a:extLst>
              <a:ext uri="{FF2B5EF4-FFF2-40B4-BE49-F238E27FC236}">
                <a16:creationId xmlns:a16="http://schemas.microsoft.com/office/drawing/2014/main" id="{0BA557FE-2725-DF52-7FB3-BE240B584CE7}"/>
              </a:ext>
            </a:extLst>
          </p:cNvPr>
          <p:cNvCxnSpPr>
            <a:cxnSpLocks/>
            <a:stCxn id="13" idx="3"/>
            <a:endCxn id="28"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7F9E022A-E1F6-423E-911A-EF1202C47B97}"/>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32" name="矩形 31">
            <a:extLst>
              <a:ext uri="{FF2B5EF4-FFF2-40B4-BE49-F238E27FC236}">
                <a16:creationId xmlns:a16="http://schemas.microsoft.com/office/drawing/2014/main" id="{1B9AEB1A-08A0-1B84-4CBB-6980BA4792B1}"/>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文字方塊 32">
            <a:extLst>
              <a:ext uri="{FF2B5EF4-FFF2-40B4-BE49-F238E27FC236}">
                <a16:creationId xmlns:a16="http://schemas.microsoft.com/office/drawing/2014/main" id="{8A63D81A-054A-F8FF-260C-A3DC7D64381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36" name="接點: 肘形 35">
            <a:extLst>
              <a:ext uri="{FF2B5EF4-FFF2-40B4-BE49-F238E27FC236}">
                <a16:creationId xmlns:a16="http://schemas.microsoft.com/office/drawing/2014/main" id="{D8C0B731-F037-5458-8BFE-EBCDE32900C1}"/>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接點: 肘形 36">
            <a:extLst>
              <a:ext uri="{FF2B5EF4-FFF2-40B4-BE49-F238E27FC236}">
                <a16:creationId xmlns:a16="http://schemas.microsoft.com/office/drawing/2014/main" id="{0B90D8D3-B235-233F-3C33-541DAAE080D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流程圖: 磁碟 38">
            <a:extLst>
              <a:ext uri="{FF2B5EF4-FFF2-40B4-BE49-F238E27FC236}">
                <a16:creationId xmlns:a16="http://schemas.microsoft.com/office/drawing/2014/main" id="{0CE9F9F1-D80D-11B8-A818-61D9BA7D318C}"/>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46" name="文字方塊 8">
            <a:extLst>
              <a:ext uri="{FF2B5EF4-FFF2-40B4-BE49-F238E27FC236}">
                <a16:creationId xmlns:a16="http://schemas.microsoft.com/office/drawing/2014/main" id="{991093C4-5C52-976B-D054-1930309EF128}"/>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48" name="文字方塊 8">
            <a:extLst>
              <a:ext uri="{FF2B5EF4-FFF2-40B4-BE49-F238E27FC236}">
                <a16:creationId xmlns:a16="http://schemas.microsoft.com/office/drawing/2014/main" id="{98AAA2EA-8762-3A66-28E8-A3AA6E5AF035}"/>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49" name="直線單箭頭接點 48">
            <a:extLst>
              <a:ext uri="{FF2B5EF4-FFF2-40B4-BE49-F238E27FC236}">
                <a16:creationId xmlns:a16="http://schemas.microsoft.com/office/drawing/2014/main" id="{34373A1F-BA82-110F-A573-42919A5702A5}"/>
              </a:ext>
            </a:extLst>
          </p:cNvPr>
          <p:cNvCxnSpPr>
            <a:cxnSpLocks/>
            <a:stCxn id="28" idx="3"/>
            <a:endCxn id="1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接點: 肘形 50">
            <a:extLst>
              <a:ext uri="{FF2B5EF4-FFF2-40B4-BE49-F238E27FC236}">
                <a16:creationId xmlns:a16="http://schemas.microsoft.com/office/drawing/2014/main" id="{EED4FDA1-F8BF-1193-8A74-288BD6E2698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接點: 肘形 51">
            <a:extLst>
              <a:ext uri="{FF2B5EF4-FFF2-40B4-BE49-F238E27FC236}">
                <a16:creationId xmlns:a16="http://schemas.microsoft.com/office/drawing/2014/main" id="{98993F70-AE48-80EC-ADFA-D731E19D1DC6}"/>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線單箭頭接點 52">
            <a:extLst>
              <a:ext uri="{FF2B5EF4-FFF2-40B4-BE49-F238E27FC236}">
                <a16:creationId xmlns:a16="http://schemas.microsoft.com/office/drawing/2014/main" id="{16FDAE27-5A72-428B-6683-46392BAF079A}"/>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直線單箭頭接點 53">
            <a:extLst>
              <a:ext uri="{FF2B5EF4-FFF2-40B4-BE49-F238E27FC236}">
                <a16:creationId xmlns:a16="http://schemas.microsoft.com/office/drawing/2014/main" id="{E3683248-990E-F0F9-E857-8736AABC249B}"/>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流程圖: 磁碟 6">
            <a:extLst>
              <a:ext uri="{FF2B5EF4-FFF2-40B4-BE49-F238E27FC236}">
                <a16:creationId xmlns:a16="http://schemas.microsoft.com/office/drawing/2014/main" id="{36869628-8564-DE77-07B7-81FF3BE303C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 name="文字方塊 7">
            <a:extLst>
              <a:ext uri="{FF2B5EF4-FFF2-40B4-BE49-F238E27FC236}">
                <a16:creationId xmlns:a16="http://schemas.microsoft.com/office/drawing/2014/main" id="{56E7547D-EF2D-7D5F-176B-04B02B99429C}"/>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9" name="文字方塊 8">
            <a:extLst>
              <a:ext uri="{FF2B5EF4-FFF2-40B4-BE49-F238E27FC236}">
                <a16:creationId xmlns:a16="http://schemas.microsoft.com/office/drawing/2014/main" id="{5D51B72D-89BD-053F-9711-B91E94FAF3E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909983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C1270F-AB9E-863D-CDBE-EEBAC013D06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B0CABBC-771A-86A2-0F5A-3A478FC55905}"/>
              </a:ext>
            </a:extLst>
          </p:cNvPr>
          <p:cNvSpPr>
            <a:spLocks noGrp="1"/>
          </p:cNvSpPr>
          <p:nvPr>
            <p:ph type="title"/>
          </p:nvPr>
        </p:nvSpPr>
        <p:spPr/>
        <p:txBody>
          <a:bodyPr/>
          <a:lstStyle/>
          <a:p>
            <a:r>
              <a:rPr lang="en-US" altLang="zh-TW" dirty="0"/>
              <a:t>Evaluation Module</a:t>
            </a:r>
          </a:p>
        </p:txBody>
      </p:sp>
      <p:sp>
        <p:nvSpPr>
          <p:cNvPr id="4" name="投影片編號版面配置區 3">
            <a:extLst>
              <a:ext uri="{FF2B5EF4-FFF2-40B4-BE49-F238E27FC236}">
                <a16:creationId xmlns:a16="http://schemas.microsoft.com/office/drawing/2014/main" id="{CF67370C-C16D-8D85-717F-8D8FB23F51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21</a:t>
            </a:fld>
            <a:endParaRPr lang="zh-TW" altLang="en-US" sz="1600"/>
          </a:p>
        </p:txBody>
      </p:sp>
      <p:sp>
        <p:nvSpPr>
          <p:cNvPr id="59" name="內容版面配置區 2">
            <a:extLst>
              <a:ext uri="{FF2B5EF4-FFF2-40B4-BE49-F238E27FC236}">
                <a16:creationId xmlns:a16="http://schemas.microsoft.com/office/drawing/2014/main" id="{E2FA261F-2938-34FE-08C9-C815CBA1BE70}"/>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r>
              <a:rPr lang="zh-TW" altLang="zh-TW" dirty="0"/>
              <a:t>The routing results are visualized on map-based visualization platform</a:t>
            </a:r>
            <a:r>
              <a:rPr lang="en-US" altLang="zh-TW" dirty="0"/>
              <a:t>s</a:t>
            </a:r>
          </a:p>
        </p:txBody>
      </p:sp>
      <p:pic>
        <p:nvPicPr>
          <p:cNvPr id="13" name="圖片 12">
            <a:extLst>
              <a:ext uri="{FF2B5EF4-FFF2-40B4-BE49-F238E27FC236}">
                <a16:creationId xmlns:a16="http://schemas.microsoft.com/office/drawing/2014/main" id="{D4A04D76-8FF1-8456-5027-74180B4443D3}"/>
              </a:ext>
            </a:extLst>
          </p:cNvPr>
          <p:cNvPicPr>
            <a:picLocks noChangeAspect="1"/>
          </p:cNvPicPr>
          <p:nvPr/>
        </p:nvPicPr>
        <p:blipFill>
          <a:blip r:embed="rId3"/>
          <a:stretch>
            <a:fillRect/>
          </a:stretch>
        </p:blipFill>
        <p:spPr>
          <a:xfrm>
            <a:off x="1036320" y="2470891"/>
            <a:ext cx="4840670" cy="3261842"/>
          </a:xfrm>
          <a:prstGeom prst="rect">
            <a:avLst/>
          </a:prstGeom>
        </p:spPr>
      </p:pic>
      <p:pic>
        <p:nvPicPr>
          <p:cNvPr id="15" name="圖片 14">
            <a:extLst>
              <a:ext uri="{FF2B5EF4-FFF2-40B4-BE49-F238E27FC236}">
                <a16:creationId xmlns:a16="http://schemas.microsoft.com/office/drawing/2014/main" id="{82027927-72EC-38B6-EB29-BA54587BD2E2}"/>
              </a:ext>
            </a:extLst>
          </p:cNvPr>
          <p:cNvPicPr>
            <a:picLocks noChangeAspect="1"/>
          </p:cNvPicPr>
          <p:nvPr/>
        </p:nvPicPr>
        <p:blipFill>
          <a:blip r:embed="rId4"/>
          <a:srcRect r="3902"/>
          <a:stretch>
            <a:fillRect/>
          </a:stretch>
        </p:blipFill>
        <p:spPr>
          <a:xfrm>
            <a:off x="6096001" y="2470891"/>
            <a:ext cx="5410386" cy="3261842"/>
          </a:xfrm>
          <a:prstGeom prst="rect">
            <a:avLst/>
          </a:prstGeom>
        </p:spPr>
      </p:pic>
    </p:spTree>
    <p:extLst>
      <p:ext uri="{BB962C8B-B14F-4D97-AF65-F5344CB8AC3E}">
        <p14:creationId xmlns:p14="http://schemas.microsoft.com/office/powerpoint/2010/main" val="25493765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10FAB0-A0E4-823A-5AA0-43624A0FEE9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6E19A9-5195-D404-668B-D18C9BC0BCD0}"/>
              </a:ext>
            </a:extLst>
          </p:cNvPr>
          <p:cNvSpPr>
            <a:spLocks noGrp="1"/>
          </p:cNvSpPr>
          <p:nvPr>
            <p:ph type="title"/>
          </p:nvPr>
        </p:nvSpPr>
        <p:spPr/>
        <p:txBody>
          <a:bodyPr/>
          <a:lstStyle/>
          <a:p>
            <a:r>
              <a:rPr lang="en-US" altLang="zh-TW" dirty="0"/>
              <a:t>Evaluation Module</a:t>
            </a:r>
          </a:p>
        </p:txBody>
      </p:sp>
      <p:sp>
        <p:nvSpPr>
          <p:cNvPr id="4" name="投影片編號版面配置區 3">
            <a:extLst>
              <a:ext uri="{FF2B5EF4-FFF2-40B4-BE49-F238E27FC236}">
                <a16:creationId xmlns:a16="http://schemas.microsoft.com/office/drawing/2014/main" id="{6E3D2A4A-1CCA-129C-2F7F-AFEB5793308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22</a:t>
            </a:fld>
            <a:endParaRPr lang="zh-TW" altLang="en-US" sz="1600"/>
          </a:p>
        </p:txBody>
      </p:sp>
      <p:sp>
        <p:nvSpPr>
          <p:cNvPr id="10" name="內容版面配置區 9">
            <a:extLst>
              <a:ext uri="{FF2B5EF4-FFF2-40B4-BE49-F238E27FC236}">
                <a16:creationId xmlns:a16="http://schemas.microsoft.com/office/drawing/2014/main" id="{338F5130-24B6-BC8D-93DB-13AC61292434}"/>
              </a:ext>
            </a:extLst>
          </p:cNvPr>
          <p:cNvSpPr>
            <a:spLocks noGrp="1"/>
          </p:cNvSpPr>
          <p:nvPr>
            <p:ph idx="1"/>
          </p:nvPr>
        </p:nvSpPr>
        <p:spPr/>
        <p:txBody>
          <a:bodyPr/>
          <a:lstStyle/>
          <a:p>
            <a:r>
              <a:rPr lang="en-US" altLang="zh-TW" dirty="0"/>
              <a:t>The following metrics are used to evaluate the performance of the proposed VRP framework</a:t>
            </a:r>
          </a:p>
          <a:p>
            <a:pPr marL="457200" indent="-457200">
              <a:buFont typeface="+mj-lt"/>
              <a:buAutoNum type="arabicPeriod"/>
            </a:pPr>
            <a:r>
              <a:rPr lang="en-US" altLang="zh-TW" dirty="0"/>
              <a:t>Number of Vehicles</a:t>
            </a:r>
          </a:p>
          <a:p>
            <a:pPr marL="457200" indent="-457200">
              <a:buFont typeface="+mj-lt"/>
              <a:buAutoNum type="arabicPeriod"/>
            </a:pPr>
            <a:r>
              <a:rPr lang="en-US" altLang="zh-TW" dirty="0"/>
              <a:t>Total Distance</a:t>
            </a:r>
          </a:p>
          <a:p>
            <a:pPr marL="457200" indent="-457200">
              <a:buFont typeface="+mj-lt"/>
              <a:buAutoNum type="arabicPeriod"/>
            </a:pPr>
            <a:r>
              <a:rPr lang="en-US" altLang="zh-TW" dirty="0"/>
              <a:t>Average Load Rate</a:t>
            </a:r>
          </a:p>
          <a:p>
            <a:pPr marL="457200" indent="-457200">
              <a:buFont typeface="+mj-lt"/>
              <a:buAutoNum type="arabicPeriod"/>
            </a:pPr>
            <a:r>
              <a:rPr lang="en-US" altLang="zh-TW" dirty="0"/>
              <a:t>On Time Rate</a:t>
            </a:r>
          </a:p>
          <a:p>
            <a:pPr marL="457200" indent="-457200">
              <a:buFont typeface="+mj-lt"/>
              <a:buAutoNum type="arabicPeriod"/>
            </a:pPr>
            <a:r>
              <a:rPr lang="en-US" altLang="zh-TW" dirty="0"/>
              <a:t>Execution Time</a:t>
            </a:r>
          </a:p>
          <a:p>
            <a:pPr marL="0" indent="0">
              <a:buNone/>
            </a:pPr>
            <a:endParaRPr lang="zh-TW" altLang="en-US" dirty="0"/>
          </a:p>
        </p:txBody>
      </p:sp>
    </p:spTree>
    <p:extLst>
      <p:ext uri="{BB962C8B-B14F-4D97-AF65-F5344CB8AC3E}">
        <p14:creationId xmlns:p14="http://schemas.microsoft.com/office/powerpoint/2010/main" val="24225431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0D6655-5F72-37A7-CF71-2350AC44C7E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48C1114-122B-AC5B-7DF7-4E9E99A0836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34D2C82C-C853-AAB6-5420-A10EF9D8401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23</a:t>
            </a:fld>
            <a:endParaRPr lang="zh-TW" altLang="en-US" sz="1600"/>
          </a:p>
        </p:txBody>
      </p:sp>
      <p:sp>
        <p:nvSpPr>
          <p:cNvPr id="39" name="矩形 38">
            <a:extLst>
              <a:ext uri="{FF2B5EF4-FFF2-40B4-BE49-F238E27FC236}">
                <a16:creationId xmlns:a16="http://schemas.microsoft.com/office/drawing/2014/main" id="{497F6865-92BD-A6D1-15C9-30A4A3E9CC34}"/>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矩形 39">
            <a:extLst>
              <a:ext uri="{FF2B5EF4-FFF2-40B4-BE49-F238E27FC236}">
                <a16:creationId xmlns:a16="http://schemas.microsoft.com/office/drawing/2014/main" id="{FA98F779-FD28-D98F-6853-C4F100582DC6}"/>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41" name="矩形 40">
            <a:extLst>
              <a:ext uri="{FF2B5EF4-FFF2-40B4-BE49-F238E27FC236}">
                <a16:creationId xmlns:a16="http://schemas.microsoft.com/office/drawing/2014/main" id="{353F4F1C-2C8E-5F4D-4615-9189F5A0ECD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42" name="矩形 41">
            <a:extLst>
              <a:ext uri="{FF2B5EF4-FFF2-40B4-BE49-F238E27FC236}">
                <a16:creationId xmlns:a16="http://schemas.microsoft.com/office/drawing/2014/main" id="{31C5FA5B-B530-E78B-9D29-5B73B86AF78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43" name="矩形 42">
            <a:extLst>
              <a:ext uri="{FF2B5EF4-FFF2-40B4-BE49-F238E27FC236}">
                <a16:creationId xmlns:a16="http://schemas.microsoft.com/office/drawing/2014/main" id="{A299B320-2F63-0CF4-0DA8-4404A4280E8A}"/>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45" name="矩形 44">
            <a:extLst>
              <a:ext uri="{FF2B5EF4-FFF2-40B4-BE49-F238E27FC236}">
                <a16:creationId xmlns:a16="http://schemas.microsoft.com/office/drawing/2014/main" id="{FBDCE885-1E36-551E-AD89-174CAE9D3B85}"/>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46" name="矩形 45">
            <a:extLst>
              <a:ext uri="{FF2B5EF4-FFF2-40B4-BE49-F238E27FC236}">
                <a16:creationId xmlns:a16="http://schemas.microsoft.com/office/drawing/2014/main" id="{A36DAB94-1763-F371-C6B1-6C96B13528A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48" name="直線單箭頭接點 47">
            <a:extLst>
              <a:ext uri="{FF2B5EF4-FFF2-40B4-BE49-F238E27FC236}">
                <a16:creationId xmlns:a16="http://schemas.microsoft.com/office/drawing/2014/main" id="{0E75D82D-D03E-FF41-F172-78C51AEC4A90}"/>
              </a:ext>
            </a:extLst>
          </p:cNvPr>
          <p:cNvCxnSpPr>
            <a:cxnSpLocks/>
            <a:endCxn id="4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直線單箭頭接點 48">
            <a:extLst>
              <a:ext uri="{FF2B5EF4-FFF2-40B4-BE49-F238E27FC236}">
                <a16:creationId xmlns:a16="http://schemas.microsoft.com/office/drawing/2014/main" id="{EF74ABE5-C2F1-33F4-3FF5-ECE8CCD1777D}"/>
              </a:ext>
            </a:extLst>
          </p:cNvPr>
          <p:cNvCxnSpPr>
            <a:cxnSpLocks/>
            <a:stCxn id="4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文字方塊 49">
            <a:extLst>
              <a:ext uri="{FF2B5EF4-FFF2-40B4-BE49-F238E27FC236}">
                <a16:creationId xmlns:a16="http://schemas.microsoft.com/office/drawing/2014/main" id="{21D800B9-5D1B-A4F8-F1D2-827328AA0B02}"/>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51" name="直線單箭頭接點 50">
            <a:extLst>
              <a:ext uri="{FF2B5EF4-FFF2-40B4-BE49-F238E27FC236}">
                <a16:creationId xmlns:a16="http://schemas.microsoft.com/office/drawing/2014/main" id="{3E319827-03D4-7150-D8B1-E8904034E1C6}"/>
              </a:ext>
            </a:extLst>
          </p:cNvPr>
          <p:cNvCxnSpPr>
            <a:cxnSpLocks/>
            <a:stCxn id="40" idx="3"/>
            <a:endCxn id="4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90583BBF-7E12-405A-D563-06ED6D3DA561}"/>
              </a:ext>
            </a:extLst>
          </p:cNvPr>
          <p:cNvCxnSpPr>
            <a:cxnSpLocks/>
            <a:stCxn id="41" idx="3"/>
            <a:endCxn id="4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矩形 52">
            <a:extLst>
              <a:ext uri="{FF2B5EF4-FFF2-40B4-BE49-F238E27FC236}">
                <a16:creationId xmlns:a16="http://schemas.microsoft.com/office/drawing/2014/main" id="{0E8257BC-7E95-5BC6-679A-01A970D13546}"/>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a:extLst>
              <a:ext uri="{FF2B5EF4-FFF2-40B4-BE49-F238E27FC236}">
                <a16:creationId xmlns:a16="http://schemas.microsoft.com/office/drawing/2014/main" id="{992E2BD2-8509-79A5-7AAD-327EECCCC3F3}"/>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文字方塊 54">
            <a:extLst>
              <a:ext uri="{FF2B5EF4-FFF2-40B4-BE49-F238E27FC236}">
                <a16:creationId xmlns:a16="http://schemas.microsoft.com/office/drawing/2014/main" id="{8B228DAD-7402-E320-D380-338753471CFD}"/>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56" name="矩形 55">
            <a:extLst>
              <a:ext uri="{FF2B5EF4-FFF2-40B4-BE49-F238E27FC236}">
                <a16:creationId xmlns:a16="http://schemas.microsoft.com/office/drawing/2014/main" id="{6AFA9B27-F4DC-BA54-3B53-0B536BF52935}"/>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57" name="直線單箭頭接點 56">
            <a:extLst>
              <a:ext uri="{FF2B5EF4-FFF2-40B4-BE49-F238E27FC236}">
                <a16:creationId xmlns:a16="http://schemas.microsoft.com/office/drawing/2014/main" id="{C44DC62C-D8D1-6969-52CE-8A0CFA432B55}"/>
              </a:ext>
            </a:extLst>
          </p:cNvPr>
          <p:cNvCxnSpPr>
            <a:cxnSpLocks/>
            <a:stCxn id="42" idx="3"/>
            <a:endCxn id="56"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文字方塊 57">
            <a:extLst>
              <a:ext uri="{FF2B5EF4-FFF2-40B4-BE49-F238E27FC236}">
                <a16:creationId xmlns:a16="http://schemas.microsoft.com/office/drawing/2014/main" id="{E7E2E9C6-2158-8AFF-02E0-52F59C9DCF15}"/>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64" name="矩形 63">
            <a:extLst>
              <a:ext uri="{FF2B5EF4-FFF2-40B4-BE49-F238E27FC236}">
                <a16:creationId xmlns:a16="http://schemas.microsoft.com/office/drawing/2014/main" id="{D5AF7F7E-0E3E-E23C-83A9-D9EF5DE93C9C}"/>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文字方塊 64">
            <a:extLst>
              <a:ext uri="{FF2B5EF4-FFF2-40B4-BE49-F238E27FC236}">
                <a16:creationId xmlns:a16="http://schemas.microsoft.com/office/drawing/2014/main" id="{E48100B4-90E9-6147-5E26-48D6FC3A9A7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66" name="接點: 肘形 65">
            <a:extLst>
              <a:ext uri="{FF2B5EF4-FFF2-40B4-BE49-F238E27FC236}">
                <a16:creationId xmlns:a16="http://schemas.microsoft.com/office/drawing/2014/main" id="{E94B0C1D-46E5-2A19-FAA8-6F237991A0C7}"/>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接點: 肘形 66">
            <a:extLst>
              <a:ext uri="{FF2B5EF4-FFF2-40B4-BE49-F238E27FC236}">
                <a16:creationId xmlns:a16="http://schemas.microsoft.com/office/drawing/2014/main" id="{0E62BA7B-6D47-0D34-4FCF-CE649287484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992F4FA-59FB-1261-5541-87EFA94AD90D}"/>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流程圖: 磁碟 72">
            <a:extLst>
              <a:ext uri="{FF2B5EF4-FFF2-40B4-BE49-F238E27FC236}">
                <a16:creationId xmlns:a16="http://schemas.microsoft.com/office/drawing/2014/main" id="{ADF9F460-E6A9-85E4-9563-7E156E4E8531}"/>
              </a:ext>
            </a:extLst>
          </p:cNvPr>
          <p:cNvSpPr/>
          <p:nvPr/>
        </p:nvSpPr>
        <p:spPr>
          <a:xfrm>
            <a:off x="10264923"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grpSp>
        <p:nvGrpSpPr>
          <p:cNvPr id="77" name="群組 76">
            <a:extLst>
              <a:ext uri="{FF2B5EF4-FFF2-40B4-BE49-F238E27FC236}">
                <a16:creationId xmlns:a16="http://schemas.microsoft.com/office/drawing/2014/main" id="{5137084C-E2FF-FB6A-2B7D-F5759395BCF7}"/>
              </a:ext>
            </a:extLst>
          </p:cNvPr>
          <p:cNvGrpSpPr/>
          <p:nvPr/>
        </p:nvGrpSpPr>
        <p:grpSpPr>
          <a:xfrm>
            <a:off x="901099" y="3823855"/>
            <a:ext cx="792483" cy="896431"/>
            <a:chOff x="1181097" y="2391884"/>
            <a:chExt cx="792483" cy="823755"/>
          </a:xfrm>
        </p:grpSpPr>
        <p:sp>
          <p:nvSpPr>
            <p:cNvPr id="78" name="流程圖: 磁碟 77">
              <a:extLst>
                <a:ext uri="{FF2B5EF4-FFF2-40B4-BE49-F238E27FC236}">
                  <a16:creationId xmlns:a16="http://schemas.microsoft.com/office/drawing/2014/main" id="{DDC35C89-675C-222E-08F9-064AD1B9E528}"/>
                </a:ext>
              </a:extLst>
            </p:cNvPr>
            <p:cNvSpPr/>
            <p:nvPr/>
          </p:nvSpPr>
          <p:spPr>
            <a:xfrm>
              <a:off x="1181100" y="2391884"/>
              <a:ext cx="792480" cy="823755"/>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0" name="文字方塊 8">
              <a:extLst>
                <a:ext uri="{FF2B5EF4-FFF2-40B4-BE49-F238E27FC236}">
                  <a16:creationId xmlns:a16="http://schemas.microsoft.com/office/drawing/2014/main" id="{730B14EB-0972-337B-C7FE-52C2C02A3C2F}"/>
                </a:ext>
              </a:extLst>
            </p:cNvPr>
            <p:cNvSpPr txBox="1"/>
            <p:nvPr/>
          </p:nvSpPr>
          <p:spPr>
            <a:xfrm>
              <a:off x="1181097" y="2657183"/>
              <a:ext cx="792481" cy="220881"/>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Manually</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2" name="文字方塊 8">
              <a:extLst>
                <a:ext uri="{FF2B5EF4-FFF2-40B4-BE49-F238E27FC236}">
                  <a16:creationId xmlns:a16="http://schemas.microsoft.com/office/drawing/2014/main" id="{9798D1DD-D3BB-2895-9A44-A1696E4C9892}"/>
                </a:ext>
              </a:extLst>
            </p:cNvPr>
            <p:cNvSpPr txBox="1"/>
            <p:nvPr/>
          </p:nvSpPr>
          <p:spPr>
            <a:xfrm>
              <a:off x="1181099" y="2932347"/>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grpSp>
      <p:sp>
        <p:nvSpPr>
          <p:cNvPr id="83" name="文字方塊 8">
            <a:extLst>
              <a:ext uri="{FF2B5EF4-FFF2-40B4-BE49-F238E27FC236}">
                <a16:creationId xmlns:a16="http://schemas.microsoft.com/office/drawing/2014/main" id="{B5CA1A29-91C7-50C5-A601-125DFB22253F}"/>
              </a:ext>
            </a:extLst>
          </p:cNvPr>
          <p:cNvSpPr txBox="1"/>
          <p:nvPr/>
        </p:nvSpPr>
        <p:spPr>
          <a:xfrm>
            <a:off x="887245" y="427207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Planned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4" name="文字方塊 8">
            <a:extLst>
              <a:ext uri="{FF2B5EF4-FFF2-40B4-BE49-F238E27FC236}">
                <a16:creationId xmlns:a16="http://schemas.microsoft.com/office/drawing/2014/main" id="{2354D72A-F20F-CC55-A818-27EB1C274F1F}"/>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5" name="文字方塊 8">
            <a:extLst>
              <a:ext uri="{FF2B5EF4-FFF2-40B4-BE49-F238E27FC236}">
                <a16:creationId xmlns:a16="http://schemas.microsoft.com/office/drawing/2014/main" id="{FDA32E35-19D5-4009-E272-4F57717461C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86" name="直線單箭頭接點 85">
            <a:extLst>
              <a:ext uri="{FF2B5EF4-FFF2-40B4-BE49-F238E27FC236}">
                <a16:creationId xmlns:a16="http://schemas.microsoft.com/office/drawing/2014/main" id="{767348D9-7D46-EDC8-656F-7CD08B05B3A6}"/>
              </a:ext>
            </a:extLst>
          </p:cNvPr>
          <p:cNvCxnSpPr>
            <a:cxnSpLocks/>
            <a:stCxn id="56" idx="3"/>
            <a:endCxn id="4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直線單箭頭接點 86">
            <a:extLst>
              <a:ext uri="{FF2B5EF4-FFF2-40B4-BE49-F238E27FC236}">
                <a16:creationId xmlns:a16="http://schemas.microsoft.com/office/drawing/2014/main" id="{CE2E2493-4061-6B07-CD2E-B874E5BACABD}"/>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接點: 肘形 87">
            <a:extLst>
              <a:ext uri="{FF2B5EF4-FFF2-40B4-BE49-F238E27FC236}">
                <a16:creationId xmlns:a16="http://schemas.microsoft.com/office/drawing/2014/main" id="{2E46868A-33E6-92DA-FEFD-D9912D9CB0F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接點: 肘形 88">
            <a:extLst>
              <a:ext uri="{FF2B5EF4-FFF2-40B4-BE49-F238E27FC236}">
                <a16:creationId xmlns:a16="http://schemas.microsoft.com/office/drawing/2014/main" id="{69BF7B68-8B3A-64A6-2A3A-BD3E3F350D49}"/>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77084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94C335-F256-58F4-67A5-81285FACF9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A9A4C5-60AA-EF04-4AE2-76FB2BC43471}"/>
              </a:ext>
            </a:extLst>
          </p:cNvPr>
          <p:cNvSpPr>
            <a:spLocks noGrp="1"/>
          </p:cNvSpPr>
          <p:nvPr>
            <p:ph type="title"/>
          </p:nvPr>
        </p:nvSpPr>
        <p:spPr/>
        <p:txBody>
          <a:bodyPr/>
          <a:lstStyle/>
          <a:p>
            <a:r>
              <a:rPr lang="en-US" altLang="zh-TW" dirty="0"/>
              <a:t>Optimized Route Data</a:t>
            </a:r>
            <a:endParaRPr lang="zh-TW" altLang="en-US" dirty="0"/>
          </a:p>
        </p:txBody>
      </p:sp>
      <p:sp>
        <p:nvSpPr>
          <p:cNvPr id="4" name="投影片編號版面配置區 3">
            <a:extLst>
              <a:ext uri="{FF2B5EF4-FFF2-40B4-BE49-F238E27FC236}">
                <a16:creationId xmlns:a16="http://schemas.microsoft.com/office/drawing/2014/main" id="{51A51500-0C26-12E4-6808-C3EFE45EF3D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24</a:t>
            </a:fld>
            <a:endParaRPr lang="zh-TW" altLang="en-US" sz="1600" dirty="0"/>
          </a:p>
        </p:txBody>
      </p:sp>
      <p:pic>
        <p:nvPicPr>
          <p:cNvPr id="7" name="圖片 6">
            <a:extLst>
              <a:ext uri="{FF2B5EF4-FFF2-40B4-BE49-F238E27FC236}">
                <a16:creationId xmlns:a16="http://schemas.microsoft.com/office/drawing/2014/main" id="{67215ADB-D91F-B5BD-4E84-9DCDAF0FB666}"/>
              </a:ext>
            </a:extLst>
          </p:cNvPr>
          <p:cNvPicPr>
            <a:picLocks noChangeAspect="1"/>
          </p:cNvPicPr>
          <p:nvPr/>
        </p:nvPicPr>
        <p:blipFill>
          <a:blip r:embed="rId3"/>
          <a:srcRect l="1555" t="3209" r="30710" b="38986"/>
          <a:stretch>
            <a:fillRect/>
          </a:stretch>
        </p:blipFill>
        <p:spPr>
          <a:xfrm>
            <a:off x="1154084" y="2229022"/>
            <a:ext cx="8595558" cy="3555176"/>
          </a:xfrm>
          <a:prstGeom prst="rect">
            <a:avLst/>
          </a:prstGeom>
        </p:spPr>
      </p:pic>
    </p:spTree>
    <p:extLst>
      <p:ext uri="{BB962C8B-B14F-4D97-AF65-F5344CB8AC3E}">
        <p14:creationId xmlns:p14="http://schemas.microsoft.com/office/powerpoint/2010/main" val="40333158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DB30E-D6A4-A194-2B05-8842C85A2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ABDC1DF-149D-9936-C341-93B96ECB40BC}"/>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68F62BB8-5859-7DA0-8954-D1FD69C9774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4E306AF4-B507-B555-86C3-54915D3C799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25</a:t>
            </a:fld>
            <a:endParaRPr lang="zh-TW" altLang="en-US" sz="1600" dirty="0"/>
          </a:p>
        </p:txBody>
      </p:sp>
    </p:spTree>
    <p:extLst>
      <p:ext uri="{BB962C8B-B14F-4D97-AF65-F5344CB8AC3E}">
        <p14:creationId xmlns:p14="http://schemas.microsoft.com/office/powerpoint/2010/main" val="11367220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E154C-75C4-9ADD-4818-3095EE5A3A8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85796E7-A53F-6435-6D8C-59C16957B918}"/>
              </a:ext>
            </a:extLst>
          </p:cNvPr>
          <p:cNvSpPr>
            <a:spLocks noGrp="1"/>
          </p:cNvSpPr>
          <p:nvPr>
            <p:ph type="title"/>
          </p:nvPr>
        </p:nvSpPr>
        <p:spPr/>
        <p:txBody>
          <a:bodyPr/>
          <a:lstStyle/>
          <a:p>
            <a:r>
              <a:rPr lang="en-US" altLang="zh-TW" dirty="0"/>
              <a:t>Experiment Setting</a:t>
            </a:r>
          </a:p>
        </p:txBody>
      </p:sp>
      <p:sp>
        <p:nvSpPr>
          <p:cNvPr id="4" name="投影片編號版面配置區 3">
            <a:extLst>
              <a:ext uri="{FF2B5EF4-FFF2-40B4-BE49-F238E27FC236}">
                <a16:creationId xmlns:a16="http://schemas.microsoft.com/office/drawing/2014/main" id="{3495F4E8-F981-FD93-6EBA-0090750CF55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26</a:t>
            </a:fld>
            <a:endParaRPr lang="zh-TW" altLang="en-US" sz="1600"/>
          </a:p>
        </p:txBody>
      </p:sp>
      <mc:AlternateContent xmlns:mc="http://schemas.openxmlformats.org/markup-compatibility/2006" xmlns:a14="http://schemas.microsoft.com/office/drawing/2010/main">
        <mc:Choice Requires="a14">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Choice>
        <mc:Fallback xmlns="">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300000" r="-178832" b="-206410"/>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300000" r="-40146" b="-206410"/>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05195" r="-178832" b="-109091"/>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05195" r="-40146" b="-109091"/>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98718" r="-178832" b="-7692"/>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98718" r="-40146" b="-7692"/>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Fallback>
      </mc:AlternateContent>
    </p:spTree>
    <p:extLst>
      <p:ext uri="{BB962C8B-B14F-4D97-AF65-F5344CB8AC3E}">
        <p14:creationId xmlns:p14="http://schemas.microsoft.com/office/powerpoint/2010/main" val="527567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E7EC2B-4DFB-4C53-6E2C-6067027F5B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6C5674F-BCCC-ACDC-A9CA-5C092DB71A6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1F8AE684-85D9-452B-6574-238D67006C2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27</a:t>
            </a:fld>
            <a:endParaRPr lang="zh-TW" altLang="en-US" sz="1600" dirty="0"/>
          </a:p>
        </p:txBody>
      </p:sp>
      <p:graphicFrame>
        <p:nvGraphicFramePr>
          <p:cNvPr id="6" name="內容版面配置區 4">
            <a:extLst>
              <a:ext uri="{FF2B5EF4-FFF2-40B4-BE49-F238E27FC236}">
                <a16:creationId xmlns:a16="http://schemas.microsoft.com/office/drawing/2014/main" id="{B7C7E742-0C9E-439C-4301-D10394B9E552}"/>
              </a:ext>
            </a:extLst>
          </p:cNvPr>
          <p:cNvGraphicFramePr>
            <a:graphicFrameLocks/>
          </p:cNvGraphicFramePr>
          <p:nvPr>
            <p:extLst>
              <p:ext uri="{D42A27DB-BD31-4B8C-83A1-F6EECF244321}">
                <p14:modId xmlns:p14="http://schemas.microsoft.com/office/powerpoint/2010/main" val="4086863639"/>
              </p:ext>
            </p:extLst>
          </p:nvPr>
        </p:nvGraphicFramePr>
        <p:xfrm>
          <a:off x="1648090" y="2409245"/>
          <a:ext cx="8486716" cy="3071995"/>
        </p:xfrm>
        <a:graphic>
          <a:graphicData uri="http://schemas.openxmlformats.org/drawingml/2006/table">
            <a:tbl>
              <a:tblPr firstCol="1">
                <a:tableStyleId>{5C22544A-7EE6-4342-B048-85BDC9FD1C3A}</a:tableStyleId>
              </a:tblPr>
              <a:tblGrid>
                <a:gridCol w="2507806">
                  <a:extLst>
                    <a:ext uri="{9D8B030D-6E8A-4147-A177-3AD203B41FA5}">
                      <a16:colId xmlns:a16="http://schemas.microsoft.com/office/drawing/2014/main" val="1458894256"/>
                    </a:ext>
                  </a:extLst>
                </a:gridCol>
                <a:gridCol w="1980882">
                  <a:extLst>
                    <a:ext uri="{9D8B030D-6E8A-4147-A177-3AD203B41FA5}">
                      <a16:colId xmlns:a16="http://schemas.microsoft.com/office/drawing/2014/main" val="4258632931"/>
                    </a:ext>
                  </a:extLst>
                </a:gridCol>
                <a:gridCol w="1980882">
                  <a:extLst>
                    <a:ext uri="{9D8B030D-6E8A-4147-A177-3AD203B41FA5}">
                      <a16:colId xmlns:a16="http://schemas.microsoft.com/office/drawing/2014/main" val="1663490534"/>
                    </a:ext>
                  </a:extLst>
                </a:gridCol>
                <a:gridCol w="2017146">
                  <a:extLst>
                    <a:ext uri="{9D8B030D-6E8A-4147-A177-3AD203B41FA5}">
                      <a16:colId xmlns:a16="http://schemas.microsoft.com/office/drawing/2014/main" val="2934832940"/>
                    </a:ext>
                  </a:extLst>
                </a:gridCol>
              </a:tblGrid>
              <a:tr h="580445">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Proposed</a:t>
                      </a:r>
                      <a:r>
                        <a:rPr lang="zh-TW" altLang="en-US" sz="1800" b="1" kern="100" dirty="0">
                          <a:effectLst/>
                          <a:latin typeface="+mj-lt"/>
                          <a:ea typeface="標楷體" panose="03000509000000000000" pitchFamily="65" charset="-120"/>
                          <a:cs typeface="Times New Roman" panose="02020603050405020304" pitchFamily="18" charset="0"/>
                        </a:rPr>
                        <a:t> </a:t>
                      </a:r>
                      <a:r>
                        <a:rPr lang="en-US" altLang="zh-TW" sz="1800" b="1" kern="100" dirty="0">
                          <a:effectLst/>
                          <a:latin typeface="+mj-lt"/>
                          <a:ea typeface="標楷體" panose="03000509000000000000" pitchFamily="65" charset="-120"/>
                          <a:cs typeface="Times New Roman" panose="02020603050405020304" pitchFamily="18" charset="0"/>
                        </a:rPr>
                        <a:t>Method </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solidFill>
                            <a:schemeClr val="dk1"/>
                          </a:solidFill>
                          <a:effectLst/>
                          <a:latin typeface="+mn-lt"/>
                          <a:ea typeface="標楷體" panose="03000509000000000000" pitchFamily="65" charset="-120"/>
                          <a:cs typeface="Times New Roman" panose="02020603050405020304" pitchFamily="18" charset="0"/>
                        </a:rPr>
                        <a:t>HGA-SIH [5]</a:t>
                      </a:r>
                      <a:endParaRPr lang="zh-TW" altLang="zh-TW" sz="1800" b="1"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Manually</a:t>
                      </a:r>
                      <a:r>
                        <a:rPr lang="zh-TW" altLang="en-US" sz="1800" b="1" kern="100" dirty="0">
                          <a:effectLst/>
                          <a:latin typeface="+mj-lt"/>
                          <a:ea typeface="標楷體" panose="03000509000000000000" pitchFamily="65" charset="-120"/>
                          <a:cs typeface="Times New Roman" panose="02020603050405020304" pitchFamily="18" charset="0"/>
                        </a:rPr>
                        <a:t> </a:t>
                      </a:r>
                      <a:r>
                        <a:rPr lang="en-US" altLang="zh-TW" sz="1800" b="1" kern="100" dirty="0">
                          <a:effectLst/>
                          <a:latin typeface="+mj-lt"/>
                          <a:ea typeface="標楷體" panose="03000509000000000000" pitchFamily="65" charset="-120"/>
                          <a:cs typeface="Times New Roman" panose="02020603050405020304" pitchFamily="18" charset="0"/>
                        </a:rPr>
                        <a:t>Planned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97.72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4375.41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4583.14</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4531.51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 (%)</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89.28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84.98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83.01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r>
                        <a:rPr lang="zh-TW" altLang="en-US" sz="1800" b="1"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99.03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98.21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92.43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Execution Time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2-28min</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5-23 min</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1-3 </a:t>
                      </a:r>
                      <a:r>
                        <a:rPr lang="en-US" altLang="zh-TW" sz="1800" kern="100" dirty="0" err="1">
                          <a:effectLst/>
                          <a:latin typeface="+mj-lt"/>
                          <a:ea typeface="標楷體" panose="03000509000000000000" pitchFamily="65" charset="-120"/>
                          <a:cs typeface="Times New Roman" panose="02020603050405020304" pitchFamily="18" charset="0"/>
                        </a:rPr>
                        <a:t>hrs</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
        <p:nvSpPr>
          <p:cNvPr id="5" name="文字方塊 4">
            <a:extLst>
              <a:ext uri="{FF2B5EF4-FFF2-40B4-BE49-F238E27FC236}">
                <a16:creationId xmlns:a16="http://schemas.microsoft.com/office/drawing/2014/main" id="{0AA4D981-B215-B946-6566-8A7B0DC93F95}"/>
              </a:ext>
            </a:extLst>
          </p:cNvPr>
          <p:cNvSpPr txBox="1"/>
          <p:nvPr/>
        </p:nvSpPr>
        <p:spPr>
          <a:xfrm>
            <a:off x="979517" y="6396335"/>
            <a:ext cx="9823863" cy="461665"/>
          </a:xfrm>
          <a:prstGeom prst="rect">
            <a:avLst/>
          </a:prstGeom>
          <a:noFill/>
        </p:spPr>
        <p:txBody>
          <a:bodyPr wrap="square">
            <a:spAutoFit/>
          </a:bodyPr>
          <a:lstStyle/>
          <a:p>
            <a:r>
              <a:rPr lang="en-US" altLang="zh-TW" sz="1200" dirty="0">
                <a:solidFill>
                  <a:schemeClr val="bg1"/>
                </a:solidFill>
                <a:effectLst/>
                <a:latin typeface="+mj-lt"/>
                <a:ea typeface="新細明體" panose="02020500000000000000" pitchFamily="18" charset="-120"/>
                <a:cs typeface="Times New Roman" panose="02020603050405020304" pitchFamily="18" charset="0"/>
              </a:rPr>
              <a:t>[5]  A. Maroof, B. Ayvaz, and K. Naeem, "Logistics optimization using hybrid genetic algorithm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hga</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 solution to the vehicle routing problem with time windows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vrptw</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t>
            </a:r>
            <a:r>
              <a:rPr lang="en-US" altLang="zh-TW" sz="1200" i="1" dirty="0">
                <a:solidFill>
                  <a:schemeClr val="bg1"/>
                </a:solidFill>
                <a:effectLst/>
                <a:latin typeface="+mj-lt"/>
                <a:ea typeface="新細明體" panose="02020500000000000000" pitchFamily="18" charset="-120"/>
                <a:cs typeface="Times New Roman" panose="02020603050405020304" pitchFamily="18" charset="0"/>
              </a:rPr>
              <a:t>IEEE Access, </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vol. 12, pp. 36974–36989, 2024</a:t>
            </a:r>
            <a:endParaRPr lang="zh-TW" altLang="en-US" sz="1200" dirty="0">
              <a:solidFill>
                <a:schemeClr val="bg1"/>
              </a:solidFill>
              <a:latin typeface="+mj-lt"/>
            </a:endParaRPr>
          </a:p>
        </p:txBody>
      </p:sp>
    </p:spTree>
    <p:extLst>
      <p:ext uri="{BB962C8B-B14F-4D97-AF65-F5344CB8AC3E}">
        <p14:creationId xmlns:p14="http://schemas.microsoft.com/office/powerpoint/2010/main" val="212498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6C37E9-1F7D-3F3A-2F29-2563835C279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AF7D10D-159F-7F39-13E8-F0ED8B658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A83C3853-492B-5B55-89EB-39271457350F}"/>
              </a:ext>
            </a:extLst>
          </p:cNvPr>
          <p:cNvSpPr>
            <a:spLocks noGrp="1"/>
          </p:cNvSpPr>
          <p:nvPr>
            <p:ph type="sldNum" sz="quarter" idx="12"/>
          </p:nvPr>
        </p:nvSpPr>
        <p:spPr/>
        <p:txBody>
          <a:bodyPr/>
          <a:lstStyle/>
          <a:p>
            <a:fld id="{5AC25633-CB68-4D6B-BEE8-144406895708}" type="slidenum">
              <a:rPr lang="zh-TW" altLang="en-US" sz="1600"/>
              <a:t>28</a:t>
            </a:fld>
            <a:endParaRPr lang="zh-TW" altLang="en-US" sz="1600" dirty="0"/>
          </a:p>
        </p:txBody>
      </p:sp>
      <p:graphicFrame>
        <p:nvGraphicFramePr>
          <p:cNvPr id="24" name="內容版面配置區 23">
            <a:extLst>
              <a:ext uri="{FF2B5EF4-FFF2-40B4-BE49-F238E27FC236}">
                <a16:creationId xmlns:a16="http://schemas.microsoft.com/office/drawing/2014/main" id="{CD5C253E-C3B4-1721-841A-FDEE1288A32F}"/>
              </a:ext>
            </a:extLst>
          </p:cNvPr>
          <p:cNvGraphicFramePr>
            <a:graphicFrameLocks noGrp="1"/>
          </p:cNvGraphicFramePr>
          <p:nvPr>
            <p:ph idx="1"/>
            <p:extLst>
              <p:ext uri="{D42A27DB-BD31-4B8C-83A1-F6EECF244321}">
                <p14:modId xmlns:p14="http://schemas.microsoft.com/office/powerpoint/2010/main" val="216476887"/>
              </p:ext>
            </p:extLst>
          </p:nvPr>
        </p:nvGraphicFramePr>
        <p:xfrm>
          <a:off x="1097280" y="2006852"/>
          <a:ext cx="4998720" cy="384687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圖表 5">
            <a:extLst>
              <a:ext uri="{FF2B5EF4-FFF2-40B4-BE49-F238E27FC236}">
                <a16:creationId xmlns:a16="http://schemas.microsoft.com/office/drawing/2014/main" id="{01C579D1-CD67-CD90-D8D6-D362152CB4B1}"/>
              </a:ext>
            </a:extLst>
          </p:cNvPr>
          <p:cNvGraphicFramePr>
            <a:graphicFrameLocks/>
          </p:cNvGraphicFramePr>
          <p:nvPr>
            <p:extLst>
              <p:ext uri="{D42A27DB-BD31-4B8C-83A1-F6EECF244321}">
                <p14:modId xmlns:p14="http://schemas.microsoft.com/office/powerpoint/2010/main" val="166586524"/>
              </p:ext>
            </p:extLst>
          </p:nvPr>
        </p:nvGraphicFramePr>
        <p:xfrm>
          <a:off x="6096000" y="2013242"/>
          <a:ext cx="5116483" cy="384686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768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D15F38-6A8C-2D3B-5FC6-DF9308FA659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6514701-BDB7-5CD8-36F2-984FC5635DE3}"/>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E00F4723-4F00-F892-2321-37A4141CF6FD}"/>
              </a:ext>
            </a:extLst>
          </p:cNvPr>
          <p:cNvSpPr>
            <a:spLocks noGrp="1"/>
          </p:cNvSpPr>
          <p:nvPr>
            <p:ph type="sldNum" sz="quarter" idx="12"/>
          </p:nvPr>
        </p:nvSpPr>
        <p:spPr/>
        <p:txBody>
          <a:bodyPr/>
          <a:lstStyle/>
          <a:p>
            <a:fld id="{5AC25633-CB68-4D6B-BEE8-144406895708}" type="slidenum">
              <a:rPr lang="zh-TW" altLang="en-US" sz="1600"/>
              <a:t>29</a:t>
            </a:fld>
            <a:endParaRPr lang="zh-TW" altLang="en-US" sz="1600" dirty="0"/>
          </a:p>
        </p:txBody>
      </p:sp>
      <p:graphicFrame>
        <p:nvGraphicFramePr>
          <p:cNvPr id="3" name="內容版面配置區 2">
            <a:extLst>
              <a:ext uri="{FF2B5EF4-FFF2-40B4-BE49-F238E27FC236}">
                <a16:creationId xmlns:a16="http://schemas.microsoft.com/office/drawing/2014/main" id="{33F78BCC-C903-3A22-2302-18E46241D6A0}"/>
              </a:ext>
            </a:extLst>
          </p:cNvPr>
          <p:cNvGraphicFramePr>
            <a:graphicFrameLocks noGrp="1"/>
          </p:cNvGraphicFramePr>
          <p:nvPr>
            <p:ph idx="1"/>
            <p:extLst>
              <p:ext uri="{D42A27DB-BD31-4B8C-83A1-F6EECF244321}">
                <p14:modId xmlns:p14="http://schemas.microsoft.com/office/powerpoint/2010/main" val="948677015"/>
              </p:ext>
            </p:extLst>
          </p:nvPr>
        </p:nvGraphicFramePr>
        <p:xfrm>
          <a:off x="1097280" y="1846263"/>
          <a:ext cx="4998720" cy="40227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圖表 4">
            <a:extLst>
              <a:ext uri="{FF2B5EF4-FFF2-40B4-BE49-F238E27FC236}">
                <a16:creationId xmlns:a16="http://schemas.microsoft.com/office/drawing/2014/main" id="{87CC64D4-C0B2-7096-12DF-77C844F0BCE0}"/>
              </a:ext>
            </a:extLst>
          </p:cNvPr>
          <p:cNvGraphicFramePr>
            <a:graphicFrameLocks/>
          </p:cNvGraphicFramePr>
          <p:nvPr>
            <p:extLst>
              <p:ext uri="{D42A27DB-BD31-4B8C-83A1-F6EECF244321}">
                <p14:modId xmlns:p14="http://schemas.microsoft.com/office/powerpoint/2010/main" val="3111464101"/>
              </p:ext>
            </p:extLst>
          </p:nvPr>
        </p:nvGraphicFramePr>
        <p:xfrm>
          <a:off x="6096000" y="1846263"/>
          <a:ext cx="5116483" cy="4022725"/>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0968510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C4C01F-CE6E-EAD2-4C11-B4591ABB8BE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4EB42B6-A38E-C34C-D924-8978A404F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676DFD0D-88D9-41A1-6E22-354ED7094A66}"/>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30</a:t>
            </a:fld>
            <a:endParaRPr lang="zh-TW" altLang="en-US" sz="1600" dirty="0"/>
          </a:p>
        </p:txBody>
      </p:sp>
      <mc:AlternateContent xmlns:mc="http://schemas.openxmlformats.org/markup-compatibility/2006" xmlns:a14="http://schemas.microsoft.com/office/drawing/2010/main">
        <mc:Choice Requires="a14">
          <p:sp>
            <p:nvSpPr>
              <p:cNvPr id="5" name="內容版面配置區 4">
                <a:extLst>
                  <a:ext uri="{FF2B5EF4-FFF2-40B4-BE49-F238E27FC236}">
                    <a16:creationId xmlns:a16="http://schemas.microsoft.com/office/drawing/2014/main" id="{B7589530-6498-BC9C-D47F-D6B3F53497FC}"/>
                  </a:ext>
                </a:extLst>
              </p:cNvPr>
              <p:cNvSpPr>
                <a:spLocks noGrp="1"/>
              </p:cNvSpPr>
              <p:nvPr>
                <p:ph idx="1"/>
              </p:nvPr>
            </p:nvSpPr>
            <p:spPr/>
            <p:txBody>
              <a:bodyPr/>
              <a:lstStyle/>
              <a:p>
                <a:pPr>
                  <a:buFont typeface="Wingdings" panose="05000000000000000000" pitchFamily="2" charset="2"/>
                  <a:buChar char="Ø"/>
                </a:pPr>
                <a:r>
                  <a:rPr lang="en-US" altLang="zh-TW" dirty="0"/>
                  <a:t>Wilcoxon Signed-Rank Test</a:t>
                </a:r>
              </a:p>
              <a:p>
                <a:pPr lvl="1">
                  <a:buFont typeface="Arial" panose="020B0604020202020204" pitchFamily="34" charset="0"/>
                  <a:buChar char="•"/>
                </a:pPr>
                <a:r>
                  <a:rPr lang="en-US" altLang="zh-TW"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5" name="內容版面配置區 4">
                <a:extLst>
                  <a:ext uri="{FF2B5EF4-FFF2-40B4-BE49-F238E27FC236}">
                    <a16:creationId xmlns:a16="http://schemas.microsoft.com/office/drawing/2014/main" id="{B7589530-6498-BC9C-D47F-D6B3F53497FC}"/>
                  </a:ext>
                </a:extLst>
              </p:cNvPr>
              <p:cNvSpPr>
                <a:spLocks noGrp="1" noRot="1" noChangeAspect="1" noMove="1" noResize="1" noEditPoints="1" noAdjustHandles="1" noChangeArrowheads="1" noChangeShapeType="1" noTextEdit="1"/>
              </p:cNvSpPr>
              <p:nvPr>
                <p:ph idx="1"/>
              </p:nvPr>
            </p:nvSpPr>
            <p:spPr>
              <a:blipFill>
                <a:blip r:embed="rId3"/>
                <a:stretch>
                  <a:fillRect l="-1455" t="-1667"/>
                </a:stretch>
              </a:blipFill>
            </p:spPr>
            <p:txBody>
              <a:bodyPr/>
              <a:lstStyle/>
              <a:p>
                <a:r>
                  <a:rPr lang="zh-TW" altLang="en-US">
                    <a:noFill/>
                  </a:rPr>
                  <a:t> </a:t>
                </a:r>
              </a:p>
            </p:txBody>
          </p:sp>
        </mc:Fallback>
      </mc:AlternateContent>
      <p:graphicFrame>
        <p:nvGraphicFramePr>
          <p:cNvPr id="6" name="內容版面配置區 4">
            <a:extLst>
              <a:ext uri="{FF2B5EF4-FFF2-40B4-BE49-F238E27FC236}">
                <a16:creationId xmlns:a16="http://schemas.microsoft.com/office/drawing/2014/main" id="{C5EED8B4-6E83-6F86-5529-650C2F4458DA}"/>
              </a:ext>
            </a:extLst>
          </p:cNvPr>
          <p:cNvGraphicFramePr>
            <a:graphicFrameLocks/>
          </p:cNvGraphicFramePr>
          <p:nvPr>
            <p:extLst>
              <p:ext uri="{D42A27DB-BD31-4B8C-83A1-F6EECF244321}">
                <p14:modId xmlns:p14="http://schemas.microsoft.com/office/powerpoint/2010/main" val="1223222327"/>
              </p:ext>
            </p:extLst>
          </p:nvPr>
        </p:nvGraphicFramePr>
        <p:xfrm>
          <a:off x="2277765" y="2690503"/>
          <a:ext cx="7697429" cy="3286965"/>
        </p:xfrm>
        <a:graphic>
          <a:graphicData uri="http://schemas.openxmlformats.org/drawingml/2006/table">
            <a:tbl>
              <a:tblPr firstCol="1">
                <a:tableStyleId>{5C22544A-7EE6-4342-B048-85BDC9FD1C3A}</a:tableStyleId>
              </a:tblPr>
              <a:tblGrid>
                <a:gridCol w="2290128">
                  <a:extLst>
                    <a:ext uri="{9D8B030D-6E8A-4147-A177-3AD203B41FA5}">
                      <a16:colId xmlns:a16="http://schemas.microsoft.com/office/drawing/2014/main" val="1458894256"/>
                    </a:ext>
                  </a:extLst>
                </a:gridCol>
                <a:gridCol w="2855738">
                  <a:extLst>
                    <a:ext uri="{9D8B030D-6E8A-4147-A177-3AD203B41FA5}">
                      <a16:colId xmlns:a16="http://schemas.microsoft.com/office/drawing/2014/main" val="4258632931"/>
                    </a:ext>
                  </a:extLst>
                </a:gridCol>
                <a:gridCol w="2551563">
                  <a:extLst>
                    <a:ext uri="{9D8B030D-6E8A-4147-A177-3AD203B41FA5}">
                      <a16:colId xmlns:a16="http://schemas.microsoft.com/office/drawing/2014/main" val="4186979241"/>
                    </a:ext>
                  </a:extLst>
                </a:gridCol>
              </a:tblGrid>
              <a:tr h="519237">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Metric</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345966">
                <a:tc row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Manually Planned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0.00001231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26277"/>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0.00004415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63714535"/>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Average Load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endParaRPr lang="en-US" alt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33497767"/>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On Time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77436013"/>
                  </a:ext>
                </a:extLst>
              </a:tr>
              <a:tr h="345966">
                <a:tc row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HGA-SIH</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1152059"/>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53706071"/>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Average Load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44053933"/>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On Time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0.00000041</a:t>
                      </a:r>
                      <a:endParaRPr lang="en-US" alt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6183473"/>
                  </a:ext>
                </a:extLst>
              </a:tr>
            </a:tbl>
          </a:graphicData>
        </a:graphic>
      </p:graphicFrame>
    </p:spTree>
    <p:extLst>
      <p:ext uri="{BB962C8B-B14F-4D97-AF65-F5344CB8AC3E}">
        <p14:creationId xmlns:p14="http://schemas.microsoft.com/office/powerpoint/2010/main" val="36703578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A3BDA6-B1CC-CC77-5E7B-0147B947BA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C533922-4B8A-8A61-A8CD-D2842E706C36}"/>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BDE62C09-9F85-6CD6-251F-F4188154ED28}"/>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B2977C1-7FDB-0A66-B228-A37220DCC20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31</a:t>
            </a:fld>
            <a:endParaRPr lang="zh-TW" altLang="en-US" sz="1600"/>
          </a:p>
        </p:txBody>
      </p:sp>
    </p:spTree>
    <p:extLst>
      <p:ext uri="{BB962C8B-B14F-4D97-AF65-F5344CB8AC3E}">
        <p14:creationId xmlns:p14="http://schemas.microsoft.com/office/powerpoint/2010/main" val="2811805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BE007B-82E8-216A-54C6-68DE3B14C1F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0DD5D9D-97D0-3DA8-CF49-1D1EA07D03BC}"/>
              </a:ext>
            </a:extLst>
          </p:cNvPr>
          <p:cNvSpPr>
            <a:spLocks noGrp="1"/>
          </p:cNvSpPr>
          <p:nvPr>
            <p:ph type="title"/>
          </p:nvPr>
        </p:nvSpPr>
        <p:spPr/>
        <p:txBody>
          <a:bodyPr/>
          <a:lstStyle/>
          <a:p>
            <a:r>
              <a:rPr lang="en-US" altLang="zh-TW" dirty="0"/>
              <a:t>Conclusion</a:t>
            </a:r>
          </a:p>
        </p:txBody>
      </p:sp>
      <p:sp>
        <p:nvSpPr>
          <p:cNvPr id="4" name="投影片編號版面配置區 3">
            <a:extLst>
              <a:ext uri="{FF2B5EF4-FFF2-40B4-BE49-F238E27FC236}">
                <a16:creationId xmlns:a16="http://schemas.microsoft.com/office/drawing/2014/main" id="{F2D7BDCD-7602-8F36-F084-DDAC0FCDF8CF}"/>
              </a:ext>
            </a:extLst>
          </p:cNvPr>
          <p:cNvSpPr>
            <a:spLocks noGrp="1"/>
          </p:cNvSpPr>
          <p:nvPr>
            <p:ph type="sldNum" sz="quarter" idx="12"/>
          </p:nvPr>
        </p:nvSpPr>
        <p:spPr/>
        <p:txBody>
          <a:bodyPr/>
          <a:lstStyle/>
          <a:p>
            <a:fld id="{5AC25633-CB68-4D6B-BEE8-144406895708}" type="slidenum">
              <a:rPr lang="zh-TW" altLang="en-US" sz="1600" smtClean="0"/>
              <a:t>32</a:t>
            </a:fld>
            <a:endParaRPr lang="zh-TW" altLang="en-US" sz="1600" dirty="0"/>
          </a:p>
        </p:txBody>
      </p:sp>
      <p:sp>
        <p:nvSpPr>
          <p:cNvPr id="59" name="內容版面配置區 2">
            <a:extLst>
              <a:ext uri="{FF2B5EF4-FFF2-40B4-BE49-F238E27FC236}">
                <a16:creationId xmlns:a16="http://schemas.microsoft.com/office/drawing/2014/main" id="{8FE8E4F5-8D23-DDC6-13C9-F88F2126CCCF}"/>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p:txBody>
      </p:sp>
      <p:sp>
        <p:nvSpPr>
          <p:cNvPr id="5" name="內容版面配置區 2">
            <a:extLst>
              <a:ext uri="{FF2B5EF4-FFF2-40B4-BE49-F238E27FC236}">
                <a16:creationId xmlns:a16="http://schemas.microsoft.com/office/drawing/2014/main" id="{815C0E44-0C06-116A-157C-BEA497E0E4A3}"/>
              </a:ext>
            </a:extLst>
          </p:cNvPr>
          <p:cNvSpPr txBox="1">
            <a:spLocks/>
          </p:cNvSpPr>
          <p:nvPr/>
        </p:nvSpPr>
        <p:spPr>
          <a:xfrm>
            <a:off x="1097280" y="1845733"/>
            <a:ext cx="10409910" cy="461405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Clr>
                <a:schemeClr val="accent1">
                  <a:lumMod val="50000"/>
                </a:schemeClr>
              </a:buClr>
              <a:buFont typeface="Wingdings" panose="05000000000000000000" pitchFamily="2" charset="2"/>
              <a:buChar char="Ø"/>
            </a:pPr>
            <a:r>
              <a:rPr lang="en-US" altLang="zh-TW" dirty="0"/>
              <a:t>Proposed a Multi-Stage Operationally Constrained VRP model for real-world logistics</a:t>
            </a:r>
          </a:p>
          <a:p>
            <a:pPr>
              <a:buClr>
                <a:schemeClr val="accent1">
                  <a:lumMod val="50000"/>
                </a:schemeClr>
              </a:buClr>
              <a:buFont typeface="Wingdings" panose="05000000000000000000" pitchFamily="2" charset="2"/>
              <a:buChar char="Ø"/>
            </a:pPr>
            <a:r>
              <a:rPr lang="zh-TW" altLang="zh-TW" dirty="0"/>
              <a:t>Developed a hybrid solution framework using CCGA, HACO, and MAC</a:t>
            </a:r>
            <a:r>
              <a:rPr lang="en-US" altLang="zh-TW" dirty="0"/>
              <a:t>S</a:t>
            </a:r>
          </a:p>
          <a:p>
            <a:pPr>
              <a:buClr>
                <a:schemeClr val="accent1">
                  <a:lumMod val="50000"/>
                </a:schemeClr>
              </a:buClr>
              <a:buFont typeface="Wingdings" panose="05000000000000000000" pitchFamily="2" charset="2"/>
              <a:buChar char="Ø"/>
            </a:pPr>
            <a:r>
              <a:rPr lang="zh-TW" altLang="zh-TW" dirty="0"/>
              <a:t>Reduced support-route usage and improved delivery efficiency on real-world data</a:t>
            </a:r>
            <a:endParaRPr lang="en-US" altLang="zh-TW" dirty="0"/>
          </a:p>
        </p:txBody>
      </p:sp>
    </p:spTree>
    <p:extLst>
      <p:ext uri="{BB962C8B-B14F-4D97-AF65-F5344CB8AC3E}">
        <p14:creationId xmlns:p14="http://schemas.microsoft.com/office/powerpoint/2010/main" val="3838413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C7964C-B3DF-5EEF-9FDE-D40A03CD3B0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698C9BD-D935-0D7C-AD9C-88D417C6F074}"/>
              </a:ext>
            </a:extLst>
          </p:cNvPr>
          <p:cNvSpPr>
            <a:spLocks noGrp="1"/>
          </p:cNvSpPr>
          <p:nvPr>
            <p:ph type="title"/>
          </p:nvPr>
        </p:nvSpPr>
        <p:spPr/>
        <p:txBody>
          <a:bodyPr/>
          <a:lstStyle/>
          <a:p>
            <a:r>
              <a:rPr lang="en-US" altLang="zh-TW" dirty="0"/>
              <a:t>Future</a:t>
            </a:r>
          </a:p>
        </p:txBody>
      </p:sp>
      <p:sp>
        <p:nvSpPr>
          <p:cNvPr id="4" name="投影片編號版面配置區 3">
            <a:extLst>
              <a:ext uri="{FF2B5EF4-FFF2-40B4-BE49-F238E27FC236}">
                <a16:creationId xmlns:a16="http://schemas.microsoft.com/office/drawing/2014/main" id="{EBA62698-DB82-4F1D-CEA7-3696B10769EA}"/>
              </a:ext>
            </a:extLst>
          </p:cNvPr>
          <p:cNvSpPr>
            <a:spLocks noGrp="1"/>
          </p:cNvSpPr>
          <p:nvPr>
            <p:ph type="sldNum" sz="quarter" idx="12"/>
          </p:nvPr>
        </p:nvSpPr>
        <p:spPr/>
        <p:txBody>
          <a:bodyPr/>
          <a:lstStyle/>
          <a:p>
            <a:fld id="{5AC25633-CB68-4D6B-BEE8-144406895708}" type="slidenum">
              <a:rPr lang="zh-TW" altLang="en-US" sz="1600" smtClean="0"/>
              <a:t>33</a:t>
            </a:fld>
            <a:endParaRPr lang="zh-TW" altLang="en-US" dirty="0"/>
          </a:p>
        </p:txBody>
      </p:sp>
      <p:sp>
        <p:nvSpPr>
          <p:cNvPr id="5" name="內容版面配置區 4">
            <a:extLst>
              <a:ext uri="{FF2B5EF4-FFF2-40B4-BE49-F238E27FC236}">
                <a16:creationId xmlns:a16="http://schemas.microsoft.com/office/drawing/2014/main" id="{31F7D6F9-4448-FEAE-78F3-544C06AF70F0}"/>
              </a:ext>
            </a:extLst>
          </p:cNvPr>
          <p:cNvSpPr>
            <a:spLocks noGrp="1"/>
          </p:cNvSpPr>
          <p:nvPr>
            <p:ph idx="1"/>
          </p:nvPr>
        </p:nvSpPr>
        <p:spPr/>
        <p:txBody>
          <a:bodyPr>
            <a:normAutofit/>
          </a:bodyPr>
          <a:lstStyle/>
          <a:p>
            <a:pPr>
              <a:lnSpc>
                <a:spcPct val="150000"/>
              </a:lnSpc>
              <a:buFont typeface="Arial" panose="020B0604020202020204" pitchFamily="34" charset="0"/>
              <a:buChar char="•"/>
            </a:pPr>
            <a:r>
              <a:rPr lang="zh-TW" altLang="zh-TW" dirty="0"/>
              <a:t>Problem-level Extensions</a:t>
            </a:r>
            <a:endParaRPr lang="en-US" altLang="zh-TW" dirty="0"/>
          </a:p>
          <a:p>
            <a:pPr lvl="1">
              <a:lnSpc>
                <a:spcPct val="150000"/>
              </a:lnSpc>
            </a:pPr>
            <a:r>
              <a:rPr lang="en-US" altLang="zh-TW" dirty="0"/>
              <a:t>Multi-type Heterogeneous Fleet Vehicle Routing Problem</a:t>
            </a:r>
          </a:p>
          <a:p>
            <a:pPr lvl="1">
              <a:lnSpc>
                <a:spcPct val="150000"/>
              </a:lnSpc>
            </a:pPr>
            <a:r>
              <a:rPr lang="en-US" altLang="zh-TW" dirty="0"/>
              <a:t>Green Vehicle Routing Problem</a:t>
            </a:r>
          </a:p>
          <a:p>
            <a:pPr lvl="1"/>
            <a:endParaRPr lang="en-US" altLang="zh-TW" dirty="0"/>
          </a:p>
          <a:p>
            <a:pPr>
              <a:lnSpc>
                <a:spcPct val="150000"/>
              </a:lnSpc>
              <a:buFont typeface="Arial" panose="020B0604020202020204" pitchFamily="34" charset="0"/>
              <a:buChar char="•"/>
            </a:pPr>
            <a:r>
              <a:rPr lang="zh-TW" altLang="zh-TW" dirty="0"/>
              <a:t>Advanced Methods</a:t>
            </a:r>
            <a:endParaRPr lang="en-US" altLang="zh-TW" dirty="0"/>
          </a:p>
          <a:p>
            <a:pPr lvl="1">
              <a:lnSpc>
                <a:spcPct val="150000"/>
              </a:lnSpc>
            </a:pPr>
            <a:r>
              <a:rPr lang="en-US" altLang="zh-TW" dirty="0"/>
              <a:t>Integrate advanced artificial intelligence m</a:t>
            </a:r>
            <a:r>
              <a:rPr lang="zh-TW" altLang="zh-TW" dirty="0"/>
              <a:t>ethodologies</a:t>
            </a:r>
            <a:endParaRPr lang="en-US" altLang="zh-TW" dirty="0"/>
          </a:p>
          <a:p>
            <a:pPr lvl="1">
              <a:lnSpc>
                <a:spcPct val="150000"/>
              </a:lnSpc>
            </a:pPr>
            <a:r>
              <a:rPr lang="en-US" altLang="zh-TW" dirty="0"/>
              <a:t>Apply deep learning and reinforcement learning to improve scalability and decision quality</a:t>
            </a:r>
          </a:p>
          <a:p>
            <a:pPr marL="201168" lvl="1" indent="0">
              <a:buNone/>
            </a:pPr>
            <a:endParaRPr lang="en-US" altLang="zh-TW" dirty="0"/>
          </a:p>
        </p:txBody>
      </p:sp>
    </p:spTree>
    <p:extLst>
      <p:ext uri="{BB962C8B-B14F-4D97-AF65-F5344CB8AC3E}">
        <p14:creationId xmlns:p14="http://schemas.microsoft.com/office/powerpoint/2010/main" val="5359755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328943-D35C-924C-9AB1-F9406D30C4A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C323A80-7D69-D9D9-1E96-5B96EAF70927}"/>
              </a:ext>
            </a:extLst>
          </p:cNvPr>
          <p:cNvSpPr>
            <a:spLocks noGrp="1"/>
          </p:cNvSpPr>
          <p:nvPr>
            <p:ph type="title"/>
          </p:nvPr>
        </p:nvSpPr>
        <p:spPr/>
        <p:txBody>
          <a:bodyPr/>
          <a:lstStyle/>
          <a:p>
            <a:r>
              <a:rPr lang="en-US" altLang="zh-TW" cap="none" dirty="0">
                <a:solidFill>
                  <a:schemeClr val="tx1"/>
                </a:solidFill>
                <a:latin typeface="Times New Roman" panose="02020603050405020304" pitchFamily="18" charset="0"/>
                <a:ea typeface="標楷體" panose="03000509000000000000" pitchFamily="65" charset="-120"/>
              </a:rPr>
              <a:t>Q &amp; A</a:t>
            </a:r>
            <a:endParaRPr lang="zh-TW" altLang="en-US" cap="none" dirty="0">
              <a:solidFill>
                <a:schemeClr val="tx1"/>
              </a:solidFill>
              <a:latin typeface="Times New Roman" panose="02020603050405020304" pitchFamily="18" charset="0"/>
              <a:ea typeface="標楷體" panose="03000509000000000000" pitchFamily="65" charset="-120"/>
            </a:endParaRPr>
          </a:p>
        </p:txBody>
      </p:sp>
      <p:sp>
        <p:nvSpPr>
          <p:cNvPr id="4" name="投影片編號版面配置區 3">
            <a:extLst>
              <a:ext uri="{FF2B5EF4-FFF2-40B4-BE49-F238E27FC236}">
                <a16:creationId xmlns:a16="http://schemas.microsoft.com/office/drawing/2014/main" id="{321D5E32-3A22-A75B-E78F-74666301BC0B}"/>
              </a:ext>
            </a:extLst>
          </p:cNvPr>
          <p:cNvSpPr>
            <a:spLocks noGrp="1"/>
          </p:cNvSpPr>
          <p:nvPr>
            <p:ph type="sldNum" sz="quarter" idx="12"/>
          </p:nvPr>
        </p:nvSpPr>
        <p:spPr/>
        <p:txBody>
          <a:bodyPr/>
          <a:lstStyle/>
          <a:p>
            <a:fld id="{525C0657-DFCE-4451-BE98-3FA3D33DFB54}" type="slidenum">
              <a:rPr lang="zh-TW" altLang="en-US" smtClean="0"/>
              <a:t>34</a:t>
            </a:fld>
            <a:endParaRPr lang="zh-TW" altLang="en-US"/>
          </a:p>
        </p:txBody>
      </p:sp>
      <p:sp>
        <p:nvSpPr>
          <p:cNvPr id="5" name="內容版面配置區 2">
            <a:extLst>
              <a:ext uri="{FF2B5EF4-FFF2-40B4-BE49-F238E27FC236}">
                <a16:creationId xmlns:a16="http://schemas.microsoft.com/office/drawing/2014/main" id="{D8038848-D7F8-A128-7D73-7A84B529A1A7}"/>
              </a:ext>
            </a:extLst>
          </p:cNvPr>
          <p:cNvSpPr>
            <a:spLocks noGrp="1"/>
          </p:cNvSpPr>
          <p:nvPr>
            <p:ph idx="1"/>
          </p:nvPr>
        </p:nvSpPr>
        <p:spPr>
          <a:xfrm>
            <a:off x="1235965" y="3064213"/>
            <a:ext cx="9720071" cy="729574"/>
          </a:xfrm>
        </p:spPr>
        <p:txBody>
          <a:bodyPr>
            <a:normAutofit/>
          </a:bodyPr>
          <a:lstStyle/>
          <a:p>
            <a:pPr marL="0" indent="0" algn="ctr">
              <a:buClrTx/>
              <a:buNone/>
            </a:pPr>
            <a:r>
              <a:rPr lang="en-US" altLang="zh-TW" sz="4400" dirty="0">
                <a:latin typeface="Times New Roman" panose="02020603050405020304" pitchFamily="18" charset="0"/>
                <a:ea typeface="標楷體" panose="03000509000000000000" pitchFamily="65" charset="-120"/>
              </a:rPr>
              <a:t>Thank you for listening</a:t>
            </a:r>
            <a:r>
              <a:rPr lang="zh-TW" altLang="en-US" sz="4400" dirty="0">
                <a:latin typeface="Times New Roman" panose="02020603050405020304" pitchFamily="18" charset="0"/>
                <a:ea typeface="標楷體" panose="03000509000000000000" pitchFamily="65" charset="-120"/>
              </a:rPr>
              <a:t>！</a:t>
            </a:r>
            <a:endParaRPr lang="en-US" altLang="zh-TW" sz="4400" dirty="0">
              <a:solidFill>
                <a:srgbClr val="0070C0"/>
              </a:solidFill>
              <a:latin typeface="Times New Roman" panose="02020603050405020304" pitchFamily="18" charset="0"/>
              <a:ea typeface="標楷體" panose="03000509000000000000" pitchFamily="65" charset="-120"/>
            </a:endParaRPr>
          </a:p>
          <a:p>
            <a:pPr>
              <a:buClrTx/>
              <a:buFont typeface="Arial" panose="020B0604020202020204" pitchFamily="34" charset="0"/>
              <a:buChar char="•"/>
            </a:pPr>
            <a:endParaRPr lang="en-US" altLang="zh-TW" sz="3200" dirty="0">
              <a:latin typeface="Times New Roman" panose="02020603050405020304" pitchFamily="18" charset="0"/>
              <a:ea typeface="標楷體" panose="03000509000000000000" pitchFamily="65" charset="-120"/>
            </a:endParaRPr>
          </a:p>
          <a:p>
            <a:endParaRPr lang="zh-TW" altLang="en-US" dirty="0">
              <a:latin typeface="Times New Roman" panose="02020603050405020304" pitchFamily="18" charset="0"/>
              <a:ea typeface="標楷體" panose="03000509000000000000" pitchFamily="65" charset="-120"/>
            </a:endParaRPr>
          </a:p>
        </p:txBody>
      </p:sp>
    </p:spTree>
    <p:extLst>
      <p:ext uri="{BB962C8B-B14F-4D97-AF65-F5344CB8AC3E}">
        <p14:creationId xmlns:p14="http://schemas.microsoft.com/office/powerpoint/2010/main" val="2497367654"/>
      </p:ext>
    </p:extLst>
  </p:cSld>
  <p:clrMapOvr>
    <a:masterClrMapping/>
  </p:clrMapOvr>
</p:sld>
</file>

<file path=ppt/theme/theme1.xml><?xml version="1.0" encoding="utf-8"?>
<a:theme xmlns:a="http://schemas.openxmlformats.org/drawingml/2006/main" name="回顧">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自訂 1">
      <a:majorFont>
        <a:latin typeface="Times New Roman"/>
        <a:ea typeface="標楷體"/>
        <a:cs typeface=""/>
      </a:majorFont>
      <a:minorFont>
        <a:latin typeface="Times New Roman"/>
        <a:ea typeface="標楷體"/>
        <a:cs typeface=""/>
      </a:minorFont>
    </a:fontScheme>
    <a:fmtScheme name="回顧">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26649</TotalTime>
  <Words>3828</Words>
  <Application>Microsoft Office PowerPoint</Application>
  <PresentationFormat>寬螢幕</PresentationFormat>
  <Paragraphs>573</Paragraphs>
  <Slides>34</Slides>
  <Notes>34</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34</vt:i4>
      </vt:variant>
    </vt:vector>
  </HeadingPairs>
  <TitlesOfParts>
    <vt:vector size="42" baseType="lpstr">
      <vt:lpstr>DFKai-SB</vt:lpstr>
      <vt:lpstr>Aptos</vt:lpstr>
      <vt:lpstr>Arial</vt:lpstr>
      <vt:lpstr>Calibri</vt:lpstr>
      <vt:lpstr>Cambria Math</vt:lpstr>
      <vt:lpstr>Times New Roman</vt:lpstr>
      <vt:lpstr>Wingdings</vt:lpstr>
      <vt:lpstr>回顧</vt:lpstr>
      <vt:lpstr>Multi-Stage Optimization for Supporting Lines in Logistics Companies</vt:lpstr>
      <vt:lpstr>Outline</vt:lpstr>
      <vt:lpstr>Outline</vt:lpstr>
      <vt:lpstr>Motivation</vt:lpstr>
      <vt:lpstr>Outline</vt:lpstr>
      <vt:lpstr>The proposed approach</vt:lpstr>
      <vt:lpstr>The proposed approach</vt:lpstr>
      <vt:lpstr>The proposed approach</vt:lpstr>
      <vt:lpstr>Original Route Data</vt:lpstr>
      <vt:lpstr>The proposed approach</vt:lpstr>
      <vt:lpstr>API Module</vt:lpstr>
      <vt:lpstr>The proposed approach</vt:lpstr>
      <vt:lpstr>Data Preprocessing</vt:lpstr>
      <vt:lpstr>The proposed approach</vt:lpstr>
      <vt:lpstr>VRP</vt:lpstr>
      <vt:lpstr>VRP</vt:lpstr>
      <vt:lpstr>Constraints</vt:lpstr>
      <vt:lpstr>Objective Function</vt:lpstr>
      <vt:lpstr>Routing Module</vt:lpstr>
      <vt:lpstr>The proposed approach</vt:lpstr>
      <vt:lpstr>Evaluation Module</vt:lpstr>
      <vt:lpstr>Evaluation Module</vt:lpstr>
      <vt:lpstr>The proposed approach</vt:lpstr>
      <vt:lpstr>Optimized Route Data</vt:lpstr>
      <vt:lpstr>Outline</vt:lpstr>
      <vt:lpstr>Experiment Setting</vt:lpstr>
      <vt:lpstr>Experiment Result</vt:lpstr>
      <vt:lpstr>Experiment Result</vt:lpstr>
      <vt:lpstr>Experiment Result</vt:lpstr>
      <vt:lpstr>Experiment Result</vt:lpstr>
      <vt:lpstr>Outline</vt:lpstr>
      <vt:lpstr>Conclusion</vt:lpstr>
      <vt:lpstr>Future</vt:lpstr>
      <vt:lpstr>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少嘉 范</dc:creator>
  <cp:lastModifiedBy>宏傑 楊</cp:lastModifiedBy>
  <cp:revision>792</cp:revision>
  <cp:lastPrinted>2026-06-13T09:27:54Z</cp:lastPrinted>
  <dcterms:created xsi:type="dcterms:W3CDTF">2025-02-12T06:34:32Z</dcterms:created>
  <dcterms:modified xsi:type="dcterms:W3CDTF">2026-07-01T06:23:42Z</dcterms:modified>
</cp:coreProperties>
</file>